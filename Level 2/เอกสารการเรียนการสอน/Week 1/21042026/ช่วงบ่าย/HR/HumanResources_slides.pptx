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Roboto"/>
      <p:regular r:id="rId21"/>
      <p:bold r:id="rId22"/>
      <p:italic r:id="rId23"/>
      <p:boldItalic r:id="rId24"/>
    </p:embeddedFont>
    <p:embeddedFont>
      <p:font typeface="Montserrat"/>
      <p:regular r:id="rId25"/>
      <p:bold r:id="rId26"/>
      <p:italic r:id="rId27"/>
      <p:boldItalic r:id="rId28"/>
    </p:embeddedFont>
    <p:embeddedFont>
      <p:font typeface="Montserrat Black"/>
      <p:bold r:id="rId29"/>
      <p:boldItalic r:id="rId30"/>
    </p:embeddedFont>
    <p:embeddedFont>
      <p:font typeface="Urbanist Medium"/>
      <p:regular r:id="rId31"/>
      <p:bold r:id="rId32"/>
      <p:italic r:id="rId33"/>
      <p:boldItalic r:id="rId34"/>
    </p:embeddedFont>
    <p:embeddedFont>
      <p:font typeface="Urbanist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9" roundtripDataSignature="AMtx7mj1v9ia9vrTBa4My4/tUThZn/Ng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84DA017-78E3-4F0A-BC85-5E2BA491F343}">
  <a:tblStyle styleId="{A84DA017-78E3-4F0A-BC85-5E2BA491F34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CECE7"/>
          </a:solidFill>
        </a:fill>
      </a:tcStyle>
    </a:wholeTbl>
    <a:band1H>
      <a:tcTxStyle/>
      <a:tcStyle>
        <a:fill>
          <a:solidFill>
            <a:srgbClr val="F8D6CC"/>
          </a:solidFill>
        </a:fill>
      </a:tcStyle>
    </a:band1H>
    <a:band2H>
      <a:tcTxStyle/>
    </a:band2H>
    <a:band1V>
      <a:tcTxStyle/>
      <a:tcStyle>
        <a:fill>
          <a:solidFill>
            <a:srgbClr val="F8D6CC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2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2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2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2"/>
          </a:solidFill>
        </a:fill>
      </a:tcStyle>
    </a:firstRow>
    <a:neCell>
      <a:tcTxStyle/>
    </a:neCell>
    <a:nwCell>
      <a:tcTxStyle/>
    </a:nwCell>
  </a:tblStyle>
  <a:tblStyle styleId="{842466D0-B5AC-4C3E-A91C-7997C6DEB027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-bold.fntdata"/><Relationship Id="rId25" Type="http://schemas.openxmlformats.org/officeDocument/2006/relationships/font" Target="fonts/Montserrat-regular.fntdata"/><Relationship Id="rId28" Type="http://schemas.openxmlformats.org/officeDocument/2006/relationships/font" Target="fonts/Montserrat-boldItalic.fntdata"/><Relationship Id="rId27" Type="http://schemas.openxmlformats.org/officeDocument/2006/relationships/font" Target="fonts/Montserra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Black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Medium-regular.fntdata"/><Relationship Id="rId30" Type="http://schemas.openxmlformats.org/officeDocument/2006/relationships/font" Target="fonts/MontserratBlack-boldItalic.fntdata"/><Relationship Id="rId11" Type="http://schemas.openxmlformats.org/officeDocument/2006/relationships/slide" Target="slides/slide5.xml"/><Relationship Id="rId33" Type="http://schemas.openxmlformats.org/officeDocument/2006/relationships/font" Target="fonts/UrbanistMedium-italic.fntdata"/><Relationship Id="rId10" Type="http://schemas.openxmlformats.org/officeDocument/2006/relationships/slide" Target="slides/slide4.xml"/><Relationship Id="rId32" Type="http://schemas.openxmlformats.org/officeDocument/2006/relationships/font" Target="fonts/UrbanistMedium-bold.fntdata"/><Relationship Id="rId13" Type="http://schemas.openxmlformats.org/officeDocument/2006/relationships/slide" Target="slides/slide7.xml"/><Relationship Id="rId35" Type="http://schemas.openxmlformats.org/officeDocument/2006/relationships/font" Target="fonts/Urbanist-regular.fntdata"/><Relationship Id="rId12" Type="http://schemas.openxmlformats.org/officeDocument/2006/relationships/slide" Target="slides/slide6.xml"/><Relationship Id="rId34" Type="http://schemas.openxmlformats.org/officeDocument/2006/relationships/font" Target="fonts/UrbanistMedium-boldItalic.fntdata"/><Relationship Id="rId15" Type="http://schemas.openxmlformats.org/officeDocument/2006/relationships/slide" Target="slides/slide9.xml"/><Relationship Id="rId37" Type="http://schemas.openxmlformats.org/officeDocument/2006/relationships/font" Target="fonts/Urbanist-italic.fntdata"/><Relationship Id="rId14" Type="http://schemas.openxmlformats.org/officeDocument/2006/relationships/slide" Target="slides/slide8.xml"/><Relationship Id="rId36" Type="http://schemas.openxmlformats.org/officeDocument/2006/relationships/font" Target="fonts/Urbanist-bold.fntdata"/><Relationship Id="rId17" Type="http://schemas.openxmlformats.org/officeDocument/2006/relationships/slide" Target="slides/slide11.xml"/><Relationship Id="rId39" Type="http://customschemas.google.com/relationships/presentationmetadata" Target="metadata"/><Relationship Id="rId16" Type="http://schemas.openxmlformats.org/officeDocument/2006/relationships/slide" Target="slides/slide10.xml"/><Relationship Id="rId38" Type="http://schemas.openxmlformats.org/officeDocument/2006/relationships/font" Target="fonts/Urbanist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CA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83110696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8311069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g3d831106965_0_130"/>
          <p:cNvPicPr preferRelativeResize="0"/>
          <p:nvPr/>
        </p:nvPicPr>
        <p:blipFill rotWithShape="1">
          <a:blip r:embed="rId2">
            <a:alphaModFix amt="50000"/>
          </a:blip>
          <a:srcRect b="8145" l="3134" r="7835" t="16786"/>
          <a:stretch/>
        </p:blipFill>
        <p:spPr>
          <a:xfrm flipH="1" rot="10800000">
            <a:off x="0" y="-4632"/>
            <a:ext cx="12215400" cy="687266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3d831106965_0_130"/>
          <p:cNvSpPr/>
          <p:nvPr/>
        </p:nvSpPr>
        <p:spPr>
          <a:xfrm flipH="1" rot="10800000">
            <a:off x="0" y="6235500"/>
            <a:ext cx="12199500" cy="62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7" name="Google Shape;87;g3d831106965_0_130"/>
          <p:cNvSpPr txBox="1"/>
          <p:nvPr>
            <p:ph idx="1" type="subTitle"/>
          </p:nvPr>
        </p:nvSpPr>
        <p:spPr>
          <a:xfrm>
            <a:off x="304800" y="2318600"/>
            <a:ext cx="5870400" cy="33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g3d831106965_0_130"/>
          <p:cNvSpPr txBox="1"/>
          <p:nvPr>
            <p:ph idx="2" type="subTitle"/>
          </p:nvPr>
        </p:nvSpPr>
        <p:spPr>
          <a:xfrm>
            <a:off x="427500" y="6234633"/>
            <a:ext cx="3600000" cy="31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9" name="Google Shape;89;g3d831106965_0_130"/>
          <p:cNvSpPr txBox="1"/>
          <p:nvPr>
            <p:ph idx="3" type="subTitle"/>
          </p:nvPr>
        </p:nvSpPr>
        <p:spPr>
          <a:xfrm>
            <a:off x="6288987" y="6234633"/>
            <a:ext cx="3059700" cy="31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0" name="Google Shape;90;g3d831106965_0_130"/>
          <p:cNvSpPr txBox="1"/>
          <p:nvPr>
            <p:ph idx="4" type="subTitle"/>
          </p:nvPr>
        </p:nvSpPr>
        <p:spPr>
          <a:xfrm>
            <a:off x="9145600" y="6244967"/>
            <a:ext cx="2742000" cy="30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algn="r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1" name="Google Shape;91;g3d831106965_0_130"/>
          <p:cNvSpPr/>
          <p:nvPr/>
        </p:nvSpPr>
        <p:spPr>
          <a:xfrm>
            <a:off x="304800" y="6450000"/>
            <a:ext cx="65100" cy="65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2" name="Google Shape;92;g3d831106965_0_130"/>
          <p:cNvSpPr/>
          <p:nvPr/>
        </p:nvSpPr>
        <p:spPr>
          <a:xfrm>
            <a:off x="6158600" y="6452000"/>
            <a:ext cx="61200" cy="6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3" name="Google Shape;93;g3d831106965_0_130"/>
          <p:cNvSpPr txBox="1"/>
          <p:nvPr>
            <p:ph type="title"/>
          </p:nvPr>
        </p:nvSpPr>
        <p:spPr>
          <a:xfrm>
            <a:off x="304800" y="304800"/>
            <a:ext cx="8878500" cy="189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94" name="Google Shape;94;g3d831106965_0_130"/>
          <p:cNvCxnSpPr/>
          <p:nvPr/>
        </p:nvCxnSpPr>
        <p:spPr>
          <a:xfrm>
            <a:off x="318400" y="6244400"/>
            <a:ext cx="11569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" name="Google Shape;95;g3d831106965_0_130"/>
          <p:cNvSpPr txBox="1"/>
          <p:nvPr>
            <p:ph idx="5" type="subTitle"/>
          </p:nvPr>
        </p:nvSpPr>
        <p:spPr>
          <a:xfrm>
            <a:off x="396100" y="5567867"/>
            <a:ext cx="16863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/>
            </a:lvl1pPr>
            <a:lvl2pPr lvl="1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6" name="Google Shape;96;g3d831106965_0_130"/>
          <p:cNvSpPr txBox="1"/>
          <p:nvPr>
            <p:ph idx="6" type="subTitle"/>
          </p:nvPr>
        </p:nvSpPr>
        <p:spPr>
          <a:xfrm>
            <a:off x="2381833" y="5567867"/>
            <a:ext cx="16863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/>
            </a:lvl1pPr>
            <a:lvl2pPr lvl="1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7" name="Google Shape;97;g3d831106965_0_130"/>
          <p:cNvSpPr txBox="1"/>
          <p:nvPr>
            <p:ph idx="7" type="subTitle"/>
          </p:nvPr>
        </p:nvSpPr>
        <p:spPr>
          <a:xfrm>
            <a:off x="304789" y="4605967"/>
            <a:ext cx="6212700" cy="3360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b="1" sz="1600"/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8" name="Google Shape;98;g3d831106965_0_130"/>
          <p:cNvSpPr txBox="1"/>
          <p:nvPr>
            <p:ph idx="8" type="subTitle"/>
          </p:nvPr>
        </p:nvSpPr>
        <p:spPr>
          <a:xfrm>
            <a:off x="304789" y="4990733"/>
            <a:ext cx="6212700" cy="3360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b="1" sz="1600"/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740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hyperlink" Target="https://toggl.com/blog/cost-of-hiring-an-employee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hyperlink" Target="https://toggl.com/blog/cost-of-hiring-an-employee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7.png"/><Relationship Id="rId8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831106965_0_0"/>
          <p:cNvSpPr/>
          <p:nvPr/>
        </p:nvSpPr>
        <p:spPr>
          <a:xfrm>
            <a:off x="304800" y="5484500"/>
            <a:ext cx="1865700" cy="451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4" name="Google Shape;104;g3d831106965_0_0"/>
          <p:cNvSpPr/>
          <p:nvPr/>
        </p:nvSpPr>
        <p:spPr>
          <a:xfrm>
            <a:off x="2292233" y="5484500"/>
            <a:ext cx="1865700" cy="451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105" name="Google Shape;105;g3d831106965_0_0"/>
          <p:cNvGrpSpPr/>
          <p:nvPr/>
        </p:nvGrpSpPr>
        <p:grpSpPr>
          <a:xfrm>
            <a:off x="304789" y="4169800"/>
            <a:ext cx="310792" cy="310792"/>
            <a:chOff x="259788" y="1923155"/>
            <a:chExt cx="409800" cy="409800"/>
          </a:xfrm>
        </p:grpSpPr>
        <p:sp>
          <p:nvSpPr>
            <p:cNvPr id="106" name="Google Shape;106;g3d831106965_0_0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07" name="Google Shape;107;g3d831106965_0_0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08" name="Google Shape;108;g3d831106965_0_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" name="Google Shape;109;g3d831106965_0_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10" name="Google Shape;110;g3d831106965_0_0"/>
          <p:cNvSpPr txBox="1"/>
          <p:nvPr>
            <p:ph type="title"/>
          </p:nvPr>
        </p:nvSpPr>
        <p:spPr>
          <a:xfrm>
            <a:off x="304800" y="304800"/>
            <a:ext cx="8878500" cy="189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CA">
                <a:solidFill>
                  <a:schemeClr val="lt1"/>
                </a:solidFill>
              </a:rPr>
              <a:t>Machine Learning - Practice (HR)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1" name="Google Shape;111;g3d831106965_0_0"/>
          <p:cNvSpPr txBox="1"/>
          <p:nvPr>
            <p:ph idx="1" type="subTitle"/>
          </p:nvPr>
        </p:nvSpPr>
        <p:spPr>
          <a:xfrm>
            <a:off x="304800" y="2318600"/>
            <a:ext cx="5870400" cy="336000"/>
          </a:xfrm>
          <a:prstGeom prst="rect">
            <a:avLst/>
          </a:prstGeom>
          <a:effectLst>
            <a:outerShdw blurRad="76200" rotWithShape="0" algn="bl" dir="5400000" dist="2540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Super AI Engineer Season 6</a:t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12" name="Google Shape;112;g3d831106965_0_0"/>
          <p:cNvSpPr txBox="1"/>
          <p:nvPr>
            <p:ph idx="2" type="subTitle"/>
          </p:nvPr>
        </p:nvSpPr>
        <p:spPr>
          <a:xfrm>
            <a:off x="427500" y="6234633"/>
            <a:ext cx="3600000" cy="31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CA"/>
              <a:t>AIAT</a:t>
            </a:r>
            <a:endParaRPr/>
          </a:p>
        </p:txBody>
      </p:sp>
      <p:sp>
        <p:nvSpPr>
          <p:cNvPr id="113" name="Google Shape;113;g3d831106965_0_0"/>
          <p:cNvSpPr txBox="1"/>
          <p:nvPr>
            <p:ph idx="3" type="subTitle"/>
          </p:nvPr>
        </p:nvSpPr>
        <p:spPr>
          <a:xfrm>
            <a:off x="6288987" y="6234633"/>
            <a:ext cx="3059700" cy="31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CA"/>
              <a:t> </a:t>
            </a:r>
            <a:endParaRPr/>
          </a:p>
        </p:txBody>
      </p:sp>
      <p:sp>
        <p:nvSpPr>
          <p:cNvPr id="114" name="Google Shape;114;g3d831106965_0_0"/>
          <p:cNvSpPr txBox="1"/>
          <p:nvPr>
            <p:ph idx="4" type="subTitle"/>
          </p:nvPr>
        </p:nvSpPr>
        <p:spPr>
          <a:xfrm>
            <a:off x="9145600" y="6244967"/>
            <a:ext cx="2742000" cy="30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1000"/>
              </a:spcBef>
              <a:spcAft>
                <a:spcPts val="0"/>
              </a:spcAft>
              <a:buNone/>
            </a:pPr>
            <a:r>
              <a:rPr lang="en-CA"/>
              <a:t>2026</a:t>
            </a:r>
            <a:endParaRPr/>
          </a:p>
        </p:txBody>
      </p:sp>
      <p:sp>
        <p:nvSpPr>
          <p:cNvPr id="115" name="Google Shape;115;g3d831106965_0_0"/>
          <p:cNvSpPr txBox="1"/>
          <p:nvPr>
            <p:ph idx="5" type="subTitle"/>
          </p:nvPr>
        </p:nvSpPr>
        <p:spPr>
          <a:xfrm>
            <a:off x="396100" y="5567867"/>
            <a:ext cx="16863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CA"/>
              <a:t>Aslan B. Wong</a:t>
            </a:r>
            <a:endParaRPr/>
          </a:p>
        </p:txBody>
      </p:sp>
      <p:sp>
        <p:nvSpPr>
          <p:cNvPr id="116" name="Google Shape;116;g3d831106965_0_0"/>
          <p:cNvSpPr txBox="1"/>
          <p:nvPr>
            <p:ph idx="6" type="subTitle"/>
          </p:nvPr>
        </p:nvSpPr>
        <p:spPr>
          <a:xfrm>
            <a:off x="2381833" y="5567867"/>
            <a:ext cx="16863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CA"/>
              <a:t>Arttie🉑</a:t>
            </a:r>
            <a:endParaRPr/>
          </a:p>
        </p:txBody>
      </p:sp>
      <p:sp>
        <p:nvSpPr>
          <p:cNvPr id="117" name="Google Shape;117;g3d831106965_0_0"/>
          <p:cNvSpPr txBox="1"/>
          <p:nvPr>
            <p:ph idx="7" type="subTitle"/>
          </p:nvPr>
        </p:nvSpPr>
        <p:spPr>
          <a:xfrm>
            <a:off x="304789" y="4605967"/>
            <a:ext cx="6212700" cy="3360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75"/>
              <a:buNone/>
            </a:pPr>
            <a:r>
              <a:rPr lang="en-CA" sz="1900"/>
              <a:t>Level 2 /  21 April 2026</a:t>
            </a:r>
            <a:endParaRPr sz="19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900"/>
          </a:p>
        </p:txBody>
      </p:sp>
      <p:sp>
        <p:nvSpPr>
          <p:cNvPr id="118" name="Google Shape;118;g3d831106965_0_0"/>
          <p:cNvSpPr txBox="1"/>
          <p:nvPr>
            <p:ph idx="8" type="subTitle"/>
          </p:nvPr>
        </p:nvSpPr>
        <p:spPr>
          <a:xfrm>
            <a:off x="304789" y="4990733"/>
            <a:ext cx="6212700" cy="3360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normAutofit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CA"/>
              <a:t>Presented by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"/>
          <p:cNvSpPr/>
          <p:nvPr/>
        </p:nvSpPr>
        <p:spPr>
          <a:xfrm>
            <a:off x="511002" y="2591268"/>
            <a:ext cx="4762038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4400" u="none" cap="none" strike="noStrike">
                <a:solidFill>
                  <a:srgbClr val="0D307E"/>
                </a:solidFill>
                <a:latin typeface="Montserrat"/>
                <a:ea typeface="Montserrat"/>
                <a:cs typeface="Montserrat"/>
                <a:sym typeface="Montserrat"/>
              </a:rPr>
              <a:t>DATA SCIENCE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4400" cap="none">
                <a:solidFill>
                  <a:srgbClr val="FC4016"/>
                </a:solidFill>
                <a:latin typeface="Montserrat"/>
                <a:ea typeface="Montserrat"/>
                <a:cs typeface="Montserrat"/>
                <a:sym typeface="Montserrat"/>
              </a:rPr>
              <a:t>FOR BUSINESS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" y="9525"/>
            <a:ext cx="12182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"/>
          <p:cNvSpPr/>
          <p:nvPr/>
        </p:nvSpPr>
        <p:spPr>
          <a:xfrm>
            <a:off x="661578" y="2695373"/>
            <a:ext cx="7539447" cy="702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CA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15626" y="911118"/>
            <a:ext cx="8857980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CA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Hiring and retaining employees are extremely complex tasks that require capital, time and skills.</a:t>
            </a:r>
            <a:endParaRPr/>
          </a:p>
          <a:p>
            <a:pPr indent="-1333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CA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“Small business owners spend 40% of their working hours on tasks that do not generate any income such as hiring”.</a:t>
            </a:r>
            <a:endParaRPr/>
          </a:p>
          <a:p>
            <a:pPr indent="-1333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CA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“Companies spend 15%-20% of the employee's salary to recruit a new candidate”.</a:t>
            </a:r>
            <a:endParaRPr/>
          </a:p>
        </p:txBody>
      </p:sp>
      <p:sp>
        <p:nvSpPr>
          <p:cNvPr id="131" name="Google Shape;131;p2"/>
          <p:cNvSpPr/>
          <p:nvPr/>
        </p:nvSpPr>
        <p:spPr>
          <a:xfrm>
            <a:off x="862503" y="5995923"/>
            <a:ext cx="56825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Source: https://toggl.com/blog/cost-of-hiring-an-employee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" y="9525"/>
            <a:ext cx="12182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"/>
          <p:cNvSpPr/>
          <p:nvPr/>
        </p:nvSpPr>
        <p:spPr>
          <a:xfrm>
            <a:off x="661578" y="2695373"/>
            <a:ext cx="7539447" cy="702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CA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15626" y="911118"/>
            <a:ext cx="8857980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333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CA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“An average company loses anywhere between 1% and 2.5% of their total revenue on the time it takes to bring a new hire up to speed”.</a:t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333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CA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Hiring a new employee costs an average of $7645 (0-500 corporation).</a:t>
            </a:r>
            <a:endParaRPr/>
          </a:p>
          <a:p>
            <a:pPr indent="-1333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CA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It takes 52 days on average to fill a position.</a:t>
            </a:r>
            <a:endParaRPr/>
          </a:p>
        </p:txBody>
      </p:sp>
      <p:sp>
        <p:nvSpPr>
          <p:cNvPr id="139" name="Google Shape;139;p3"/>
          <p:cNvSpPr/>
          <p:nvPr/>
        </p:nvSpPr>
        <p:spPr>
          <a:xfrm>
            <a:off x="862503" y="5995923"/>
            <a:ext cx="56825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Source: https://toggl.com/blog/cost-of-hiring-an-employee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" y="9525"/>
            <a:ext cx="12182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4"/>
          <p:cNvSpPr/>
          <p:nvPr/>
        </p:nvSpPr>
        <p:spPr>
          <a:xfrm>
            <a:off x="661578" y="2695373"/>
            <a:ext cx="7539447" cy="702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CA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18967" y="519780"/>
            <a:ext cx="9315616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CA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You work as a data scientist at a multinational corporation.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CA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HR team collected extensive data on their employees and approached you to develop a model that could predict which employees are more likely to quit.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CA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team provided you with an extensive data, here's a sample of the dataset: 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b="1" i="0" lang="en-CA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JobInvolvement</a:t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b="1" i="0" lang="en-CA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Education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b="1" i="0" lang="en-CA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JobSatisfaction</a:t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b="1" i="0" lang="en-CA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PerformanceRating</a:t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b="1" i="0" lang="en-CA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RelationshipSatisfaction</a:t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b="1" i="0" lang="en-CA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WorkLifeBalance</a:t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1152525" y="5691889"/>
            <a:ext cx="70485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CA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 Source: https://www.kaggle.com/pavansubhasht/ibm-hr-analytics-attrition-dataset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" y="9525"/>
            <a:ext cx="12182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5"/>
          <p:cNvSpPr/>
          <p:nvPr/>
        </p:nvSpPr>
        <p:spPr>
          <a:xfrm>
            <a:off x="362765" y="514669"/>
            <a:ext cx="468109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1. ARTIFICIAL NEURAL NETWORKS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-1192706" y="1352807"/>
            <a:ext cx="10660042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7011" lvl="0" marL="22861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11" lvl="0" marL="22861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11" lvl="0" marL="22861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5" name="Google Shape;155;p5"/>
          <p:cNvGrpSpPr/>
          <p:nvPr/>
        </p:nvGrpSpPr>
        <p:grpSpPr>
          <a:xfrm>
            <a:off x="6064441" y="1179409"/>
            <a:ext cx="2664296" cy="1984286"/>
            <a:chOff x="5233093" y="1807384"/>
            <a:chExt cx="3083323" cy="2193306"/>
          </a:xfrm>
        </p:grpSpPr>
        <p:pic>
          <p:nvPicPr>
            <p:cNvPr descr="C:\McMaster_Research_Project_10Nov\M.A.Sc Papers and References\POSTER\PICS\One_Neuron_Model.png" id="156" name="Google Shape;156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16466" y="1807384"/>
              <a:ext cx="1335854" cy="13335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" name="Google Shape;157;p5"/>
            <p:cNvSpPr/>
            <p:nvPr/>
          </p:nvSpPr>
          <p:spPr>
            <a:xfrm>
              <a:off x="5233093" y="3068960"/>
              <a:ext cx="3083323" cy="93173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-25600" l="0" r="-100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58" name="Google Shape;158;p5"/>
          <p:cNvGrpSpPr/>
          <p:nvPr/>
        </p:nvGrpSpPr>
        <p:grpSpPr>
          <a:xfrm>
            <a:off x="4213779" y="4663202"/>
            <a:ext cx="3938194" cy="957542"/>
            <a:chOff x="5717877" y="4208566"/>
            <a:chExt cx="4402569" cy="1044434"/>
          </a:xfrm>
        </p:grpSpPr>
        <p:sp>
          <p:nvSpPr>
            <p:cNvPr id="159" name="Google Shape;159;p5"/>
            <p:cNvSpPr/>
            <p:nvPr/>
          </p:nvSpPr>
          <p:spPr>
            <a:xfrm>
              <a:off x="5873303" y="4515986"/>
              <a:ext cx="3593914" cy="737014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60" name="Google Shape;160;p5"/>
            <p:cNvSpPr txBox="1"/>
            <p:nvPr/>
          </p:nvSpPr>
          <p:spPr>
            <a:xfrm>
              <a:off x="5717877" y="4208566"/>
              <a:ext cx="4402569" cy="4028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CA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Non-Linear Sigmoid Activation function</a:t>
              </a:r>
              <a:endParaRPr/>
            </a:p>
          </p:txBody>
        </p:sp>
      </p:grpSp>
      <p:pic>
        <p:nvPicPr>
          <p:cNvPr id="161" name="Google Shape;161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14229" y="1611143"/>
            <a:ext cx="2481771" cy="25515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2" name="Google Shape;162;p5"/>
          <p:cNvGrpSpPr/>
          <p:nvPr/>
        </p:nvGrpSpPr>
        <p:grpSpPr>
          <a:xfrm>
            <a:off x="4181800" y="1551369"/>
            <a:ext cx="2952327" cy="1431720"/>
            <a:chOff x="3275856" y="2110294"/>
            <a:chExt cx="2952327" cy="1431720"/>
          </a:xfrm>
        </p:grpSpPr>
        <p:sp>
          <p:nvSpPr>
            <p:cNvPr id="163" name="Google Shape;163;p5"/>
            <p:cNvSpPr/>
            <p:nvPr/>
          </p:nvSpPr>
          <p:spPr>
            <a:xfrm>
              <a:off x="3275856" y="2852937"/>
              <a:ext cx="640349" cy="689077"/>
            </a:xfrm>
            <a:prstGeom prst="ellipse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5"/>
            <p:cNvSpPr/>
            <p:nvPr/>
          </p:nvSpPr>
          <p:spPr>
            <a:xfrm rot="-1247016">
              <a:off x="3807353" y="2551266"/>
              <a:ext cx="2493860" cy="45719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5" name="Google Shape;165;p5"/>
          <p:cNvSpPr txBox="1"/>
          <p:nvPr/>
        </p:nvSpPr>
        <p:spPr>
          <a:xfrm>
            <a:off x="2916794" y="5792728"/>
            <a:ext cx="446789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CA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m: number of neurons in the hidden layer</a:t>
            </a:r>
            <a:endParaRPr/>
          </a:p>
        </p:txBody>
      </p:sp>
      <p:grpSp>
        <p:nvGrpSpPr>
          <p:cNvPr id="166" name="Google Shape;166;p5"/>
          <p:cNvGrpSpPr/>
          <p:nvPr/>
        </p:nvGrpSpPr>
        <p:grpSpPr>
          <a:xfrm>
            <a:off x="272233" y="1774962"/>
            <a:ext cx="3551677" cy="3329834"/>
            <a:chOff x="150140" y="1825796"/>
            <a:chExt cx="3551677" cy="3329834"/>
          </a:xfrm>
        </p:grpSpPr>
        <p:sp>
          <p:nvSpPr>
            <p:cNvPr id="167" name="Google Shape;167;p5"/>
            <p:cNvSpPr/>
            <p:nvPr/>
          </p:nvSpPr>
          <p:spPr>
            <a:xfrm>
              <a:off x="899591" y="1825796"/>
              <a:ext cx="1036635" cy="147444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8" name="Google Shape;168;p5"/>
            <p:cNvSpPr/>
            <p:nvPr/>
          </p:nvSpPr>
          <p:spPr>
            <a:xfrm>
              <a:off x="150140" y="3645024"/>
              <a:ext cx="3551677" cy="1510606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-2062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sp>
        <p:nvSpPr>
          <p:cNvPr id="169" name="Google Shape;169;p5"/>
          <p:cNvSpPr txBox="1"/>
          <p:nvPr/>
        </p:nvSpPr>
        <p:spPr>
          <a:xfrm>
            <a:off x="2962600" y="6169670"/>
            <a:ext cx="2364173" cy="40011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25757" l="0" r="-2062" t="-757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" y="9525"/>
            <a:ext cx="12182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6"/>
          <p:cNvSpPr/>
          <p:nvPr/>
        </p:nvSpPr>
        <p:spPr>
          <a:xfrm>
            <a:off x="362765" y="514669"/>
            <a:ext cx="510428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2. LOGISTIC REGRESSION CLASSIFIER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 txBox="1"/>
          <p:nvPr/>
        </p:nvSpPr>
        <p:spPr>
          <a:xfrm>
            <a:off x="-1192706" y="1352807"/>
            <a:ext cx="10660042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7011" lvl="0" marL="22861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11" lvl="0" marL="22861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11" lvl="0" marL="22861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p6"/>
          <p:cNvCxnSpPr/>
          <p:nvPr/>
        </p:nvCxnSpPr>
        <p:spPr>
          <a:xfrm flipH="1">
            <a:off x="838847" y="3732821"/>
            <a:ext cx="5098404" cy="29178"/>
          </a:xfrm>
          <a:prstGeom prst="straightConnector1">
            <a:avLst/>
          </a:prstGeom>
          <a:noFill/>
          <a:ln cap="flat" cmpd="sng" w="57150">
            <a:solidFill>
              <a:srgbClr val="A5D9E7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178" name="Google Shape;178;p6"/>
          <p:cNvSpPr txBox="1"/>
          <p:nvPr/>
        </p:nvSpPr>
        <p:spPr>
          <a:xfrm>
            <a:off x="276225" y="1096495"/>
            <a:ext cx="8667750" cy="3025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n-CA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Linear regression </a:t>
            </a:r>
            <a:r>
              <a:rPr lang="en-CA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is used to predict outputs on a continuous spectrum.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Char char="o"/>
            </a:pPr>
            <a:r>
              <a:rPr b="0" i="0" lang="en-CA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Example: predicting revenue based on the outside air temperature.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n-CA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Logistic regression is used to predict binary outputs</a:t>
            </a:r>
            <a:r>
              <a:rPr lang="en-CA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with two possible values labeled "0" or "1"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Char char="o"/>
            </a:pPr>
            <a:r>
              <a:rPr b="0" i="0" lang="en-CA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Logistic model output can be one of two classes: pass/fail, win/lose, healthy/sick</a:t>
            </a:r>
            <a:endParaRPr/>
          </a:p>
        </p:txBody>
      </p:sp>
      <p:cxnSp>
        <p:nvCxnSpPr>
          <p:cNvPr id="179" name="Google Shape;179;p6"/>
          <p:cNvCxnSpPr/>
          <p:nvPr/>
        </p:nvCxnSpPr>
        <p:spPr>
          <a:xfrm flipH="1" rot="10800000">
            <a:off x="862279" y="6098559"/>
            <a:ext cx="5074972" cy="47702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0" name="Google Shape;180;p6"/>
          <p:cNvCxnSpPr/>
          <p:nvPr/>
        </p:nvCxnSpPr>
        <p:spPr>
          <a:xfrm rot="10800000">
            <a:off x="838845" y="3207347"/>
            <a:ext cx="54092" cy="2961940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1" name="Google Shape;181;p6"/>
          <p:cNvSpPr/>
          <p:nvPr/>
        </p:nvSpPr>
        <p:spPr>
          <a:xfrm>
            <a:off x="1011996" y="5962961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1608587" y="5968910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2165757" y="5962961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2531590" y="3611940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4395073" y="3582762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4836165" y="3582762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3962403" y="3592409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3113193" y="3591841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 txBox="1"/>
          <p:nvPr/>
        </p:nvSpPr>
        <p:spPr>
          <a:xfrm>
            <a:off x="3477694" y="6118969"/>
            <a:ext cx="29804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HOURS OF STUDYING</a:t>
            </a:r>
            <a:endParaRPr/>
          </a:p>
        </p:txBody>
      </p:sp>
      <p:sp>
        <p:nvSpPr>
          <p:cNvPr id="190" name="Google Shape;190;p6"/>
          <p:cNvSpPr txBox="1"/>
          <p:nvPr/>
        </p:nvSpPr>
        <p:spPr>
          <a:xfrm rot="-5400000">
            <a:off x="-222534" y="4457484"/>
            <a:ext cx="145918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PASS/FAIL</a:t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2719090" y="5956770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3177418" y="5968942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3" name="Google Shape;193;p6"/>
          <p:cNvGraphicFramePr/>
          <p:nvPr/>
        </p:nvGraphicFramePr>
        <p:xfrm>
          <a:off x="6317832" y="29589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{A84DA017-78E3-4F0A-BC85-5E2BA491F343}</a:tableStyleId>
              </a:tblPr>
              <a:tblGrid>
                <a:gridCol w="929050"/>
                <a:gridCol w="929050"/>
              </a:tblGrid>
              <a:tr h="28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 u="none" cap="none" strike="noStrike"/>
                        <a:t>Hours Studying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 u="none" cap="none" strike="noStrike"/>
                        <a:t>Pass/Fail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8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8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 u="none" cap="none" strike="noStrike"/>
                        <a:t>1.5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8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8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8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 u="none" cap="none" strike="noStrike"/>
                        <a:t>3.25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8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8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8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194" name="Google Shape;194;p6"/>
          <p:cNvCxnSpPr/>
          <p:nvPr/>
        </p:nvCxnSpPr>
        <p:spPr>
          <a:xfrm flipH="1">
            <a:off x="2656544" y="3178258"/>
            <a:ext cx="1447959" cy="3721430"/>
          </a:xfrm>
          <a:prstGeom prst="straightConnector1">
            <a:avLst/>
          </a:prstGeom>
          <a:noFill/>
          <a:ln cap="flat" cmpd="sng" w="57150">
            <a:solidFill>
              <a:srgbClr val="A5D9E7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5" name="Google Shape;195;p6"/>
          <p:cNvCxnSpPr/>
          <p:nvPr/>
        </p:nvCxnSpPr>
        <p:spPr>
          <a:xfrm flipH="1" rot="10800000">
            <a:off x="2861190" y="4402286"/>
            <a:ext cx="714000" cy="3738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6" name="Google Shape;196;p6"/>
          <p:cNvSpPr txBox="1"/>
          <p:nvPr/>
        </p:nvSpPr>
        <p:spPr>
          <a:xfrm>
            <a:off x="1413900" y="4585273"/>
            <a:ext cx="216790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LINEAR MODEL</a:t>
            </a:r>
            <a:endParaRPr/>
          </a:p>
        </p:txBody>
      </p:sp>
      <p:pic>
        <p:nvPicPr>
          <p:cNvPr descr="Image result for fail" id="197" name="Google Shape;19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04819" y="4552368"/>
            <a:ext cx="2539914" cy="142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" y="9525"/>
            <a:ext cx="12182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7"/>
          <p:cNvSpPr/>
          <p:nvPr/>
        </p:nvSpPr>
        <p:spPr>
          <a:xfrm>
            <a:off x="362765" y="514669"/>
            <a:ext cx="510428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2. LOGISTIC REGRESSION CLASSIFIER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 txBox="1"/>
          <p:nvPr/>
        </p:nvSpPr>
        <p:spPr>
          <a:xfrm>
            <a:off x="-1192706" y="1352807"/>
            <a:ext cx="10660042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7011" lvl="0" marL="22861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11" lvl="0" marL="22861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11" lvl="0" marL="22861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" name="Google Shape;205;p7"/>
          <p:cNvCxnSpPr/>
          <p:nvPr/>
        </p:nvCxnSpPr>
        <p:spPr>
          <a:xfrm flipH="1">
            <a:off x="753123" y="3376640"/>
            <a:ext cx="5098404" cy="29178"/>
          </a:xfrm>
          <a:prstGeom prst="straightConnector1">
            <a:avLst/>
          </a:prstGeom>
          <a:noFill/>
          <a:ln cap="flat" cmpd="sng" w="57150">
            <a:solidFill>
              <a:srgbClr val="A5D9E7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206" name="Google Shape;206;p7"/>
          <p:cNvCxnSpPr/>
          <p:nvPr/>
        </p:nvCxnSpPr>
        <p:spPr>
          <a:xfrm flipH="1" rot="10800000">
            <a:off x="776555" y="5742378"/>
            <a:ext cx="5074972" cy="47702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7" name="Google Shape;207;p7"/>
          <p:cNvCxnSpPr/>
          <p:nvPr/>
        </p:nvCxnSpPr>
        <p:spPr>
          <a:xfrm rot="10800000">
            <a:off x="753121" y="2851166"/>
            <a:ext cx="54092" cy="2961940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08" name="Google Shape;208;p7"/>
          <p:cNvSpPr/>
          <p:nvPr/>
        </p:nvSpPr>
        <p:spPr>
          <a:xfrm>
            <a:off x="926272" y="5606780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1522863" y="5612729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2137314" y="5614946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2445866" y="3255759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4309349" y="3226581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4750441" y="3226581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3893273" y="3241170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3027469" y="3235660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 txBox="1"/>
          <p:nvPr/>
        </p:nvSpPr>
        <p:spPr>
          <a:xfrm>
            <a:off x="3219238" y="5873931"/>
            <a:ext cx="29804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HOURS OF STUDYING</a:t>
            </a:r>
            <a:endParaRPr/>
          </a:p>
        </p:txBody>
      </p:sp>
      <p:sp>
        <p:nvSpPr>
          <p:cNvPr id="217" name="Google Shape;217;p7"/>
          <p:cNvSpPr txBox="1"/>
          <p:nvPr/>
        </p:nvSpPr>
        <p:spPr>
          <a:xfrm rot="-5400000">
            <a:off x="-308258" y="4101303"/>
            <a:ext cx="145918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PASS/FAIL</a:t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2609665" y="5585048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3027468" y="5585048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1197489" y="3429000"/>
            <a:ext cx="4523874" cy="2290351"/>
          </a:xfrm>
          <a:custGeom>
            <a:rect b="b" l="l" r="r" t="t"/>
            <a:pathLst>
              <a:path extrusionOk="0" h="1915505" w="4523874">
                <a:moveTo>
                  <a:pt x="0" y="1890929"/>
                </a:moveTo>
                <a:cubicBezTo>
                  <a:pt x="546434" y="1913989"/>
                  <a:pt x="1092868" y="1937050"/>
                  <a:pt x="1395663" y="1878897"/>
                </a:cubicBezTo>
                <a:cubicBezTo>
                  <a:pt x="1698458" y="1820744"/>
                  <a:pt x="1658353" y="1784650"/>
                  <a:pt x="1816769" y="1542013"/>
                </a:cubicBezTo>
                <a:cubicBezTo>
                  <a:pt x="1975185" y="1299376"/>
                  <a:pt x="2133600" y="671729"/>
                  <a:pt x="2346158" y="423076"/>
                </a:cubicBezTo>
                <a:cubicBezTo>
                  <a:pt x="2558716" y="174423"/>
                  <a:pt x="2729163" y="118276"/>
                  <a:pt x="3092116" y="50097"/>
                </a:cubicBezTo>
                <a:cubicBezTo>
                  <a:pt x="3455069" y="-18082"/>
                  <a:pt x="4094748" y="-2040"/>
                  <a:pt x="4523874" y="14002"/>
                </a:cubicBezTo>
              </a:path>
            </a:pathLst>
          </a:custGeom>
          <a:noFill/>
          <a:ln cap="flat" cmpd="sng" w="5715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 txBox="1"/>
          <p:nvPr/>
        </p:nvSpPr>
        <p:spPr>
          <a:xfrm>
            <a:off x="1083610" y="3989236"/>
            <a:ext cx="216790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LOGISTIC REGRESSION MODEL</a:t>
            </a:r>
            <a:endParaRPr/>
          </a:p>
        </p:txBody>
      </p:sp>
      <p:cxnSp>
        <p:nvCxnSpPr>
          <p:cNvPr id="222" name="Google Shape;222;p7"/>
          <p:cNvCxnSpPr/>
          <p:nvPr/>
        </p:nvCxnSpPr>
        <p:spPr>
          <a:xfrm flipH="1" rot="10800000">
            <a:off x="1807062" y="4371922"/>
            <a:ext cx="1504500" cy="6126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23" name="Google Shape;223;p7"/>
          <p:cNvSpPr/>
          <p:nvPr/>
        </p:nvSpPr>
        <p:spPr>
          <a:xfrm>
            <a:off x="362765" y="1005974"/>
            <a:ext cx="8587202" cy="1217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n-CA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Logistic regression algorithm works by implementing a linear equation first with independent predictors to predict a value.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n-CA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 then need to convert this value into a probability that could range from 0 to 1.</a:t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5314468" y="1909622"/>
            <a:ext cx="6096000" cy="335540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400" r="0" t="-145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" y="9525"/>
            <a:ext cx="12182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8"/>
          <p:cNvSpPr/>
          <p:nvPr/>
        </p:nvSpPr>
        <p:spPr>
          <a:xfrm>
            <a:off x="362765" y="514669"/>
            <a:ext cx="510428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2. LOGISTIC REGRESSION CLASSIFIER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 txBox="1"/>
          <p:nvPr/>
        </p:nvSpPr>
        <p:spPr>
          <a:xfrm>
            <a:off x="-1192706" y="1352807"/>
            <a:ext cx="10660042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7011" lvl="0" marL="22861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11" lvl="0" marL="22861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11" lvl="0" marL="22861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1717622" y="3600760"/>
            <a:ext cx="2523367" cy="1214043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Class 0</a:t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4222076" y="2507421"/>
            <a:ext cx="2898633" cy="1023213"/>
          </a:xfrm>
          <a:prstGeom prst="rect">
            <a:avLst/>
          </a:prstGeom>
          <a:solidFill>
            <a:srgbClr val="FFFF00"/>
          </a:solidFill>
          <a:ln cap="flat" cmpd="sng" w="127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Class 1</a:t>
            </a:r>
            <a:endParaRPr/>
          </a:p>
        </p:txBody>
      </p:sp>
      <p:cxnSp>
        <p:nvCxnSpPr>
          <p:cNvPr id="234" name="Google Shape;234;p8"/>
          <p:cNvCxnSpPr/>
          <p:nvPr/>
        </p:nvCxnSpPr>
        <p:spPr>
          <a:xfrm flipH="1">
            <a:off x="1663532" y="2478244"/>
            <a:ext cx="5098404" cy="29178"/>
          </a:xfrm>
          <a:prstGeom prst="straightConnector1">
            <a:avLst/>
          </a:prstGeom>
          <a:noFill/>
          <a:ln cap="flat" cmpd="sng" w="57150">
            <a:solidFill>
              <a:srgbClr val="A5D9E7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235" name="Google Shape;235;p8"/>
          <p:cNvCxnSpPr/>
          <p:nvPr/>
        </p:nvCxnSpPr>
        <p:spPr>
          <a:xfrm flipH="1" rot="10800000">
            <a:off x="1686964" y="4843982"/>
            <a:ext cx="5074972" cy="47702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36" name="Google Shape;236;p8"/>
          <p:cNvCxnSpPr/>
          <p:nvPr/>
        </p:nvCxnSpPr>
        <p:spPr>
          <a:xfrm rot="10800000">
            <a:off x="1663530" y="1952770"/>
            <a:ext cx="54092" cy="2961940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37" name="Google Shape;237;p8"/>
          <p:cNvSpPr/>
          <p:nvPr/>
        </p:nvSpPr>
        <p:spPr>
          <a:xfrm>
            <a:off x="1836681" y="4708384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2433272" y="4714333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3047723" y="4716550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3356275" y="2357363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5219758" y="2328185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5660850" y="2328185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4803682" y="2342774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3937878" y="2337264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 txBox="1"/>
          <p:nvPr/>
        </p:nvSpPr>
        <p:spPr>
          <a:xfrm>
            <a:off x="2381427" y="4986770"/>
            <a:ext cx="29804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HOURS OF STUDYING</a:t>
            </a:r>
            <a:endParaRPr/>
          </a:p>
        </p:txBody>
      </p:sp>
      <p:sp>
        <p:nvSpPr>
          <p:cNvPr id="246" name="Google Shape;246;p8"/>
          <p:cNvSpPr txBox="1"/>
          <p:nvPr/>
        </p:nvSpPr>
        <p:spPr>
          <a:xfrm rot="-5400000">
            <a:off x="168706" y="3156239"/>
            <a:ext cx="145918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PASS/FAIL</a:t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3520074" y="4686652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3937877" y="4686652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2107898" y="2530604"/>
            <a:ext cx="4523874" cy="2290351"/>
          </a:xfrm>
          <a:custGeom>
            <a:rect b="b" l="l" r="r" t="t"/>
            <a:pathLst>
              <a:path extrusionOk="0" h="1915505" w="4523874">
                <a:moveTo>
                  <a:pt x="0" y="1890929"/>
                </a:moveTo>
                <a:cubicBezTo>
                  <a:pt x="546434" y="1913989"/>
                  <a:pt x="1092868" y="1937050"/>
                  <a:pt x="1395663" y="1878897"/>
                </a:cubicBezTo>
                <a:cubicBezTo>
                  <a:pt x="1698458" y="1820744"/>
                  <a:pt x="1658353" y="1784650"/>
                  <a:pt x="1816769" y="1542013"/>
                </a:cubicBezTo>
                <a:cubicBezTo>
                  <a:pt x="1975185" y="1299376"/>
                  <a:pt x="2133600" y="671729"/>
                  <a:pt x="2346158" y="423076"/>
                </a:cubicBezTo>
                <a:cubicBezTo>
                  <a:pt x="2558716" y="174423"/>
                  <a:pt x="2729163" y="118276"/>
                  <a:pt x="3092116" y="50097"/>
                </a:cubicBezTo>
                <a:cubicBezTo>
                  <a:pt x="3455069" y="-18082"/>
                  <a:pt x="4094748" y="-2040"/>
                  <a:pt x="4523874" y="14002"/>
                </a:cubicBezTo>
              </a:path>
            </a:pathLst>
          </a:custGeom>
          <a:noFill/>
          <a:ln cap="flat" cmpd="sng" w="5715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0" name="Google Shape;250;p8"/>
          <p:cNvCxnSpPr/>
          <p:nvPr/>
        </p:nvCxnSpPr>
        <p:spPr>
          <a:xfrm rot="10800000">
            <a:off x="5219896" y="3603245"/>
            <a:ext cx="1196700" cy="7137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51" name="Google Shape;251;p8"/>
          <p:cNvSpPr/>
          <p:nvPr/>
        </p:nvSpPr>
        <p:spPr>
          <a:xfrm>
            <a:off x="393503" y="1039143"/>
            <a:ext cx="8372555" cy="7140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n-CA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Now we need to convert from a probability to a class value which is “0” or “1”.</a:t>
            </a:r>
            <a:endParaRPr/>
          </a:p>
        </p:txBody>
      </p:sp>
      <p:cxnSp>
        <p:nvCxnSpPr>
          <p:cNvPr id="252" name="Google Shape;252;p8"/>
          <p:cNvCxnSpPr/>
          <p:nvPr/>
        </p:nvCxnSpPr>
        <p:spPr>
          <a:xfrm flipH="1">
            <a:off x="1774221" y="3530635"/>
            <a:ext cx="5098404" cy="29178"/>
          </a:xfrm>
          <a:prstGeom prst="straightConnector1">
            <a:avLst/>
          </a:prstGeom>
          <a:noFill/>
          <a:ln cap="flat" cmpd="sng" w="57150">
            <a:solidFill>
              <a:srgbClr val="A5D9E7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253" name="Google Shape;253;p8"/>
          <p:cNvSpPr txBox="1"/>
          <p:nvPr/>
        </p:nvSpPr>
        <p:spPr>
          <a:xfrm>
            <a:off x="6355544" y="4052878"/>
            <a:ext cx="216790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THRESHOLD</a:t>
            </a:r>
            <a:endParaRPr/>
          </a:p>
        </p:txBody>
      </p:sp>
      <p:sp>
        <p:nvSpPr>
          <p:cNvPr id="254" name="Google Shape;254;p8"/>
          <p:cNvSpPr txBox="1"/>
          <p:nvPr/>
        </p:nvSpPr>
        <p:spPr>
          <a:xfrm>
            <a:off x="1081002" y="3314391"/>
            <a:ext cx="5774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/>
          </a:p>
        </p:txBody>
      </p:sp>
      <p:sp>
        <p:nvSpPr>
          <p:cNvPr id="255" name="Google Shape;255;p8"/>
          <p:cNvSpPr txBox="1"/>
          <p:nvPr/>
        </p:nvSpPr>
        <p:spPr>
          <a:xfrm>
            <a:off x="1808491" y="2754776"/>
            <a:ext cx="216790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LOGISTIC REGRESSION MODEL</a:t>
            </a:r>
            <a:endParaRPr/>
          </a:p>
        </p:txBody>
      </p:sp>
      <p:cxnSp>
        <p:nvCxnSpPr>
          <p:cNvPr id="256" name="Google Shape;256;p8"/>
          <p:cNvCxnSpPr/>
          <p:nvPr/>
        </p:nvCxnSpPr>
        <p:spPr>
          <a:xfrm>
            <a:off x="2853409" y="3080769"/>
            <a:ext cx="1200900" cy="8517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" y="9525"/>
            <a:ext cx="12182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9"/>
          <p:cNvSpPr/>
          <p:nvPr/>
        </p:nvSpPr>
        <p:spPr>
          <a:xfrm>
            <a:off x="362765" y="514669"/>
            <a:ext cx="460735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3. RANDOM FOREST CLASSIFIERS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 txBox="1"/>
          <p:nvPr/>
        </p:nvSpPr>
        <p:spPr>
          <a:xfrm>
            <a:off x="405013" y="1043128"/>
            <a:ext cx="8649855" cy="27200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n-CA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Decision Trees are supervised Machine Learning technique where the data is split according to a certain condition/parameter.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n-CA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Let’s assume we want to classify whether a customer could retire or not based on their savings and age.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n-CA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Random Forest Classifier is a type of ensemble algorithm.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n-CA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It creates a set of decision trees from randomly selected subset of training set.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n-CA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It then combines votes from different decision trees to decide the final class of the test object.</a:t>
            </a:r>
            <a:endParaRPr/>
          </a:p>
          <a:p>
            <a:pPr indent="-1270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270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1045958" y="3981386"/>
            <a:ext cx="799705" cy="382462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Savings&gt;$1M</a:t>
            </a: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629056" y="4860609"/>
            <a:ext cx="737358" cy="331914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Age &gt; 45? </a:t>
            </a: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1659472" y="4859449"/>
            <a:ext cx="724315" cy="339262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Class #0 </a:t>
            </a:r>
            <a:endParaRPr/>
          </a:p>
        </p:txBody>
      </p:sp>
      <p:cxnSp>
        <p:nvCxnSpPr>
          <p:cNvPr id="267" name="Google Shape;267;p9"/>
          <p:cNvCxnSpPr>
            <a:stCxn id="264" idx="2"/>
          </p:cNvCxnSpPr>
          <p:nvPr/>
        </p:nvCxnSpPr>
        <p:spPr>
          <a:xfrm flipH="1">
            <a:off x="951111" y="4363848"/>
            <a:ext cx="494700" cy="4848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68" name="Google Shape;268;p9"/>
          <p:cNvCxnSpPr>
            <a:stCxn id="264" idx="2"/>
          </p:cNvCxnSpPr>
          <p:nvPr/>
        </p:nvCxnSpPr>
        <p:spPr>
          <a:xfrm>
            <a:off x="1445811" y="4363848"/>
            <a:ext cx="575700" cy="5232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69" name="Google Shape;269;p9"/>
          <p:cNvSpPr txBox="1"/>
          <p:nvPr/>
        </p:nvSpPr>
        <p:spPr>
          <a:xfrm>
            <a:off x="1750655" y="4476318"/>
            <a:ext cx="342317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/>
          </a:p>
        </p:txBody>
      </p:sp>
      <p:sp>
        <p:nvSpPr>
          <p:cNvPr id="270" name="Google Shape;270;p9"/>
          <p:cNvSpPr txBox="1"/>
          <p:nvPr/>
        </p:nvSpPr>
        <p:spPr>
          <a:xfrm>
            <a:off x="951072" y="4436684"/>
            <a:ext cx="342317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142403" y="5689769"/>
            <a:ext cx="737358" cy="331914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Class #1</a:t>
            </a: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1172819" y="5688609"/>
            <a:ext cx="724315" cy="339262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Class #0 </a:t>
            </a:r>
            <a:endParaRPr/>
          </a:p>
        </p:txBody>
      </p:sp>
      <p:cxnSp>
        <p:nvCxnSpPr>
          <p:cNvPr id="273" name="Google Shape;273;p9"/>
          <p:cNvCxnSpPr/>
          <p:nvPr/>
        </p:nvCxnSpPr>
        <p:spPr>
          <a:xfrm flipH="1">
            <a:off x="464419" y="5193008"/>
            <a:ext cx="494739" cy="484712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74" name="Google Shape;274;p9"/>
          <p:cNvCxnSpPr/>
          <p:nvPr/>
        </p:nvCxnSpPr>
        <p:spPr>
          <a:xfrm>
            <a:off x="959158" y="5193008"/>
            <a:ext cx="575819" cy="523168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75" name="Google Shape;275;p9"/>
          <p:cNvSpPr txBox="1"/>
          <p:nvPr/>
        </p:nvSpPr>
        <p:spPr>
          <a:xfrm>
            <a:off x="1264002" y="5305478"/>
            <a:ext cx="342317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/>
          </a:p>
        </p:txBody>
      </p:sp>
      <p:sp>
        <p:nvSpPr>
          <p:cNvPr id="276" name="Google Shape;276;p9"/>
          <p:cNvSpPr txBox="1"/>
          <p:nvPr/>
        </p:nvSpPr>
        <p:spPr>
          <a:xfrm>
            <a:off x="464419" y="5265844"/>
            <a:ext cx="342317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/>
          </a:p>
        </p:txBody>
      </p:sp>
      <p:sp>
        <p:nvSpPr>
          <p:cNvPr id="277" name="Google Shape;277;p9"/>
          <p:cNvSpPr/>
          <p:nvPr/>
        </p:nvSpPr>
        <p:spPr>
          <a:xfrm>
            <a:off x="3325038" y="3981386"/>
            <a:ext cx="799705" cy="382462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Savings&gt;$1M</a:t>
            </a: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2908136" y="4860609"/>
            <a:ext cx="737358" cy="331914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Age &gt; 45? </a:t>
            </a:r>
            <a:endParaRPr/>
          </a:p>
        </p:txBody>
      </p:sp>
      <p:sp>
        <p:nvSpPr>
          <p:cNvPr id="279" name="Google Shape;279;p9"/>
          <p:cNvSpPr/>
          <p:nvPr/>
        </p:nvSpPr>
        <p:spPr>
          <a:xfrm>
            <a:off x="3938552" y="4859449"/>
            <a:ext cx="724315" cy="339262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Class #0 </a:t>
            </a:r>
            <a:endParaRPr/>
          </a:p>
        </p:txBody>
      </p:sp>
      <p:cxnSp>
        <p:nvCxnSpPr>
          <p:cNvPr id="280" name="Google Shape;280;p9"/>
          <p:cNvCxnSpPr>
            <a:stCxn id="277" idx="2"/>
          </p:cNvCxnSpPr>
          <p:nvPr/>
        </p:nvCxnSpPr>
        <p:spPr>
          <a:xfrm flipH="1">
            <a:off x="3230191" y="4363848"/>
            <a:ext cx="494700" cy="4848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81" name="Google Shape;281;p9"/>
          <p:cNvCxnSpPr>
            <a:stCxn id="277" idx="2"/>
          </p:cNvCxnSpPr>
          <p:nvPr/>
        </p:nvCxnSpPr>
        <p:spPr>
          <a:xfrm>
            <a:off x="3724891" y="4363848"/>
            <a:ext cx="575700" cy="5232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82" name="Google Shape;282;p9"/>
          <p:cNvSpPr txBox="1"/>
          <p:nvPr/>
        </p:nvSpPr>
        <p:spPr>
          <a:xfrm>
            <a:off x="4029735" y="4476318"/>
            <a:ext cx="342317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/>
          </a:p>
        </p:txBody>
      </p:sp>
      <p:sp>
        <p:nvSpPr>
          <p:cNvPr id="283" name="Google Shape;283;p9"/>
          <p:cNvSpPr txBox="1"/>
          <p:nvPr/>
        </p:nvSpPr>
        <p:spPr>
          <a:xfrm>
            <a:off x="3230152" y="4436684"/>
            <a:ext cx="342317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/>
          </a:p>
        </p:txBody>
      </p:sp>
      <p:sp>
        <p:nvSpPr>
          <p:cNvPr id="284" name="Google Shape;284;p9"/>
          <p:cNvSpPr/>
          <p:nvPr/>
        </p:nvSpPr>
        <p:spPr>
          <a:xfrm>
            <a:off x="2421483" y="5689769"/>
            <a:ext cx="737358" cy="331914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Class #1</a:t>
            </a:r>
            <a:endParaRPr/>
          </a:p>
        </p:txBody>
      </p:sp>
      <p:sp>
        <p:nvSpPr>
          <p:cNvPr id="285" name="Google Shape;285;p9"/>
          <p:cNvSpPr/>
          <p:nvPr/>
        </p:nvSpPr>
        <p:spPr>
          <a:xfrm>
            <a:off x="3451899" y="5688609"/>
            <a:ext cx="724315" cy="339262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Class #0 </a:t>
            </a:r>
            <a:endParaRPr/>
          </a:p>
        </p:txBody>
      </p:sp>
      <p:cxnSp>
        <p:nvCxnSpPr>
          <p:cNvPr id="286" name="Google Shape;286;p9"/>
          <p:cNvCxnSpPr/>
          <p:nvPr/>
        </p:nvCxnSpPr>
        <p:spPr>
          <a:xfrm flipH="1">
            <a:off x="2743499" y="5193008"/>
            <a:ext cx="494739" cy="484712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87" name="Google Shape;287;p9"/>
          <p:cNvCxnSpPr/>
          <p:nvPr/>
        </p:nvCxnSpPr>
        <p:spPr>
          <a:xfrm>
            <a:off x="3238238" y="5193008"/>
            <a:ext cx="575819" cy="523168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88" name="Google Shape;288;p9"/>
          <p:cNvSpPr txBox="1"/>
          <p:nvPr/>
        </p:nvSpPr>
        <p:spPr>
          <a:xfrm>
            <a:off x="3543082" y="5305478"/>
            <a:ext cx="342317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/>
          </a:p>
        </p:txBody>
      </p:sp>
      <p:sp>
        <p:nvSpPr>
          <p:cNvPr id="289" name="Google Shape;289;p9"/>
          <p:cNvSpPr txBox="1"/>
          <p:nvPr/>
        </p:nvSpPr>
        <p:spPr>
          <a:xfrm>
            <a:off x="2743499" y="5265844"/>
            <a:ext cx="342317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/>
          </a:p>
        </p:txBody>
      </p:sp>
      <p:sp>
        <p:nvSpPr>
          <p:cNvPr id="290" name="Google Shape;290;p9"/>
          <p:cNvSpPr/>
          <p:nvPr/>
        </p:nvSpPr>
        <p:spPr>
          <a:xfrm>
            <a:off x="7279343" y="4010443"/>
            <a:ext cx="799705" cy="382462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Savings&gt;$1M</a:t>
            </a:r>
            <a:endParaRPr/>
          </a:p>
        </p:txBody>
      </p:sp>
      <p:sp>
        <p:nvSpPr>
          <p:cNvPr id="291" name="Google Shape;291;p9"/>
          <p:cNvSpPr/>
          <p:nvPr/>
        </p:nvSpPr>
        <p:spPr>
          <a:xfrm>
            <a:off x="6862441" y="4889666"/>
            <a:ext cx="737358" cy="331914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Age &gt; 45? </a:t>
            </a:r>
            <a:endParaRPr/>
          </a:p>
        </p:txBody>
      </p:sp>
      <p:sp>
        <p:nvSpPr>
          <p:cNvPr id="292" name="Google Shape;292;p9"/>
          <p:cNvSpPr/>
          <p:nvPr/>
        </p:nvSpPr>
        <p:spPr>
          <a:xfrm>
            <a:off x="7892857" y="4888506"/>
            <a:ext cx="724315" cy="339262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Class #0 </a:t>
            </a:r>
            <a:endParaRPr/>
          </a:p>
        </p:txBody>
      </p:sp>
      <p:cxnSp>
        <p:nvCxnSpPr>
          <p:cNvPr id="293" name="Google Shape;293;p9"/>
          <p:cNvCxnSpPr>
            <a:stCxn id="290" idx="2"/>
          </p:cNvCxnSpPr>
          <p:nvPr/>
        </p:nvCxnSpPr>
        <p:spPr>
          <a:xfrm flipH="1">
            <a:off x="7184496" y="4392905"/>
            <a:ext cx="494700" cy="4848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94" name="Google Shape;294;p9"/>
          <p:cNvCxnSpPr>
            <a:stCxn id="290" idx="2"/>
          </p:cNvCxnSpPr>
          <p:nvPr/>
        </p:nvCxnSpPr>
        <p:spPr>
          <a:xfrm>
            <a:off x="7679196" y="4392905"/>
            <a:ext cx="575700" cy="5232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95" name="Google Shape;295;p9"/>
          <p:cNvSpPr txBox="1"/>
          <p:nvPr/>
        </p:nvSpPr>
        <p:spPr>
          <a:xfrm>
            <a:off x="7984040" y="4505375"/>
            <a:ext cx="342317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/>
          </a:p>
        </p:txBody>
      </p:sp>
      <p:sp>
        <p:nvSpPr>
          <p:cNvPr id="296" name="Google Shape;296;p9"/>
          <p:cNvSpPr txBox="1"/>
          <p:nvPr/>
        </p:nvSpPr>
        <p:spPr>
          <a:xfrm>
            <a:off x="7184457" y="4465741"/>
            <a:ext cx="342317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6375788" y="5718826"/>
            <a:ext cx="737358" cy="331914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Class #1</a:t>
            </a:r>
            <a:endParaRPr/>
          </a:p>
        </p:txBody>
      </p:sp>
      <p:sp>
        <p:nvSpPr>
          <p:cNvPr id="298" name="Google Shape;298;p9"/>
          <p:cNvSpPr/>
          <p:nvPr/>
        </p:nvSpPr>
        <p:spPr>
          <a:xfrm>
            <a:off x="7406204" y="5717666"/>
            <a:ext cx="724315" cy="339262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Class #0 </a:t>
            </a:r>
            <a:endParaRPr/>
          </a:p>
        </p:txBody>
      </p:sp>
      <p:cxnSp>
        <p:nvCxnSpPr>
          <p:cNvPr id="299" name="Google Shape;299;p9"/>
          <p:cNvCxnSpPr/>
          <p:nvPr/>
        </p:nvCxnSpPr>
        <p:spPr>
          <a:xfrm flipH="1">
            <a:off x="6697804" y="5222065"/>
            <a:ext cx="494739" cy="484712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00" name="Google Shape;300;p9"/>
          <p:cNvCxnSpPr/>
          <p:nvPr/>
        </p:nvCxnSpPr>
        <p:spPr>
          <a:xfrm>
            <a:off x="7192543" y="5222065"/>
            <a:ext cx="575819" cy="523168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01" name="Google Shape;301;p9"/>
          <p:cNvSpPr txBox="1"/>
          <p:nvPr/>
        </p:nvSpPr>
        <p:spPr>
          <a:xfrm>
            <a:off x="7497387" y="5334535"/>
            <a:ext cx="342317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/>
          </a:p>
        </p:txBody>
      </p:sp>
      <p:sp>
        <p:nvSpPr>
          <p:cNvPr id="302" name="Google Shape;302;p9"/>
          <p:cNvSpPr txBox="1"/>
          <p:nvPr/>
        </p:nvSpPr>
        <p:spPr>
          <a:xfrm>
            <a:off x="6697804" y="5294901"/>
            <a:ext cx="342317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/>
          </a:p>
        </p:txBody>
      </p:sp>
      <p:sp>
        <p:nvSpPr>
          <p:cNvPr id="303" name="Google Shape;303;p9"/>
          <p:cNvSpPr/>
          <p:nvPr/>
        </p:nvSpPr>
        <p:spPr>
          <a:xfrm>
            <a:off x="5133788" y="4917792"/>
            <a:ext cx="152400" cy="15679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5503046" y="4893971"/>
            <a:ext cx="152400" cy="15679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5869107" y="4889601"/>
            <a:ext cx="152400" cy="15679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 txBox="1"/>
          <p:nvPr/>
        </p:nvSpPr>
        <p:spPr>
          <a:xfrm>
            <a:off x="1045958" y="3429000"/>
            <a:ext cx="9316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TREE #1</a:t>
            </a:r>
            <a:endParaRPr/>
          </a:p>
        </p:txBody>
      </p:sp>
      <p:sp>
        <p:nvSpPr>
          <p:cNvPr id="307" name="Google Shape;307;p9"/>
          <p:cNvSpPr txBox="1"/>
          <p:nvPr/>
        </p:nvSpPr>
        <p:spPr>
          <a:xfrm>
            <a:off x="3348223" y="3458218"/>
            <a:ext cx="9316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TREE #2</a:t>
            </a:r>
            <a:endParaRPr/>
          </a:p>
        </p:txBody>
      </p:sp>
      <p:sp>
        <p:nvSpPr>
          <p:cNvPr id="308" name="Google Shape;308;p9"/>
          <p:cNvSpPr txBox="1"/>
          <p:nvPr/>
        </p:nvSpPr>
        <p:spPr>
          <a:xfrm>
            <a:off x="7177142" y="3528641"/>
            <a:ext cx="9637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TREE #N</a:t>
            </a:r>
            <a:endParaRPr/>
          </a:p>
        </p:txBody>
      </p:sp>
      <p:sp>
        <p:nvSpPr>
          <p:cNvPr id="309" name="Google Shape;309;p9"/>
          <p:cNvSpPr/>
          <p:nvPr/>
        </p:nvSpPr>
        <p:spPr>
          <a:xfrm rot="-5400000">
            <a:off x="3947882" y="2263894"/>
            <a:ext cx="430593" cy="8326357"/>
          </a:xfrm>
          <a:prstGeom prst="leftBrace">
            <a:avLst>
              <a:gd fmla="val 111364" name="adj1"/>
              <a:gd fmla="val 50000" name="adj2"/>
            </a:avLst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 txBox="1"/>
          <p:nvPr/>
        </p:nvSpPr>
        <p:spPr>
          <a:xfrm>
            <a:off x="4281922" y="6456218"/>
            <a:ext cx="28312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MAJORITY VOTE = CLASS #1</a:t>
            </a:r>
            <a:endParaRPr/>
          </a:p>
        </p:txBody>
      </p:sp>
      <p:sp>
        <p:nvSpPr>
          <p:cNvPr id="311" name="Google Shape;311;p9"/>
          <p:cNvSpPr txBox="1"/>
          <p:nvPr/>
        </p:nvSpPr>
        <p:spPr>
          <a:xfrm>
            <a:off x="472695" y="6002554"/>
            <a:ext cx="16690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OUT = CLASS #1</a:t>
            </a:r>
            <a:endParaRPr/>
          </a:p>
        </p:txBody>
      </p:sp>
      <p:sp>
        <p:nvSpPr>
          <p:cNvPr id="312" name="Google Shape;312;p9"/>
          <p:cNvSpPr txBox="1"/>
          <p:nvPr/>
        </p:nvSpPr>
        <p:spPr>
          <a:xfrm>
            <a:off x="2381426" y="6002554"/>
            <a:ext cx="16690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OUT = CLASS #1</a:t>
            </a:r>
            <a:endParaRPr/>
          </a:p>
        </p:txBody>
      </p:sp>
      <p:sp>
        <p:nvSpPr>
          <p:cNvPr id="313" name="Google Shape;313;p9"/>
          <p:cNvSpPr txBox="1"/>
          <p:nvPr/>
        </p:nvSpPr>
        <p:spPr>
          <a:xfrm>
            <a:off x="6571680" y="6040775"/>
            <a:ext cx="16690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OUT = CLASS #0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" y="9525"/>
            <a:ext cx="12182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0"/>
          <p:cNvSpPr/>
          <p:nvPr/>
        </p:nvSpPr>
        <p:spPr>
          <a:xfrm>
            <a:off x="661578" y="2695373"/>
            <a:ext cx="7539447" cy="702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CA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0" name="Google Shape;320;p10"/>
          <p:cNvSpPr txBox="1"/>
          <p:nvPr/>
        </p:nvSpPr>
        <p:spPr>
          <a:xfrm>
            <a:off x="-1054101" y="1807649"/>
            <a:ext cx="5940423" cy="509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24359"/>
              </a:buClr>
              <a:buSzPts val="3200"/>
              <a:buFont typeface="Montserrat Black"/>
              <a:buNone/>
            </a:pPr>
            <a:r>
              <a:t/>
            </a:r>
            <a:endParaRPr b="1" sz="3200">
              <a:solidFill>
                <a:srgbClr val="124359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graphicFrame>
        <p:nvGraphicFramePr>
          <p:cNvPr id="321" name="Google Shape;321;p10"/>
          <p:cNvGraphicFramePr/>
          <p:nvPr/>
        </p:nvGraphicFramePr>
        <p:xfrm>
          <a:off x="2811498" y="22893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{842466D0-B5AC-4C3E-A91C-7997C6DEB027}</a:tableStyleId>
              </a:tblPr>
              <a:tblGrid>
                <a:gridCol w="2072800"/>
                <a:gridCol w="2072800"/>
              </a:tblGrid>
              <a:tr h="178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76200">
                      <a:solidFill>
                        <a:srgbClr val="0A091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0A091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0A091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0A091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76200">
                      <a:solidFill>
                        <a:srgbClr val="0A091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0A091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0A091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0A091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40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76200">
                      <a:solidFill>
                        <a:srgbClr val="0A091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0A091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0A091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0A091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76200">
                      <a:solidFill>
                        <a:srgbClr val="0A091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0A091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0A091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0A091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2" name="Google Shape;322;p10"/>
          <p:cNvSpPr/>
          <p:nvPr/>
        </p:nvSpPr>
        <p:spPr>
          <a:xfrm>
            <a:off x="2167629" y="2282256"/>
            <a:ext cx="424543" cy="3594163"/>
          </a:xfrm>
          <a:prstGeom prst="leftBrace">
            <a:avLst>
              <a:gd fmla="val 123718" name="adj1"/>
              <a:gd fmla="val 50000" name="adj2"/>
            </a:avLst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A091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" name="Google Shape;323;p10"/>
          <p:cNvSpPr/>
          <p:nvPr/>
        </p:nvSpPr>
        <p:spPr>
          <a:xfrm rot="5400000">
            <a:off x="4692226" y="-114487"/>
            <a:ext cx="384139" cy="4012246"/>
          </a:xfrm>
          <a:prstGeom prst="leftBrace">
            <a:avLst>
              <a:gd fmla="val 123718" name="adj1"/>
              <a:gd fmla="val 50473" name="adj2"/>
            </a:avLst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A091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" name="Google Shape;324;p10"/>
          <p:cNvSpPr txBox="1"/>
          <p:nvPr/>
        </p:nvSpPr>
        <p:spPr>
          <a:xfrm rot="-5400000">
            <a:off x="551118" y="3820988"/>
            <a:ext cx="22878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PREDICTIONS</a:t>
            </a:r>
            <a:endParaRPr b="1" sz="24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" name="Google Shape;325;p10"/>
          <p:cNvSpPr txBox="1"/>
          <p:nvPr/>
        </p:nvSpPr>
        <p:spPr>
          <a:xfrm>
            <a:off x="3766040" y="1082142"/>
            <a:ext cx="223651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TRUE CLASS</a:t>
            </a:r>
            <a:endParaRPr b="1" sz="24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" name="Google Shape;326;p10"/>
          <p:cNvSpPr txBox="1"/>
          <p:nvPr/>
        </p:nvSpPr>
        <p:spPr>
          <a:xfrm>
            <a:off x="3209243" y="2951214"/>
            <a:ext cx="128753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0B050"/>
                </a:solidFill>
                <a:latin typeface="Roboto"/>
                <a:ea typeface="Roboto"/>
                <a:cs typeface="Roboto"/>
                <a:sym typeface="Roboto"/>
              </a:rPr>
              <a:t>TRUE +</a:t>
            </a:r>
            <a:endParaRPr b="1" sz="2400">
              <a:solidFill>
                <a:srgbClr val="00B0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7" name="Google Shape;327;p10"/>
          <p:cNvSpPr txBox="1"/>
          <p:nvPr/>
        </p:nvSpPr>
        <p:spPr>
          <a:xfrm>
            <a:off x="5314962" y="4737079"/>
            <a:ext cx="121058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0B050"/>
                </a:solidFill>
                <a:latin typeface="Roboto"/>
                <a:ea typeface="Roboto"/>
                <a:cs typeface="Roboto"/>
                <a:sym typeface="Roboto"/>
              </a:rPr>
              <a:t>TRUE -</a:t>
            </a:r>
            <a:endParaRPr b="1" sz="2400">
              <a:solidFill>
                <a:srgbClr val="00B0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" name="Google Shape;328;p10"/>
          <p:cNvSpPr txBox="1"/>
          <p:nvPr/>
        </p:nvSpPr>
        <p:spPr>
          <a:xfrm>
            <a:off x="2411913" y="2890258"/>
            <a:ext cx="3642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b="1" sz="24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" name="Google Shape;329;p10"/>
          <p:cNvSpPr txBox="1"/>
          <p:nvPr/>
        </p:nvSpPr>
        <p:spPr>
          <a:xfrm>
            <a:off x="2428670" y="5050669"/>
            <a:ext cx="2537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endParaRPr b="1" sz="24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10"/>
          <p:cNvSpPr txBox="1"/>
          <p:nvPr/>
        </p:nvSpPr>
        <p:spPr>
          <a:xfrm>
            <a:off x="3687772" y="1820591"/>
            <a:ext cx="3642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b="1" sz="24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p10"/>
          <p:cNvSpPr txBox="1"/>
          <p:nvPr/>
        </p:nvSpPr>
        <p:spPr>
          <a:xfrm>
            <a:off x="5794586" y="1803860"/>
            <a:ext cx="2537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endParaRPr b="1" sz="24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10"/>
          <p:cNvSpPr txBox="1"/>
          <p:nvPr/>
        </p:nvSpPr>
        <p:spPr>
          <a:xfrm>
            <a:off x="5210753" y="2960832"/>
            <a:ext cx="144045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FFC000"/>
                </a:solidFill>
                <a:latin typeface="Roboto"/>
                <a:ea typeface="Roboto"/>
                <a:cs typeface="Roboto"/>
                <a:sym typeface="Roboto"/>
              </a:rPr>
              <a:t>FALSE +</a:t>
            </a:r>
            <a:endParaRPr b="1" sz="2400">
              <a:solidFill>
                <a:srgbClr val="FFC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10"/>
          <p:cNvSpPr txBox="1"/>
          <p:nvPr/>
        </p:nvSpPr>
        <p:spPr>
          <a:xfrm>
            <a:off x="3234554" y="4737079"/>
            <a:ext cx="136351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FALSE -</a:t>
            </a:r>
            <a:endParaRPr b="1" sz="24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4" name="Google Shape;334;p10"/>
          <p:cNvCxnSpPr/>
          <p:nvPr/>
        </p:nvCxnSpPr>
        <p:spPr>
          <a:xfrm flipH="1">
            <a:off x="1456771" y="5565597"/>
            <a:ext cx="1647300" cy="325500"/>
          </a:xfrm>
          <a:prstGeom prst="curvedConnector3">
            <a:avLst>
              <a:gd fmla="val 50000" name="adj1"/>
            </a:avLst>
          </a:prstGeom>
          <a:noFill/>
          <a:ln cap="flat" cmpd="sng" w="57150">
            <a:solidFill>
              <a:srgbClr val="89C8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35" name="Google Shape;335;p10"/>
          <p:cNvCxnSpPr/>
          <p:nvPr/>
        </p:nvCxnSpPr>
        <p:spPr>
          <a:xfrm flipH="1" rot="10800000">
            <a:off x="6536277" y="2471851"/>
            <a:ext cx="1655100" cy="552900"/>
          </a:xfrm>
          <a:prstGeom prst="curvedConnector3">
            <a:avLst>
              <a:gd fmla="val 50000" name="adj1"/>
            </a:avLst>
          </a:prstGeom>
          <a:noFill/>
          <a:ln cap="flat" cmpd="sng" w="57150">
            <a:solidFill>
              <a:srgbClr val="89C8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36" name="Google Shape;336;p10"/>
          <p:cNvSpPr txBox="1"/>
          <p:nvPr/>
        </p:nvSpPr>
        <p:spPr>
          <a:xfrm>
            <a:off x="271974" y="5512334"/>
            <a:ext cx="162508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TYPE II ERROR</a:t>
            </a:r>
            <a:endParaRPr b="1" sz="2400">
              <a:solidFill>
                <a:srgbClr val="0070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" name="Google Shape;337;p10"/>
          <p:cNvSpPr txBox="1"/>
          <p:nvPr/>
        </p:nvSpPr>
        <p:spPr>
          <a:xfrm>
            <a:off x="7513148" y="2677084"/>
            <a:ext cx="140185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TYPE I ERROR</a:t>
            </a:r>
            <a:endParaRPr b="1" sz="2400">
              <a:solidFill>
                <a:srgbClr val="0070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362765" y="514669"/>
            <a:ext cx="294022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CONFUSION MATRIX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" y="9525"/>
            <a:ext cx="12182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1"/>
          <p:cNvSpPr/>
          <p:nvPr/>
        </p:nvSpPr>
        <p:spPr>
          <a:xfrm>
            <a:off x="362765" y="514669"/>
            <a:ext cx="408797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CLASSIFICATION MODEL KPIs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235764" y="1028343"/>
            <a:ext cx="8755835" cy="4801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CA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confusion matrix is used to describe the performance of a classiﬁcation model: 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Char char="o"/>
            </a:pPr>
            <a:r>
              <a:rPr b="1" i="0" lang="en-CA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True positives (TP): </a:t>
            </a:r>
            <a:r>
              <a:rPr b="0" i="0" lang="en-CA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cases when classiﬁer predicted TRUE (they have the disease), and correct class was TRUE (patient has disease).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Char char="o"/>
            </a:pPr>
            <a:r>
              <a:rPr b="1" i="0" lang="en-CA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True negatives (TN): </a:t>
            </a:r>
            <a:r>
              <a:rPr b="0" i="0" lang="en-CA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cases when model predicted FALSE (no disease), and correct class was FALSE (patient do not have disease).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Char char="o"/>
            </a:pPr>
            <a:r>
              <a:rPr b="1" i="0" lang="en-CA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False positives (FP) (Type I error): </a:t>
            </a:r>
            <a:r>
              <a:rPr b="0" i="0" lang="en-CA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classiﬁer predicted TRUE, but correct class was FALSE (patient did not have disease).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Char char="o"/>
            </a:pPr>
            <a:r>
              <a:rPr b="1" i="0" lang="en-CA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False negatives (FN) (Type II error): </a:t>
            </a:r>
            <a:r>
              <a:rPr b="0" i="0" lang="en-CA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classiﬁer predicted FALSE (patient do not have disease), but they actually do have the disease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Char char="o"/>
            </a:pPr>
            <a:r>
              <a:rPr b="1" i="0" lang="en-CA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Classiﬁcation Accuracy </a:t>
            </a:r>
            <a:r>
              <a:rPr b="0" i="0" lang="en-CA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= (TP+TN) / (TP + TN + FP + FN)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Char char="o"/>
            </a:pPr>
            <a:r>
              <a:rPr b="1" i="0" lang="en-CA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Precision</a:t>
            </a:r>
            <a:r>
              <a:rPr b="0" i="0" lang="en-CA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= TP/Total TRUE Predictions = TP/ (TP+FP) (When model predicted TRUE class, how often was it right?)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Char char="o"/>
            </a:pPr>
            <a:r>
              <a:rPr b="1" i="0" lang="en-CA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Recall</a:t>
            </a:r>
            <a:r>
              <a:rPr b="0" i="0" lang="en-CA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= TP/ Actual TRUE = TP/ (TP+FN) (when the class was actually TRUE, how often did the classiﬁer get it right?)</a:t>
            </a:r>
            <a:endParaRPr/>
          </a:p>
          <a:p>
            <a:pPr indent="-1714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" y="9525"/>
            <a:ext cx="12182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12"/>
          <p:cNvSpPr/>
          <p:nvPr/>
        </p:nvSpPr>
        <p:spPr>
          <a:xfrm>
            <a:off x="262943" y="616914"/>
            <a:ext cx="32415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PRECISION VS. RECALL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2"/>
          <p:cNvSpPr txBox="1"/>
          <p:nvPr/>
        </p:nvSpPr>
        <p:spPr>
          <a:xfrm>
            <a:off x="504825" y="1100634"/>
            <a:ext cx="5940423" cy="509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t/>
            </a:r>
            <a:endParaRPr b="1" i="0" sz="3200" u="none" cap="none" strike="noStrike">
              <a:solidFill>
                <a:srgbClr val="124359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266370" y="5368319"/>
            <a:ext cx="1057260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en-CA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Classiﬁcation Accuracy = (TP+TN) / (TP + TN + FP + FN) = 91%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en-CA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Precision = TP/Total TRUE Predictions = TP/ (TP+FP) = ½=50%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en-CA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Recall = TP/ Actual TRUE = TP/ (TP+FN) = 1/9 = 11%</a:t>
            </a:r>
            <a:endParaRPr/>
          </a:p>
        </p:txBody>
      </p:sp>
      <p:graphicFrame>
        <p:nvGraphicFramePr>
          <p:cNvPr id="354" name="Google Shape;354;p12"/>
          <p:cNvGraphicFramePr/>
          <p:nvPr/>
        </p:nvGraphicFramePr>
        <p:xfrm>
          <a:off x="1617995" y="2812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{842466D0-B5AC-4C3E-A91C-7997C6DEB027}</a:tableStyleId>
              </a:tblPr>
              <a:tblGrid>
                <a:gridCol w="1618425"/>
                <a:gridCol w="1618425"/>
              </a:tblGrid>
              <a:tr h="130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76200">
                      <a:solidFill>
                        <a:srgbClr val="0A091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0A091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0A091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0A091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76200">
                      <a:solidFill>
                        <a:srgbClr val="0A091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0A091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0A091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0A091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76200">
                      <a:solidFill>
                        <a:srgbClr val="0A091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0A091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0A091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0A091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76200">
                      <a:solidFill>
                        <a:srgbClr val="0A091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0A091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0A091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0A091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5" name="Google Shape;355;p12"/>
          <p:cNvSpPr/>
          <p:nvPr/>
        </p:nvSpPr>
        <p:spPr>
          <a:xfrm>
            <a:off x="974126" y="2805514"/>
            <a:ext cx="424543" cy="2432167"/>
          </a:xfrm>
          <a:prstGeom prst="leftBrace">
            <a:avLst>
              <a:gd fmla="val 123718" name="adj1"/>
              <a:gd fmla="val 50000" name="adj2"/>
            </a:avLst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A091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6" name="Google Shape;356;p12"/>
          <p:cNvSpPr/>
          <p:nvPr/>
        </p:nvSpPr>
        <p:spPr>
          <a:xfrm rot="5400000">
            <a:off x="3146074" y="761421"/>
            <a:ext cx="384139" cy="3306947"/>
          </a:xfrm>
          <a:prstGeom prst="leftBrace">
            <a:avLst>
              <a:gd fmla="val 123718" name="adj1"/>
              <a:gd fmla="val 50473" name="adj2"/>
            </a:avLst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A091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" name="Google Shape;357;p12"/>
          <p:cNvSpPr txBox="1"/>
          <p:nvPr/>
        </p:nvSpPr>
        <p:spPr>
          <a:xfrm rot="-5400000">
            <a:off x="-675413" y="3854046"/>
            <a:ext cx="22878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oboto"/>
              <a:buNone/>
            </a:pPr>
            <a:r>
              <a:rPr b="1" i="0" lang="en-CA" sz="24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PREDICTIONS</a:t>
            </a:r>
            <a:endParaRPr b="1" i="0" sz="2400" u="none" cap="none" strike="noStrike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" name="Google Shape;358;p12"/>
          <p:cNvSpPr txBox="1"/>
          <p:nvPr/>
        </p:nvSpPr>
        <p:spPr>
          <a:xfrm>
            <a:off x="2118156" y="1586026"/>
            <a:ext cx="223651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oboto"/>
              <a:buNone/>
            </a:pPr>
            <a:r>
              <a:rPr b="1" i="0" lang="en-CA" sz="24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TRUE CLASS</a:t>
            </a:r>
            <a:endParaRPr b="1" i="0" sz="2400" u="none" cap="none" strike="noStrike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9" name="Google Shape;359;p12"/>
          <p:cNvSpPr txBox="1"/>
          <p:nvPr/>
        </p:nvSpPr>
        <p:spPr>
          <a:xfrm>
            <a:off x="1801938" y="3266259"/>
            <a:ext cx="10928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Roboto"/>
              <a:buNone/>
            </a:pPr>
            <a:r>
              <a:rPr b="1" i="0" lang="en-CA" sz="2400" u="none" cap="none" strike="noStrike">
                <a:solidFill>
                  <a:srgbClr val="00B050"/>
                </a:solidFill>
                <a:latin typeface="Roboto"/>
                <a:ea typeface="Roboto"/>
                <a:cs typeface="Roboto"/>
                <a:sym typeface="Roboto"/>
              </a:rPr>
              <a:t>TP = 1</a:t>
            </a:r>
            <a:endParaRPr b="1" i="0" sz="2400" u="none" cap="none" strike="noStrike">
              <a:solidFill>
                <a:srgbClr val="00B0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0" name="Google Shape;360;p12"/>
          <p:cNvSpPr txBox="1"/>
          <p:nvPr/>
        </p:nvSpPr>
        <p:spPr>
          <a:xfrm>
            <a:off x="3438586" y="4526193"/>
            <a:ext cx="128753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Roboto"/>
              <a:buNone/>
            </a:pPr>
            <a:r>
              <a:rPr b="1" i="0" lang="en-CA" sz="2400" u="none" cap="none" strike="noStrike">
                <a:solidFill>
                  <a:srgbClr val="00B050"/>
                </a:solidFill>
                <a:latin typeface="Roboto"/>
                <a:ea typeface="Roboto"/>
                <a:cs typeface="Roboto"/>
                <a:sym typeface="Roboto"/>
              </a:rPr>
              <a:t>TN = 90</a:t>
            </a:r>
            <a:endParaRPr b="1" i="0" sz="2400" u="none" cap="none" strike="noStrike">
              <a:solidFill>
                <a:srgbClr val="00B0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p12"/>
          <p:cNvSpPr txBox="1"/>
          <p:nvPr/>
        </p:nvSpPr>
        <p:spPr>
          <a:xfrm>
            <a:off x="1218410" y="3413516"/>
            <a:ext cx="3642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oboto"/>
              <a:buNone/>
            </a:pPr>
            <a:r>
              <a:rPr b="1" i="0" lang="en-CA" sz="24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b="1" i="0" sz="2400" u="none" cap="none" strike="noStrike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2" name="Google Shape;362;p12"/>
          <p:cNvSpPr txBox="1"/>
          <p:nvPr/>
        </p:nvSpPr>
        <p:spPr>
          <a:xfrm>
            <a:off x="1236897" y="4496684"/>
            <a:ext cx="2537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oboto"/>
              <a:buNone/>
            </a:pPr>
            <a:r>
              <a:rPr b="1" i="0" lang="en-CA" sz="24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endParaRPr b="1" i="0" sz="2400" u="none" cap="none" strike="noStrike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" name="Google Shape;363;p12"/>
          <p:cNvSpPr txBox="1"/>
          <p:nvPr/>
        </p:nvSpPr>
        <p:spPr>
          <a:xfrm>
            <a:off x="2306933" y="2353657"/>
            <a:ext cx="3642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oboto"/>
              <a:buNone/>
            </a:pPr>
            <a:r>
              <a:rPr b="1" i="0" lang="en-CA" sz="24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b="1" i="0" sz="2400" u="none" cap="none" strike="noStrike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12"/>
          <p:cNvSpPr txBox="1"/>
          <p:nvPr/>
        </p:nvSpPr>
        <p:spPr>
          <a:xfrm>
            <a:off x="3823045" y="2297897"/>
            <a:ext cx="2537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oboto"/>
              <a:buNone/>
            </a:pPr>
            <a:r>
              <a:rPr b="1" i="0" lang="en-CA" sz="24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endParaRPr b="1" i="0" sz="2400" u="none" cap="none" strike="noStrike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" name="Google Shape;365;p12"/>
          <p:cNvSpPr txBox="1"/>
          <p:nvPr/>
        </p:nvSpPr>
        <p:spPr>
          <a:xfrm>
            <a:off x="3508223" y="3266259"/>
            <a:ext cx="10928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400"/>
              <a:buFont typeface="Roboto"/>
              <a:buNone/>
            </a:pPr>
            <a:r>
              <a:rPr b="1" i="0" lang="en-CA" sz="2400" u="none" cap="none" strike="noStrike">
                <a:solidFill>
                  <a:srgbClr val="FFC000"/>
                </a:solidFill>
                <a:latin typeface="Roboto"/>
                <a:ea typeface="Roboto"/>
                <a:cs typeface="Roboto"/>
                <a:sym typeface="Roboto"/>
              </a:rPr>
              <a:t>FP = 1</a:t>
            </a:r>
            <a:endParaRPr b="1" i="0" sz="2400" u="none" cap="none" strike="noStrike">
              <a:solidFill>
                <a:srgbClr val="FFC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6" name="Google Shape;366;p12"/>
          <p:cNvSpPr txBox="1"/>
          <p:nvPr/>
        </p:nvSpPr>
        <p:spPr>
          <a:xfrm>
            <a:off x="1846533" y="4542217"/>
            <a:ext cx="111601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oboto"/>
              <a:buNone/>
            </a:pPr>
            <a:r>
              <a:rPr b="1" i="0" lang="en-CA" sz="24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FN = 8</a:t>
            </a:r>
            <a:endParaRPr b="1" i="0" sz="2400" u="none" cap="none" strike="noStrike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" name="Google Shape;367;p12"/>
          <p:cNvSpPr txBox="1"/>
          <p:nvPr/>
        </p:nvSpPr>
        <p:spPr>
          <a:xfrm>
            <a:off x="5083365" y="1809139"/>
            <a:ext cx="406063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CA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Accuracy is generally misleading and is not enough to assess the performance of a classifier.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CA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Recall is an important KPI in situations where:</a:t>
            </a:r>
            <a:endParaRPr/>
          </a:p>
          <a:p>
            <a:pPr indent="-342900" lvl="1" marL="800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en-CA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Dataset is highly imbalanced; cases when you have small cancer patients compared to healthy ones.</a:t>
            </a:r>
            <a:endParaRPr/>
          </a:p>
          <a:p>
            <a:pPr indent="-2286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8" name="Google Shape;368;p12"/>
          <p:cNvSpPr txBox="1"/>
          <p:nvPr/>
        </p:nvSpPr>
        <p:spPr>
          <a:xfrm>
            <a:off x="5747917" y="322299"/>
            <a:ext cx="2998796" cy="1200329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FACTS: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 PATIENTS TOTAL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91 PATIENTS ARE HEALTHY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 PATIENTS HAVE CANCER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" y="9525"/>
            <a:ext cx="12182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3"/>
          <p:cNvSpPr/>
          <p:nvPr/>
        </p:nvSpPr>
        <p:spPr>
          <a:xfrm>
            <a:off x="390395" y="3692104"/>
            <a:ext cx="8067805" cy="2731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CA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F1 Score is an overall measure of a model's accuracy that combines precision and recall.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CA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F1 score is the harmonic mean of precision and recall.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CA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What is the difference between F1 Score and Accuracy?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CA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 unbalanced datasets, if we have large number of true negatives (healthy patients), accuracy could be misleading. Therefore, F1 score might be a better KPI to use since it provides a balance between recall and precision in the presence of unbalanced datasets. </a:t>
            </a:r>
            <a:endParaRPr/>
          </a:p>
        </p:txBody>
      </p:sp>
      <p:sp>
        <p:nvSpPr>
          <p:cNvPr id="375" name="Google Shape;375;p13"/>
          <p:cNvSpPr/>
          <p:nvPr/>
        </p:nvSpPr>
        <p:spPr>
          <a:xfrm>
            <a:off x="572613" y="1508737"/>
            <a:ext cx="9257425" cy="260507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76" name="Google Shape;376;p13"/>
          <p:cNvSpPr/>
          <p:nvPr/>
        </p:nvSpPr>
        <p:spPr>
          <a:xfrm>
            <a:off x="262943" y="616914"/>
            <a:ext cx="14830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F1-SCORE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2019-05-23T09:27:58Z</dcterms:created>
  <dc:creator>Admin</dc:creator>
</cp:coreProperties>
</file>