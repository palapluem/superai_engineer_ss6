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7315200" cy="9601200"/>
  <p:embeddedFontLs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Montserrat Black"/>
      <p:bold r:id="rId31"/>
      <p:boldItalic r:id="rId32"/>
    </p:embeddedFont>
    <p:embeddedFont>
      <p:font typeface="Urbanist Medium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jeSeeS8R6iQIoE4ANKBaSZTCn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F22B0F-1FFD-43B4-B68A-E05529DA757D}">
  <a:tblStyle styleId="{A8F22B0F-1FFD-43B4-B68A-E05529DA75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B0F3FFB-B60E-4791-905F-E2188FE44E6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Black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Medium-italic.fntdata"/><Relationship Id="rId12" Type="http://schemas.openxmlformats.org/officeDocument/2006/relationships/slide" Target="slides/slide6.xml"/><Relationship Id="rId34" Type="http://schemas.openxmlformats.org/officeDocument/2006/relationships/font" Target="fonts/UrbanistMedium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Urbanist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1e5f070f_0_0:notes"/>
          <p:cNvSpPr/>
          <p:nvPr>
            <p:ph idx="2" type="sldImg"/>
          </p:nvPr>
        </p:nvSpPr>
        <p:spPr>
          <a:xfrm>
            <a:off x="406720" y="720090"/>
            <a:ext cx="65025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81e5f070f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d81e5f070f_0_503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4632"/>
            <a:ext cx="12215400" cy="68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81e5f070f_0_503"/>
          <p:cNvSpPr/>
          <p:nvPr/>
        </p:nvSpPr>
        <p:spPr>
          <a:xfrm flipH="1" rot="10800000">
            <a:off x="0" y="6235500"/>
            <a:ext cx="12199500" cy="6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g3d81e5f070f_0_503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g3d81e5f070f_0_503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" name="Google Shape;89;g3d81e5f070f_0_503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" name="Google Shape;90;g3d81e5f070f_0_503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" name="Google Shape;91;g3d81e5f070f_0_503"/>
          <p:cNvSpPr/>
          <p:nvPr/>
        </p:nvSpPr>
        <p:spPr>
          <a:xfrm>
            <a:off x="304800" y="6450000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" name="Google Shape;92;g3d81e5f070f_0_503"/>
          <p:cNvSpPr/>
          <p:nvPr/>
        </p:nvSpPr>
        <p:spPr>
          <a:xfrm>
            <a:off x="6158600" y="6452000"/>
            <a:ext cx="61200" cy="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g3d81e5f070f_0_503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4" name="Google Shape;94;g3d81e5f070f_0_503"/>
          <p:cNvCxnSpPr/>
          <p:nvPr/>
        </p:nvCxnSpPr>
        <p:spPr>
          <a:xfrm>
            <a:off x="318400" y="6244400"/>
            <a:ext cx="1156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g3d81e5f070f_0_503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6" name="Google Shape;96;g3d81e5f070f_0_503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7" name="Google Shape;97;g3d81e5f070f_0_503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8" name="Google Shape;98;g3d81e5f070f_0_503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d81e5f070f_0_518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33" y="1563333"/>
            <a:ext cx="6908464" cy="4657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d81e5f070f_0_518"/>
          <p:cNvSpPr txBox="1"/>
          <p:nvPr>
            <p:ph idx="1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g3d81e5f070f_0_518"/>
          <p:cNvSpPr txBox="1"/>
          <p:nvPr>
            <p:ph idx="2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3" name="Google Shape;103;g3d81e5f070f_0_518"/>
          <p:cNvSpPr txBox="1"/>
          <p:nvPr>
            <p:ph idx="3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" name="Google Shape;104;g3d81e5f070f_0_518"/>
          <p:cNvSpPr txBox="1"/>
          <p:nvPr>
            <p:ph type="title"/>
          </p:nvPr>
        </p:nvSpPr>
        <p:spPr>
          <a:xfrm>
            <a:off x="370000" y="304800"/>
            <a:ext cx="5205900" cy="1550400"/>
          </a:xfrm>
          <a:prstGeom prst="rect">
            <a:avLst/>
          </a:prstGeom>
        </p:spPr>
        <p:txBody>
          <a:bodyPr anchorCtr="0" anchor="ctr" bIns="121900" lIns="0" spcFirstLastPara="1" rIns="12190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5" name="Google Shape;105;g3d81e5f070f_0_518"/>
          <p:cNvCxnSpPr/>
          <p:nvPr/>
        </p:nvCxnSpPr>
        <p:spPr>
          <a:xfrm>
            <a:off x="318400" y="6244400"/>
            <a:ext cx="1156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g3d81e5f070f_0_518"/>
          <p:cNvSpPr txBox="1"/>
          <p:nvPr>
            <p:ph idx="4" type="subTitle"/>
          </p:nvPr>
        </p:nvSpPr>
        <p:spPr>
          <a:xfrm>
            <a:off x="6326100" y="516200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" name="Google Shape;107;g3d81e5f070f_0_518"/>
          <p:cNvSpPr txBox="1"/>
          <p:nvPr>
            <p:ph idx="5" type="subTitle"/>
          </p:nvPr>
        </p:nvSpPr>
        <p:spPr>
          <a:xfrm>
            <a:off x="6326100" y="1422117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" name="Google Shape;108;g3d81e5f070f_0_518"/>
          <p:cNvSpPr txBox="1"/>
          <p:nvPr>
            <p:ph idx="6" type="subTitle"/>
          </p:nvPr>
        </p:nvSpPr>
        <p:spPr>
          <a:xfrm>
            <a:off x="6326100" y="2323600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9" name="Google Shape;109;g3d81e5f070f_0_518"/>
          <p:cNvSpPr txBox="1"/>
          <p:nvPr>
            <p:ph idx="7" type="subTitle"/>
          </p:nvPr>
        </p:nvSpPr>
        <p:spPr>
          <a:xfrm>
            <a:off x="6326100" y="3227350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0" name="Google Shape;110;g3d81e5f070f_0_518"/>
          <p:cNvSpPr txBox="1"/>
          <p:nvPr>
            <p:ph idx="8" type="subTitle"/>
          </p:nvPr>
        </p:nvSpPr>
        <p:spPr>
          <a:xfrm>
            <a:off x="6326100" y="4131033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1" name="Google Shape;111;g3d81e5f070f_0_518"/>
          <p:cNvSpPr txBox="1"/>
          <p:nvPr>
            <p:ph idx="9" type="subTitle"/>
          </p:nvPr>
        </p:nvSpPr>
        <p:spPr>
          <a:xfrm>
            <a:off x="6326100" y="5034767"/>
            <a:ext cx="4299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" name="Google Shape;112;g3d81e5f070f_0_518"/>
          <p:cNvSpPr txBox="1"/>
          <p:nvPr>
            <p:ph idx="13" type="subTitle"/>
          </p:nvPr>
        </p:nvSpPr>
        <p:spPr>
          <a:xfrm>
            <a:off x="6756100" y="516200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g3d81e5f070f_0_518"/>
          <p:cNvSpPr txBox="1"/>
          <p:nvPr>
            <p:ph idx="14" type="subTitle"/>
          </p:nvPr>
        </p:nvSpPr>
        <p:spPr>
          <a:xfrm>
            <a:off x="6756100" y="1415450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d81e5f070f_0_518"/>
          <p:cNvSpPr txBox="1"/>
          <p:nvPr>
            <p:ph idx="15" type="subTitle"/>
          </p:nvPr>
        </p:nvSpPr>
        <p:spPr>
          <a:xfrm>
            <a:off x="6756100" y="2319133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g3d81e5f070f_0_518"/>
          <p:cNvSpPr txBox="1"/>
          <p:nvPr>
            <p:ph idx="16" type="subTitle"/>
          </p:nvPr>
        </p:nvSpPr>
        <p:spPr>
          <a:xfrm>
            <a:off x="6756100" y="3232133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g3d81e5f070f_0_518"/>
          <p:cNvSpPr txBox="1"/>
          <p:nvPr>
            <p:ph idx="17" type="subTitle"/>
          </p:nvPr>
        </p:nvSpPr>
        <p:spPr>
          <a:xfrm>
            <a:off x="6756100" y="4126583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g3d81e5f070f_0_518"/>
          <p:cNvSpPr txBox="1"/>
          <p:nvPr>
            <p:ph idx="18" type="subTitle"/>
          </p:nvPr>
        </p:nvSpPr>
        <p:spPr>
          <a:xfrm>
            <a:off x="6756100" y="5021050"/>
            <a:ext cx="4356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g3d81e5f070f_0_518"/>
          <p:cNvSpPr/>
          <p:nvPr/>
        </p:nvSpPr>
        <p:spPr>
          <a:xfrm>
            <a:off x="304800" y="6450000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" name="Google Shape;119;g3d81e5f070f_0_518"/>
          <p:cNvSpPr/>
          <p:nvPr/>
        </p:nvSpPr>
        <p:spPr>
          <a:xfrm>
            <a:off x="6158600" y="6452000"/>
            <a:ext cx="61200" cy="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74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jpg"/><Relationship Id="rId5" Type="http://schemas.openxmlformats.org/officeDocument/2006/relationships/hyperlink" Target="https://pixabay.com/illustrations/family-customer-target-group-ball-563968/" TargetMode="External"/><Relationship Id="rId6" Type="http://schemas.openxmlformats.org/officeDocument/2006/relationships/hyperlink" Target="https://www.kaggle.com/blastchar/telco-customer-chur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commons.wikimedia.org/wiki/File:Roccurves.png" TargetMode="External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www.kaggle.com/uciml/default-of-credit-card-clients-dataset" TargetMode="External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1e5f070f_0_0"/>
          <p:cNvSpPr/>
          <p:nvPr/>
        </p:nvSpPr>
        <p:spPr>
          <a:xfrm>
            <a:off x="304800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g3d81e5f070f_0_0"/>
          <p:cNvSpPr/>
          <p:nvPr/>
        </p:nvSpPr>
        <p:spPr>
          <a:xfrm>
            <a:off x="2292233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26" name="Google Shape;126;g3d81e5f070f_0_0"/>
          <p:cNvGrpSpPr/>
          <p:nvPr/>
        </p:nvGrpSpPr>
        <p:grpSpPr>
          <a:xfrm>
            <a:off x="304789" y="4169800"/>
            <a:ext cx="310792" cy="310792"/>
            <a:chOff x="259788" y="1923155"/>
            <a:chExt cx="409800" cy="409800"/>
          </a:xfrm>
        </p:grpSpPr>
        <p:sp>
          <p:nvSpPr>
            <p:cNvPr id="127" name="Google Shape;127;g3d81e5f070f_0_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28" name="Google Shape;128;g3d81e5f070f_0_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29" name="Google Shape;129;g3d81e5f070f_0_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g3d81e5f070f_0_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1" name="Google Shape;131;g3d81e5f070f_0_0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CA">
                <a:solidFill>
                  <a:schemeClr val="lt1"/>
                </a:solidFill>
              </a:rPr>
              <a:t>Machine </a:t>
            </a:r>
            <a:r>
              <a:rPr lang="en-CA">
                <a:solidFill>
                  <a:schemeClr val="lt1"/>
                </a:solidFill>
              </a:rPr>
              <a:t>Learning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g3d81e5f070f_0_0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 AI Engineer Season 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33" name="Google Shape;133;g3d81e5f070f_0_0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AIAT</a:t>
            </a:r>
            <a:endParaRPr/>
          </a:p>
        </p:txBody>
      </p:sp>
      <p:sp>
        <p:nvSpPr>
          <p:cNvPr id="134" name="Google Shape;134;g3d81e5f070f_0_0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 </a:t>
            </a:r>
            <a:endParaRPr/>
          </a:p>
        </p:txBody>
      </p:sp>
      <p:sp>
        <p:nvSpPr>
          <p:cNvPr id="135" name="Google Shape;135;g3d81e5f070f_0_0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2026</a:t>
            </a:r>
            <a:endParaRPr/>
          </a:p>
        </p:txBody>
      </p:sp>
      <p:sp>
        <p:nvSpPr>
          <p:cNvPr id="136" name="Google Shape;136;g3d81e5f070f_0_0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Aslan B. Wong</a:t>
            </a:r>
            <a:endParaRPr/>
          </a:p>
        </p:txBody>
      </p:sp>
      <p:sp>
        <p:nvSpPr>
          <p:cNvPr id="137" name="Google Shape;137;g3d81e5f070f_0_0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Arttie🉑</a:t>
            </a:r>
            <a:endParaRPr/>
          </a:p>
        </p:txBody>
      </p:sp>
      <p:sp>
        <p:nvSpPr>
          <p:cNvPr id="138" name="Google Shape;138;g3d81e5f070f_0_0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CA" sz="1900"/>
              <a:t>Level 2 /  21 April 2026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/>
          </a:p>
        </p:txBody>
      </p:sp>
      <p:sp>
        <p:nvSpPr>
          <p:cNvPr id="139" name="Google Shape;139;g3d81e5f070f_0_0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349997" y="1981200"/>
            <a:ext cx="52126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ANALYSIS IN DATA SCIENCE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349997" y="1981200"/>
            <a:ext cx="574092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52399" y="273160"/>
            <a:ext cx="112014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3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131062" y="1232862"/>
            <a:ext cx="1175613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this hands-on project, we will train several classification algorithms namely Logistic Regression, Support Vector Machine, K-Nearest Neighbors, and Random Forest Classifier to predict the churn rate of Telecommunication Customers.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Telecom service providers use customer attrition analysis as one of their key business metrics because the cost of retaining an existing customer is far less than acquiring a new one.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Science empower companies by analyzing customer attrition rate based on several factors which includes various services subscribed by the customers, tenure rate, gender, senior citizen, payment method, etc.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amily, Customer, Target Group, Ball, Round, Buyer" id="159" name="Google Shape;1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4044122"/>
            <a:ext cx="3626409" cy="234205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2248995" y="6390754"/>
            <a:ext cx="67484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b="0" i="0" lang="en-CA" sz="12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https://pixabay.com/illustrations/family-customer-target-group-ball-563968/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Source : </a:t>
            </a:r>
            <a:r>
              <a:rPr lang="en-CA" sz="1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https://www.kaggle.com/blastchar/telco-customer-churn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2353488" y="571578"/>
            <a:ext cx="8534400" cy="3025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319965" y="2820569"/>
            <a:ext cx="3040912" cy="1552354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CLASSIFIER MODEL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241714" y="1824740"/>
            <a:ext cx="103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942A6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1800" u="sng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433736" y="3411591"/>
            <a:ext cx="749417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435718" y="2188171"/>
            <a:ext cx="218635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ATTRITION </a:t>
            </a:r>
            <a:endParaRPr/>
          </a:p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(0 or 1)</a:t>
            </a:r>
            <a:endParaRPr/>
          </a:p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942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942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942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529296" y="1787662"/>
            <a:ext cx="574159" cy="3753817"/>
          </a:xfrm>
          <a:prstGeom prst="leftBrace">
            <a:avLst>
              <a:gd fmla="val 82407" name="adj1"/>
              <a:gd fmla="val 50000" name="adj2"/>
            </a:avLst>
          </a:prstGeom>
          <a:noFill/>
          <a:ln cap="flat" cmpd="sng" w="57150">
            <a:solidFill>
              <a:srgbClr val="1942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 rot="10800000">
            <a:off x="10313729" y="1822730"/>
            <a:ext cx="574159" cy="3775596"/>
          </a:xfrm>
          <a:prstGeom prst="leftBrace">
            <a:avLst>
              <a:gd fmla="val 82407" name="adj1"/>
              <a:gd fmla="val 50000" name="adj2"/>
            </a:avLst>
          </a:prstGeom>
          <a:noFill/>
          <a:ln cap="flat" cmpd="sng" w="57150">
            <a:solidFill>
              <a:srgbClr val="1942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336479" y="3385849"/>
            <a:ext cx="957083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52400" y="273160"/>
            <a:ext cx="10349952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INPUTS AND OUTPUTS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-52796" y="2868759"/>
            <a:ext cx="313671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PAYMENT METHOD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TENURE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SUBSCRIBED SERVICES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TOTAL MINUTES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STATE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AREA CODE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INTERNATIONAL PLAN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DAY MINUTES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1942A6"/>
                </a:solidFill>
                <a:latin typeface="Montserrat"/>
                <a:ea typeface="Montserrat"/>
                <a:cs typeface="Montserrat"/>
                <a:sym typeface="Montserrat"/>
              </a:rPr>
              <a:t>NIGHT MINUTES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942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75353" y="1735913"/>
            <a:ext cx="574159" cy="3753817"/>
          </a:xfrm>
          <a:prstGeom prst="leftBrace">
            <a:avLst>
              <a:gd fmla="val 82407" name="adj1"/>
              <a:gd fmla="val 50000" name="adj2"/>
            </a:avLst>
          </a:prstGeom>
          <a:noFill/>
          <a:ln cap="flat" cmpd="sng" w="57150">
            <a:solidFill>
              <a:srgbClr val="1942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 rot="10800000">
            <a:off x="2610779" y="1786154"/>
            <a:ext cx="574159" cy="3775596"/>
          </a:xfrm>
          <a:prstGeom prst="leftBrace">
            <a:avLst>
              <a:gd fmla="val 82407" name="adj1"/>
              <a:gd fmla="val 50000" name="adj2"/>
            </a:avLst>
          </a:prstGeom>
          <a:noFill/>
          <a:ln cap="flat" cmpd="sng" w="57150">
            <a:solidFill>
              <a:srgbClr val="1942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661687" y="1818839"/>
            <a:ext cx="62166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942A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349997" y="1981200"/>
            <a:ext cx="52126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MODELS KPIs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262083" y="218357"/>
            <a:ext cx="98274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MODEL KPIs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t/>
            </a:r>
            <a:endParaRPr b="1" sz="320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-69584" y="1180694"/>
            <a:ext cx="6436461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Classiﬁcation Accuracy = (TP+TN) / (TP + TN + FP + FN) </a:t>
            </a:r>
            <a:endParaRPr/>
          </a:p>
          <a:p>
            <a:pPr indent="-1841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Misclassiﬁcation rate (Error Rate) = (FP + FN) / (TP + TN + FP + FN) </a:t>
            </a:r>
            <a:endParaRPr/>
          </a:p>
          <a:p>
            <a:pPr indent="-1841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1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 </a:t>
            </a: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TP/Total TRUE Predictions = TP/ (TP+FP) (When model predicted TRUE class, how often was it right?) </a:t>
            </a:r>
            <a:endParaRPr/>
          </a:p>
          <a:p>
            <a:pPr indent="-1841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1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TP/ Actual TRUE = TP/ (TP+FN) (when the class was actually TRUE, how often did the classiﬁer get it right?)</a:t>
            </a:r>
            <a:endParaRPr/>
          </a:p>
        </p:txBody>
      </p:sp>
      <p:graphicFrame>
        <p:nvGraphicFramePr>
          <p:cNvPr id="193" name="Google Shape;193;p7"/>
          <p:cNvGraphicFramePr/>
          <p:nvPr/>
        </p:nvGraphicFramePr>
        <p:xfrm>
          <a:off x="7543800" y="18041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{A8F22B0F-1FFD-43B4-B68A-E05529DA757D}</a:tableStyleId>
              </a:tblPr>
              <a:tblGrid>
                <a:gridCol w="2072800"/>
                <a:gridCol w="2072800"/>
              </a:tblGrid>
              <a:tr h="178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</a:tr>
              <a:tr h="174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7"/>
          <p:cNvSpPr/>
          <p:nvPr/>
        </p:nvSpPr>
        <p:spPr>
          <a:xfrm>
            <a:off x="6899931" y="1797065"/>
            <a:ext cx="424543" cy="3594163"/>
          </a:xfrm>
          <a:prstGeom prst="leftBrace">
            <a:avLst>
              <a:gd fmla="val 123718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7"/>
          <p:cNvSpPr/>
          <p:nvPr/>
        </p:nvSpPr>
        <p:spPr>
          <a:xfrm rot="5400000">
            <a:off x="9424528" y="-599678"/>
            <a:ext cx="384139" cy="4012246"/>
          </a:xfrm>
          <a:prstGeom prst="leftBrace">
            <a:avLst>
              <a:gd fmla="val 123718" name="adj1"/>
              <a:gd fmla="val 50473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7"/>
          <p:cNvSpPr txBox="1"/>
          <p:nvPr/>
        </p:nvSpPr>
        <p:spPr>
          <a:xfrm rot="-5400000">
            <a:off x="5578769" y="3318137"/>
            <a:ext cx="2287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PREDICTIONS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667589" y="1351472"/>
            <a:ext cx="22365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CLASS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941545" y="2466023"/>
            <a:ext cx="12875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TRUE +</a:t>
            </a:r>
            <a:endParaRPr b="1" sz="240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0047264" y="4251888"/>
            <a:ext cx="12105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TRUE -</a:t>
            </a:r>
            <a:endParaRPr b="1" sz="240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7144215" y="2405067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7160972" y="4565478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420074" y="1335400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0526888" y="1318669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9943055" y="2475641"/>
            <a:ext cx="1440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FALSE +</a:t>
            </a:r>
            <a:endParaRPr b="1" sz="2400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7966856" y="4251888"/>
            <a:ext cx="13635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 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8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268370" y="179293"/>
            <a:ext cx="1100355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DIABETES EXAMPLE 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03442" y="4827932"/>
            <a:ext cx="105726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Classiﬁcation Accuracy = (TP+TN) / (TP + TN + FP + FN) = 91%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 = TP/Total TRUE Predictions = TP/ (TP+FP) = ½=50%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= TP/ Actual TRUE = TP/ (TP+FN) = 1/9 = 11%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-2057104" y="1971850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4359"/>
              </a:buClr>
              <a:buSzPts val="3200"/>
              <a:buFont typeface="Montserrat Black"/>
              <a:buNone/>
            </a:pPr>
            <a:r>
              <a:t/>
            </a:r>
            <a:endParaRPr b="1" i="0" sz="3200" u="none" cap="none" strike="noStrike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aphicFrame>
        <p:nvGraphicFramePr>
          <p:cNvPr id="215" name="Google Shape;215;p8"/>
          <p:cNvGraphicFramePr/>
          <p:nvPr/>
        </p:nvGraphicFramePr>
        <p:xfrm>
          <a:off x="1808495" y="24535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{3B0F3FFB-B60E-4791-905F-E2188FE44E62}</a:tableStyleId>
              </a:tblPr>
              <a:tblGrid>
                <a:gridCol w="1618425"/>
                <a:gridCol w="1618425"/>
              </a:tblGrid>
              <a:tr h="13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8"/>
          <p:cNvSpPr/>
          <p:nvPr/>
        </p:nvSpPr>
        <p:spPr>
          <a:xfrm>
            <a:off x="1164626" y="2446457"/>
            <a:ext cx="424543" cy="2432167"/>
          </a:xfrm>
          <a:prstGeom prst="leftBrace">
            <a:avLst>
              <a:gd fmla="val 123718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8"/>
          <p:cNvSpPr/>
          <p:nvPr/>
        </p:nvSpPr>
        <p:spPr>
          <a:xfrm rot="5400000">
            <a:off x="3336574" y="402364"/>
            <a:ext cx="384139" cy="3306947"/>
          </a:xfrm>
          <a:prstGeom prst="leftBrace">
            <a:avLst>
              <a:gd fmla="val 123718" name="adj1"/>
              <a:gd fmla="val 50473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8"/>
          <p:cNvSpPr txBox="1"/>
          <p:nvPr/>
        </p:nvSpPr>
        <p:spPr>
          <a:xfrm rot="-5400000">
            <a:off x="-484913" y="3494989"/>
            <a:ext cx="2287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PREDICTIONS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2308656" y="1226969"/>
            <a:ext cx="22365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CLASS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1992438" y="2907202"/>
            <a:ext cx="109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TP = 1</a:t>
            </a:r>
            <a:endParaRPr b="1" i="0" sz="2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3629086" y="4167136"/>
            <a:ext cx="12875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TN = 90</a:t>
            </a:r>
            <a:endParaRPr b="1" i="0" sz="2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1408910" y="3054459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427397" y="4137627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2497433" y="1994600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4013545" y="1938840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698723" y="2907202"/>
            <a:ext cx="109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FP = 1</a:t>
            </a:r>
            <a:endParaRPr b="1" i="0" sz="2400" u="none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2037033" y="4183160"/>
            <a:ext cx="11160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FN = 8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5504740" y="2581918"/>
            <a:ext cx="5767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Accuracy is generally misleading and is not enough to assess the performance of a classifier.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is an important KPI in situations when dataset is highly unbalanced; cases when you have small diabetes patients compared to healthy ones.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6324393" y="1198621"/>
            <a:ext cx="2998796" cy="1200329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PATIENTS TOTAL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 PATIENTS ARE HEALTHY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PATIENTS HAVE DIABETES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9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302428" y="0"/>
            <a:ext cx="6805325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ROC (RECEIVER OPERATING CHARACTERISTIC CURVE) 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2775782" y="6223895"/>
            <a:ext cx="56685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Photo Credit: https://commons.wikimedia.org/wiki/File:Roccurves.png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254187" y="1349142"/>
            <a:ext cx="680532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ROC Curve is a metric that assesses the model ability to distinguish between binary (0 or 1) classes.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ROC curve is created by plotting the true positive rate (TPR) against the false positive rate (FPR) at various threshold settings.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Points above the diagonal line represent good classification (better than random)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model performance improves if it becomes skewed towards the upper left corner. </a:t>
            </a:r>
            <a:endParaRPr/>
          </a:p>
        </p:txBody>
      </p:sp>
      <p:sp>
        <p:nvSpPr>
          <p:cNvPr descr="-\infty " id="238" name="Google Shape;238;p9"/>
          <p:cNvSpPr/>
          <p:nvPr/>
        </p:nvSpPr>
        <p:spPr>
          <a:xfrm>
            <a:off x="47936150" y="-2206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723421"/>
            <a:ext cx="4969299" cy="358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0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300081" y="169561"/>
            <a:ext cx="11591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AUC (AREA UNDER CURVE) 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392240" y="1306361"/>
            <a:ext cx="588706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light blue area represents the area Under the Curve of the Receiver Operating Characteristic (AUROC).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diagonal dashed red line represents the ROC curve of a random predictor with AUROC of 0.5.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ROC AUC = 1, this means perfect classifier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higher the AUC, the better the model is at predicting 0s as 0s and 1s as 1s.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-\infty " id="247" name="Google Shape;247;p10"/>
          <p:cNvSpPr/>
          <p:nvPr/>
        </p:nvSpPr>
        <p:spPr>
          <a:xfrm>
            <a:off x="47936150" y="-2206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 flipH="1" rot="10800000">
            <a:off x="1454530" y="5106927"/>
            <a:ext cx="4795616" cy="32711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9" name="Google Shape;249;p10"/>
          <p:cNvCxnSpPr/>
          <p:nvPr/>
        </p:nvCxnSpPr>
        <p:spPr>
          <a:xfrm rot="10800000">
            <a:off x="1455627" y="1454909"/>
            <a:ext cx="18137" cy="370695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" name="Google Shape;250;p10"/>
          <p:cNvSpPr txBox="1"/>
          <p:nvPr/>
        </p:nvSpPr>
        <p:spPr>
          <a:xfrm>
            <a:off x="2662031" y="5088806"/>
            <a:ext cx="36182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 rot="-5400000">
            <a:off x="-574460" y="2969960"/>
            <a:ext cx="3448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POSITIVE RATE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473764" y="1541580"/>
            <a:ext cx="4795616" cy="3540918"/>
          </a:xfrm>
          <a:custGeom>
            <a:rect b="b" l="l" r="r" t="t"/>
            <a:pathLst>
              <a:path extrusionOk="0" h="3108613" w="5191125">
                <a:moveTo>
                  <a:pt x="0" y="3108613"/>
                </a:moveTo>
                <a:cubicBezTo>
                  <a:pt x="154781" y="2637919"/>
                  <a:pt x="309563" y="2167225"/>
                  <a:pt x="657225" y="1775113"/>
                </a:cubicBezTo>
                <a:cubicBezTo>
                  <a:pt x="1004887" y="1383001"/>
                  <a:pt x="1539875" y="1016288"/>
                  <a:pt x="2085975" y="755938"/>
                </a:cubicBezTo>
                <a:cubicBezTo>
                  <a:pt x="2632075" y="495588"/>
                  <a:pt x="3416300" y="333663"/>
                  <a:pt x="3933825" y="213013"/>
                </a:cubicBezTo>
                <a:cubicBezTo>
                  <a:pt x="4451350" y="92363"/>
                  <a:pt x="5029200" y="-69562"/>
                  <a:pt x="5191125" y="32038"/>
                </a:cubicBezTo>
              </a:path>
            </a:pathLst>
          </a:custGeom>
          <a:solidFill>
            <a:srgbClr val="8FF6FF"/>
          </a:solidFill>
          <a:ln cap="flat" cmpd="sng" w="762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0"/>
          <p:cNvCxnSpPr>
            <a:endCxn id="252" idx="4"/>
          </p:cNvCxnSpPr>
          <p:nvPr/>
        </p:nvCxnSpPr>
        <p:spPr>
          <a:xfrm flipH="1" rot="10800000">
            <a:off x="1481800" y="1578111"/>
            <a:ext cx="4787700" cy="35367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10"/>
          <p:cNvSpPr/>
          <p:nvPr/>
        </p:nvSpPr>
        <p:spPr>
          <a:xfrm>
            <a:off x="1702035" y="1633702"/>
            <a:ext cx="4634374" cy="3370747"/>
          </a:xfrm>
          <a:custGeom>
            <a:rect b="b" l="l" r="r" t="t"/>
            <a:pathLst>
              <a:path extrusionOk="0" h="3495675" w="4791075">
                <a:moveTo>
                  <a:pt x="4791075" y="0"/>
                </a:moveTo>
                <a:lnTo>
                  <a:pt x="4714875" y="3476625"/>
                </a:lnTo>
                <a:lnTo>
                  <a:pt x="0" y="3495675"/>
                </a:lnTo>
                <a:lnTo>
                  <a:pt x="4791075" y="0"/>
                </a:lnTo>
                <a:close/>
              </a:path>
            </a:pathLst>
          </a:custGeom>
          <a:solidFill>
            <a:srgbClr val="8FF6F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 flipH="1" rot="-5400000">
            <a:off x="4526850" y="2931224"/>
            <a:ext cx="1004700" cy="800100"/>
          </a:xfrm>
          <a:prstGeom prst="curvedConnector3">
            <a:avLst>
              <a:gd fmla="val 50005" name="adj1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6" name="Google Shape;256;p10"/>
          <p:cNvSpPr txBox="1"/>
          <p:nvPr/>
        </p:nvSpPr>
        <p:spPr>
          <a:xfrm>
            <a:off x="4612730" y="3772630"/>
            <a:ext cx="14047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RANDOM PREDICTOR</a:t>
            </a:r>
            <a:endParaRPr/>
          </a:p>
        </p:txBody>
      </p:sp>
      <p:cxnSp>
        <p:nvCxnSpPr>
          <p:cNvPr id="257" name="Google Shape;257;p10"/>
          <p:cNvCxnSpPr/>
          <p:nvPr/>
        </p:nvCxnSpPr>
        <p:spPr>
          <a:xfrm rot="10800000">
            <a:off x="3852450" y="1306312"/>
            <a:ext cx="776700" cy="5925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8" name="Google Shape;258;p10"/>
          <p:cNvSpPr txBox="1"/>
          <p:nvPr/>
        </p:nvSpPr>
        <p:spPr>
          <a:xfrm>
            <a:off x="2162997" y="1152475"/>
            <a:ext cx="180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PREDICTOR #1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1497171" y="1560548"/>
            <a:ext cx="4752975" cy="3495675"/>
          </a:xfrm>
          <a:custGeom>
            <a:rect b="b" l="l" r="r" t="t"/>
            <a:pathLst>
              <a:path extrusionOk="0" h="3495675" w="4752975">
                <a:moveTo>
                  <a:pt x="0" y="3495675"/>
                </a:moveTo>
                <a:cubicBezTo>
                  <a:pt x="353219" y="2951956"/>
                  <a:pt x="706438" y="2408237"/>
                  <a:pt x="1200150" y="1952625"/>
                </a:cubicBezTo>
                <a:cubicBezTo>
                  <a:pt x="1693862" y="1497013"/>
                  <a:pt x="2370138" y="1087437"/>
                  <a:pt x="2962275" y="762000"/>
                </a:cubicBezTo>
                <a:cubicBezTo>
                  <a:pt x="3554412" y="436563"/>
                  <a:pt x="4470400" y="157163"/>
                  <a:pt x="4752975" y="0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 rot="10800000">
            <a:off x="3304186" y="1933439"/>
            <a:ext cx="776700" cy="5925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1" name="Google Shape;261;p10"/>
          <p:cNvSpPr txBox="1"/>
          <p:nvPr/>
        </p:nvSpPr>
        <p:spPr>
          <a:xfrm>
            <a:off x="1614733" y="1779602"/>
            <a:ext cx="180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PREDICTOR #2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2362200" y="5767668"/>
            <a:ext cx="105674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Predictor #1 is better than predictor #2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349997" y="1981200"/>
            <a:ext cx="574092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524000"/>
            <a:ext cx="9813235" cy="459817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 txBox="1"/>
          <p:nvPr/>
        </p:nvSpPr>
        <p:spPr>
          <a:xfrm>
            <a:off x="152399" y="273160"/>
            <a:ext cx="112014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DEMO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 txBox="1"/>
          <p:nvPr/>
        </p:nvSpPr>
        <p:spPr>
          <a:xfrm>
            <a:off x="349997" y="1981200"/>
            <a:ext cx="574092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CAPSTONE PROJECT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4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/>
          <p:nvPr/>
        </p:nvSpPr>
        <p:spPr>
          <a:xfrm>
            <a:off x="152400" y="1137251"/>
            <a:ext cx="1169747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Assume that you work as a data scientist at a bank in Taiwan.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bank has collected extensive data about its customers such as demographics, historical payments record, amount of bill dollar values.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has been collected between April 2005 to September 2005.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data consists of 25 variables. Let’s explore these variables in the next slide!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Source: </a:t>
            </a:r>
            <a:r>
              <a:rPr lang="en-CA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https://www.kaggle.com/uciml/default-of-credit-card-clients-dataset</a:t>
            </a:r>
            <a:b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152400" y="273160"/>
            <a:ext cx="103499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/>
          </a:p>
        </p:txBody>
      </p:sp>
      <p:pic>
        <p:nvPicPr>
          <p:cNvPr id="289" name="Google Shape;2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5200" y="3200400"/>
            <a:ext cx="4709070" cy="324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5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5"/>
          <p:cNvSpPr/>
          <p:nvPr/>
        </p:nvSpPr>
        <p:spPr>
          <a:xfrm>
            <a:off x="304800" y="914400"/>
            <a:ext cx="12097079" cy="5709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OUTPUT: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default.payment.next.month: Default payment (1=yes, 0=no)</a:t>
            </a:r>
            <a:endParaRPr/>
          </a:p>
          <a:p>
            <a:pPr indent="-2159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INPUTS: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ID: ID of each client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LIMIT_BAL: Amount of given credit in NT (New Taiwan) dollars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SEX: Gender (1=male, 2=female)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EDUCATION: (1=graduate school, 2=university, 3=high school, 4=others, 5=unknown, 6=unknown)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MARRIAGE: Marital status (1=married, 2=single, 3=others)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AGE: Age in years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PAY_0: Repayment status in Sep, 2005 (-1=pay duly,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1=payment delay for one month, 2=payment delay for two months, ... 8=payment delay for eight months, 9=payment delay for nine months and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PAY_2: Repayment status in August, 2005 (scale same as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PAY_3: Repayment status in July, 2005 (scale same as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PAY_4: Repayment status in June, 2005 (scale same as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PAY_5: Repayment status in May, 2005 (scale same as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PAY_6: Repayment status in April, 2005 (scale same as above)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BILL_AMT1: Amount of bill statement in September,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BILL_AMT2: Amount of bill statement in August,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BILL_AMT3: Amount of bill statement in July,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BILL_AMT4: Amount of bill statement in June,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BILL_AMT5: Amount of bill statement in May,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BILL_AMT6: Amount of bill statement in April,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PAY_AMT1: Amount of previous payment in September,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PAY_AMT2: Amount of previous payment in August,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PAY_AMT3: Amount of previous payment in July,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PAY_AMT4: Amount of previous payment in June,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PAY_AMT5: Amount of previous payment in May, 2005 (NT dollar)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CA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PAY_AMT6: Amount of previous payment in April, 2005 (NT dollar)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152400" y="273160"/>
            <a:ext cx="103499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INPUTS/OUTPUTS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6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6"/>
          <p:cNvSpPr txBox="1"/>
          <p:nvPr/>
        </p:nvSpPr>
        <p:spPr>
          <a:xfrm>
            <a:off x="152399" y="273160"/>
            <a:ext cx="112014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CAPSTONE PROJECT TASKS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533400" y="1295400"/>
            <a:ext cx="112776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 the following tasks: 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 the "UCI_Credit_Card.csv" dataset 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 Exploratory Data analysis and visualization (feel free to pick any reasonable data visualizations)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Prepare the data for model training and split it into training and testing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an XG-Boost classifier model 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 Support Vector Machine classifier model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 Naive Bayes classifier model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 logistic regression model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 Random Forest classifier model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 and evaluate a K-Nearest Neighbors classifier model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Plot the ROC curve for all classifier and calculate the AUC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 model performs best?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Ahmed Ryan (FCA)</dc:creator>
</cp:coreProperties>
</file>