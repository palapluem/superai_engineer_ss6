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7315200" cy="96012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Urbanist Medium"/>
      <p:regular r:id="rId41"/>
      <p:bold r:id="rId42"/>
      <p:italic r:id="rId43"/>
      <p:boldItalic r:id="rId44"/>
    </p:embeddedFont>
    <p:embeddedFont>
      <p:font typeface="Urbanis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hPyfWCVr3Rz8C/iPHc/i/yM4ef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475916-DEDC-4349-8F6A-10D976D65C11}">
  <a:tblStyle styleId="{D3475916-DEDC-4349-8F6A-10D976D65C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42" Type="http://schemas.openxmlformats.org/officeDocument/2006/relationships/font" Target="fonts/UrbanistMedium-bold.fntdata"/><Relationship Id="rId41" Type="http://schemas.openxmlformats.org/officeDocument/2006/relationships/font" Target="fonts/UrbanistMedium-regular.fntdata"/><Relationship Id="rId44" Type="http://schemas.openxmlformats.org/officeDocument/2006/relationships/font" Target="fonts/UrbanistMedium-boldItalic.fntdata"/><Relationship Id="rId43" Type="http://schemas.openxmlformats.org/officeDocument/2006/relationships/font" Target="fonts/UrbanistMedium-italic.fntdata"/><Relationship Id="rId46" Type="http://schemas.openxmlformats.org/officeDocument/2006/relationships/font" Target="fonts/Urbanist-bold.fntdata"/><Relationship Id="rId45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Urbanist-boldItalic.fntdata"/><Relationship Id="rId47" Type="http://schemas.openxmlformats.org/officeDocument/2006/relationships/font" Target="fonts/Urbanist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Montserrat-regular.fntdata"/><Relationship Id="rId36" Type="http://schemas.openxmlformats.org/officeDocument/2006/relationships/slide" Target="slides/slide30.xml"/><Relationship Id="rId39" Type="http://schemas.openxmlformats.org/officeDocument/2006/relationships/font" Target="fonts/Montserrat-italic.fntdata"/><Relationship Id="rId38" Type="http://schemas.openxmlformats.org/officeDocument/2006/relationships/font" Target="fonts/Montserra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1e5ed722_0_0:notes"/>
          <p:cNvSpPr/>
          <p:nvPr>
            <p:ph idx="2" type="sldImg"/>
          </p:nvPr>
        </p:nvSpPr>
        <p:spPr>
          <a:xfrm>
            <a:off x="406720" y="720090"/>
            <a:ext cx="65025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1e5ed722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0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0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CA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21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1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CA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22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CA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3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3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CA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24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4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2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25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5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26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6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27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7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8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29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3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30:notes"/>
          <p:cNvSpPr txBox="1"/>
          <p:nvPr>
            <p:ph idx="1" type="body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0:notes"/>
          <p:cNvSpPr txBox="1"/>
          <p:nvPr>
            <p:ph idx="12" type="sldNum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d81e5ed722_0_130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4632"/>
            <a:ext cx="12215400" cy="68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81e5ed722_0_130"/>
          <p:cNvSpPr/>
          <p:nvPr/>
        </p:nvSpPr>
        <p:spPr>
          <a:xfrm flipH="1" rot="10800000">
            <a:off x="0" y="6235500"/>
            <a:ext cx="12199500" cy="6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g3d81e5ed722_0_130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g3d81e5ed722_0_130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" name="Google Shape;89;g3d81e5ed722_0_130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" name="Google Shape;90;g3d81e5ed722_0_130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" name="Google Shape;91;g3d81e5ed722_0_130"/>
          <p:cNvSpPr/>
          <p:nvPr/>
        </p:nvSpPr>
        <p:spPr>
          <a:xfrm>
            <a:off x="304800" y="6450000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" name="Google Shape;92;g3d81e5ed722_0_130"/>
          <p:cNvSpPr/>
          <p:nvPr/>
        </p:nvSpPr>
        <p:spPr>
          <a:xfrm>
            <a:off x="6158600" y="6452000"/>
            <a:ext cx="61200" cy="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g3d81e5ed722_0_130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4" name="Google Shape;94;g3d81e5ed722_0_130"/>
          <p:cNvCxnSpPr/>
          <p:nvPr/>
        </p:nvCxnSpPr>
        <p:spPr>
          <a:xfrm>
            <a:off x="318400" y="6244400"/>
            <a:ext cx="1156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g3d81e5ed722_0_130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6" name="Google Shape;96;g3d81e5ed722_0_130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7" name="Google Shape;97;g3d81e5ed722_0_130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8" name="Google Shape;98;g3d81e5ed722_0_130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://www.cs.huji.ac.il/~shais/UnderstandingMachineLearning/understanding-machine-learning-theory-algorithms.pdf" TargetMode="External"/><Relationship Id="rId5" Type="http://schemas.openxmlformats.org/officeDocument/2006/relationships/image" Target="../media/image8.png"/><Relationship Id="rId6" Type="http://schemas.openxmlformats.org/officeDocument/2006/relationships/hyperlink" Target="https://www.statlearning.com/" TargetMode="External"/><Relationship Id="rId7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9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1e5ed722_0_0"/>
          <p:cNvSpPr/>
          <p:nvPr/>
        </p:nvSpPr>
        <p:spPr>
          <a:xfrm>
            <a:off x="304800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g3d81e5ed722_0_0"/>
          <p:cNvSpPr/>
          <p:nvPr/>
        </p:nvSpPr>
        <p:spPr>
          <a:xfrm>
            <a:off x="2292233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05" name="Google Shape;105;g3d81e5ed722_0_0"/>
          <p:cNvGrpSpPr/>
          <p:nvPr/>
        </p:nvGrpSpPr>
        <p:grpSpPr>
          <a:xfrm>
            <a:off x="304789" y="4169800"/>
            <a:ext cx="310792" cy="310792"/>
            <a:chOff x="259788" y="1923155"/>
            <a:chExt cx="409800" cy="409800"/>
          </a:xfrm>
        </p:grpSpPr>
        <p:sp>
          <p:nvSpPr>
            <p:cNvPr id="106" name="Google Shape;106;g3d81e5ed722_0_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7" name="Google Shape;107;g3d81e5ed722_0_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08" name="Google Shape;108;g3d81e5ed722_0_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g3d81e5ed722_0_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0" name="Google Shape;110;g3d81e5ed722_0_0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CA">
                <a:solidFill>
                  <a:schemeClr val="lt1"/>
                </a:solidFill>
              </a:rPr>
              <a:t>Machine Learning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g3d81e5ed722_0_0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 AI Engineer Season 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12" name="Google Shape;112;g3d81e5ed722_0_0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AIAT</a:t>
            </a:r>
            <a:endParaRPr/>
          </a:p>
        </p:txBody>
      </p:sp>
      <p:sp>
        <p:nvSpPr>
          <p:cNvPr id="113" name="Google Shape;113;g3d81e5ed722_0_0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 </a:t>
            </a:r>
            <a:endParaRPr/>
          </a:p>
        </p:txBody>
      </p:sp>
      <p:sp>
        <p:nvSpPr>
          <p:cNvPr id="114" name="Google Shape;114;g3d81e5ed722_0_0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2026</a:t>
            </a:r>
            <a:endParaRPr/>
          </a:p>
        </p:txBody>
      </p:sp>
      <p:sp>
        <p:nvSpPr>
          <p:cNvPr id="115" name="Google Shape;115;g3d81e5ed722_0_0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Aslan B. Wong</a:t>
            </a:r>
            <a:endParaRPr/>
          </a:p>
        </p:txBody>
      </p:sp>
      <p:sp>
        <p:nvSpPr>
          <p:cNvPr id="116" name="Google Shape;116;g3d81e5ed722_0_0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Arttie🉑</a:t>
            </a:r>
            <a:endParaRPr/>
          </a:p>
        </p:txBody>
      </p:sp>
      <p:sp>
        <p:nvSpPr>
          <p:cNvPr id="117" name="Google Shape;117;g3d81e5ed722_0_0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CA" sz="1900"/>
              <a:t>Level 2 /  21 April 2026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/>
          </a:p>
        </p:txBody>
      </p:sp>
      <p:sp>
        <p:nvSpPr>
          <p:cNvPr id="118" name="Google Shape;118;g3d81e5ed722_0_0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349997" y="1981200"/>
            <a:ext cx="574092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CA" sz="4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CLASSIFIER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/>
          <p:nvPr/>
        </p:nvSpPr>
        <p:spPr>
          <a:xfrm>
            <a:off x="178652" y="1364138"/>
            <a:ext cx="1187571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is used to predict outputs on a continuous spectrum.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Predicting revenue based on the outside air temperature.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is used to predict binary outputs with 2 possible values (0 or 1).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Logistic model output can be one of two classes: pass/fail, win/lose, healthy/sick</a:t>
            </a:r>
            <a:endParaRPr/>
          </a:p>
        </p:txBody>
      </p:sp>
      <p:cxnSp>
        <p:nvCxnSpPr>
          <p:cNvPr id="131" name="Google Shape;131;p3"/>
          <p:cNvCxnSpPr/>
          <p:nvPr/>
        </p:nvCxnSpPr>
        <p:spPr>
          <a:xfrm flipH="1" rot="10800000">
            <a:off x="983479" y="5921919"/>
            <a:ext cx="4466295" cy="1672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3"/>
          <p:cNvCxnSpPr/>
          <p:nvPr/>
        </p:nvCxnSpPr>
        <p:spPr>
          <a:xfrm rot="10800000">
            <a:off x="933888" y="2978418"/>
            <a:ext cx="20844" cy="29904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" name="Google Shape;133;p3"/>
          <p:cNvSpPr/>
          <p:nvPr/>
        </p:nvSpPr>
        <p:spPr>
          <a:xfrm>
            <a:off x="1115930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400932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765502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582720" y="578858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036362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 rot="-5400000">
            <a:off x="-175611" y="4190758"/>
            <a:ext cx="15263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88158" y="251352"/>
            <a:ext cx="11207162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 u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REGRESSION: INTUITION</a:t>
            </a:r>
            <a:endParaRPr/>
          </a:p>
        </p:txBody>
      </p:sp>
      <p:cxnSp>
        <p:nvCxnSpPr>
          <p:cNvPr id="140" name="Google Shape;140;p3"/>
          <p:cNvCxnSpPr/>
          <p:nvPr/>
        </p:nvCxnSpPr>
        <p:spPr>
          <a:xfrm rot="10800000">
            <a:off x="954732" y="3271546"/>
            <a:ext cx="461161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1" name="Google Shape;141;p3"/>
          <p:cNvSpPr/>
          <p:nvPr/>
        </p:nvSpPr>
        <p:spPr>
          <a:xfrm>
            <a:off x="2685131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294630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350737" y="3140357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823154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able&#10;&#10;Description automatically generated" id="145" name="Google Shape;14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81099">
            <a:off x="3044875" y="4317245"/>
            <a:ext cx="1419605" cy="740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3"/>
          <p:cNvCxnSpPr/>
          <p:nvPr/>
        </p:nvCxnSpPr>
        <p:spPr>
          <a:xfrm flipH="1">
            <a:off x="3092672" y="2763432"/>
            <a:ext cx="1360574" cy="3610991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3"/>
          <p:cNvCxnSpPr/>
          <p:nvPr/>
        </p:nvCxnSpPr>
        <p:spPr>
          <a:xfrm flipH="1" rot="10800000">
            <a:off x="2806470" y="3733235"/>
            <a:ext cx="1125600" cy="375000"/>
          </a:xfrm>
          <a:prstGeom prst="curvedConnector3">
            <a:avLst>
              <a:gd fmla="val 492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8" name="Google Shape;148;p3"/>
          <p:cNvSpPr/>
          <p:nvPr/>
        </p:nvSpPr>
        <p:spPr>
          <a:xfrm>
            <a:off x="1327161" y="3958176"/>
            <a:ext cx="1537966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  <a:endParaRPr/>
          </a:p>
        </p:txBody>
      </p:sp>
      <p:graphicFrame>
        <p:nvGraphicFramePr>
          <p:cNvPr id="149" name="Google Shape;149;p3"/>
          <p:cNvGraphicFramePr/>
          <p:nvPr/>
        </p:nvGraphicFramePr>
        <p:xfrm>
          <a:off x="6096000" y="2755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{D3475916-DEDC-4349-8F6A-10D976D65C11}</a:tableStyleId>
              </a:tblPr>
              <a:tblGrid>
                <a:gridCol w="1644775"/>
                <a:gridCol w="1644775"/>
              </a:tblGrid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Hours Studying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Pass/Fail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3.25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0" name="Google Shape;150;p3"/>
          <p:cNvSpPr/>
          <p:nvPr/>
        </p:nvSpPr>
        <p:spPr>
          <a:xfrm>
            <a:off x="1931014" y="6405482"/>
            <a:ext cx="2494893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283139" y="1176151"/>
            <a:ext cx="1058545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is not suitable for classification problem.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is unbounded, so Logistic Regression will be a better candidate in which the output value ranges from 0 to 1.</a:t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 flipH="1" rot="10800000">
            <a:off x="656761" y="5921919"/>
            <a:ext cx="4466295" cy="1672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8" name="Google Shape;158;p4"/>
          <p:cNvCxnSpPr/>
          <p:nvPr/>
        </p:nvCxnSpPr>
        <p:spPr>
          <a:xfrm rot="10800000">
            <a:off x="607170" y="2978418"/>
            <a:ext cx="20844" cy="29904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" name="Google Shape;159;p4"/>
          <p:cNvSpPr/>
          <p:nvPr/>
        </p:nvSpPr>
        <p:spPr>
          <a:xfrm>
            <a:off x="789212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074214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438784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256002" y="5788582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709644" y="577186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 rot="-5400000">
            <a:off x="-502329" y="4190758"/>
            <a:ext cx="15263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264957" y="245264"/>
            <a:ext cx="11207162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REGRESSION: MATH</a:t>
            </a:r>
            <a:endParaRPr/>
          </a:p>
        </p:txBody>
      </p:sp>
      <p:cxnSp>
        <p:nvCxnSpPr>
          <p:cNvPr id="166" name="Google Shape;166;p4"/>
          <p:cNvCxnSpPr/>
          <p:nvPr/>
        </p:nvCxnSpPr>
        <p:spPr>
          <a:xfrm rot="10800000">
            <a:off x="628014" y="3271546"/>
            <a:ext cx="461161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7" name="Google Shape;167;p4"/>
          <p:cNvSpPr/>
          <p:nvPr/>
        </p:nvSpPr>
        <p:spPr>
          <a:xfrm>
            <a:off x="2358413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2967912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024019" y="3140357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496436" y="312892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4"/>
          <p:cNvCxnSpPr/>
          <p:nvPr/>
        </p:nvCxnSpPr>
        <p:spPr>
          <a:xfrm flipH="1">
            <a:off x="2765954" y="2202841"/>
            <a:ext cx="1605294" cy="4171582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4"/>
          <p:cNvCxnSpPr/>
          <p:nvPr/>
        </p:nvCxnSpPr>
        <p:spPr>
          <a:xfrm flipH="1" rot="10800000">
            <a:off x="2796921" y="2541701"/>
            <a:ext cx="1343400" cy="3015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3" name="Google Shape;173;p4"/>
          <p:cNvSpPr/>
          <p:nvPr/>
        </p:nvSpPr>
        <p:spPr>
          <a:xfrm>
            <a:off x="1276130" y="2681673"/>
            <a:ext cx="1537966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604296" y="6405482"/>
            <a:ext cx="2494893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  <p:cxnSp>
        <p:nvCxnSpPr>
          <p:cNvPr id="175" name="Google Shape;175;p4"/>
          <p:cNvCxnSpPr/>
          <p:nvPr/>
        </p:nvCxnSpPr>
        <p:spPr>
          <a:xfrm flipH="1" rot="10800000">
            <a:off x="1951099" y="4473748"/>
            <a:ext cx="1343400" cy="3015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" name="Google Shape;176;p4"/>
          <p:cNvSpPr/>
          <p:nvPr/>
        </p:nvSpPr>
        <p:spPr>
          <a:xfrm>
            <a:off x="800299" y="4542962"/>
            <a:ext cx="1741371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LOGESTIC REGRESSION MODEL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861072" y="2404593"/>
            <a:ext cx="3831262" cy="353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Equation: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 b</a:t>
            </a:r>
            <a:r>
              <a:rPr b="1" baseline="-25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</a:t>
            </a:r>
            <a:r>
              <a:rPr b="1" baseline="-25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Sigmoid Function: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sigmoid(y)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1/1+e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-y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1/1+e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-(b</a:t>
            </a:r>
            <a:r>
              <a:rPr b="1" baseline="30000" i="0" lang="en-CA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30000" i="0" lang="en-CA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b</a:t>
            </a:r>
            <a:r>
              <a:rPr b="1" i="0" lang="en-CA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30000" i="0" lang="en-CA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x)</a:t>
            </a:r>
            <a:r>
              <a:rPr b="1" i="0" lang="en-CA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981099" y="3956724"/>
            <a:ext cx="2697112" cy="1428074"/>
          </a:xfrm>
          <a:prstGeom prst="rect">
            <a:avLst/>
          </a:prstGeom>
          <a:solidFill>
            <a:srgbClr val="92D050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29648" y="1257458"/>
            <a:ext cx="11971660" cy="120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Now we need to convert from a probability to a class value which is “0” or “1”</a:t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 flipH="1" rot="10800000">
            <a:off x="981098" y="5412603"/>
            <a:ext cx="4466295" cy="1672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" name="Google Shape;186;p5"/>
          <p:cNvCxnSpPr/>
          <p:nvPr/>
        </p:nvCxnSpPr>
        <p:spPr>
          <a:xfrm rot="10800000">
            <a:off x="931507" y="2469102"/>
            <a:ext cx="20844" cy="29904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5"/>
          <p:cNvSpPr/>
          <p:nvPr/>
        </p:nvSpPr>
        <p:spPr>
          <a:xfrm>
            <a:off x="1113549" y="526254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398551" y="526254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763121" y="526254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408144" y="5255865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008814" y="526254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 rot="-5400000">
            <a:off x="-451830" y="3768711"/>
            <a:ext cx="15263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283139" y="69361"/>
            <a:ext cx="1120716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REGRESSION: FROM PROBABILITY TO CLASS</a:t>
            </a:r>
            <a:endParaRPr/>
          </a:p>
        </p:txBody>
      </p:sp>
      <p:cxnSp>
        <p:nvCxnSpPr>
          <p:cNvPr id="194" name="Google Shape;194;p5"/>
          <p:cNvCxnSpPr/>
          <p:nvPr/>
        </p:nvCxnSpPr>
        <p:spPr>
          <a:xfrm rot="10800000">
            <a:off x="952351" y="2762230"/>
            <a:ext cx="461161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5" name="Google Shape;195;p5"/>
          <p:cNvSpPr/>
          <p:nvPr/>
        </p:nvSpPr>
        <p:spPr>
          <a:xfrm>
            <a:off x="2682750" y="261960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392917" y="261960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348356" y="263104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820773" y="261960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 rot="10800000">
            <a:off x="4348400" y="3937637"/>
            <a:ext cx="1198800" cy="9549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0" name="Google Shape;200;p5"/>
          <p:cNvSpPr/>
          <p:nvPr/>
        </p:nvSpPr>
        <p:spPr>
          <a:xfrm>
            <a:off x="4862844" y="4907249"/>
            <a:ext cx="1537966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2045566" y="5643482"/>
            <a:ext cx="2494893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OF STUDYING</a:t>
            </a:r>
            <a:endParaRPr/>
          </a:p>
        </p:txBody>
      </p:sp>
      <p:cxnSp>
        <p:nvCxnSpPr>
          <p:cNvPr id="202" name="Google Shape;202;p5"/>
          <p:cNvCxnSpPr/>
          <p:nvPr/>
        </p:nvCxnSpPr>
        <p:spPr>
          <a:xfrm>
            <a:off x="2261546" y="3404077"/>
            <a:ext cx="1305300" cy="5340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3" name="Google Shape;203;p5"/>
          <p:cNvSpPr/>
          <p:nvPr/>
        </p:nvSpPr>
        <p:spPr>
          <a:xfrm>
            <a:off x="1054091" y="3195898"/>
            <a:ext cx="1741371" cy="30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LOGESTIC REGRESSION MODEL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566922" y="2409552"/>
            <a:ext cx="3831262" cy="353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Equation: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 b</a:t>
            </a:r>
            <a:r>
              <a:rPr b="1" baseline="-25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</a:t>
            </a:r>
            <a:r>
              <a:rPr b="1" baseline="-25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Sigmoid Function: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sigmoid(y)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1/1+e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-y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P(x)= 1/1+e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-(b</a:t>
            </a:r>
            <a:r>
              <a:rPr b="1" baseline="30000" i="0" lang="en-CA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30000" i="0" lang="en-CA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b</a:t>
            </a:r>
            <a:r>
              <a:rPr b="1" i="0" lang="en-CA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30000" i="0" lang="en-CA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baseline="30000" i="0" lang="en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x)</a:t>
            </a:r>
            <a:r>
              <a:rPr b="1" i="0" lang="en-CA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205" name="Google Shape;205;p5"/>
          <p:cNvCxnSpPr/>
          <p:nvPr/>
        </p:nvCxnSpPr>
        <p:spPr>
          <a:xfrm rot="10800000">
            <a:off x="941929" y="3956699"/>
            <a:ext cx="461161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6" name="Google Shape;206;p5"/>
          <p:cNvSpPr txBox="1"/>
          <p:nvPr/>
        </p:nvSpPr>
        <p:spPr>
          <a:xfrm>
            <a:off x="400110" y="3782193"/>
            <a:ext cx="5405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3683172" y="2773342"/>
            <a:ext cx="2210211" cy="1164151"/>
          </a:xfrm>
          <a:prstGeom prst="rect">
            <a:avLst/>
          </a:prstGeom>
          <a:solidFill>
            <a:schemeClr val="accent4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4438296" y="3205576"/>
            <a:ext cx="7649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1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1890962" y="4452954"/>
            <a:ext cx="7649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349997" y="1981200"/>
            <a:ext cx="50602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 (SVM)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519120" y="256992"/>
            <a:ext cx="10379530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MACHINES: INTUITION</a:t>
            </a:r>
            <a:endParaRPr/>
          </a:p>
        </p:txBody>
      </p:sp>
      <p:sp>
        <p:nvSpPr>
          <p:cNvPr id="223" name="Google Shape;223;p7"/>
          <p:cNvSpPr txBox="1"/>
          <p:nvPr>
            <p:ph idx="1" type="body"/>
          </p:nvPr>
        </p:nvSpPr>
        <p:spPr>
          <a:xfrm>
            <a:off x="377730" y="1159507"/>
            <a:ext cx="1109295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CA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Assume that you are data scientist working at a major bank in NYC.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CA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want to classify a new client as eligible to retire or not, customer features are: Age and Savings.</a:t>
            </a:r>
            <a:endParaRPr/>
          </a:p>
        </p:txBody>
      </p:sp>
      <p:cxnSp>
        <p:nvCxnSpPr>
          <p:cNvPr id="224" name="Google Shape;224;p7"/>
          <p:cNvCxnSpPr/>
          <p:nvPr/>
        </p:nvCxnSpPr>
        <p:spPr>
          <a:xfrm flipH="1" rot="10800000">
            <a:off x="2221979" y="5855847"/>
            <a:ext cx="7899455" cy="6081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5" name="Google Shape;225;p7"/>
          <p:cNvCxnSpPr/>
          <p:nvPr/>
        </p:nvCxnSpPr>
        <p:spPr>
          <a:xfrm rot="10800000">
            <a:off x="2221979" y="2039443"/>
            <a:ext cx="19233" cy="389944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6" name="Google Shape;226;p7"/>
          <p:cNvSpPr/>
          <p:nvPr/>
        </p:nvSpPr>
        <p:spPr>
          <a:xfrm>
            <a:off x="6535903" y="346788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017595" y="3164887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78528" y="354526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134871" y="326083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850672" y="272929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708572" y="2132655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448152" y="229089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590251" y="2797095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670654" y="355183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571069" y="347914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187730" y="302941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9187730" y="229737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914959" y="470184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396651" y="43988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657584" y="477922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513927" y="449479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229728" y="396324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087628" y="336661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827208" y="352484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969307" y="40310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049710" y="478579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765511" y="517849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566786" y="426336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566786" y="353132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7"/>
          <p:cNvCxnSpPr/>
          <p:nvPr/>
        </p:nvCxnSpPr>
        <p:spPr>
          <a:xfrm>
            <a:off x="4945208" y="2447432"/>
            <a:ext cx="3390919" cy="327496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p7"/>
          <p:cNvSpPr txBox="1"/>
          <p:nvPr/>
        </p:nvSpPr>
        <p:spPr>
          <a:xfrm>
            <a:off x="5753220" y="5955268"/>
            <a:ext cx="18794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 rot="-5400000">
            <a:off x="775859" y="3576917"/>
            <a:ext cx="23228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cxnSp>
        <p:nvCxnSpPr>
          <p:cNvPr id="253" name="Google Shape;253;p7"/>
          <p:cNvCxnSpPr/>
          <p:nvPr/>
        </p:nvCxnSpPr>
        <p:spPr>
          <a:xfrm>
            <a:off x="5690204" y="2184410"/>
            <a:ext cx="1237643" cy="3634508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 flipH="1">
            <a:off x="5924209" y="2132655"/>
            <a:ext cx="421256" cy="3717806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191212" y="2290890"/>
            <a:ext cx="1297340" cy="3606691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56" name="Google Shape;256;p7"/>
          <p:cNvCxnSpPr/>
          <p:nvPr/>
        </p:nvCxnSpPr>
        <p:spPr>
          <a:xfrm>
            <a:off x="6133750" y="2132655"/>
            <a:ext cx="1310977" cy="3680877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257" name="Google Shape;257;p7"/>
          <p:cNvGrpSpPr/>
          <p:nvPr/>
        </p:nvGrpSpPr>
        <p:grpSpPr>
          <a:xfrm>
            <a:off x="3317158" y="4799448"/>
            <a:ext cx="3240080" cy="1078452"/>
            <a:chOff x="2597348" y="1529440"/>
            <a:chExt cx="3240080" cy="1078452"/>
          </a:xfrm>
        </p:grpSpPr>
        <p:cxnSp>
          <p:nvCxnSpPr>
            <p:cNvPr id="258" name="Google Shape;258;p7"/>
            <p:cNvCxnSpPr/>
            <p:nvPr/>
          </p:nvCxnSpPr>
          <p:spPr>
            <a:xfrm flipH="1" rot="10800000">
              <a:off x="4085629" y="1529440"/>
              <a:ext cx="1751799" cy="790747"/>
            </a:xfrm>
            <a:prstGeom prst="curvedConnector3">
              <a:avLst>
                <a:gd fmla="val 500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9" name="Google Shape;259;p7"/>
            <p:cNvSpPr txBox="1"/>
            <p:nvPr/>
          </p:nvSpPr>
          <p:spPr>
            <a:xfrm>
              <a:off x="2597348" y="2023117"/>
              <a:ext cx="158729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MAX MARGIN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HYPERPLANE</a:t>
              </a:r>
              <a:endParaRPr/>
            </a:p>
          </p:txBody>
        </p:sp>
      </p:grpSp>
      <p:grpSp>
        <p:nvGrpSpPr>
          <p:cNvPr id="260" name="Google Shape;260;p7"/>
          <p:cNvGrpSpPr/>
          <p:nvPr/>
        </p:nvGrpSpPr>
        <p:grpSpPr>
          <a:xfrm>
            <a:off x="3002932" y="2722854"/>
            <a:ext cx="3591057" cy="829283"/>
            <a:chOff x="3233664" y="700158"/>
            <a:chExt cx="3591057" cy="829283"/>
          </a:xfrm>
        </p:grpSpPr>
        <p:cxnSp>
          <p:nvCxnSpPr>
            <p:cNvPr id="261" name="Google Shape;261;p7"/>
            <p:cNvCxnSpPr/>
            <p:nvPr/>
          </p:nvCxnSpPr>
          <p:spPr>
            <a:xfrm>
              <a:off x="4472399" y="966111"/>
              <a:ext cx="1365029" cy="563330"/>
            </a:xfrm>
            <a:prstGeom prst="curvedConnector3">
              <a:avLst>
                <a:gd fmla="val 500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2" name="Google Shape;262;p7"/>
            <p:cNvSpPr txBox="1"/>
            <p:nvPr/>
          </p:nvSpPr>
          <p:spPr>
            <a:xfrm>
              <a:off x="3233664" y="700158"/>
              <a:ext cx="129088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SUPPORT VECTORS</a:t>
              </a:r>
              <a:endParaRPr/>
            </a:p>
          </p:txBody>
        </p:sp>
        <p:cxnSp>
          <p:nvCxnSpPr>
            <p:cNvPr id="263" name="Google Shape;263;p7"/>
            <p:cNvCxnSpPr/>
            <p:nvPr/>
          </p:nvCxnSpPr>
          <p:spPr>
            <a:xfrm>
              <a:off x="4453873" y="903612"/>
              <a:ext cx="2370848" cy="566818"/>
            </a:xfrm>
            <a:prstGeom prst="curvedConnector3">
              <a:avLst>
                <a:gd fmla="val 500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64" name="Google Shape;264;p7"/>
          <p:cNvGrpSpPr/>
          <p:nvPr/>
        </p:nvGrpSpPr>
        <p:grpSpPr>
          <a:xfrm>
            <a:off x="7121781" y="5040899"/>
            <a:ext cx="3119587" cy="595157"/>
            <a:chOff x="2184067" y="5187096"/>
            <a:chExt cx="3119587" cy="595157"/>
          </a:xfrm>
        </p:grpSpPr>
        <p:cxnSp>
          <p:nvCxnSpPr>
            <p:cNvPr id="265" name="Google Shape;265;p7"/>
            <p:cNvCxnSpPr/>
            <p:nvPr/>
          </p:nvCxnSpPr>
          <p:spPr>
            <a:xfrm flipH="1">
              <a:off x="2184067" y="5335657"/>
              <a:ext cx="972130" cy="446596"/>
            </a:xfrm>
            <a:prstGeom prst="curvedConnector3">
              <a:avLst>
                <a:gd fmla="val 500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6" name="Google Shape;266;p7"/>
            <p:cNvSpPr txBox="1"/>
            <p:nvPr/>
          </p:nvSpPr>
          <p:spPr>
            <a:xfrm>
              <a:off x="3168133" y="5187096"/>
              <a:ext cx="2135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MAXIMUM MARGIN</a:t>
              </a:r>
              <a:endParaRPr/>
            </a:p>
          </p:txBody>
        </p:sp>
      </p:grpSp>
      <p:cxnSp>
        <p:nvCxnSpPr>
          <p:cNvPr id="267" name="Google Shape;267;p7"/>
          <p:cNvCxnSpPr/>
          <p:nvPr/>
        </p:nvCxnSpPr>
        <p:spPr>
          <a:xfrm flipH="1" rot="10800000">
            <a:off x="6438437" y="5495779"/>
            <a:ext cx="860267" cy="22661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8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 txBox="1"/>
          <p:nvPr/>
        </p:nvSpPr>
        <p:spPr>
          <a:xfrm>
            <a:off x="481625" y="46941"/>
            <a:ext cx="9662132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MACHINES: INTUITION</a:t>
            </a:r>
            <a:endParaRPr/>
          </a:p>
        </p:txBody>
      </p:sp>
      <p:cxnSp>
        <p:nvCxnSpPr>
          <p:cNvPr id="275" name="Google Shape;275;p8"/>
          <p:cNvCxnSpPr/>
          <p:nvPr/>
        </p:nvCxnSpPr>
        <p:spPr>
          <a:xfrm flipH="1" rot="10800000">
            <a:off x="2769159" y="5669470"/>
            <a:ext cx="7899455" cy="6081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8"/>
          <p:cNvCxnSpPr/>
          <p:nvPr/>
        </p:nvCxnSpPr>
        <p:spPr>
          <a:xfrm rot="10800000">
            <a:off x="2769159" y="1853066"/>
            <a:ext cx="19233" cy="389944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7" name="Google Shape;277;p8"/>
          <p:cNvSpPr/>
          <p:nvPr/>
        </p:nvSpPr>
        <p:spPr>
          <a:xfrm>
            <a:off x="7083083" y="3281509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564775" y="297851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825708" y="335889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682051" y="307446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397852" y="254291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255752" y="194627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995332" y="210451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137431" y="261071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9217834" y="336546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118249" y="329277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9734910" y="284303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9734910" y="211099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462139" y="451546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943831" y="421246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204764" y="459284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061107" y="430841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76908" y="377687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634808" y="318023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374388" y="333846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516487" y="384467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596890" y="459941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312691" y="499211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113966" y="407699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113966" y="334495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6260343" y="5752023"/>
            <a:ext cx="1565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 rot="-5400000">
            <a:off x="1662215" y="3093961"/>
            <a:ext cx="1565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</a:t>
            </a:r>
            <a:endParaRPr/>
          </a:p>
        </p:txBody>
      </p:sp>
      <p:cxnSp>
        <p:nvCxnSpPr>
          <p:cNvPr id="303" name="Google Shape;303;p8"/>
          <p:cNvCxnSpPr/>
          <p:nvPr/>
        </p:nvCxnSpPr>
        <p:spPr>
          <a:xfrm>
            <a:off x="5984698" y="1376986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8"/>
          <p:cNvCxnSpPr/>
          <p:nvPr/>
        </p:nvCxnSpPr>
        <p:spPr>
          <a:xfrm>
            <a:off x="5545403" y="1455649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05" name="Google Shape;305;p8"/>
          <p:cNvCxnSpPr/>
          <p:nvPr/>
        </p:nvCxnSpPr>
        <p:spPr>
          <a:xfrm>
            <a:off x="6501578" y="1371600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descr="Image result for cat looks like a dog" id="306" name="Google Shape;3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0447" y="1740109"/>
            <a:ext cx="1092570" cy="13616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8"/>
          <p:cNvCxnSpPr/>
          <p:nvPr/>
        </p:nvCxnSpPr>
        <p:spPr>
          <a:xfrm>
            <a:off x="4712326" y="2868625"/>
            <a:ext cx="1365000" cy="5634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8" name="Google Shape;308;p8"/>
          <p:cNvCxnSpPr/>
          <p:nvPr/>
        </p:nvCxnSpPr>
        <p:spPr>
          <a:xfrm>
            <a:off x="4693800" y="2806126"/>
            <a:ext cx="2370900" cy="566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9" name="Google Shape;309;p8"/>
          <p:cNvCxnSpPr/>
          <p:nvPr/>
        </p:nvCxnSpPr>
        <p:spPr>
          <a:xfrm>
            <a:off x="2139507" y="4045205"/>
            <a:ext cx="1365000" cy="5634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0" name="Google Shape;310;p8"/>
          <p:cNvCxnSpPr>
            <a:endCxn id="288" idx="5"/>
          </p:cNvCxnSpPr>
          <p:nvPr/>
        </p:nvCxnSpPr>
        <p:spPr>
          <a:xfrm rot="10800000">
            <a:off x="9977489" y="2367163"/>
            <a:ext cx="691200" cy="4749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Image result for dog image" id="311" name="Google Shape;3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004" y="3303285"/>
            <a:ext cx="1612398" cy="1209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at images" id="312" name="Google Shape;3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99962" y="2411114"/>
            <a:ext cx="1487238" cy="155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9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414658" y="11908"/>
            <a:ext cx="10263661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MACHINES: MODEL EVALUATION</a:t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 flipH="1" rot="10800000">
            <a:off x="2576659" y="5596250"/>
            <a:ext cx="7899455" cy="6081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" name="Google Shape;321;p9"/>
          <p:cNvCxnSpPr/>
          <p:nvPr/>
        </p:nvCxnSpPr>
        <p:spPr>
          <a:xfrm rot="10800000">
            <a:off x="2576659" y="1779846"/>
            <a:ext cx="19233" cy="389944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2" name="Google Shape;322;p9"/>
          <p:cNvSpPr/>
          <p:nvPr/>
        </p:nvSpPr>
        <p:spPr>
          <a:xfrm>
            <a:off x="6890583" y="3208289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7372275" y="2905290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633208" y="328567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8489551" y="300124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205352" y="246969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063252" y="187305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8802832" y="2031293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944931" y="2537498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025334" y="329224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925749" y="3219551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9542410" y="2769814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542410" y="2037776"/>
            <a:ext cx="284199" cy="300118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269639" y="444224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751331" y="413924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012264" y="451962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868607" y="423519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584408" y="370365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442308" y="310701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181888" y="326524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323987" y="377145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404390" y="452619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120191" y="491889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921466" y="400377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921466" y="327173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5566787" y="5778803"/>
            <a:ext cx="1565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 rot="-5400000">
            <a:off x="1433970" y="3499263"/>
            <a:ext cx="1565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</a:t>
            </a:r>
            <a:endParaRPr/>
          </a:p>
        </p:txBody>
      </p:sp>
      <p:cxnSp>
        <p:nvCxnSpPr>
          <p:cNvPr id="348" name="Google Shape;348;p9"/>
          <p:cNvCxnSpPr/>
          <p:nvPr/>
        </p:nvCxnSpPr>
        <p:spPr>
          <a:xfrm>
            <a:off x="5792198" y="1303766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9" name="Google Shape;349;p9"/>
          <p:cNvCxnSpPr/>
          <p:nvPr/>
        </p:nvCxnSpPr>
        <p:spPr>
          <a:xfrm>
            <a:off x="5352903" y="1382429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9"/>
          <p:cNvCxnSpPr/>
          <p:nvPr/>
        </p:nvCxnSpPr>
        <p:spPr>
          <a:xfrm>
            <a:off x="6309078" y="1298380"/>
            <a:ext cx="1490329" cy="425555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51" name="Google Shape;351;p9"/>
          <p:cNvGrpSpPr/>
          <p:nvPr/>
        </p:nvGrpSpPr>
        <p:grpSpPr>
          <a:xfrm>
            <a:off x="2586275" y="1529440"/>
            <a:ext cx="3251153" cy="1189321"/>
            <a:chOff x="2586275" y="1529440"/>
            <a:chExt cx="3251153" cy="1189321"/>
          </a:xfrm>
        </p:grpSpPr>
        <p:cxnSp>
          <p:nvCxnSpPr>
            <p:cNvPr id="352" name="Google Shape;352;p9"/>
            <p:cNvCxnSpPr/>
            <p:nvPr/>
          </p:nvCxnSpPr>
          <p:spPr>
            <a:xfrm flipH="1" rot="10800000">
              <a:off x="4085629" y="1529440"/>
              <a:ext cx="1751799" cy="790747"/>
            </a:xfrm>
            <a:prstGeom prst="curvedConnector3">
              <a:avLst>
                <a:gd fmla="val 500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3" name="Google Shape;353;p9"/>
            <p:cNvSpPr txBox="1"/>
            <p:nvPr/>
          </p:nvSpPr>
          <p:spPr>
            <a:xfrm>
              <a:off x="2586275" y="1887764"/>
              <a:ext cx="194585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TRAINED MODEL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(MAX MARGIN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HYPERPLANE)</a:t>
              </a:r>
              <a:endParaRPr/>
            </a:p>
          </p:txBody>
        </p:sp>
      </p:grpSp>
      <p:sp>
        <p:nvSpPr>
          <p:cNvPr id="354" name="Google Shape;354;p9"/>
          <p:cNvSpPr/>
          <p:nvPr/>
        </p:nvSpPr>
        <p:spPr>
          <a:xfrm>
            <a:off x="7528235" y="3752055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7746046" y="4215979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202844" y="2626456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9"/>
          <p:cNvGrpSpPr/>
          <p:nvPr/>
        </p:nvGrpSpPr>
        <p:grpSpPr>
          <a:xfrm>
            <a:off x="5592101" y="2785210"/>
            <a:ext cx="5697964" cy="1884476"/>
            <a:chOff x="-452431" y="492811"/>
            <a:chExt cx="5697964" cy="1884476"/>
          </a:xfrm>
        </p:grpSpPr>
        <p:cxnSp>
          <p:nvCxnSpPr>
            <p:cNvPr id="358" name="Google Shape;358;p9"/>
            <p:cNvCxnSpPr>
              <a:endCxn id="354" idx="6"/>
            </p:cNvCxnSpPr>
            <p:nvPr/>
          </p:nvCxnSpPr>
          <p:spPr>
            <a:xfrm rot="10800000">
              <a:off x="1767902" y="1609715"/>
              <a:ext cx="1396200" cy="520200"/>
            </a:xfrm>
            <a:prstGeom prst="curvedConnector3">
              <a:avLst>
                <a:gd fmla="val 482898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9" name="Google Shape;359;p9"/>
            <p:cNvSpPr txBox="1"/>
            <p:nvPr/>
          </p:nvSpPr>
          <p:spPr>
            <a:xfrm>
              <a:off x="3122901" y="2038733"/>
              <a:ext cx="21226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TESTING DATASET</a:t>
              </a:r>
              <a:endParaRPr/>
            </a:p>
          </p:txBody>
        </p:sp>
        <p:cxnSp>
          <p:nvCxnSpPr>
            <p:cNvPr id="360" name="Google Shape;360;p9"/>
            <p:cNvCxnSpPr/>
            <p:nvPr/>
          </p:nvCxnSpPr>
          <p:spPr>
            <a:xfrm rot="10800000">
              <a:off x="1921398" y="1902730"/>
              <a:ext cx="1255825" cy="347469"/>
            </a:xfrm>
            <a:prstGeom prst="curvedConnector3">
              <a:avLst>
                <a:gd fmla="val 548400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9"/>
            <p:cNvCxnSpPr/>
            <p:nvPr/>
          </p:nvCxnSpPr>
          <p:spPr>
            <a:xfrm rot="10800000">
              <a:off x="-452431" y="492811"/>
              <a:ext cx="3656828" cy="1600168"/>
            </a:xfrm>
            <a:prstGeom prst="curvedConnector3">
              <a:avLst>
                <a:gd fmla="val 183496" name="adj1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0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 txBox="1"/>
          <p:nvPr/>
        </p:nvSpPr>
        <p:spPr>
          <a:xfrm>
            <a:off x="685800" y="0"/>
            <a:ext cx="891540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MACHINES: ADDITIONAL READING MATERIAL</a:t>
            </a:r>
            <a:endParaRPr/>
          </a:p>
        </p:txBody>
      </p:sp>
      <p:sp>
        <p:nvSpPr>
          <p:cNvPr id="369" name="Google Shape;369;p10"/>
          <p:cNvSpPr txBox="1"/>
          <p:nvPr>
            <p:ph idx="1" type="body"/>
          </p:nvPr>
        </p:nvSpPr>
        <p:spPr>
          <a:xfrm>
            <a:off x="1066800" y="1411715"/>
            <a:ext cx="5105400" cy="3025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Additional Resources, Page #202: </a:t>
            </a:r>
            <a:r>
              <a:rPr lang="en-CA" sz="2000" u="sng">
                <a:solidFill>
                  <a:schemeClr val="hlink"/>
                </a:solidFill>
                <a:hlinkClick r:id="rId4"/>
              </a:rPr>
              <a:t>http://www.cs.huji.ac.il/~shais/UnderstandingMachineLearning/understanding-machine-learning-theory-algorithms.pdf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370" name="Google Shape;3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6057" y="2711841"/>
            <a:ext cx="2637856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0"/>
          <p:cNvSpPr txBox="1"/>
          <p:nvPr/>
        </p:nvSpPr>
        <p:spPr>
          <a:xfrm>
            <a:off x="6629400" y="1411715"/>
            <a:ext cx="5105400" cy="3025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Resources, Page #337: 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CA" sz="1100" u="sng">
                <a:solidFill>
                  <a:schemeClr val="hlink"/>
                </a:solidFill>
                <a:hlinkClick r:id="rId6"/>
              </a:rPr>
              <a:t>An Introduction to Statistical Learning</a:t>
            </a:r>
            <a:r>
              <a:rPr lang="en-CA" sz="11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00925" y="2711841"/>
            <a:ext cx="2590800" cy="384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 txBox="1"/>
          <p:nvPr/>
        </p:nvSpPr>
        <p:spPr>
          <a:xfrm>
            <a:off x="349997" y="1981200"/>
            <a:ext cx="50602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CLASSIFIER MODELS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2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44706" y="1287422"/>
            <a:ext cx="1037236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classifier is a type of ensemble algorithm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creates a set of decision trees from randomly selected subset of training set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then combines votes from different decision trees to decide the final class of the test object.</a:t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220062" y="206966"/>
            <a:ext cx="1103350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CLASSIFIER: INTUITION</a:t>
            </a:r>
            <a:b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9834231" y="3004672"/>
            <a:ext cx="1059786" cy="349195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2"/>
          <p:cNvCxnSpPr>
            <a:stCxn id="386" idx="2"/>
            <a:endCxn id="388" idx="0"/>
          </p:cNvCxnSpPr>
          <p:nvPr/>
        </p:nvCxnSpPr>
        <p:spPr>
          <a:xfrm flipH="1">
            <a:off x="9674724" y="3353867"/>
            <a:ext cx="6894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9" name="Google Shape;389;p12"/>
          <p:cNvCxnSpPr>
            <a:stCxn id="386" idx="2"/>
            <a:endCxn id="390" idx="0"/>
          </p:cNvCxnSpPr>
          <p:nvPr/>
        </p:nvCxnSpPr>
        <p:spPr>
          <a:xfrm>
            <a:off x="10364124" y="3353867"/>
            <a:ext cx="7638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8" name="Google Shape;388;p12"/>
          <p:cNvSpPr/>
          <p:nvPr/>
        </p:nvSpPr>
        <p:spPr>
          <a:xfrm>
            <a:off x="9051515" y="3695468"/>
            <a:ext cx="1246266" cy="343431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Age&gt;45?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10534828" y="3695468"/>
            <a:ext cx="1186273" cy="343431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2"/>
          <p:cNvCxnSpPr>
            <a:endCxn id="392" idx="0"/>
          </p:cNvCxnSpPr>
          <p:nvPr/>
        </p:nvCxnSpPr>
        <p:spPr>
          <a:xfrm flipH="1">
            <a:off x="8990045" y="4047049"/>
            <a:ext cx="4245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12"/>
          <p:cNvCxnSpPr>
            <a:endCxn id="394" idx="0"/>
          </p:cNvCxnSpPr>
          <p:nvPr/>
        </p:nvCxnSpPr>
        <p:spPr>
          <a:xfrm>
            <a:off x="9414567" y="4047049"/>
            <a:ext cx="5289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2" name="Google Shape;392;p12"/>
          <p:cNvSpPr/>
          <p:nvPr/>
        </p:nvSpPr>
        <p:spPr>
          <a:xfrm>
            <a:off x="8631858" y="4388749"/>
            <a:ext cx="716373" cy="34160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9585280" y="4388749"/>
            <a:ext cx="716374" cy="34160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10862060" y="3302465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9526210" y="3290190"/>
            <a:ext cx="2968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8754639" y="4022014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9773258" y="4014821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036215" y="3004672"/>
            <a:ext cx="1059786" cy="349195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/>
          </a:p>
        </p:txBody>
      </p:sp>
      <p:cxnSp>
        <p:nvCxnSpPr>
          <p:cNvPr id="400" name="Google Shape;400;p12"/>
          <p:cNvCxnSpPr>
            <a:stCxn id="399" idx="2"/>
            <a:endCxn id="401" idx="0"/>
          </p:cNvCxnSpPr>
          <p:nvPr/>
        </p:nvCxnSpPr>
        <p:spPr>
          <a:xfrm flipH="1">
            <a:off x="4876708" y="3353867"/>
            <a:ext cx="6894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2" name="Google Shape;402;p12"/>
          <p:cNvCxnSpPr>
            <a:stCxn id="399" idx="2"/>
            <a:endCxn id="403" idx="0"/>
          </p:cNvCxnSpPr>
          <p:nvPr/>
        </p:nvCxnSpPr>
        <p:spPr>
          <a:xfrm>
            <a:off x="5566108" y="3353867"/>
            <a:ext cx="7638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1" name="Google Shape;401;p12"/>
          <p:cNvSpPr/>
          <p:nvPr/>
        </p:nvSpPr>
        <p:spPr>
          <a:xfrm>
            <a:off x="4253499" y="3695468"/>
            <a:ext cx="1246266" cy="343431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Age&gt;45?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736812" y="3695468"/>
            <a:ext cx="1186273" cy="343431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/>
          </a:p>
        </p:txBody>
      </p:sp>
      <p:cxnSp>
        <p:nvCxnSpPr>
          <p:cNvPr id="404" name="Google Shape;404;p12"/>
          <p:cNvCxnSpPr>
            <a:endCxn id="405" idx="0"/>
          </p:cNvCxnSpPr>
          <p:nvPr/>
        </p:nvCxnSpPr>
        <p:spPr>
          <a:xfrm flipH="1">
            <a:off x="4192029" y="4047049"/>
            <a:ext cx="4245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6" name="Google Shape;406;p12"/>
          <p:cNvCxnSpPr>
            <a:endCxn id="407" idx="0"/>
          </p:cNvCxnSpPr>
          <p:nvPr/>
        </p:nvCxnSpPr>
        <p:spPr>
          <a:xfrm>
            <a:off x="4616551" y="4047049"/>
            <a:ext cx="5289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p12"/>
          <p:cNvSpPr/>
          <p:nvPr/>
        </p:nvSpPr>
        <p:spPr>
          <a:xfrm>
            <a:off x="3833842" y="4388749"/>
            <a:ext cx="716373" cy="34160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4787264" y="4388749"/>
            <a:ext cx="716374" cy="34160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1482107" y="3025311"/>
            <a:ext cx="1059786" cy="349195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Savings&gt;$1M</a:t>
            </a:r>
            <a:endParaRPr/>
          </a:p>
        </p:txBody>
      </p:sp>
      <p:cxnSp>
        <p:nvCxnSpPr>
          <p:cNvPr id="409" name="Google Shape;409;p12"/>
          <p:cNvCxnSpPr>
            <a:stCxn id="408" idx="2"/>
            <a:endCxn id="410" idx="0"/>
          </p:cNvCxnSpPr>
          <p:nvPr/>
        </p:nvCxnSpPr>
        <p:spPr>
          <a:xfrm flipH="1">
            <a:off x="1322600" y="3374506"/>
            <a:ext cx="6894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1" name="Google Shape;411;p12"/>
          <p:cNvCxnSpPr>
            <a:stCxn id="408" idx="2"/>
            <a:endCxn id="412" idx="0"/>
          </p:cNvCxnSpPr>
          <p:nvPr/>
        </p:nvCxnSpPr>
        <p:spPr>
          <a:xfrm>
            <a:off x="2012000" y="3374506"/>
            <a:ext cx="7638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0" name="Google Shape;410;p12"/>
          <p:cNvSpPr/>
          <p:nvPr/>
        </p:nvSpPr>
        <p:spPr>
          <a:xfrm>
            <a:off x="699391" y="3716107"/>
            <a:ext cx="1246266" cy="343431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Age&gt;45?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2182704" y="3716107"/>
            <a:ext cx="1186273" cy="343431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/>
          </a:p>
        </p:txBody>
      </p:sp>
      <p:cxnSp>
        <p:nvCxnSpPr>
          <p:cNvPr id="413" name="Google Shape;413;p12"/>
          <p:cNvCxnSpPr>
            <a:endCxn id="414" idx="0"/>
          </p:cNvCxnSpPr>
          <p:nvPr/>
        </p:nvCxnSpPr>
        <p:spPr>
          <a:xfrm flipH="1">
            <a:off x="637921" y="4067688"/>
            <a:ext cx="4245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5" name="Google Shape;415;p12"/>
          <p:cNvCxnSpPr>
            <a:endCxn id="416" idx="0"/>
          </p:cNvCxnSpPr>
          <p:nvPr/>
        </p:nvCxnSpPr>
        <p:spPr>
          <a:xfrm>
            <a:off x="1062443" y="4067688"/>
            <a:ext cx="528900" cy="34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p12"/>
          <p:cNvSpPr/>
          <p:nvPr/>
        </p:nvSpPr>
        <p:spPr>
          <a:xfrm>
            <a:off x="279734" y="4409388"/>
            <a:ext cx="716373" cy="34160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#1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1233156" y="4409388"/>
            <a:ext cx="716374" cy="34160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#0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2509936" y="3323104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1174086" y="3310829"/>
            <a:ext cx="2968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402515" y="4042653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1421134" y="4035460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6103556" y="3333716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4767706" y="3321441"/>
            <a:ext cx="2968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3996135" y="4053265"/>
            <a:ext cx="3048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5014754" y="4046072"/>
            <a:ext cx="3145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7280224" y="3842713"/>
            <a:ext cx="134224" cy="17210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573983" y="3842713"/>
            <a:ext cx="134224" cy="17210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8173202" y="3829143"/>
            <a:ext cx="134224" cy="17210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7869854" y="3835368"/>
            <a:ext cx="134224" cy="17210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588007" y="2543765"/>
            <a:ext cx="953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 #1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9944336" y="2546115"/>
            <a:ext cx="953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 #N</a:t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089165" y="2546078"/>
            <a:ext cx="953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 #2</a:t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90571" y="5137425"/>
            <a:ext cx="206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OUT= CLASS #1</a:t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9760388" y="5137425"/>
            <a:ext cx="20430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OUT= CLASS #0</a:t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4589582" y="5137425"/>
            <a:ext cx="21896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OUT= CLASS #1</a:t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 rot="-5400000">
            <a:off x="5577461" y="-121888"/>
            <a:ext cx="1037077" cy="11491654"/>
          </a:xfrm>
          <a:prstGeom prst="leftBrace">
            <a:avLst>
              <a:gd fmla="val 65277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509405" y="6192754"/>
            <a:ext cx="35028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MAJORITY VOTE= CLASS #1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3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3"/>
          <p:cNvSpPr/>
          <p:nvPr/>
        </p:nvSpPr>
        <p:spPr>
          <a:xfrm>
            <a:off x="485164" y="1624675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339755" y="1459449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277154" y="257213"/>
            <a:ext cx="9827492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RANDOM FOREST: WHY AND HOW?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286298" y="1066738"/>
            <a:ext cx="5682881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overcomes the issues with single decision trees by reducing the effect of noise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Overcomes overfitting problem by taking average of all the predictions, canceling out biases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Suppose training set: [X1, X2, X3, X4] with labels: [L1, L2, L3, L4]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creates three decision trees taking inputs as follows: [X1, X2, X3], [X1, X2, X4], [X2, X3, X4]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Combining  votes from a pool of expert, each will bring their own experience and background to solve the problem resulting in a better outcome.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Runs effectively on large database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large data, it produces highly accurate predictions</a:t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7758222" y="1115155"/>
            <a:ext cx="1551449" cy="94625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 Training  set</a:t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6056164" y="2226635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set #1</a:t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7858114" y="2226634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set #2</a:t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9593016" y="2226633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set #3</a:t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7859624" y="3874950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#1</a:t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9593015" y="3874950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#3</a:t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6056164" y="3874950"/>
            <a:ext cx="1451557" cy="72197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#2</a:t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7554516" y="5396127"/>
            <a:ext cx="2066839" cy="940184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VOTING</a:t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6712995" y="3032358"/>
            <a:ext cx="327171" cy="72197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8381605" y="4680194"/>
            <a:ext cx="327171" cy="66889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 rot="-1989981">
            <a:off x="7313448" y="4611759"/>
            <a:ext cx="327171" cy="91659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8381605" y="3091462"/>
            <a:ext cx="327171" cy="72197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0155207" y="3070998"/>
            <a:ext cx="327171" cy="72197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 rot="2299125">
            <a:off x="9664520" y="4611758"/>
            <a:ext cx="327171" cy="91659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4"/>
          <p:cNvSpPr txBox="1"/>
          <p:nvPr/>
        </p:nvSpPr>
        <p:spPr>
          <a:xfrm>
            <a:off x="349997" y="1981200"/>
            <a:ext cx="50602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K-NEAREST NEIGHBOUR (KNN)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5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5"/>
          <p:cNvSpPr/>
          <p:nvPr/>
        </p:nvSpPr>
        <p:spPr>
          <a:xfrm>
            <a:off x="-472779" y="1300198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-618188" y="1134972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485164" y="178984"/>
            <a:ext cx="11630636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 NEAREST NEIGHBORS (KNN): INTUITION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313570" y="1035455"/>
            <a:ext cx="115648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K-Nearest Neighbors (KNN) algorithm is a classification algorithm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KNN works by finding the most similar data points in the training data, and attempt to make an educated guess based on their classifications</a:t>
            </a:r>
            <a:endParaRPr/>
          </a:p>
        </p:txBody>
      </p:sp>
      <p:cxnSp>
        <p:nvCxnSpPr>
          <p:cNvPr id="475" name="Google Shape;475;p15"/>
          <p:cNvCxnSpPr/>
          <p:nvPr/>
        </p:nvCxnSpPr>
        <p:spPr>
          <a:xfrm>
            <a:off x="1889978" y="6357235"/>
            <a:ext cx="4275511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6" name="Google Shape;476;p15"/>
          <p:cNvCxnSpPr/>
          <p:nvPr/>
        </p:nvCxnSpPr>
        <p:spPr>
          <a:xfrm flipH="1" rot="10800000">
            <a:off x="1868163" y="2708164"/>
            <a:ext cx="21815" cy="367612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7" name="Google Shape;477;p15"/>
          <p:cNvSpPr txBox="1"/>
          <p:nvPr/>
        </p:nvSpPr>
        <p:spPr>
          <a:xfrm>
            <a:off x="6203021" y="6394348"/>
            <a:ext cx="206428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 (KGS)</a:t>
            </a:r>
            <a:endParaRPr/>
          </a:p>
        </p:txBody>
      </p:sp>
      <p:sp>
        <p:nvSpPr>
          <p:cNvPr id="478" name="Google Shape;478;p15"/>
          <p:cNvSpPr txBox="1"/>
          <p:nvPr/>
        </p:nvSpPr>
        <p:spPr>
          <a:xfrm rot="-5400000">
            <a:off x="-95578" y="3866325"/>
            <a:ext cx="25015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(CMS)</a:t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2157069" y="6394348"/>
            <a:ext cx="42755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55       60        65          70          75</a:t>
            </a:r>
            <a:endParaRPr/>
          </a:p>
        </p:txBody>
      </p:sp>
      <p:sp>
        <p:nvSpPr>
          <p:cNvPr id="480" name="Google Shape;480;p15"/>
          <p:cNvSpPr txBox="1"/>
          <p:nvPr/>
        </p:nvSpPr>
        <p:spPr>
          <a:xfrm rot="-5400000">
            <a:off x="-313818" y="3812826"/>
            <a:ext cx="39190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150       160        170        180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4963517" y="488346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4513445" y="447728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5674105" y="46273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4534381" y="318515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5269438" y="402710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773129" y="371276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3584439" y="4803576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5618228" y="51741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392964" y="5540463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2172240" y="4477285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2489561" y="4874033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3165207" y="3998045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3230530" y="3294781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2580168" y="3566460"/>
            <a:ext cx="284199" cy="300118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 rot="-798401">
            <a:off x="2114839" y="3035594"/>
            <a:ext cx="2119470" cy="3022597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 rot="-798401">
            <a:off x="4304647" y="2718087"/>
            <a:ext cx="2119470" cy="302259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4319549" y="5317171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498" name="Google Shape;498;p15"/>
          <p:cNvCxnSpPr/>
          <p:nvPr/>
        </p:nvCxnSpPr>
        <p:spPr>
          <a:xfrm flipH="1">
            <a:off x="5896863" y="2392298"/>
            <a:ext cx="1338300" cy="5478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9" name="Google Shape;499;p15"/>
          <p:cNvCxnSpPr/>
          <p:nvPr/>
        </p:nvCxnSpPr>
        <p:spPr>
          <a:xfrm>
            <a:off x="2172242" y="2424798"/>
            <a:ext cx="770400" cy="515400"/>
          </a:xfrm>
          <a:prstGeom prst="curvedConnector3">
            <a:avLst>
              <a:gd fmla="val 50000" name="adj1"/>
            </a:avLst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0" name="Google Shape;500;p15"/>
          <p:cNvSpPr txBox="1"/>
          <p:nvPr/>
        </p:nvSpPr>
        <p:spPr>
          <a:xfrm>
            <a:off x="413495" y="2096630"/>
            <a:ext cx="206428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SIZE: SMALL</a:t>
            </a:r>
            <a:endParaRPr/>
          </a:p>
        </p:txBody>
      </p:sp>
      <p:sp>
        <p:nvSpPr>
          <p:cNvPr id="501" name="Google Shape;501;p15"/>
          <p:cNvSpPr txBox="1"/>
          <p:nvPr/>
        </p:nvSpPr>
        <p:spPr>
          <a:xfrm>
            <a:off x="6565993" y="2038087"/>
            <a:ext cx="206428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SIZE: LARGE</a:t>
            </a:r>
            <a:endParaRPr/>
          </a:p>
        </p:txBody>
      </p:sp>
      <p:pic>
        <p:nvPicPr>
          <p:cNvPr descr="A picture containing shirt&#10;&#10;Description automatically generated" id="502" name="Google Shape;5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7690" y="1804917"/>
            <a:ext cx="3045156" cy="3248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irt, dress, person&#10;&#10;Description automatically generated" id="503" name="Google Shape;5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9249" y="2891122"/>
            <a:ext cx="2182037" cy="218203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5"/>
          <p:cNvSpPr txBox="1"/>
          <p:nvPr/>
        </p:nvSpPr>
        <p:spPr>
          <a:xfrm>
            <a:off x="9294527" y="2272205"/>
            <a:ext cx="489369" cy="406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9637327" y="3446129"/>
            <a:ext cx="489369" cy="406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6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6"/>
          <p:cNvSpPr/>
          <p:nvPr/>
        </p:nvSpPr>
        <p:spPr>
          <a:xfrm>
            <a:off x="485164" y="1624675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339755" y="1459449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242582" y="252593"/>
            <a:ext cx="11706836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 NEARSET NEIGHBORS (KNN): ALGORITHM STEP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4" name="Google Shape;514;p16"/>
          <p:cNvGrpSpPr/>
          <p:nvPr/>
        </p:nvGrpSpPr>
        <p:grpSpPr>
          <a:xfrm>
            <a:off x="751057" y="1744032"/>
            <a:ext cx="10932468" cy="2455535"/>
            <a:chOff x="5343" y="2065501"/>
            <a:chExt cx="10932468" cy="2455535"/>
          </a:xfrm>
        </p:grpSpPr>
        <p:sp>
          <p:nvSpPr>
            <p:cNvPr id="515" name="Google Shape;515;p16"/>
            <p:cNvSpPr/>
            <p:nvPr/>
          </p:nvSpPr>
          <p:spPr>
            <a:xfrm>
              <a:off x="5343" y="2065501"/>
              <a:ext cx="1656434" cy="245553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78787"/>
                </a:gs>
                <a:gs pos="50000">
                  <a:srgbClr val="787878"/>
                </a:gs>
                <a:gs pos="100000">
                  <a:srgbClr val="69696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 txBox="1"/>
            <p:nvPr/>
          </p:nvSpPr>
          <p:spPr>
            <a:xfrm>
              <a:off x="53858" y="2114016"/>
              <a:ext cx="1559404" cy="23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 a value for k (e.g.: 1, 2, 3, …..)</a:t>
              </a:r>
              <a:endPara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1827421" y="3087871"/>
              <a:ext cx="351164" cy="41079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9D9D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 txBox="1"/>
            <p:nvPr/>
          </p:nvSpPr>
          <p:spPr>
            <a:xfrm>
              <a:off x="1827421" y="3170030"/>
              <a:ext cx="245815" cy="246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2324351" y="2065501"/>
              <a:ext cx="1656434" cy="245553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7A7A7"/>
                </a:gs>
                <a:gs pos="50000">
                  <a:srgbClr val="9C9C9C"/>
                </a:gs>
                <a:gs pos="100000">
                  <a:srgbClr val="89898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 txBox="1"/>
            <p:nvPr/>
          </p:nvSpPr>
          <p:spPr>
            <a:xfrm>
              <a:off x="2372866" y="2114016"/>
              <a:ext cx="1559404" cy="23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Calculate the </a:t>
              </a:r>
              <a:r>
                <a:rPr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Euclidean</a:t>
              </a: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distance between the point to be classified and every other point in the training data set</a:t>
              </a:r>
              <a:endPara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4146430" y="3087871"/>
              <a:ext cx="351164" cy="41079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AB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 txBox="1"/>
            <p:nvPr/>
          </p:nvSpPr>
          <p:spPr>
            <a:xfrm>
              <a:off x="4146430" y="3170030"/>
              <a:ext cx="245815" cy="246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4643360" y="2065501"/>
              <a:ext cx="1656434" cy="245553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C8C8C8"/>
                </a:gs>
                <a:gs pos="50000">
                  <a:srgbClr val="C1C1C1"/>
                </a:gs>
                <a:gs pos="100000">
                  <a:srgbClr val="AAAAA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 txBox="1"/>
            <p:nvPr/>
          </p:nvSpPr>
          <p:spPr>
            <a:xfrm>
              <a:off x="4691875" y="2114016"/>
              <a:ext cx="1559404" cy="23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Pick the k closest data points (points with the k smallest distances)</a:t>
              </a:r>
              <a:endPara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6465438" y="3087871"/>
              <a:ext cx="351164" cy="41079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D7D7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 txBox="1"/>
            <p:nvPr/>
          </p:nvSpPr>
          <p:spPr>
            <a:xfrm>
              <a:off x="6465438" y="3170030"/>
              <a:ext cx="245815" cy="246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6962369" y="2065501"/>
              <a:ext cx="1656434" cy="245553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C8C8C8"/>
                </a:gs>
                <a:gs pos="50000">
                  <a:srgbClr val="C1C1C1"/>
                </a:gs>
                <a:gs pos="100000">
                  <a:srgbClr val="AAAAA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 txBox="1"/>
            <p:nvPr/>
          </p:nvSpPr>
          <p:spPr>
            <a:xfrm>
              <a:off x="7010884" y="2114016"/>
              <a:ext cx="1559404" cy="23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 a majority vote among selected data points, the dominating classification is the winner. Point is classified based on the dominant class</a:t>
              </a:r>
              <a:endPara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8784447" y="3087871"/>
              <a:ext cx="351164" cy="41079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ABA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 txBox="1"/>
            <p:nvPr/>
          </p:nvSpPr>
          <p:spPr>
            <a:xfrm>
              <a:off x="8784447" y="3170030"/>
              <a:ext cx="245815" cy="246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9281377" y="2065501"/>
              <a:ext cx="1656434" cy="245553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A7A7A7"/>
                </a:gs>
                <a:gs pos="50000">
                  <a:srgbClr val="9C9C9C"/>
                </a:gs>
                <a:gs pos="100000">
                  <a:srgbClr val="89898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 txBox="1"/>
            <p:nvPr/>
          </p:nvSpPr>
          <p:spPr>
            <a:xfrm>
              <a:off x="9329892" y="2114016"/>
              <a:ext cx="1559404" cy="2358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lang="en-CA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Repeat</a:t>
              </a:r>
              <a:endPara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17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7"/>
          <p:cNvSpPr/>
          <p:nvPr/>
        </p:nvSpPr>
        <p:spPr>
          <a:xfrm>
            <a:off x="229137" y="1098158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83728" y="932932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485164" y="178984"/>
            <a:ext cx="1042052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DISTANCE: INTUITION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17"/>
          <p:cNvSpPr txBox="1"/>
          <p:nvPr/>
        </p:nvSpPr>
        <p:spPr>
          <a:xfrm>
            <a:off x="336897" y="1098158"/>
            <a:ext cx="1158939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Euclidean Distance= √(x</a:t>
            </a:r>
            <a:r>
              <a:rPr baseline="-25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-x</a:t>
            </a:r>
            <a:r>
              <a:rPr baseline="-25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(y</a:t>
            </a:r>
            <a:r>
              <a:rPr baseline="-25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-y</a:t>
            </a:r>
            <a:r>
              <a:rPr baseline="-25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aseline="30000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42" name="Google Shape;542;p17"/>
          <p:cNvCxnSpPr/>
          <p:nvPr/>
        </p:nvCxnSpPr>
        <p:spPr>
          <a:xfrm>
            <a:off x="3647728" y="5097009"/>
            <a:ext cx="4275511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3" name="Google Shape;543;p17"/>
          <p:cNvCxnSpPr/>
          <p:nvPr/>
        </p:nvCxnSpPr>
        <p:spPr>
          <a:xfrm flipH="1" rot="10800000">
            <a:off x="3625913" y="1447938"/>
            <a:ext cx="21815" cy="367612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4" name="Google Shape;544;p17"/>
          <p:cNvCxnSpPr/>
          <p:nvPr/>
        </p:nvCxnSpPr>
        <p:spPr>
          <a:xfrm>
            <a:off x="3653243" y="2367685"/>
            <a:ext cx="3391261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45" name="Google Shape;545;p17"/>
          <p:cNvCxnSpPr/>
          <p:nvPr/>
        </p:nvCxnSpPr>
        <p:spPr>
          <a:xfrm>
            <a:off x="3653243" y="3879101"/>
            <a:ext cx="1224792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46" name="Google Shape;546;p17"/>
          <p:cNvCxnSpPr/>
          <p:nvPr/>
        </p:nvCxnSpPr>
        <p:spPr>
          <a:xfrm flipH="1" rot="10800000">
            <a:off x="3636820" y="2035568"/>
            <a:ext cx="3872035" cy="273292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17"/>
          <p:cNvCxnSpPr/>
          <p:nvPr/>
        </p:nvCxnSpPr>
        <p:spPr>
          <a:xfrm rot="10800000">
            <a:off x="4887822" y="3879102"/>
            <a:ext cx="0" cy="1217907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17"/>
          <p:cNvCxnSpPr/>
          <p:nvPr/>
        </p:nvCxnSpPr>
        <p:spPr>
          <a:xfrm rot="10800000">
            <a:off x="7038911" y="2367686"/>
            <a:ext cx="5593" cy="2729323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49" name="Google Shape;549;p17"/>
          <p:cNvSpPr/>
          <p:nvPr/>
        </p:nvSpPr>
        <p:spPr>
          <a:xfrm>
            <a:off x="3015916" y="1936742"/>
            <a:ext cx="7160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3006300" y="3408843"/>
            <a:ext cx="7160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4632775" y="5031225"/>
            <a:ext cx="7160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6792757" y="5049164"/>
            <a:ext cx="7160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en-CA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4973521" y="3681248"/>
            <a:ext cx="21009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A (x</a:t>
            </a:r>
            <a:r>
              <a:rPr b="1" baseline="-25000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7128790" y="2279296"/>
            <a:ext cx="21009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B (x</a:t>
            </a:r>
            <a:r>
              <a:rPr b="1" baseline="-25000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C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4741594" y="3727693"/>
            <a:ext cx="245744" cy="318570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885081" y="2260693"/>
            <a:ext cx="245744" cy="318570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8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8"/>
          <p:cNvSpPr/>
          <p:nvPr/>
        </p:nvSpPr>
        <p:spPr>
          <a:xfrm>
            <a:off x="485164" y="1624675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339755" y="1459449"/>
            <a:ext cx="5756245" cy="4885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485164" y="178984"/>
            <a:ext cx="1042052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 NEARSET NEIGHBORS (KNN): EXAMPLE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18"/>
          <p:cNvSpPr txBox="1"/>
          <p:nvPr/>
        </p:nvSpPr>
        <p:spPr>
          <a:xfrm>
            <a:off x="-21281" y="1059260"/>
            <a:ext cx="1237200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KNN will look for the 5 data points that are closest to the new customer data point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algorithm will determine which category (class) are these 5 points in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4 points had class “SMALL” &amp; 1 had “LARGE”, then new customer is assigned small size</a:t>
            </a:r>
            <a:endParaRPr/>
          </a:p>
        </p:txBody>
      </p:sp>
      <p:graphicFrame>
        <p:nvGraphicFramePr>
          <p:cNvPr id="566" name="Google Shape;566;p18"/>
          <p:cNvGraphicFramePr/>
          <p:nvPr/>
        </p:nvGraphicFramePr>
        <p:xfrm>
          <a:off x="162187" y="20597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{D3475916-DEDC-4349-8F6A-10D976D65C11}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/>
                        <a:t>Height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Weight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T-Shirt Size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Euclidian Dist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Vote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158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58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4.242640687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158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3.605551275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158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3.605551275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2.236067977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1.414213562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2.236067977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3.16227766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4.123105626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165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62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5.656858249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7" name="Google Shape;567;p18"/>
          <p:cNvSpPr txBox="1"/>
          <p:nvPr/>
        </p:nvSpPr>
        <p:spPr>
          <a:xfrm>
            <a:off x="8532410" y="2296816"/>
            <a:ext cx="341736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Customer Information: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Height: 161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Weight: 61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Assume, k= 5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3404531" y="3533143"/>
            <a:ext cx="4868160" cy="1853967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 txBox="1"/>
          <p:nvPr/>
        </p:nvSpPr>
        <p:spPr>
          <a:xfrm>
            <a:off x="0" y="6528900"/>
            <a:ext cx="90197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Source: https://www.listendata.com/2017/12/k-nearest-neighbor-step-by-step-tutorial.html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9"/>
          <p:cNvSpPr txBox="1"/>
          <p:nvPr/>
        </p:nvSpPr>
        <p:spPr>
          <a:xfrm>
            <a:off x="349997" y="1981200"/>
            <a:ext cx="50602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 CLASSIFIER MODEL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20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0"/>
          <p:cNvSpPr txBox="1"/>
          <p:nvPr/>
        </p:nvSpPr>
        <p:spPr>
          <a:xfrm>
            <a:off x="704521" y="294702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INTUITION</a:t>
            </a:r>
            <a:endParaRPr/>
          </a:p>
        </p:txBody>
      </p:sp>
      <p:sp>
        <p:nvSpPr>
          <p:cNvPr id="583" name="Google Shape;583;p20"/>
          <p:cNvSpPr txBox="1"/>
          <p:nvPr>
            <p:ph idx="1" type="body"/>
          </p:nvPr>
        </p:nvSpPr>
        <p:spPr>
          <a:xfrm>
            <a:off x="427253" y="1191965"/>
            <a:ext cx="1102376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CA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Naïve Bayes is a classification technique based on Bayes’ Theorem.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CA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Let’s assume that you are data scientist working major bank in NYC and you want to classify a new client as eligible to retire or not.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CA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features are his/her age and salary.</a:t>
            </a:r>
            <a:endParaRPr/>
          </a:p>
        </p:txBody>
      </p:sp>
      <p:cxnSp>
        <p:nvCxnSpPr>
          <p:cNvPr id="584" name="Google Shape;584;p20"/>
          <p:cNvCxnSpPr/>
          <p:nvPr/>
        </p:nvCxnSpPr>
        <p:spPr>
          <a:xfrm>
            <a:off x="6632219" y="5953837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20"/>
          <p:cNvCxnSpPr/>
          <p:nvPr/>
        </p:nvCxnSpPr>
        <p:spPr>
          <a:xfrm rot="10800000">
            <a:off x="6603419" y="2589585"/>
            <a:ext cx="28801" cy="339921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6" name="Google Shape;586;p20"/>
          <p:cNvSpPr/>
          <p:nvPr/>
        </p:nvSpPr>
        <p:spPr>
          <a:xfrm>
            <a:off x="7153565" y="47517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7635257" y="444875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8520830" y="489820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7011465" y="409466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7577581" y="399754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8636412" y="41422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7413045" y="51292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 txBox="1"/>
          <p:nvPr/>
        </p:nvSpPr>
        <p:spPr>
          <a:xfrm>
            <a:off x="7108930" y="5914468"/>
            <a:ext cx="37404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594" name="Google Shape;594;p20"/>
          <p:cNvSpPr txBox="1"/>
          <p:nvPr/>
        </p:nvSpPr>
        <p:spPr>
          <a:xfrm rot="-5400000">
            <a:off x="4734481" y="3756123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7780394" y="341170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8297436" y="345974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8144775" y="393551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7297249" y="371182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8316790" y="444240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7796312" y="492921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6758083" y="487434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6677364" y="429234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9090686" y="23654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10041604" y="265345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9009848" y="334411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9545561" y="320405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9413062" y="371999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10054546" y="327018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9419911" y="272690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10024534" y="366766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10467210" y="275550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10551529" y="330002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10582251" y="375187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10849352" y="29342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9834166" y="295114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9728450" y="394984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9159721" y="426712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9741392" y="456658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9711380" y="496406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10154056" y="405189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10238375" y="45964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10269097" y="50482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10536198" y="423062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9941253" y="43191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11052334" y="36497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7574166" y="28054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8215650" y="235559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8185638" y="275308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8712633" y="238543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9681523" y="237000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8627208" y="277055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9020861" y="267351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8566586" y="317459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9166810" y="299526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8712535" y="349635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8750715" y="4596759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 txBox="1"/>
          <p:nvPr/>
        </p:nvSpPr>
        <p:spPr>
          <a:xfrm>
            <a:off x="8713661" y="4522702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38" name="Google Shape;638;p20"/>
          <p:cNvSpPr txBox="1"/>
          <p:nvPr/>
        </p:nvSpPr>
        <p:spPr>
          <a:xfrm>
            <a:off x="10196753" y="2317450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639" name="Google Shape;639;p20"/>
          <p:cNvSpPr txBox="1"/>
          <p:nvPr/>
        </p:nvSpPr>
        <p:spPr>
          <a:xfrm>
            <a:off x="6887270" y="5574134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640" name="Google Shape;640;p20"/>
          <p:cNvSpPr txBox="1"/>
          <p:nvPr/>
        </p:nvSpPr>
        <p:spPr>
          <a:xfrm>
            <a:off x="10183703" y="2057400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1: RETIRE</a:t>
            </a:r>
            <a:endParaRPr/>
          </a:p>
        </p:txBody>
      </p:sp>
      <p:sp>
        <p:nvSpPr>
          <p:cNvPr id="641" name="Google Shape;641;p20"/>
          <p:cNvSpPr txBox="1"/>
          <p:nvPr/>
        </p:nvSpPr>
        <p:spPr>
          <a:xfrm>
            <a:off x="6638842" y="5367655"/>
            <a:ext cx="2068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0: NO RETIRE</a:t>
            </a:r>
            <a:endParaRPr/>
          </a:p>
        </p:txBody>
      </p:sp>
      <p:cxnSp>
        <p:nvCxnSpPr>
          <p:cNvPr id="642" name="Google Shape;642;p20"/>
          <p:cNvCxnSpPr/>
          <p:nvPr/>
        </p:nvCxnSpPr>
        <p:spPr>
          <a:xfrm>
            <a:off x="8920611" y="4874341"/>
            <a:ext cx="0" cy="1079496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43" name="Google Shape;643;p20"/>
          <p:cNvCxnSpPr>
            <a:stCxn id="637" idx="1"/>
          </p:cNvCxnSpPr>
          <p:nvPr/>
        </p:nvCxnSpPr>
        <p:spPr>
          <a:xfrm rot="10800000">
            <a:off x="6638861" y="4748135"/>
            <a:ext cx="2074800" cy="540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44" name="Google Shape;644;p20"/>
          <p:cNvCxnSpPr/>
          <p:nvPr/>
        </p:nvCxnSpPr>
        <p:spPr>
          <a:xfrm rot="10800000">
            <a:off x="4648230" y="3270135"/>
            <a:ext cx="4156800" cy="13491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5" name="Google Shape;645;p20"/>
          <p:cNvSpPr txBox="1"/>
          <p:nvPr/>
        </p:nvSpPr>
        <p:spPr>
          <a:xfrm>
            <a:off x="2820499" y="3090414"/>
            <a:ext cx="1771511" cy="369332"/>
          </a:xfrm>
          <a:prstGeom prst="rect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CA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CUSTOMER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21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1"/>
          <p:cNvSpPr txBox="1"/>
          <p:nvPr/>
        </p:nvSpPr>
        <p:spPr>
          <a:xfrm>
            <a:off x="737934" y="139598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1. PRIOR PROBABILITY</a:t>
            </a:r>
            <a:endParaRPr/>
          </a:p>
        </p:txBody>
      </p:sp>
      <p:sp>
        <p:nvSpPr>
          <p:cNvPr id="653" name="Google Shape;653;p21"/>
          <p:cNvSpPr txBox="1"/>
          <p:nvPr>
            <p:ph idx="1" type="body"/>
          </p:nvPr>
        </p:nvSpPr>
        <p:spPr>
          <a:xfrm>
            <a:off x="779915" y="1249443"/>
            <a:ext cx="4661421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•"/>
            </a:pP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Points can be classified as </a:t>
            </a:r>
            <a:r>
              <a:rPr lang="en-CA" sz="2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RED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000"/>
              <a:buChar char="•"/>
            </a:pP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Our task is to classify a new point to </a:t>
            </a:r>
            <a:r>
              <a:rPr lang="en-CA" sz="2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RED 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000"/>
              <a:buChar char="•"/>
            </a:pPr>
            <a:r>
              <a:rPr b="1"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Prior Probability: 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Since we have more </a:t>
            </a:r>
            <a:r>
              <a:rPr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 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compared to </a:t>
            </a:r>
            <a:r>
              <a:rPr lang="en-CA" sz="2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RED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, we can assume that our new point is 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twice as likely to be </a:t>
            </a:r>
            <a:r>
              <a:rPr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than </a:t>
            </a:r>
            <a:r>
              <a:rPr lang="en-CA" sz="20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RED</a:t>
            </a:r>
            <a:r>
              <a:rPr lang="en-CA" sz="2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/>
          </a:p>
        </p:txBody>
      </p:sp>
      <p:sp>
        <p:nvSpPr>
          <p:cNvPr id="654" name="Google Shape;654;p21"/>
          <p:cNvSpPr txBox="1"/>
          <p:nvPr/>
        </p:nvSpPr>
        <p:spPr>
          <a:xfrm>
            <a:off x="646143" y="4058309"/>
            <a:ext cx="6145720" cy="57515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55" name="Google Shape;655;p21"/>
          <p:cNvSpPr txBox="1"/>
          <p:nvPr/>
        </p:nvSpPr>
        <p:spPr>
          <a:xfrm>
            <a:off x="541462" y="4818626"/>
            <a:ext cx="6274666" cy="57515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56" name="Google Shape;656;p21"/>
          <p:cNvCxnSpPr/>
          <p:nvPr/>
        </p:nvCxnSpPr>
        <p:spPr>
          <a:xfrm>
            <a:off x="7336230" y="5908641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7" name="Google Shape;657;p21"/>
          <p:cNvCxnSpPr/>
          <p:nvPr/>
        </p:nvCxnSpPr>
        <p:spPr>
          <a:xfrm rot="10800000">
            <a:off x="7317117" y="2254755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8" name="Google Shape;658;p21"/>
          <p:cNvSpPr/>
          <p:nvPr/>
        </p:nvSpPr>
        <p:spPr>
          <a:xfrm>
            <a:off x="7857576" y="470655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8339268" y="440355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9224841" y="485301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7715476" y="404947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8281592" y="39523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9340423" y="409709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8117056" y="508405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1"/>
          <p:cNvSpPr txBox="1"/>
          <p:nvPr/>
        </p:nvSpPr>
        <p:spPr>
          <a:xfrm>
            <a:off x="8562377" y="5974323"/>
            <a:ext cx="37404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666" name="Google Shape;666;p21"/>
          <p:cNvSpPr txBox="1"/>
          <p:nvPr/>
        </p:nvSpPr>
        <p:spPr>
          <a:xfrm rot="-5400000">
            <a:off x="5462682" y="2965813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667" name="Google Shape;667;p21"/>
          <p:cNvSpPr/>
          <p:nvPr/>
        </p:nvSpPr>
        <p:spPr>
          <a:xfrm>
            <a:off x="8484405" y="336651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9001447" y="341455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8848786" y="389031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1"/>
          <p:cNvSpPr/>
          <p:nvPr/>
        </p:nvSpPr>
        <p:spPr>
          <a:xfrm>
            <a:off x="8001260" y="366662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9020801" y="439720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7642979" y="539720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7462094" y="482914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7381375" y="424714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10401272" y="227957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9794697" y="232026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10745615" y="260825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9713859" y="32989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10249572" y="31588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10117073" y="367479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10758557" y="32249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10123922" y="268170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10728545" y="362247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11171221" y="27103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11255540" y="325482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11286262" y="370667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1553363" y="288903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10538177" y="290594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10432461" y="390465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9863732" y="422192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10445403" y="452138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10415391" y="49188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10858067" y="400669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10942386" y="455122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10973108" y="500307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11240209" y="418542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10645264" y="427392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10178845" y="197368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11756345" y="360453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8906719" y="169366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7874963" y="23843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8410676" y="224427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8278177" y="276020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8919661" y="231040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8285026" y="176711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8889649" y="270788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9332325" y="17957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9416644" y="234023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/>
          <p:nvPr/>
        </p:nvSpPr>
        <p:spPr>
          <a:xfrm>
            <a:off x="9714467" y="197444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1"/>
          <p:cNvSpPr/>
          <p:nvPr/>
        </p:nvSpPr>
        <p:spPr>
          <a:xfrm>
            <a:off x="8699281" y="19913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9331219" y="27253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1"/>
          <p:cNvSpPr/>
          <p:nvPr/>
        </p:nvSpPr>
        <p:spPr>
          <a:xfrm>
            <a:off x="9724872" y="26283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/>
          <p:nvPr/>
        </p:nvSpPr>
        <p:spPr>
          <a:xfrm>
            <a:off x="9270597" y="312939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/>
          <p:nvPr/>
        </p:nvSpPr>
        <p:spPr>
          <a:xfrm>
            <a:off x="9870821" y="295007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1"/>
          <p:cNvSpPr/>
          <p:nvPr/>
        </p:nvSpPr>
        <p:spPr>
          <a:xfrm>
            <a:off x="9416546" y="345115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1"/>
          <p:cNvSpPr/>
          <p:nvPr/>
        </p:nvSpPr>
        <p:spPr>
          <a:xfrm>
            <a:off x="9454726" y="4551563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 txBox="1"/>
          <p:nvPr/>
        </p:nvSpPr>
        <p:spPr>
          <a:xfrm>
            <a:off x="9417672" y="4477506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18" name="Google Shape;718;p21"/>
          <p:cNvSpPr txBox="1"/>
          <p:nvPr/>
        </p:nvSpPr>
        <p:spPr>
          <a:xfrm>
            <a:off x="7996109" y="1349003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719" name="Google Shape;719;p21"/>
          <p:cNvSpPr txBox="1"/>
          <p:nvPr/>
        </p:nvSpPr>
        <p:spPr>
          <a:xfrm>
            <a:off x="8403705" y="5426662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720" name="Google Shape;720;p21"/>
          <p:cNvSpPr txBox="1"/>
          <p:nvPr/>
        </p:nvSpPr>
        <p:spPr>
          <a:xfrm>
            <a:off x="8006340" y="1012561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1: RETIRE</a:t>
            </a:r>
            <a:endParaRPr/>
          </a:p>
        </p:txBody>
      </p:sp>
      <p:sp>
        <p:nvSpPr>
          <p:cNvPr id="721" name="Google Shape;721;p21"/>
          <p:cNvSpPr txBox="1"/>
          <p:nvPr/>
        </p:nvSpPr>
        <p:spPr>
          <a:xfrm>
            <a:off x="8401255" y="5194201"/>
            <a:ext cx="2068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0: NO RETIRE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22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22"/>
          <p:cNvSpPr txBox="1"/>
          <p:nvPr/>
        </p:nvSpPr>
        <p:spPr>
          <a:xfrm>
            <a:off x="808626" y="188831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2. LIKELIHOOD </a:t>
            </a:r>
            <a:endParaRPr/>
          </a:p>
        </p:txBody>
      </p:sp>
      <p:cxnSp>
        <p:nvCxnSpPr>
          <p:cNvPr id="729" name="Google Shape;729;p22"/>
          <p:cNvCxnSpPr/>
          <p:nvPr/>
        </p:nvCxnSpPr>
        <p:spPr>
          <a:xfrm>
            <a:off x="7213833" y="5730572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0" name="Google Shape;730;p22"/>
          <p:cNvCxnSpPr/>
          <p:nvPr/>
        </p:nvCxnSpPr>
        <p:spPr>
          <a:xfrm rot="10800000">
            <a:off x="7194720" y="2076686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1" name="Google Shape;731;p22"/>
          <p:cNvSpPr/>
          <p:nvPr/>
        </p:nvSpPr>
        <p:spPr>
          <a:xfrm>
            <a:off x="7735179" y="45284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8216871" y="42254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9102444" y="467494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7593079" y="387140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8159195" y="377427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9218026" y="391902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7994659" y="49059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 txBox="1"/>
          <p:nvPr/>
        </p:nvSpPr>
        <p:spPr>
          <a:xfrm>
            <a:off x="9057380" y="5794425"/>
            <a:ext cx="24405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739" name="Google Shape;739;p22"/>
          <p:cNvSpPr txBox="1"/>
          <p:nvPr/>
        </p:nvSpPr>
        <p:spPr>
          <a:xfrm rot="-5400000">
            <a:off x="5452156" y="2239497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740" name="Google Shape;740;p22"/>
          <p:cNvSpPr/>
          <p:nvPr/>
        </p:nvSpPr>
        <p:spPr>
          <a:xfrm>
            <a:off x="8362008" y="318844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8879050" y="323648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8726389" y="371225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/>
          <p:nvPr/>
        </p:nvSpPr>
        <p:spPr>
          <a:xfrm>
            <a:off x="7878863" y="348855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8898404" y="421913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7520582" y="521913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7339697" y="465107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7258978" y="406908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2"/>
          <p:cNvSpPr/>
          <p:nvPr/>
        </p:nvSpPr>
        <p:spPr>
          <a:xfrm>
            <a:off x="10278875" y="210151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/>
          <p:nvPr/>
        </p:nvSpPr>
        <p:spPr>
          <a:xfrm>
            <a:off x="9672300" y="214219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10623218" y="243018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9591462" y="312084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10127175" y="298079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2"/>
          <p:cNvSpPr/>
          <p:nvPr/>
        </p:nvSpPr>
        <p:spPr>
          <a:xfrm>
            <a:off x="9994676" y="34967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10636160" y="304692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10001525" y="250363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10606148" y="344440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2"/>
          <p:cNvSpPr/>
          <p:nvPr/>
        </p:nvSpPr>
        <p:spPr>
          <a:xfrm>
            <a:off x="11048824" y="253223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11133143" y="30767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11163865" y="352860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11430966" y="271096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10415780" y="272787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2"/>
          <p:cNvSpPr txBox="1"/>
          <p:nvPr>
            <p:ph idx="1" type="body"/>
          </p:nvPr>
        </p:nvSpPr>
        <p:spPr>
          <a:xfrm>
            <a:off x="605583" y="1187347"/>
            <a:ext cx="5341923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For the new point, if there are more </a:t>
            </a:r>
            <a:r>
              <a:rPr b="1"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 points in its vicinity, it is more likely that the new point will be classified as </a:t>
            </a:r>
            <a:r>
              <a:rPr b="1" lang="en-CA" sz="20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BLUE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So we draw a circle around the point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Then we calculate the number of points in the circle belonging to each class label. </a:t>
            </a:r>
            <a:br>
              <a:rPr lang="en-CA" sz="2000">
                <a:latin typeface="Montserrat"/>
                <a:ea typeface="Montserrat"/>
                <a:cs typeface="Montserrat"/>
                <a:sym typeface="Montserrat"/>
              </a:rPr>
            </a:br>
            <a:endParaRPr sz="2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22"/>
          <p:cNvSpPr/>
          <p:nvPr/>
        </p:nvSpPr>
        <p:spPr>
          <a:xfrm>
            <a:off x="10310064" y="372658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2"/>
          <p:cNvSpPr/>
          <p:nvPr/>
        </p:nvSpPr>
        <p:spPr>
          <a:xfrm>
            <a:off x="9741335" y="40438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2"/>
          <p:cNvSpPr/>
          <p:nvPr/>
        </p:nvSpPr>
        <p:spPr>
          <a:xfrm>
            <a:off x="10323006" y="43433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2"/>
          <p:cNvSpPr/>
          <p:nvPr/>
        </p:nvSpPr>
        <p:spPr>
          <a:xfrm>
            <a:off x="10292994" y="474079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2"/>
          <p:cNvSpPr/>
          <p:nvPr/>
        </p:nvSpPr>
        <p:spPr>
          <a:xfrm>
            <a:off x="10735670" y="382863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2"/>
          <p:cNvSpPr/>
          <p:nvPr/>
        </p:nvSpPr>
        <p:spPr>
          <a:xfrm>
            <a:off x="10819989" y="437315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2"/>
          <p:cNvSpPr/>
          <p:nvPr/>
        </p:nvSpPr>
        <p:spPr>
          <a:xfrm>
            <a:off x="10850711" y="482500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2"/>
          <p:cNvSpPr/>
          <p:nvPr/>
        </p:nvSpPr>
        <p:spPr>
          <a:xfrm>
            <a:off x="11117812" y="40073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2"/>
          <p:cNvSpPr/>
          <p:nvPr/>
        </p:nvSpPr>
        <p:spPr>
          <a:xfrm>
            <a:off x="10522867" y="409585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2"/>
          <p:cNvSpPr/>
          <p:nvPr/>
        </p:nvSpPr>
        <p:spPr>
          <a:xfrm>
            <a:off x="10056448" y="179561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2"/>
          <p:cNvSpPr/>
          <p:nvPr/>
        </p:nvSpPr>
        <p:spPr>
          <a:xfrm>
            <a:off x="11633948" y="342646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2"/>
          <p:cNvSpPr/>
          <p:nvPr/>
        </p:nvSpPr>
        <p:spPr>
          <a:xfrm>
            <a:off x="8784322" y="151559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2"/>
          <p:cNvSpPr/>
          <p:nvPr/>
        </p:nvSpPr>
        <p:spPr>
          <a:xfrm>
            <a:off x="7752566" y="22062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2"/>
          <p:cNvSpPr/>
          <p:nvPr/>
        </p:nvSpPr>
        <p:spPr>
          <a:xfrm>
            <a:off x="8288279" y="206620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2"/>
          <p:cNvSpPr/>
          <p:nvPr/>
        </p:nvSpPr>
        <p:spPr>
          <a:xfrm>
            <a:off x="8155780" y="258214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8797264" y="213233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8162629" y="158904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8767252" y="252981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2"/>
          <p:cNvSpPr/>
          <p:nvPr/>
        </p:nvSpPr>
        <p:spPr>
          <a:xfrm>
            <a:off x="9209928" y="16176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2"/>
          <p:cNvSpPr/>
          <p:nvPr/>
        </p:nvSpPr>
        <p:spPr>
          <a:xfrm>
            <a:off x="9294247" y="216217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9592070" y="179637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8576884" y="181328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9208822" y="254729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9602475" y="245024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2"/>
          <p:cNvSpPr/>
          <p:nvPr/>
        </p:nvSpPr>
        <p:spPr>
          <a:xfrm>
            <a:off x="9148200" y="29513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2"/>
          <p:cNvSpPr/>
          <p:nvPr/>
        </p:nvSpPr>
        <p:spPr>
          <a:xfrm>
            <a:off x="9748424" y="27720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2"/>
          <p:cNvSpPr/>
          <p:nvPr/>
        </p:nvSpPr>
        <p:spPr>
          <a:xfrm>
            <a:off x="9294149" y="327308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9332329" y="4373494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2"/>
          <p:cNvSpPr txBox="1"/>
          <p:nvPr/>
        </p:nvSpPr>
        <p:spPr>
          <a:xfrm>
            <a:off x="9295275" y="4299437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792" name="Google Shape;792;p22"/>
          <p:cNvSpPr txBox="1"/>
          <p:nvPr/>
        </p:nvSpPr>
        <p:spPr>
          <a:xfrm>
            <a:off x="517377" y="3784817"/>
            <a:ext cx="6432082" cy="5112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3" name="Google Shape;793;p22"/>
          <p:cNvSpPr txBox="1"/>
          <p:nvPr/>
        </p:nvSpPr>
        <p:spPr>
          <a:xfrm>
            <a:off x="7873712" y="1170934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794" name="Google Shape;794;p22"/>
          <p:cNvSpPr txBox="1"/>
          <p:nvPr/>
        </p:nvSpPr>
        <p:spPr>
          <a:xfrm>
            <a:off x="7832563" y="5264183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8759440" y="3671507"/>
            <a:ext cx="1467099" cy="1461583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2"/>
          <p:cNvSpPr txBox="1"/>
          <p:nvPr/>
        </p:nvSpPr>
        <p:spPr>
          <a:xfrm>
            <a:off x="468356" y="4470526"/>
            <a:ext cx="6657272" cy="5270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23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3"/>
          <p:cNvSpPr/>
          <p:nvPr/>
        </p:nvSpPr>
        <p:spPr>
          <a:xfrm>
            <a:off x="6911650" y="5755859"/>
            <a:ext cx="4540721" cy="9453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 txBox="1"/>
          <p:nvPr/>
        </p:nvSpPr>
        <p:spPr>
          <a:xfrm>
            <a:off x="636573" y="132960"/>
            <a:ext cx="762321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3. POSTERIOR PROBABILITY</a:t>
            </a:r>
            <a:endParaRPr/>
          </a:p>
        </p:txBody>
      </p:sp>
      <p:cxnSp>
        <p:nvCxnSpPr>
          <p:cNvPr id="805" name="Google Shape;805;p23"/>
          <p:cNvCxnSpPr/>
          <p:nvPr/>
        </p:nvCxnSpPr>
        <p:spPr>
          <a:xfrm>
            <a:off x="7028072" y="5374081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06" name="Google Shape;806;p23"/>
          <p:cNvCxnSpPr/>
          <p:nvPr/>
        </p:nvCxnSpPr>
        <p:spPr>
          <a:xfrm rot="10800000">
            <a:off x="7008959" y="1720195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7" name="Google Shape;807;p23"/>
          <p:cNvSpPr/>
          <p:nvPr/>
        </p:nvSpPr>
        <p:spPr>
          <a:xfrm>
            <a:off x="7549418" y="417199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8031110" y="386899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8916683" y="43184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7407318" y="351491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7973434" y="341778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3"/>
          <p:cNvSpPr/>
          <p:nvPr/>
        </p:nvSpPr>
        <p:spPr>
          <a:xfrm>
            <a:off x="9032265" y="356253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3"/>
          <p:cNvSpPr/>
          <p:nvPr/>
        </p:nvSpPr>
        <p:spPr>
          <a:xfrm>
            <a:off x="7808898" y="454949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3"/>
          <p:cNvSpPr txBox="1"/>
          <p:nvPr/>
        </p:nvSpPr>
        <p:spPr>
          <a:xfrm>
            <a:off x="9388958" y="5368333"/>
            <a:ext cx="24405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815" name="Google Shape;815;p23"/>
          <p:cNvSpPr txBox="1"/>
          <p:nvPr/>
        </p:nvSpPr>
        <p:spPr>
          <a:xfrm rot="-5400000">
            <a:off x="5246319" y="2911511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816" name="Google Shape;816;p23"/>
          <p:cNvSpPr/>
          <p:nvPr/>
        </p:nvSpPr>
        <p:spPr>
          <a:xfrm>
            <a:off x="8176247" y="283195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3"/>
          <p:cNvSpPr/>
          <p:nvPr/>
        </p:nvSpPr>
        <p:spPr>
          <a:xfrm>
            <a:off x="8693289" y="287999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3"/>
          <p:cNvSpPr/>
          <p:nvPr/>
        </p:nvSpPr>
        <p:spPr>
          <a:xfrm>
            <a:off x="8540628" y="335575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3"/>
          <p:cNvSpPr/>
          <p:nvPr/>
        </p:nvSpPr>
        <p:spPr>
          <a:xfrm>
            <a:off x="7693102" y="313206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3"/>
          <p:cNvSpPr/>
          <p:nvPr/>
        </p:nvSpPr>
        <p:spPr>
          <a:xfrm>
            <a:off x="8712643" y="386264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3"/>
          <p:cNvSpPr/>
          <p:nvPr/>
        </p:nvSpPr>
        <p:spPr>
          <a:xfrm>
            <a:off x="7334821" y="486264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3"/>
          <p:cNvSpPr/>
          <p:nvPr/>
        </p:nvSpPr>
        <p:spPr>
          <a:xfrm>
            <a:off x="7153936" y="429458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3"/>
          <p:cNvSpPr/>
          <p:nvPr/>
        </p:nvSpPr>
        <p:spPr>
          <a:xfrm>
            <a:off x="7073217" y="371258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3"/>
          <p:cNvSpPr/>
          <p:nvPr/>
        </p:nvSpPr>
        <p:spPr>
          <a:xfrm>
            <a:off x="10093114" y="174501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3"/>
          <p:cNvSpPr/>
          <p:nvPr/>
        </p:nvSpPr>
        <p:spPr>
          <a:xfrm>
            <a:off x="9486539" y="178570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3"/>
          <p:cNvSpPr/>
          <p:nvPr/>
        </p:nvSpPr>
        <p:spPr>
          <a:xfrm>
            <a:off x="10437457" y="207369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3"/>
          <p:cNvSpPr/>
          <p:nvPr/>
        </p:nvSpPr>
        <p:spPr>
          <a:xfrm>
            <a:off x="9405701" y="276435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3"/>
          <p:cNvSpPr/>
          <p:nvPr/>
        </p:nvSpPr>
        <p:spPr>
          <a:xfrm>
            <a:off x="9941414" y="262429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3"/>
          <p:cNvSpPr/>
          <p:nvPr/>
        </p:nvSpPr>
        <p:spPr>
          <a:xfrm>
            <a:off x="9808915" y="314023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3"/>
          <p:cNvSpPr/>
          <p:nvPr/>
        </p:nvSpPr>
        <p:spPr>
          <a:xfrm>
            <a:off x="10450399" y="269043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3"/>
          <p:cNvSpPr/>
          <p:nvPr/>
        </p:nvSpPr>
        <p:spPr>
          <a:xfrm>
            <a:off x="9815764" y="214714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3"/>
          <p:cNvSpPr/>
          <p:nvPr/>
        </p:nvSpPr>
        <p:spPr>
          <a:xfrm>
            <a:off x="10420387" y="308791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3"/>
          <p:cNvSpPr/>
          <p:nvPr/>
        </p:nvSpPr>
        <p:spPr>
          <a:xfrm>
            <a:off x="10863063" y="217574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3"/>
          <p:cNvSpPr/>
          <p:nvPr/>
        </p:nvSpPr>
        <p:spPr>
          <a:xfrm>
            <a:off x="10947382" y="272026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3"/>
          <p:cNvSpPr/>
          <p:nvPr/>
        </p:nvSpPr>
        <p:spPr>
          <a:xfrm>
            <a:off x="10978104" y="31721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3"/>
          <p:cNvSpPr/>
          <p:nvPr/>
        </p:nvSpPr>
        <p:spPr>
          <a:xfrm>
            <a:off x="11245205" y="235447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3"/>
          <p:cNvSpPr/>
          <p:nvPr/>
        </p:nvSpPr>
        <p:spPr>
          <a:xfrm>
            <a:off x="10230019" y="237138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3"/>
          <p:cNvSpPr txBox="1"/>
          <p:nvPr>
            <p:ph idx="1" type="body"/>
          </p:nvPr>
        </p:nvSpPr>
        <p:spPr>
          <a:xfrm>
            <a:off x="439775" y="1242215"/>
            <a:ext cx="6181458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Let’s combine prior probability and likelihood to create a posterior probability.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CA" sz="2000">
                <a:latin typeface="Montserrat"/>
                <a:ea typeface="Montserrat"/>
                <a:cs typeface="Montserrat"/>
                <a:sym typeface="Montserrat"/>
              </a:rPr>
              <a:t>Prior probabilities: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 suggests that X may be classified as BLUE Because there are twice as much blue points.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CA" sz="2000">
                <a:latin typeface="Montserrat"/>
                <a:ea typeface="Montserrat"/>
                <a:cs typeface="Montserrat"/>
                <a:sym typeface="Montserrat"/>
              </a:rPr>
              <a:t>Likelihood: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 suggests that X is RED because there are more RED points in the vicinity of 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Bayes’ Rule combines both to form a posterior probability.</a:t>
            </a:r>
            <a:endParaRPr sz="2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23"/>
          <p:cNvSpPr/>
          <p:nvPr/>
        </p:nvSpPr>
        <p:spPr>
          <a:xfrm>
            <a:off x="10124303" y="337009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3"/>
          <p:cNvSpPr/>
          <p:nvPr/>
        </p:nvSpPr>
        <p:spPr>
          <a:xfrm>
            <a:off x="9555574" y="36873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3"/>
          <p:cNvSpPr/>
          <p:nvPr/>
        </p:nvSpPr>
        <p:spPr>
          <a:xfrm>
            <a:off x="10137245" y="398682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3"/>
          <p:cNvSpPr/>
          <p:nvPr/>
        </p:nvSpPr>
        <p:spPr>
          <a:xfrm>
            <a:off x="10107233" y="438430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3"/>
          <p:cNvSpPr/>
          <p:nvPr/>
        </p:nvSpPr>
        <p:spPr>
          <a:xfrm>
            <a:off x="10549909" y="347213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3"/>
          <p:cNvSpPr/>
          <p:nvPr/>
        </p:nvSpPr>
        <p:spPr>
          <a:xfrm>
            <a:off x="10634228" y="401666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3"/>
          <p:cNvSpPr/>
          <p:nvPr/>
        </p:nvSpPr>
        <p:spPr>
          <a:xfrm>
            <a:off x="10664950" y="446851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3"/>
          <p:cNvSpPr/>
          <p:nvPr/>
        </p:nvSpPr>
        <p:spPr>
          <a:xfrm>
            <a:off x="10932051" y="36508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3"/>
          <p:cNvSpPr/>
          <p:nvPr/>
        </p:nvSpPr>
        <p:spPr>
          <a:xfrm>
            <a:off x="10337106" y="373936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3"/>
          <p:cNvSpPr/>
          <p:nvPr/>
        </p:nvSpPr>
        <p:spPr>
          <a:xfrm>
            <a:off x="9769480" y="15890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3"/>
          <p:cNvSpPr/>
          <p:nvPr/>
        </p:nvSpPr>
        <p:spPr>
          <a:xfrm>
            <a:off x="11448187" y="306997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3"/>
          <p:cNvSpPr/>
          <p:nvPr/>
        </p:nvSpPr>
        <p:spPr>
          <a:xfrm>
            <a:off x="8598561" y="115910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3"/>
          <p:cNvSpPr/>
          <p:nvPr/>
        </p:nvSpPr>
        <p:spPr>
          <a:xfrm>
            <a:off x="7566805" y="184976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3"/>
          <p:cNvSpPr/>
          <p:nvPr/>
        </p:nvSpPr>
        <p:spPr>
          <a:xfrm>
            <a:off x="8102518" y="170971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3"/>
          <p:cNvSpPr/>
          <p:nvPr/>
        </p:nvSpPr>
        <p:spPr>
          <a:xfrm>
            <a:off x="7970019" y="222564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3"/>
          <p:cNvSpPr/>
          <p:nvPr/>
        </p:nvSpPr>
        <p:spPr>
          <a:xfrm>
            <a:off x="8611503" y="177584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3"/>
          <p:cNvSpPr/>
          <p:nvPr/>
        </p:nvSpPr>
        <p:spPr>
          <a:xfrm>
            <a:off x="7976868" y="12325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3"/>
          <p:cNvSpPr/>
          <p:nvPr/>
        </p:nvSpPr>
        <p:spPr>
          <a:xfrm>
            <a:off x="8581491" y="217332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3"/>
          <p:cNvSpPr/>
          <p:nvPr/>
        </p:nvSpPr>
        <p:spPr>
          <a:xfrm>
            <a:off x="9024167" y="12611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3"/>
          <p:cNvSpPr/>
          <p:nvPr/>
        </p:nvSpPr>
        <p:spPr>
          <a:xfrm>
            <a:off x="9108486" y="180567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3"/>
          <p:cNvSpPr/>
          <p:nvPr/>
        </p:nvSpPr>
        <p:spPr>
          <a:xfrm>
            <a:off x="9406309" y="143988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3"/>
          <p:cNvSpPr/>
          <p:nvPr/>
        </p:nvSpPr>
        <p:spPr>
          <a:xfrm>
            <a:off x="8391123" y="145679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3"/>
          <p:cNvSpPr/>
          <p:nvPr/>
        </p:nvSpPr>
        <p:spPr>
          <a:xfrm>
            <a:off x="9023061" y="219079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3"/>
          <p:cNvSpPr/>
          <p:nvPr/>
        </p:nvSpPr>
        <p:spPr>
          <a:xfrm>
            <a:off x="9416714" y="209375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3"/>
          <p:cNvSpPr/>
          <p:nvPr/>
        </p:nvSpPr>
        <p:spPr>
          <a:xfrm>
            <a:off x="8962439" y="259483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3"/>
          <p:cNvSpPr/>
          <p:nvPr/>
        </p:nvSpPr>
        <p:spPr>
          <a:xfrm>
            <a:off x="9562663" y="241551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3"/>
          <p:cNvSpPr/>
          <p:nvPr/>
        </p:nvSpPr>
        <p:spPr>
          <a:xfrm>
            <a:off x="9108388" y="291659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3"/>
          <p:cNvSpPr/>
          <p:nvPr/>
        </p:nvSpPr>
        <p:spPr>
          <a:xfrm>
            <a:off x="9146568" y="4017003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3"/>
          <p:cNvSpPr txBox="1"/>
          <p:nvPr/>
        </p:nvSpPr>
        <p:spPr>
          <a:xfrm>
            <a:off x="9109514" y="3942946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868" name="Google Shape;868;p23"/>
          <p:cNvSpPr txBox="1"/>
          <p:nvPr/>
        </p:nvSpPr>
        <p:spPr>
          <a:xfrm>
            <a:off x="1009377" y="4457631"/>
            <a:ext cx="5638795" cy="94378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9" name="Google Shape;869;p23"/>
          <p:cNvSpPr txBox="1"/>
          <p:nvPr/>
        </p:nvSpPr>
        <p:spPr>
          <a:xfrm>
            <a:off x="9307228" y="1080318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870" name="Google Shape;870;p23"/>
          <p:cNvSpPr txBox="1"/>
          <p:nvPr/>
        </p:nvSpPr>
        <p:spPr>
          <a:xfrm>
            <a:off x="7646802" y="4907692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CA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871" name="Google Shape;871;p23"/>
          <p:cNvSpPr/>
          <p:nvPr/>
        </p:nvSpPr>
        <p:spPr>
          <a:xfrm>
            <a:off x="8573679" y="3315016"/>
            <a:ext cx="1467099" cy="1461583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3"/>
          <p:cNvSpPr txBox="1"/>
          <p:nvPr/>
        </p:nvSpPr>
        <p:spPr>
          <a:xfrm>
            <a:off x="1137853" y="5699305"/>
            <a:ext cx="5638795" cy="9437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3" name="Google Shape;873;p23"/>
          <p:cNvSpPr/>
          <p:nvPr/>
        </p:nvSpPr>
        <p:spPr>
          <a:xfrm>
            <a:off x="7209572" y="5792566"/>
            <a:ext cx="46127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CA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X CLASSIFIED AS RED (NON RETIRING) SINCE IT HAS LARGER POSTERIOR PROBABILITY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" name="Google Shape;879;p24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24"/>
          <p:cNvSpPr/>
          <p:nvPr/>
        </p:nvSpPr>
        <p:spPr>
          <a:xfrm>
            <a:off x="6690509" y="5716004"/>
            <a:ext cx="4540721" cy="9453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4"/>
          <p:cNvSpPr txBox="1"/>
          <p:nvPr/>
        </p:nvSpPr>
        <p:spPr>
          <a:xfrm>
            <a:off x="605435" y="267151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REVIEW</a:t>
            </a:r>
            <a:endParaRPr/>
          </a:p>
        </p:txBody>
      </p:sp>
      <p:cxnSp>
        <p:nvCxnSpPr>
          <p:cNvPr id="882" name="Google Shape;882;p24"/>
          <p:cNvCxnSpPr/>
          <p:nvPr/>
        </p:nvCxnSpPr>
        <p:spPr>
          <a:xfrm>
            <a:off x="7254140" y="5569548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83" name="Google Shape;883;p24"/>
          <p:cNvCxnSpPr/>
          <p:nvPr/>
        </p:nvCxnSpPr>
        <p:spPr>
          <a:xfrm rot="10800000">
            <a:off x="7245335" y="1900883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4" name="Google Shape;884;p24"/>
          <p:cNvSpPr/>
          <p:nvPr/>
        </p:nvSpPr>
        <p:spPr>
          <a:xfrm>
            <a:off x="7775486" y="436746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4"/>
          <p:cNvSpPr/>
          <p:nvPr/>
        </p:nvSpPr>
        <p:spPr>
          <a:xfrm>
            <a:off x="8257178" y="406446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4"/>
          <p:cNvSpPr/>
          <p:nvPr/>
        </p:nvSpPr>
        <p:spPr>
          <a:xfrm>
            <a:off x="9142751" y="451391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4"/>
          <p:cNvSpPr/>
          <p:nvPr/>
        </p:nvSpPr>
        <p:spPr>
          <a:xfrm>
            <a:off x="7633386" y="371037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4"/>
          <p:cNvSpPr/>
          <p:nvPr/>
        </p:nvSpPr>
        <p:spPr>
          <a:xfrm>
            <a:off x="8199502" y="36132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4"/>
          <p:cNvSpPr/>
          <p:nvPr/>
        </p:nvSpPr>
        <p:spPr>
          <a:xfrm>
            <a:off x="9258333" y="375799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4"/>
          <p:cNvSpPr/>
          <p:nvPr/>
        </p:nvSpPr>
        <p:spPr>
          <a:xfrm>
            <a:off x="8034966" y="474496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4"/>
          <p:cNvSpPr txBox="1"/>
          <p:nvPr/>
        </p:nvSpPr>
        <p:spPr>
          <a:xfrm>
            <a:off x="9400432" y="5124796"/>
            <a:ext cx="24405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892" name="Google Shape;892;p24"/>
          <p:cNvSpPr txBox="1"/>
          <p:nvPr/>
        </p:nvSpPr>
        <p:spPr>
          <a:xfrm rot="-5400000">
            <a:off x="5325718" y="3197230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893" name="Google Shape;893;p24"/>
          <p:cNvSpPr/>
          <p:nvPr/>
        </p:nvSpPr>
        <p:spPr>
          <a:xfrm>
            <a:off x="8402315" y="302741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4"/>
          <p:cNvSpPr/>
          <p:nvPr/>
        </p:nvSpPr>
        <p:spPr>
          <a:xfrm>
            <a:off x="8919357" y="307545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4"/>
          <p:cNvSpPr/>
          <p:nvPr/>
        </p:nvSpPr>
        <p:spPr>
          <a:xfrm>
            <a:off x="8766696" y="355122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4"/>
          <p:cNvSpPr/>
          <p:nvPr/>
        </p:nvSpPr>
        <p:spPr>
          <a:xfrm>
            <a:off x="7919170" y="332753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4"/>
          <p:cNvSpPr/>
          <p:nvPr/>
        </p:nvSpPr>
        <p:spPr>
          <a:xfrm>
            <a:off x="8938711" y="405811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4"/>
          <p:cNvSpPr/>
          <p:nvPr/>
        </p:nvSpPr>
        <p:spPr>
          <a:xfrm>
            <a:off x="7560889" y="505811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4"/>
          <p:cNvSpPr/>
          <p:nvPr/>
        </p:nvSpPr>
        <p:spPr>
          <a:xfrm>
            <a:off x="7380004" y="449005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4"/>
          <p:cNvSpPr/>
          <p:nvPr/>
        </p:nvSpPr>
        <p:spPr>
          <a:xfrm>
            <a:off x="7299285" y="390805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4"/>
          <p:cNvSpPr/>
          <p:nvPr/>
        </p:nvSpPr>
        <p:spPr>
          <a:xfrm>
            <a:off x="10319182" y="19404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4"/>
          <p:cNvSpPr/>
          <p:nvPr/>
        </p:nvSpPr>
        <p:spPr>
          <a:xfrm>
            <a:off x="9712607" y="198116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4"/>
          <p:cNvSpPr/>
          <p:nvPr/>
        </p:nvSpPr>
        <p:spPr>
          <a:xfrm>
            <a:off x="10663525" y="226916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4"/>
          <p:cNvSpPr/>
          <p:nvPr/>
        </p:nvSpPr>
        <p:spPr>
          <a:xfrm>
            <a:off x="9631769" y="295982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4"/>
          <p:cNvSpPr/>
          <p:nvPr/>
        </p:nvSpPr>
        <p:spPr>
          <a:xfrm>
            <a:off x="10167482" y="28197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4"/>
          <p:cNvSpPr/>
          <p:nvPr/>
        </p:nvSpPr>
        <p:spPr>
          <a:xfrm>
            <a:off x="10034983" y="33357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4"/>
          <p:cNvSpPr/>
          <p:nvPr/>
        </p:nvSpPr>
        <p:spPr>
          <a:xfrm>
            <a:off x="10676467" y="288589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4"/>
          <p:cNvSpPr/>
          <p:nvPr/>
        </p:nvSpPr>
        <p:spPr>
          <a:xfrm>
            <a:off x="10041832" y="234261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4"/>
          <p:cNvSpPr/>
          <p:nvPr/>
        </p:nvSpPr>
        <p:spPr>
          <a:xfrm>
            <a:off x="10646455" y="328337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4"/>
          <p:cNvSpPr/>
          <p:nvPr/>
        </p:nvSpPr>
        <p:spPr>
          <a:xfrm>
            <a:off x="11089131" y="237121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4"/>
          <p:cNvSpPr/>
          <p:nvPr/>
        </p:nvSpPr>
        <p:spPr>
          <a:xfrm>
            <a:off x="11173450" y="291573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4"/>
          <p:cNvSpPr/>
          <p:nvPr/>
        </p:nvSpPr>
        <p:spPr>
          <a:xfrm>
            <a:off x="11204172" y="336758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4"/>
          <p:cNvSpPr/>
          <p:nvPr/>
        </p:nvSpPr>
        <p:spPr>
          <a:xfrm>
            <a:off x="11471273" y="254993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4"/>
          <p:cNvSpPr/>
          <p:nvPr/>
        </p:nvSpPr>
        <p:spPr>
          <a:xfrm>
            <a:off x="10456087" y="256685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4"/>
          <p:cNvSpPr txBox="1"/>
          <p:nvPr>
            <p:ph idx="1" type="body"/>
          </p:nvPr>
        </p:nvSpPr>
        <p:spPr>
          <a:xfrm>
            <a:off x="482943" y="1119137"/>
            <a:ext cx="6153552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Let’s combine prior probability and likelihood to create a posterior probability.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CA" sz="2000">
                <a:latin typeface="Montserrat"/>
                <a:ea typeface="Montserrat"/>
                <a:cs typeface="Montserrat"/>
                <a:sym typeface="Montserrat"/>
              </a:rPr>
              <a:t>Prior probabilities: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 suggests that X may be classified as BLUE Because there are twice as much blue points.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CA" sz="2000">
                <a:latin typeface="Montserrat"/>
                <a:ea typeface="Montserrat"/>
                <a:cs typeface="Montserrat"/>
                <a:sym typeface="Montserrat"/>
              </a:rPr>
              <a:t>Likelihood:</a:t>
            </a: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 suggests that X is RED because there are more RED points in the vicinity of 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Bayes’ Rule combines both to form a posterior probability.</a:t>
            </a:r>
            <a:endParaRPr sz="2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6" name="Google Shape;916;p24"/>
          <p:cNvSpPr/>
          <p:nvPr/>
        </p:nvSpPr>
        <p:spPr>
          <a:xfrm>
            <a:off x="10350371" y="35655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4"/>
          <p:cNvSpPr/>
          <p:nvPr/>
        </p:nvSpPr>
        <p:spPr>
          <a:xfrm>
            <a:off x="9781642" y="388283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4"/>
          <p:cNvSpPr/>
          <p:nvPr/>
        </p:nvSpPr>
        <p:spPr>
          <a:xfrm>
            <a:off x="10363313" y="418229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4"/>
          <p:cNvSpPr/>
          <p:nvPr/>
        </p:nvSpPr>
        <p:spPr>
          <a:xfrm>
            <a:off x="10333301" y="457977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4"/>
          <p:cNvSpPr/>
          <p:nvPr/>
        </p:nvSpPr>
        <p:spPr>
          <a:xfrm>
            <a:off x="10775977" y="366760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4"/>
          <p:cNvSpPr/>
          <p:nvPr/>
        </p:nvSpPr>
        <p:spPr>
          <a:xfrm>
            <a:off x="10860296" y="42121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4"/>
          <p:cNvSpPr/>
          <p:nvPr/>
        </p:nvSpPr>
        <p:spPr>
          <a:xfrm>
            <a:off x="10891018" y="466397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4"/>
          <p:cNvSpPr/>
          <p:nvPr/>
        </p:nvSpPr>
        <p:spPr>
          <a:xfrm>
            <a:off x="11158119" y="384633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4"/>
          <p:cNvSpPr/>
          <p:nvPr/>
        </p:nvSpPr>
        <p:spPr>
          <a:xfrm>
            <a:off x="10563174" y="393482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4"/>
          <p:cNvSpPr/>
          <p:nvPr/>
        </p:nvSpPr>
        <p:spPr>
          <a:xfrm>
            <a:off x="10011656" y="177861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4"/>
          <p:cNvSpPr/>
          <p:nvPr/>
        </p:nvSpPr>
        <p:spPr>
          <a:xfrm>
            <a:off x="11674255" y="326543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4"/>
          <p:cNvSpPr/>
          <p:nvPr/>
        </p:nvSpPr>
        <p:spPr>
          <a:xfrm>
            <a:off x="8824629" y="135457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4"/>
          <p:cNvSpPr/>
          <p:nvPr/>
        </p:nvSpPr>
        <p:spPr>
          <a:xfrm>
            <a:off x="7792873" y="204523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4"/>
          <p:cNvSpPr/>
          <p:nvPr/>
        </p:nvSpPr>
        <p:spPr>
          <a:xfrm>
            <a:off x="8328586" y="190517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4"/>
          <p:cNvSpPr/>
          <p:nvPr/>
        </p:nvSpPr>
        <p:spPr>
          <a:xfrm>
            <a:off x="8196087" y="24211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4"/>
          <p:cNvSpPr/>
          <p:nvPr/>
        </p:nvSpPr>
        <p:spPr>
          <a:xfrm>
            <a:off x="8837571" y="197131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4"/>
          <p:cNvSpPr/>
          <p:nvPr/>
        </p:nvSpPr>
        <p:spPr>
          <a:xfrm>
            <a:off x="8202936" y="142802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4"/>
          <p:cNvSpPr/>
          <p:nvPr/>
        </p:nvSpPr>
        <p:spPr>
          <a:xfrm>
            <a:off x="8807559" y="23687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4"/>
          <p:cNvSpPr/>
          <p:nvPr/>
        </p:nvSpPr>
        <p:spPr>
          <a:xfrm>
            <a:off x="9250235" y="145662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4"/>
          <p:cNvSpPr/>
          <p:nvPr/>
        </p:nvSpPr>
        <p:spPr>
          <a:xfrm>
            <a:off x="9334554" y="200114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4"/>
          <p:cNvSpPr/>
          <p:nvPr/>
        </p:nvSpPr>
        <p:spPr>
          <a:xfrm>
            <a:off x="9632377" y="163535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4"/>
          <p:cNvSpPr/>
          <p:nvPr/>
        </p:nvSpPr>
        <p:spPr>
          <a:xfrm>
            <a:off x="8617191" y="165226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4"/>
          <p:cNvSpPr/>
          <p:nvPr/>
        </p:nvSpPr>
        <p:spPr>
          <a:xfrm>
            <a:off x="9249129" y="238626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4"/>
          <p:cNvSpPr/>
          <p:nvPr/>
        </p:nvSpPr>
        <p:spPr>
          <a:xfrm>
            <a:off x="9642782" y="228922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4"/>
          <p:cNvSpPr/>
          <p:nvPr/>
        </p:nvSpPr>
        <p:spPr>
          <a:xfrm>
            <a:off x="9188507" y="27903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4"/>
          <p:cNvSpPr/>
          <p:nvPr/>
        </p:nvSpPr>
        <p:spPr>
          <a:xfrm>
            <a:off x="9788731" y="261098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4"/>
          <p:cNvSpPr/>
          <p:nvPr/>
        </p:nvSpPr>
        <p:spPr>
          <a:xfrm>
            <a:off x="9334456" y="311206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4"/>
          <p:cNvSpPr/>
          <p:nvPr/>
        </p:nvSpPr>
        <p:spPr>
          <a:xfrm>
            <a:off x="9372636" y="4212470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4"/>
          <p:cNvSpPr txBox="1"/>
          <p:nvPr/>
        </p:nvSpPr>
        <p:spPr>
          <a:xfrm>
            <a:off x="9335582" y="4138413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945" name="Google Shape;945;p24"/>
          <p:cNvSpPr txBox="1"/>
          <p:nvPr/>
        </p:nvSpPr>
        <p:spPr>
          <a:xfrm>
            <a:off x="888178" y="4462768"/>
            <a:ext cx="5638795" cy="94378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46" name="Google Shape;946;p24"/>
          <p:cNvSpPr txBox="1"/>
          <p:nvPr/>
        </p:nvSpPr>
        <p:spPr>
          <a:xfrm>
            <a:off x="7914019" y="1009910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947" name="Google Shape;947;p24"/>
          <p:cNvSpPr txBox="1"/>
          <p:nvPr/>
        </p:nvSpPr>
        <p:spPr>
          <a:xfrm>
            <a:off x="7872870" y="5103159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948" name="Google Shape;948;p24"/>
          <p:cNvSpPr/>
          <p:nvPr/>
        </p:nvSpPr>
        <p:spPr>
          <a:xfrm>
            <a:off x="8799747" y="3510483"/>
            <a:ext cx="1467099" cy="1461583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4"/>
          <p:cNvSpPr txBox="1"/>
          <p:nvPr/>
        </p:nvSpPr>
        <p:spPr>
          <a:xfrm>
            <a:off x="996331" y="5484449"/>
            <a:ext cx="5638795" cy="9437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0" name="Google Shape;950;p24"/>
          <p:cNvSpPr/>
          <p:nvPr/>
        </p:nvSpPr>
        <p:spPr>
          <a:xfrm>
            <a:off x="6882444" y="5752753"/>
            <a:ext cx="41777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X CLASSIFIED AS RED (NON RETIRING) SINCE IT HAS LARGER POSTERIOR PROBABILITY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25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25"/>
          <p:cNvSpPr txBox="1"/>
          <p:nvPr/>
        </p:nvSpPr>
        <p:spPr>
          <a:xfrm>
            <a:off x="609600" y="220542"/>
            <a:ext cx="7623216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SOME MATH!</a:t>
            </a:r>
            <a:endParaRPr/>
          </a:p>
        </p:txBody>
      </p:sp>
      <p:sp>
        <p:nvSpPr>
          <p:cNvPr id="958" name="Google Shape;958;p25"/>
          <p:cNvSpPr txBox="1"/>
          <p:nvPr>
            <p:ph idx="1" type="body"/>
          </p:nvPr>
        </p:nvSpPr>
        <p:spPr>
          <a:xfrm>
            <a:off x="1106302" y="1475731"/>
            <a:ext cx="9838390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/>
              <a:t>Naïve Bayes is a classification technique based on Bayes’ Theorem.</a:t>
            </a:r>
            <a:endParaRPr/>
          </a:p>
        </p:txBody>
      </p:sp>
      <p:sp>
        <p:nvSpPr>
          <p:cNvPr id="959" name="Google Shape;959;p25"/>
          <p:cNvSpPr/>
          <p:nvPr/>
        </p:nvSpPr>
        <p:spPr>
          <a:xfrm>
            <a:off x="1077727" y="2602628"/>
            <a:ext cx="8685192" cy="7442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0" name="Google Shape;960;p25"/>
          <p:cNvSpPr/>
          <p:nvPr/>
        </p:nvSpPr>
        <p:spPr>
          <a:xfrm>
            <a:off x="1333500" y="4536194"/>
            <a:ext cx="922861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462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1" name="Google Shape;961;p25"/>
          <p:cNvSpPr/>
          <p:nvPr/>
        </p:nvSpPr>
        <p:spPr>
          <a:xfrm>
            <a:off x="1333500" y="5498758"/>
            <a:ext cx="277601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1538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62" name="Google Shape;962;p25"/>
          <p:cNvCxnSpPr/>
          <p:nvPr/>
        </p:nvCxnSpPr>
        <p:spPr>
          <a:xfrm flipH="1" rot="10800000">
            <a:off x="7620000" y="1904867"/>
            <a:ext cx="1600200" cy="6666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3" name="Google Shape;963;p25"/>
          <p:cNvSpPr/>
          <p:nvPr/>
        </p:nvSpPr>
        <p:spPr>
          <a:xfrm>
            <a:off x="1343025" y="4069053"/>
            <a:ext cx="473559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-772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64" name="Google Shape;964;p25"/>
          <p:cNvCxnSpPr/>
          <p:nvPr/>
        </p:nvCxnSpPr>
        <p:spPr>
          <a:xfrm>
            <a:off x="6248400" y="3354612"/>
            <a:ext cx="1191300" cy="4440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5" name="Google Shape;965;p25"/>
          <p:cNvCxnSpPr/>
          <p:nvPr/>
        </p:nvCxnSpPr>
        <p:spPr>
          <a:xfrm rot="10800000">
            <a:off x="3276674" y="2134977"/>
            <a:ext cx="2019900" cy="4767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6" name="Google Shape;966;p25"/>
          <p:cNvSpPr/>
          <p:nvPr/>
        </p:nvSpPr>
        <p:spPr>
          <a:xfrm>
            <a:off x="1333500" y="5023704"/>
            <a:ext cx="707898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603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7" name="Google Shape;967;p25"/>
          <p:cNvSpPr/>
          <p:nvPr/>
        </p:nvSpPr>
        <p:spPr>
          <a:xfrm>
            <a:off x="1333500" y="6034561"/>
            <a:ext cx="794525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91" l="-537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8" name="Google Shape;968;p25"/>
          <p:cNvSpPr/>
          <p:nvPr/>
        </p:nvSpPr>
        <p:spPr>
          <a:xfrm>
            <a:off x="9311902" y="1617551"/>
            <a:ext cx="20922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PRIOR PROBABILITY OF RETIRING</a:t>
            </a:r>
            <a:endParaRPr/>
          </a:p>
        </p:txBody>
      </p:sp>
      <p:sp>
        <p:nvSpPr>
          <p:cNvPr id="969" name="Google Shape;969;p25"/>
          <p:cNvSpPr/>
          <p:nvPr/>
        </p:nvSpPr>
        <p:spPr>
          <a:xfrm>
            <a:off x="1771030" y="1944960"/>
            <a:ext cx="2092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endParaRPr/>
          </a:p>
        </p:txBody>
      </p:sp>
      <p:sp>
        <p:nvSpPr>
          <p:cNvPr id="970" name="Google Shape;970;p25"/>
          <p:cNvSpPr/>
          <p:nvPr/>
        </p:nvSpPr>
        <p:spPr>
          <a:xfrm>
            <a:off x="7620000" y="3523296"/>
            <a:ext cx="2463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MARGINAL LIKELIHOOD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26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26"/>
          <p:cNvSpPr txBox="1"/>
          <p:nvPr/>
        </p:nvSpPr>
        <p:spPr>
          <a:xfrm>
            <a:off x="612284" y="217624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SOME MATH!</a:t>
            </a:r>
            <a:endParaRPr/>
          </a:p>
        </p:txBody>
      </p:sp>
      <p:sp>
        <p:nvSpPr>
          <p:cNvPr id="978" name="Google Shape;978;p26"/>
          <p:cNvSpPr/>
          <p:nvPr/>
        </p:nvSpPr>
        <p:spPr>
          <a:xfrm>
            <a:off x="-573403" y="2049939"/>
            <a:ext cx="8685192" cy="7442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9" name="Google Shape;979;p26"/>
          <p:cNvSpPr/>
          <p:nvPr/>
        </p:nvSpPr>
        <p:spPr>
          <a:xfrm>
            <a:off x="1415155" y="5391374"/>
            <a:ext cx="5984358" cy="91204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0" name="Google Shape;980;p26"/>
          <p:cNvSpPr/>
          <p:nvPr/>
        </p:nvSpPr>
        <p:spPr>
          <a:xfrm>
            <a:off x="1402471" y="4287872"/>
            <a:ext cx="5691430" cy="5311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83" l="-6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981" name="Google Shape;981;p26"/>
          <p:cNvCxnSpPr/>
          <p:nvPr/>
        </p:nvCxnSpPr>
        <p:spPr>
          <a:xfrm flipH="1" rot="10800000">
            <a:off x="4992761" y="1341653"/>
            <a:ext cx="1600200" cy="6666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2" name="Google Shape;982;p26"/>
          <p:cNvCxnSpPr/>
          <p:nvPr/>
        </p:nvCxnSpPr>
        <p:spPr>
          <a:xfrm>
            <a:off x="4918148" y="2655395"/>
            <a:ext cx="449100" cy="4164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3" name="Google Shape;983;p26"/>
          <p:cNvCxnSpPr/>
          <p:nvPr/>
        </p:nvCxnSpPr>
        <p:spPr>
          <a:xfrm rot="10800000">
            <a:off x="2572278" y="1486312"/>
            <a:ext cx="740700" cy="4935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4" name="Google Shape;984;p26"/>
          <p:cNvSpPr/>
          <p:nvPr/>
        </p:nvSpPr>
        <p:spPr>
          <a:xfrm>
            <a:off x="1402472" y="3770179"/>
            <a:ext cx="6275216" cy="54373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332" l="-58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5" name="Google Shape;985;p26"/>
          <p:cNvSpPr/>
          <p:nvPr/>
        </p:nvSpPr>
        <p:spPr>
          <a:xfrm>
            <a:off x="1415155" y="4851381"/>
            <a:ext cx="4938592" cy="49962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39" l="-74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6" name="Google Shape;986;p26"/>
          <p:cNvSpPr/>
          <p:nvPr/>
        </p:nvSpPr>
        <p:spPr>
          <a:xfrm>
            <a:off x="4389046" y="1005884"/>
            <a:ext cx="20922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PRIOR PROBABILITY OF RETIRING</a:t>
            </a:r>
            <a:endParaRPr/>
          </a:p>
        </p:txBody>
      </p:sp>
      <p:sp>
        <p:nvSpPr>
          <p:cNvPr id="987" name="Google Shape;987;p26"/>
          <p:cNvSpPr/>
          <p:nvPr/>
        </p:nvSpPr>
        <p:spPr>
          <a:xfrm>
            <a:off x="1310230" y="1271120"/>
            <a:ext cx="2092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endParaRPr/>
          </a:p>
        </p:txBody>
      </p:sp>
      <p:sp>
        <p:nvSpPr>
          <p:cNvPr id="988" name="Google Shape;988;p26"/>
          <p:cNvSpPr/>
          <p:nvPr/>
        </p:nvSpPr>
        <p:spPr>
          <a:xfrm>
            <a:off x="3867736" y="3129471"/>
            <a:ext cx="2463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MARGINAL LIKELIHOOD</a:t>
            </a:r>
            <a:endParaRPr/>
          </a:p>
        </p:txBody>
      </p:sp>
      <p:cxnSp>
        <p:nvCxnSpPr>
          <p:cNvPr id="989" name="Google Shape;989;p26"/>
          <p:cNvCxnSpPr/>
          <p:nvPr/>
        </p:nvCxnSpPr>
        <p:spPr>
          <a:xfrm>
            <a:off x="7144605" y="5357973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90" name="Google Shape;990;p26"/>
          <p:cNvCxnSpPr/>
          <p:nvPr/>
        </p:nvCxnSpPr>
        <p:spPr>
          <a:xfrm rot="10800000">
            <a:off x="7125492" y="1704087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1" name="Google Shape;991;p26"/>
          <p:cNvSpPr/>
          <p:nvPr/>
        </p:nvSpPr>
        <p:spPr>
          <a:xfrm>
            <a:off x="7665951" y="41558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6"/>
          <p:cNvSpPr/>
          <p:nvPr/>
        </p:nvSpPr>
        <p:spPr>
          <a:xfrm>
            <a:off x="8147643" y="385288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6"/>
          <p:cNvSpPr/>
          <p:nvPr/>
        </p:nvSpPr>
        <p:spPr>
          <a:xfrm>
            <a:off x="9033216" y="43023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6"/>
          <p:cNvSpPr/>
          <p:nvPr/>
        </p:nvSpPr>
        <p:spPr>
          <a:xfrm>
            <a:off x="7523851" y="349880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8089967" y="340167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6"/>
          <p:cNvSpPr/>
          <p:nvPr/>
        </p:nvSpPr>
        <p:spPr>
          <a:xfrm>
            <a:off x="9148798" y="354642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6"/>
          <p:cNvSpPr/>
          <p:nvPr/>
        </p:nvSpPr>
        <p:spPr>
          <a:xfrm>
            <a:off x="7925431" y="45333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6"/>
          <p:cNvSpPr txBox="1"/>
          <p:nvPr/>
        </p:nvSpPr>
        <p:spPr>
          <a:xfrm>
            <a:off x="8649755" y="5395387"/>
            <a:ext cx="24405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999" name="Google Shape;999;p26"/>
          <p:cNvSpPr txBox="1"/>
          <p:nvPr/>
        </p:nvSpPr>
        <p:spPr>
          <a:xfrm rot="-5400000">
            <a:off x="5337577" y="3358223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1000" name="Google Shape;1000;p26"/>
          <p:cNvSpPr/>
          <p:nvPr/>
        </p:nvSpPr>
        <p:spPr>
          <a:xfrm>
            <a:off x="8292780" y="281584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6"/>
          <p:cNvSpPr/>
          <p:nvPr/>
        </p:nvSpPr>
        <p:spPr>
          <a:xfrm>
            <a:off x="8809822" y="286388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6"/>
          <p:cNvSpPr/>
          <p:nvPr/>
        </p:nvSpPr>
        <p:spPr>
          <a:xfrm>
            <a:off x="8657161" y="33396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6"/>
          <p:cNvSpPr/>
          <p:nvPr/>
        </p:nvSpPr>
        <p:spPr>
          <a:xfrm>
            <a:off x="7809635" y="311596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6"/>
          <p:cNvSpPr/>
          <p:nvPr/>
        </p:nvSpPr>
        <p:spPr>
          <a:xfrm>
            <a:off x="8829176" y="384654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6"/>
          <p:cNvSpPr/>
          <p:nvPr/>
        </p:nvSpPr>
        <p:spPr>
          <a:xfrm>
            <a:off x="7451354" y="484654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6"/>
          <p:cNvSpPr/>
          <p:nvPr/>
        </p:nvSpPr>
        <p:spPr>
          <a:xfrm>
            <a:off x="7270469" y="427847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6"/>
          <p:cNvSpPr/>
          <p:nvPr/>
        </p:nvSpPr>
        <p:spPr>
          <a:xfrm>
            <a:off x="7189750" y="369648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6"/>
          <p:cNvSpPr/>
          <p:nvPr/>
        </p:nvSpPr>
        <p:spPr>
          <a:xfrm>
            <a:off x="10209647" y="172891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6"/>
          <p:cNvSpPr/>
          <p:nvPr/>
        </p:nvSpPr>
        <p:spPr>
          <a:xfrm>
            <a:off x="9603072" y="176959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6"/>
          <p:cNvSpPr/>
          <p:nvPr/>
        </p:nvSpPr>
        <p:spPr>
          <a:xfrm>
            <a:off x="10553990" y="205758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6"/>
          <p:cNvSpPr/>
          <p:nvPr/>
        </p:nvSpPr>
        <p:spPr>
          <a:xfrm>
            <a:off x="9522234" y="27482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6"/>
          <p:cNvSpPr/>
          <p:nvPr/>
        </p:nvSpPr>
        <p:spPr>
          <a:xfrm>
            <a:off x="10057947" y="26081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9925448" y="312412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10566932" y="267432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6"/>
          <p:cNvSpPr/>
          <p:nvPr/>
        </p:nvSpPr>
        <p:spPr>
          <a:xfrm>
            <a:off x="9932297" y="213103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10536920" y="30718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10979596" y="215963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11063915" y="27041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6"/>
          <p:cNvSpPr/>
          <p:nvPr/>
        </p:nvSpPr>
        <p:spPr>
          <a:xfrm>
            <a:off x="11094637" y="315600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6"/>
          <p:cNvSpPr/>
          <p:nvPr/>
        </p:nvSpPr>
        <p:spPr>
          <a:xfrm>
            <a:off x="11361738" y="233836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6"/>
          <p:cNvSpPr/>
          <p:nvPr/>
        </p:nvSpPr>
        <p:spPr>
          <a:xfrm>
            <a:off x="10346552" y="235527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10240836" y="335398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9672107" y="36712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6"/>
          <p:cNvSpPr/>
          <p:nvPr/>
        </p:nvSpPr>
        <p:spPr>
          <a:xfrm>
            <a:off x="10253778" y="39707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6"/>
          <p:cNvSpPr/>
          <p:nvPr/>
        </p:nvSpPr>
        <p:spPr>
          <a:xfrm>
            <a:off x="10223766" y="436819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10666442" y="345603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6"/>
          <p:cNvSpPr/>
          <p:nvPr/>
        </p:nvSpPr>
        <p:spPr>
          <a:xfrm>
            <a:off x="10750761" y="400055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6"/>
          <p:cNvSpPr/>
          <p:nvPr/>
        </p:nvSpPr>
        <p:spPr>
          <a:xfrm>
            <a:off x="10781483" y="445240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6"/>
          <p:cNvSpPr/>
          <p:nvPr/>
        </p:nvSpPr>
        <p:spPr>
          <a:xfrm>
            <a:off x="11048584" y="36347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6"/>
          <p:cNvSpPr/>
          <p:nvPr/>
        </p:nvSpPr>
        <p:spPr>
          <a:xfrm>
            <a:off x="10453639" y="372325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6"/>
          <p:cNvSpPr/>
          <p:nvPr/>
        </p:nvSpPr>
        <p:spPr>
          <a:xfrm>
            <a:off x="9987220" y="142301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11564720" y="305386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6"/>
          <p:cNvSpPr/>
          <p:nvPr/>
        </p:nvSpPr>
        <p:spPr>
          <a:xfrm>
            <a:off x="8715094" y="114300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6"/>
          <p:cNvSpPr/>
          <p:nvPr/>
        </p:nvSpPr>
        <p:spPr>
          <a:xfrm>
            <a:off x="7683338" y="183366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6"/>
          <p:cNvSpPr/>
          <p:nvPr/>
        </p:nvSpPr>
        <p:spPr>
          <a:xfrm>
            <a:off x="8219051" y="169360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6"/>
          <p:cNvSpPr/>
          <p:nvPr/>
        </p:nvSpPr>
        <p:spPr>
          <a:xfrm>
            <a:off x="8086552" y="220954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6"/>
          <p:cNvSpPr/>
          <p:nvPr/>
        </p:nvSpPr>
        <p:spPr>
          <a:xfrm>
            <a:off x="8728036" y="175973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6"/>
          <p:cNvSpPr/>
          <p:nvPr/>
        </p:nvSpPr>
        <p:spPr>
          <a:xfrm>
            <a:off x="8093401" y="121645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6"/>
          <p:cNvSpPr/>
          <p:nvPr/>
        </p:nvSpPr>
        <p:spPr>
          <a:xfrm>
            <a:off x="8698024" y="21572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6"/>
          <p:cNvSpPr/>
          <p:nvPr/>
        </p:nvSpPr>
        <p:spPr>
          <a:xfrm>
            <a:off x="9140700" y="124504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6"/>
          <p:cNvSpPr/>
          <p:nvPr/>
        </p:nvSpPr>
        <p:spPr>
          <a:xfrm>
            <a:off x="9225019" y="178957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6"/>
          <p:cNvSpPr/>
          <p:nvPr/>
        </p:nvSpPr>
        <p:spPr>
          <a:xfrm>
            <a:off x="9522842" y="142377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6"/>
          <p:cNvSpPr/>
          <p:nvPr/>
        </p:nvSpPr>
        <p:spPr>
          <a:xfrm>
            <a:off x="8507656" y="144068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6"/>
          <p:cNvSpPr/>
          <p:nvPr/>
        </p:nvSpPr>
        <p:spPr>
          <a:xfrm>
            <a:off x="9139594" y="21746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6"/>
          <p:cNvSpPr/>
          <p:nvPr/>
        </p:nvSpPr>
        <p:spPr>
          <a:xfrm>
            <a:off x="9533247" y="20776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6"/>
          <p:cNvSpPr/>
          <p:nvPr/>
        </p:nvSpPr>
        <p:spPr>
          <a:xfrm>
            <a:off x="9078972" y="257872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6"/>
          <p:cNvSpPr/>
          <p:nvPr/>
        </p:nvSpPr>
        <p:spPr>
          <a:xfrm>
            <a:off x="9679196" y="23994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6"/>
          <p:cNvSpPr/>
          <p:nvPr/>
        </p:nvSpPr>
        <p:spPr>
          <a:xfrm>
            <a:off x="9224921" y="29004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6"/>
          <p:cNvSpPr/>
          <p:nvPr/>
        </p:nvSpPr>
        <p:spPr>
          <a:xfrm>
            <a:off x="9263101" y="4000895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6"/>
          <p:cNvSpPr txBox="1"/>
          <p:nvPr/>
        </p:nvSpPr>
        <p:spPr>
          <a:xfrm>
            <a:off x="9226047" y="3926838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051" name="Google Shape;1051;p26"/>
          <p:cNvSpPr txBox="1"/>
          <p:nvPr/>
        </p:nvSpPr>
        <p:spPr>
          <a:xfrm>
            <a:off x="10525035" y="1664718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1052" name="Google Shape;1052;p26"/>
          <p:cNvSpPr txBox="1"/>
          <p:nvPr/>
        </p:nvSpPr>
        <p:spPr>
          <a:xfrm>
            <a:off x="8437953" y="4927596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1053" name="Google Shape;1053;p26"/>
          <p:cNvSpPr/>
          <p:nvPr/>
        </p:nvSpPr>
        <p:spPr>
          <a:xfrm>
            <a:off x="8690212" y="3298908"/>
            <a:ext cx="1467099" cy="1461583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6"/>
          <p:cNvSpPr txBox="1"/>
          <p:nvPr/>
        </p:nvSpPr>
        <p:spPr>
          <a:xfrm>
            <a:off x="10455987" y="1388574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1: RETIRE</a:t>
            </a:r>
            <a:endParaRPr/>
          </a:p>
        </p:txBody>
      </p:sp>
      <p:sp>
        <p:nvSpPr>
          <p:cNvPr id="1055" name="Google Shape;1055;p26"/>
          <p:cNvSpPr txBox="1"/>
          <p:nvPr/>
        </p:nvSpPr>
        <p:spPr>
          <a:xfrm>
            <a:off x="8106687" y="4697368"/>
            <a:ext cx="2068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0: NO RETIRE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27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27"/>
          <p:cNvSpPr txBox="1"/>
          <p:nvPr/>
        </p:nvSpPr>
        <p:spPr>
          <a:xfrm>
            <a:off x="730742" y="276483"/>
            <a:ext cx="76232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WHY NAÏVE?</a:t>
            </a:r>
            <a:endParaRPr/>
          </a:p>
        </p:txBody>
      </p:sp>
      <p:sp>
        <p:nvSpPr>
          <p:cNvPr id="1063" name="Google Shape;1063;p27"/>
          <p:cNvSpPr txBox="1"/>
          <p:nvPr>
            <p:ph idx="1" type="body"/>
          </p:nvPr>
        </p:nvSpPr>
        <p:spPr>
          <a:xfrm>
            <a:off x="749212" y="1223922"/>
            <a:ext cx="5733508" cy="4333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It is called naive because it assumes that the presence of a certain feature in a class is independent of the presence of other features.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EXAMPLE #1: Age/savings, the assumption is not necessarily true since age and savings might be dependant on each others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EXAMPLE #2: fruit can be classified as watermelon if its color is green, tastes sweet, and round.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CA" sz="2000">
                <a:latin typeface="Montserrat"/>
                <a:ea typeface="Montserrat"/>
                <a:cs typeface="Montserrat"/>
                <a:sym typeface="Montserrat"/>
              </a:rPr>
              <a:t>These features might be dependant on each others, however, we assume they are all independent and that’s why its ‘Naive’!</a:t>
            </a:r>
            <a:endParaRPr/>
          </a:p>
        </p:txBody>
      </p:sp>
      <p:cxnSp>
        <p:nvCxnSpPr>
          <p:cNvPr id="1064" name="Google Shape;1064;p27"/>
          <p:cNvCxnSpPr/>
          <p:nvPr/>
        </p:nvCxnSpPr>
        <p:spPr>
          <a:xfrm>
            <a:off x="7047766" y="5774042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27"/>
          <p:cNvCxnSpPr/>
          <p:nvPr/>
        </p:nvCxnSpPr>
        <p:spPr>
          <a:xfrm rot="10800000">
            <a:off x="7028653" y="2120156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6" name="Google Shape;1066;p27"/>
          <p:cNvSpPr/>
          <p:nvPr/>
        </p:nvSpPr>
        <p:spPr>
          <a:xfrm>
            <a:off x="7569112" y="457195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7"/>
          <p:cNvSpPr/>
          <p:nvPr/>
        </p:nvSpPr>
        <p:spPr>
          <a:xfrm>
            <a:off x="8050804" y="426895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7"/>
          <p:cNvSpPr/>
          <p:nvPr/>
        </p:nvSpPr>
        <p:spPr>
          <a:xfrm>
            <a:off x="8936377" y="471841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7"/>
          <p:cNvSpPr/>
          <p:nvPr/>
        </p:nvSpPr>
        <p:spPr>
          <a:xfrm>
            <a:off x="7427012" y="391487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7"/>
          <p:cNvSpPr/>
          <p:nvPr/>
        </p:nvSpPr>
        <p:spPr>
          <a:xfrm>
            <a:off x="7993128" y="381774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7"/>
          <p:cNvSpPr/>
          <p:nvPr/>
        </p:nvSpPr>
        <p:spPr>
          <a:xfrm>
            <a:off x="9051959" y="396249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7"/>
          <p:cNvSpPr/>
          <p:nvPr/>
        </p:nvSpPr>
        <p:spPr>
          <a:xfrm>
            <a:off x="7828592" y="494945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7"/>
          <p:cNvSpPr txBox="1"/>
          <p:nvPr/>
        </p:nvSpPr>
        <p:spPr>
          <a:xfrm>
            <a:off x="8273913" y="5839724"/>
            <a:ext cx="37404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1074" name="Google Shape;1074;p27"/>
          <p:cNvSpPr txBox="1"/>
          <p:nvPr/>
        </p:nvSpPr>
        <p:spPr>
          <a:xfrm rot="-5400000">
            <a:off x="5185699" y="2824149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1075" name="Google Shape;1075;p27"/>
          <p:cNvSpPr/>
          <p:nvPr/>
        </p:nvSpPr>
        <p:spPr>
          <a:xfrm>
            <a:off x="8195941" y="323191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7"/>
          <p:cNvSpPr/>
          <p:nvPr/>
        </p:nvSpPr>
        <p:spPr>
          <a:xfrm>
            <a:off x="8712983" y="32799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7"/>
          <p:cNvSpPr/>
          <p:nvPr/>
        </p:nvSpPr>
        <p:spPr>
          <a:xfrm>
            <a:off x="8560322" y="375572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7"/>
          <p:cNvSpPr/>
          <p:nvPr/>
        </p:nvSpPr>
        <p:spPr>
          <a:xfrm>
            <a:off x="7712796" y="353202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7"/>
          <p:cNvSpPr/>
          <p:nvPr/>
        </p:nvSpPr>
        <p:spPr>
          <a:xfrm>
            <a:off x="8732337" y="426260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7"/>
          <p:cNvSpPr/>
          <p:nvPr/>
        </p:nvSpPr>
        <p:spPr>
          <a:xfrm>
            <a:off x="8211859" y="474942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7"/>
          <p:cNvSpPr/>
          <p:nvPr/>
        </p:nvSpPr>
        <p:spPr>
          <a:xfrm>
            <a:off x="7173630" y="469454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7"/>
          <p:cNvSpPr/>
          <p:nvPr/>
        </p:nvSpPr>
        <p:spPr>
          <a:xfrm>
            <a:off x="7092911" y="411255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7"/>
          <p:cNvSpPr/>
          <p:nvPr/>
        </p:nvSpPr>
        <p:spPr>
          <a:xfrm>
            <a:off x="10112808" y="214498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7"/>
          <p:cNvSpPr/>
          <p:nvPr/>
        </p:nvSpPr>
        <p:spPr>
          <a:xfrm>
            <a:off x="9506233" y="218566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7"/>
          <p:cNvSpPr/>
          <p:nvPr/>
        </p:nvSpPr>
        <p:spPr>
          <a:xfrm>
            <a:off x="10457151" y="247365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7"/>
          <p:cNvSpPr/>
          <p:nvPr/>
        </p:nvSpPr>
        <p:spPr>
          <a:xfrm>
            <a:off x="9425395" y="31643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7"/>
          <p:cNvSpPr/>
          <p:nvPr/>
        </p:nvSpPr>
        <p:spPr>
          <a:xfrm>
            <a:off x="9961108" y="302426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7"/>
          <p:cNvSpPr/>
          <p:nvPr/>
        </p:nvSpPr>
        <p:spPr>
          <a:xfrm>
            <a:off x="9828609" y="354019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7"/>
          <p:cNvSpPr/>
          <p:nvPr/>
        </p:nvSpPr>
        <p:spPr>
          <a:xfrm>
            <a:off x="10470093" y="309039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7"/>
          <p:cNvSpPr/>
          <p:nvPr/>
        </p:nvSpPr>
        <p:spPr>
          <a:xfrm>
            <a:off x="9835458" y="254710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7"/>
          <p:cNvSpPr/>
          <p:nvPr/>
        </p:nvSpPr>
        <p:spPr>
          <a:xfrm>
            <a:off x="10440081" y="348787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7"/>
          <p:cNvSpPr/>
          <p:nvPr/>
        </p:nvSpPr>
        <p:spPr>
          <a:xfrm>
            <a:off x="10882757" y="257570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7"/>
          <p:cNvSpPr/>
          <p:nvPr/>
        </p:nvSpPr>
        <p:spPr>
          <a:xfrm>
            <a:off x="10967076" y="312022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7"/>
          <p:cNvSpPr/>
          <p:nvPr/>
        </p:nvSpPr>
        <p:spPr>
          <a:xfrm>
            <a:off x="10997798" y="357207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7"/>
          <p:cNvSpPr/>
          <p:nvPr/>
        </p:nvSpPr>
        <p:spPr>
          <a:xfrm>
            <a:off x="11264899" y="275443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7"/>
          <p:cNvSpPr/>
          <p:nvPr/>
        </p:nvSpPr>
        <p:spPr>
          <a:xfrm>
            <a:off x="10249713" y="277134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7"/>
          <p:cNvSpPr/>
          <p:nvPr/>
        </p:nvSpPr>
        <p:spPr>
          <a:xfrm>
            <a:off x="10143997" y="377005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7"/>
          <p:cNvSpPr/>
          <p:nvPr/>
        </p:nvSpPr>
        <p:spPr>
          <a:xfrm>
            <a:off x="9575268" y="408732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7"/>
          <p:cNvSpPr/>
          <p:nvPr/>
        </p:nvSpPr>
        <p:spPr>
          <a:xfrm>
            <a:off x="10156939" y="43867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7"/>
          <p:cNvSpPr/>
          <p:nvPr/>
        </p:nvSpPr>
        <p:spPr>
          <a:xfrm>
            <a:off x="10126927" y="478426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7"/>
          <p:cNvSpPr/>
          <p:nvPr/>
        </p:nvSpPr>
        <p:spPr>
          <a:xfrm>
            <a:off x="10569603" y="387210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7"/>
          <p:cNvSpPr/>
          <p:nvPr/>
        </p:nvSpPr>
        <p:spPr>
          <a:xfrm>
            <a:off x="10653922" y="441662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7"/>
          <p:cNvSpPr/>
          <p:nvPr/>
        </p:nvSpPr>
        <p:spPr>
          <a:xfrm>
            <a:off x="10684644" y="486847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7"/>
          <p:cNvSpPr/>
          <p:nvPr/>
        </p:nvSpPr>
        <p:spPr>
          <a:xfrm>
            <a:off x="10951745" y="405082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7"/>
          <p:cNvSpPr/>
          <p:nvPr/>
        </p:nvSpPr>
        <p:spPr>
          <a:xfrm>
            <a:off x="10356800" y="413932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7"/>
          <p:cNvSpPr/>
          <p:nvPr/>
        </p:nvSpPr>
        <p:spPr>
          <a:xfrm>
            <a:off x="9890381" y="183908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7"/>
          <p:cNvSpPr/>
          <p:nvPr/>
        </p:nvSpPr>
        <p:spPr>
          <a:xfrm>
            <a:off x="11467881" y="346993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7"/>
          <p:cNvSpPr/>
          <p:nvPr/>
        </p:nvSpPr>
        <p:spPr>
          <a:xfrm>
            <a:off x="8618255" y="155906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7"/>
          <p:cNvSpPr/>
          <p:nvPr/>
        </p:nvSpPr>
        <p:spPr>
          <a:xfrm>
            <a:off x="7586499" y="224972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7"/>
          <p:cNvSpPr/>
          <p:nvPr/>
        </p:nvSpPr>
        <p:spPr>
          <a:xfrm>
            <a:off x="8122212" y="210967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7"/>
          <p:cNvSpPr/>
          <p:nvPr/>
        </p:nvSpPr>
        <p:spPr>
          <a:xfrm>
            <a:off x="7989713" y="262561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7"/>
          <p:cNvSpPr/>
          <p:nvPr/>
        </p:nvSpPr>
        <p:spPr>
          <a:xfrm>
            <a:off x="8631197" y="21758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7"/>
          <p:cNvSpPr/>
          <p:nvPr/>
        </p:nvSpPr>
        <p:spPr>
          <a:xfrm>
            <a:off x="7996562" y="163251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7"/>
          <p:cNvSpPr/>
          <p:nvPr/>
        </p:nvSpPr>
        <p:spPr>
          <a:xfrm>
            <a:off x="8601185" y="257328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7"/>
          <p:cNvSpPr/>
          <p:nvPr/>
        </p:nvSpPr>
        <p:spPr>
          <a:xfrm>
            <a:off x="9043861" y="166111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7"/>
          <p:cNvSpPr/>
          <p:nvPr/>
        </p:nvSpPr>
        <p:spPr>
          <a:xfrm>
            <a:off x="9128180" y="220564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7"/>
          <p:cNvSpPr/>
          <p:nvPr/>
        </p:nvSpPr>
        <p:spPr>
          <a:xfrm>
            <a:off x="9426003" y="183984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7"/>
          <p:cNvSpPr/>
          <p:nvPr/>
        </p:nvSpPr>
        <p:spPr>
          <a:xfrm>
            <a:off x="8410817" y="18567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7"/>
          <p:cNvSpPr/>
          <p:nvPr/>
        </p:nvSpPr>
        <p:spPr>
          <a:xfrm>
            <a:off x="9042755" y="259076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7"/>
          <p:cNvSpPr/>
          <p:nvPr/>
        </p:nvSpPr>
        <p:spPr>
          <a:xfrm>
            <a:off x="9436408" y="24937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7"/>
          <p:cNvSpPr/>
          <p:nvPr/>
        </p:nvSpPr>
        <p:spPr>
          <a:xfrm>
            <a:off x="8982133" y="299479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7"/>
          <p:cNvSpPr/>
          <p:nvPr/>
        </p:nvSpPr>
        <p:spPr>
          <a:xfrm>
            <a:off x="9582357" y="281547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7"/>
          <p:cNvSpPr/>
          <p:nvPr/>
        </p:nvSpPr>
        <p:spPr>
          <a:xfrm>
            <a:off x="9128082" y="331655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7"/>
          <p:cNvSpPr/>
          <p:nvPr/>
        </p:nvSpPr>
        <p:spPr>
          <a:xfrm>
            <a:off x="9166262" y="4416964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7"/>
          <p:cNvSpPr txBox="1"/>
          <p:nvPr/>
        </p:nvSpPr>
        <p:spPr>
          <a:xfrm>
            <a:off x="9129208" y="4342907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126" name="Google Shape;1126;p27"/>
          <p:cNvSpPr txBox="1"/>
          <p:nvPr/>
        </p:nvSpPr>
        <p:spPr>
          <a:xfrm>
            <a:off x="8027695" y="1270078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1127" name="Google Shape;1127;p27"/>
          <p:cNvSpPr txBox="1"/>
          <p:nvPr/>
        </p:nvSpPr>
        <p:spPr>
          <a:xfrm>
            <a:off x="7302817" y="5394339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1128" name="Google Shape;1128;p27"/>
          <p:cNvSpPr txBox="1"/>
          <p:nvPr/>
        </p:nvSpPr>
        <p:spPr>
          <a:xfrm>
            <a:off x="8038002" y="1043065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1: RETIRE</a:t>
            </a:r>
            <a:endParaRPr/>
          </a:p>
        </p:txBody>
      </p:sp>
      <p:sp>
        <p:nvSpPr>
          <p:cNvPr id="1129" name="Google Shape;1129;p27"/>
          <p:cNvSpPr txBox="1"/>
          <p:nvPr/>
        </p:nvSpPr>
        <p:spPr>
          <a:xfrm>
            <a:off x="7054389" y="5187860"/>
            <a:ext cx="2068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0: NO RETIRE</a:t>
            </a:r>
            <a:endParaRPr/>
          </a:p>
        </p:txBody>
      </p:sp>
      <p:cxnSp>
        <p:nvCxnSpPr>
          <p:cNvPr id="1130" name="Google Shape;1130;p27"/>
          <p:cNvCxnSpPr/>
          <p:nvPr/>
        </p:nvCxnSpPr>
        <p:spPr>
          <a:xfrm>
            <a:off x="9336158" y="4694546"/>
            <a:ext cx="0" cy="1079496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31" name="Google Shape;1131;p27"/>
          <p:cNvCxnSpPr>
            <a:stCxn id="1125" idx="1"/>
          </p:cNvCxnSpPr>
          <p:nvPr/>
        </p:nvCxnSpPr>
        <p:spPr>
          <a:xfrm rot="10800000">
            <a:off x="7054408" y="4568340"/>
            <a:ext cx="2074800" cy="540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63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28"/>
          <p:cNvSpPr txBox="1"/>
          <p:nvPr/>
        </p:nvSpPr>
        <p:spPr>
          <a:xfrm>
            <a:off x="349997" y="1981200"/>
            <a:ext cx="5060203" cy="102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CA" sz="4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PRACTICE OPPORTUNITY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2" name="Google Shape;1142;p29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144" name="Google Shape;1144;p29"/>
          <p:cNvSpPr txBox="1"/>
          <p:nvPr/>
        </p:nvSpPr>
        <p:spPr>
          <a:xfrm>
            <a:off x="457200" y="56523"/>
            <a:ext cx="9525000" cy="1588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QUIZ/CALCULATE THE PROBABILTY OT NON-RETIRING (RED CLASS)</a:t>
            </a:r>
            <a:endParaRPr/>
          </a:p>
        </p:txBody>
      </p:sp>
      <p:sp>
        <p:nvSpPr>
          <p:cNvPr id="1145" name="Google Shape;1145;p29"/>
          <p:cNvSpPr/>
          <p:nvPr/>
        </p:nvSpPr>
        <p:spPr>
          <a:xfrm>
            <a:off x="1164708" y="2057400"/>
            <a:ext cx="3161250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2941" l="0" r="-2890" t="-117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Google Shape;1151;p30"/>
          <p:cNvPicPr preferRelativeResize="0"/>
          <p:nvPr/>
        </p:nvPicPr>
        <p:blipFill rotWithShape="1">
          <a:blip r:embed="rId3">
            <a:alphaModFix/>
          </a:blip>
          <a:srcRect b="13333" l="0" r="0" t="0"/>
          <a:stretch/>
        </p:blipFill>
        <p:spPr>
          <a:xfrm>
            <a:off x="0" y="0"/>
            <a:ext cx="1219200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30"/>
          <p:cNvSpPr txBox="1"/>
          <p:nvPr/>
        </p:nvSpPr>
        <p:spPr>
          <a:xfrm>
            <a:off x="493100" y="38988"/>
            <a:ext cx="116988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NAÏVE BAYES: QUIZ/CALCULATE THE PROBABILTY OT NON-RETIRING (RED CLASS)</a:t>
            </a:r>
            <a:endParaRPr/>
          </a:p>
        </p:txBody>
      </p:sp>
      <p:sp>
        <p:nvSpPr>
          <p:cNvPr id="1153" name="Google Shape;1153;p30"/>
          <p:cNvSpPr/>
          <p:nvPr/>
        </p:nvSpPr>
        <p:spPr>
          <a:xfrm>
            <a:off x="-573403" y="2049939"/>
            <a:ext cx="8685192" cy="7442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54" name="Google Shape;1154;p30"/>
          <p:cNvSpPr/>
          <p:nvPr/>
        </p:nvSpPr>
        <p:spPr>
          <a:xfrm>
            <a:off x="622284" y="5050195"/>
            <a:ext cx="5984358" cy="9440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55" name="Google Shape;1155;p30"/>
          <p:cNvSpPr/>
          <p:nvPr/>
        </p:nvSpPr>
        <p:spPr>
          <a:xfrm>
            <a:off x="609600" y="3946693"/>
            <a:ext cx="6267165" cy="5311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83" l="-58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56" name="Google Shape;1156;p30"/>
          <p:cNvCxnSpPr/>
          <p:nvPr/>
        </p:nvCxnSpPr>
        <p:spPr>
          <a:xfrm flipH="1" rot="10800000">
            <a:off x="4992761" y="1341653"/>
            <a:ext cx="1600200" cy="6666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7" name="Google Shape;1157;p30"/>
          <p:cNvCxnSpPr/>
          <p:nvPr/>
        </p:nvCxnSpPr>
        <p:spPr>
          <a:xfrm>
            <a:off x="4918148" y="2819400"/>
            <a:ext cx="449100" cy="4164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8" name="Google Shape;1158;p30"/>
          <p:cNvCxnSpPr/>
          <p:nvPr/>
        </p:nvCxnSpPr>
        <p:spPr>
          <a:xfrm rot="10800000">
            <a:off x="2388078" y="1721212"/>
            <a:ext cx="924900" cy="2586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9" name="Google Shape;1159;p30"/>
          <p:cNvSpPr/>
          <p:nvPr/>
        </p:nvSpPr>
        <p:spPr>
          <a:xfrm>
            <a:off x="609601" y="3429000"/>
            <a:ext cx="6275216" cy="54373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371" l="-58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0" name="Google Shape;1160;p30"/>
          <p:cNvSpPr/>
          <p:nvPr/>
        </p:nvSpPr>
        <p:spPr>
          <a:xfrm>
            <a:off x="622284" y="4510202"/>
            <a:ext cx="4938592" cy="49962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39" l="-74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1" name="Google Shape;1161;p30"/>
          <p:cNvSpPr/>
          <p:nvPr/>
        </p:nvSpPr>
        <p:spPr>
          <a:xfrm>
            <a:off x="3785829" y="1300368"/>
            <a:ext cx="20922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PRIOR PROBABILITY OF NO RETIRING</a:t>
            </a:r>
            <a:endParaRPr/>
          </a:p>
        </p:txBody>
      </p:sp>
      <p:sp>
        <p:nvSpPr>
          <p:cNvPr id="1162" name="Google Shape;1162;p30"/>
          <p:cNvSpPr/>
          <p:nvPr/>
        </p:nvSpPr>
        <p:spPr>
          <a:xfrm>
            <a:off x="1053106" y="1516568"/>
            <a:ext cx="2092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endParaRPr/>
          </a:p>
        </p:txBody>
      </p:sp>
      <p:sp>
        <p:nvSpPr>
          <p:cNvPr id="1163" name="Google Shape;1163;p30"/>
          <p:cNvSpPr/>
          <p:nvPr/>
        </p:nvSpPr>
        <p:spPr>
          <a:xfrm>
            <a:off x="4086156" y="3248402"/>
            <a:ext cx="2463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MARGINAL LIKELIHOOD</a:t>
            </a:r>
            <a:endParaRPr/>
          </a:p>
        </p:txBody>
      </p:sp>
      <p:cxnSp>
        <p:nvCxnSpPr>
          <p:cNvPr id="1164" name="Google Shape;1164;p30"/>
          <p:cNvCxnSpPr/>
          <p:nvPr/>
        </p:nvCxnSpPr>
        <p:spPr>
          <a:xfrm>
            <a:off x="7144605" y="5357973"/>
            <a:ext cx="4818795" cy="34959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5" name="Google Shape;1165;p30"/>
          <p:cNvCxnSpPr/>
          <p:nvPr/>
        </p:nvCxnSpPr>
        <p:spPr>
          <a:xfrm rot="10800000">
            <a:off x="7125492" y="1704087"/>
            <a:ext cx="19114" cy="36888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6" name="Google Shape;1166;p30"/>
          <p:cNvSpPr/>
          <p:nvPr/>
        </p:nvSpPr>
        <p:spPr>
          <a:xfrm>
            <a:off x="7665951" y="41558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0"/>
          <p:cNvSpPr/>
          <p:nvPr/>
        </p:nvSpPr>
        <p:spPr>
          <a:xfrm>
            <a:off x="8147643" y="385288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0"/>
          <p:cNvSpPr/>
          <p:nvPr/>
        </p:nvSpPr>
        <p:spPr>
          <a:xfrm>
            <a:off x="9033216" y="43023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0"/>
          <p:cNvSpPr/>
          <p:nvPr/>
        </p:nvSpPr>
        <p:spPr>
          <a:xfrm>
            <a:off x="7523851" y="349880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0"/>
          <p:cNvSpPr/>
          <p:nvPr/>
        </p:nvSpPr>
        <p:spPr>
          <a:xfrm>
            <a:off x="8089967" y="340167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0"/>
          <p:cNvSpPr/>
          <p:nvPr/>
        </p:nvSpPr>
        <p:spPr>
          <a:xfrm>
            <a:off x="9148798" y="354642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0"/>
          <p:cNvSpPr/>
          <p:nvPr/>
        </p:nvSpPr>
        <p:spPr>
          <a:xfrm>
            <a:off x="7925431" y="45333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0"/>
          <p:cNvSpPr txBox="1"/>
          <p:nvPr/>
        </p:nvSpPr>
        <p:spPr>
          <a:xfrm>
            <a:off x="8919448" y="5361042"/>
            <a:ext cx="24405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#1: AGE</a:t>
            </a:r>
            <a:endParaRPr/>
          </a:p>
        </p:txBody>
      </p:sp>
      <p:sp>
        <p:nvSpPr>
          <p:cNvPr id="1174" name="Google Shape;1174;p30"/>
          <p:cNvSpPr txBox="1"/>
          <p:nvPr/>
        </p:nvSpPr>
        <p:spPr>
          <a:xfrm rot="-5400000">
            <a:off x="5336778" y="3443833"/>
            <a:ext cx="3032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#2: SAVINGS</a:t>
            </a:r>
            <a:endParaRPr/>
          </a:p>
        </p:txBody>
      </p:sp>
      <p:sp>
        <p:nvSpPr>
          <p:cNvPr id="1175" name="Google Shape;1175;p30"/>
          <p:cNvSpPr/>
          <p:nvPr/>
        </p:nvSpPr>
        <p:spPr>
          <a:xfrm>
            <a:off x="8292780" y="281584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0"/>
          <p:cNvSpPr/>
          <p:nvPr/>
        </p:nvSpPr>
        <p:spPr>
          <a:xfrm>
            <a:off x="8809822" y="286388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0"/>
          <p:cNvSpPr/>
          <p:nvPr/>
        </p:nvSpPr>
        <p:spPr>
          <a:xfrm>
            <a:off x="8657161" y="333965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0"/>
          <p:cNvSpPr/>
          <p:nvPr/>
        </p:nvSpPr>
        <p:spPr>
          <a:xfrm>
            <a:off x="7809635" y="311596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0"/>
          <p:cNvSpPr/>
          <p:nvPr/>
        </p:nvSpPr>
        <p:spPr>
          <a:xfrm>
            <a:off x="8829176" y="384654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0"/>
          <p:cNvSpPr/>
          <p:nvPr/>
        </p:nvSpPr>
        <p:spPr>
          <a:xfrm>
            <a:off x="7451354" y="484654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0"/>
          <p:cNvSpPr/>
          <p:nvPr/>
        </p:nvSpPr>
        <p:spPr>
          <a:xfrm>
            <a:off x="7270469" y="427847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0"/>
          <p:cNvSpPr/>
          <p:nvPr/>
        </p:nvSpPr>
        <p:spPr>
          <a:xfrm>
            <a:off x="7189750" y="369648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0"/>
          <p:cNvSpPr/>
          <p:nvPr/>
        </p:nvSpPr>
        <p:spPr>
          <a:xfrm>
            <a:off x="10209647" y="172891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0"/>
          <p:cNvSpPr/>
          <p:nvPr/>
        </p:nvSpPr>
        <p:spPr>
          <a:xfrm>
            <a:off x="9603072" y="176959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0"/>
          <p:cNvSpPr/>
          <p:nvPr/>
        </p:nvSpPr>
        <p:spPr>
          <a:xfrm>
            <a:off x="10553990" y="205758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0"/>
          <p:cNvSpPr/>
          <p:nvPr/>
        </p:nvSpPr>
        <p:spPr>
          <a:xfrm>
            <a:off x="9522234" y="27482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0"/>
          <p:cNvSpPr/>
          <p:nvPr/>
        </p:nvSpPr>
        <p:spPr>
          <a:xfrm>
            <a:off x="10057947" y="26081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0"/>
          <p:cNvSpPr/>
          <p:nvPr/>
        </p:nvSpPr>
        <p:spPr>
          <a:xfrm>
            <a:off x="9925448" y="312412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0"/>
          <p:cNvSpPr/>
          <p:nvPr/>
        </p:nvSpPr>
        <p:spPr>
          <a:xfrm>
            <a:off x="10566932" y="267432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0"/>
          <p:cNvSpPr/>
          <p:nvPr/>
        </p:nvSpPr>
        <p:spPr>
          <a:xfrm>
            <a:off x="9932297" y="213103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0"/>
          <p:cNvSpPr/>
          <p:nvPr/>
        </p:nvSpPr>
        <p:spPr>
          <a:xfrm>
            <a:off x="10536920" y="307180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0"/>
          <p:cNvSpPr/>
          <p:nvPr/>
        </p:nvSpPr>
        <p:spPr>
          <a:xfrm>
            <a:off x="10979596" y="215963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0"/>
          <p:cNvSpPr/>
          <p:nvPr/>
        </p:nvSpPr>
        <p:spPr>
          <a:xfrm>
            <a:off x="11063915" y="270415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0"/>
          <p:cNvSpPr/>
          <p:nvPr/>
        </p:nvSpPr>
        <p:spPr>
          <a:xfrm>
            <a:off x="11094637" y="315600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0"/>
          <p:cNvSpPr/>
          <p:nvPr/>
        </p:nvSpPr>
        <p:spPr>
          <a:xfrm>
            <a:off x="11361738" y="233836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0"/>
          <p:cNvSpPr/>
          <p:nvPr/>
        </p:nvSpPr>
        <p:spPr>
          <a:xfrm>
            <a:off x="10346552" y="235527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0"/>
          <p:cNvSpPr/>
          <p:nvPr/>
        </p:nvSpPr>
        <p:spPr>
          <a:xfrm>
            <a:off x="10240836" y="335398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0"/>
          <p:cNvSpPr/>
          <p:nvPr/>
        </p:nvSpPr>
        <p:spPr>
          <a:xfrm>
            <a:off x="9672107" y="36712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0"/>
          <p:cNvSpPr/>
          <p:nvPr/>
        </p:nvSpPr>
        <p:spPr>
          <a:xfrm>
            <a:off x="10253778" y="3970717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0"/>
          <p:cNvSpPr/>
          <p:nvPr/>
        </p:nvSpPr>
        <p:spPr>
          <a:xfrm>
            <a:off x="10223766" y="436819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0"/>
          <p:cNvSpPr/>
          <p:nvPr/>
        </p:nvSpPr>
        <p:spPr>
          <a:xfrm>
            <a:off x="10666442" y="345603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0"/>
          <p:cNvSpPr/>
          <p:nvPr/>
        </p:nvSpPr>
        <p:spPr>
          <a:xfrm>
            <a:off x="10750761" y="400055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0"/>
          <p:cNvSpPr/>
          <p:nvPr/>
        </p:nvSpPr>
        <p:spPr>
          <a:xfrm>
            <a:off x="10781483" y="445240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0"/>
          <p:cNvSpPr/>
          <p:nvPr/>
        </p:nvSpPr>
        <p:spPr>
          <a:xfrm>
            <a:off x="11048584" y="363475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0"/>
          <p:cNvSpPr/>
          <p:nvPr/>
        </p:nvSpPr>
        <p:spPr>
          <a:xfrm>
            <a:off x="10453639" y="3723252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0"/>
          <p:cNvSpPr/>
          <p:nvPr/>
        </p:nvSpPr>
        <p:spPr>
          <a:xfrm>
            <a:off x="9987220" y="142301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0"/>
          <p:cNvSpPr/>
          <p:nvPr/>
        </p:nvSpPr>
        <p:spPr>
          <a:xfrm>
            <a:off x="11564720" y="305386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0"/>
          <p:cNvSpPr/>
          <p:nvPr/>
        </p:nvSpPr>
        <p:spPr>
          <a:xfrm>
            <a:off x="8715094" y="114300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0"/>
          <p:cNvSpPr/>
          <p:nvPr/>
        </p:nvSpPr>
        <p:spPr>
          <a:xfrm>
            <a:off x="7683338" y="183366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0"/>
          <p:cNvSpPr/>
          <p:nvPr/>
        </p:nvSpPr>
        <p:spPr>
          <a:xfrm>
            <a:off x="8219051" y="1693603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0"/>
          <p:cNvSpPr/>
          <p:nvPr/>
        </p:nvSpPr>
        <p:spPr>
          <a:xfrm>
            <a:off x="8086552" y="220954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0"/>
          <p:cNvSpPr/>
          <p:nvPr/>
        </p:nvSpPr>
        <p:spPr>
          <a:xfrm>
            <a:off x="8728036" y="175973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0"/>
          <p:cNvSpPr/>
          <p:nvPr/>
        </p:nvSpPr>
        <p:spPr>
          <a:xfrm>
            <a:off x="8093401" y="121645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0"/>
          <p:cNvSpPr/>
          <p:nvPr/>
        </p:nvSpPr>
        <p:spPr>
          <a:xfrm>
            <a:off x="8698024" y="21572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0"/>
          <p:cNvSpPr/>
          <p:nvPr/>
        </p:nvSpPr>
        <p:spPr>
          <a:xfrm>
            <a:off x="9140700" y="124504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0"/>
          <p:cNvSpPr/>
          <p:nvPr/>
        </p:nvSpPr>
        <p:spPr>
          <a:xfrm>
            <a:off x="9225019" y="178957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0"/>
          <p:cNvSpPr/>
          <p:nvPr/>
        </p:nvSpPr>
        <p:spPr>
          <a:xfrm>
            <a:off x="9522842" y="142377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0"/>
          <p:cNvSpPr/>
          <p:nvPr/>
        </p:nvSpPr>
        <p:spPr>
          <a:xfrm>
            <a:off x="8507656" y="144068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9139594" y="217469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0"/>
          <p:cNvSpPr/>
          <p:nvPr/>
        </p:nvSpPr>
        <p:spPr>
          <a:xfrm>
            <a:off x="9533247" y="20776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9078972" y="2578729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0"/>
          <p:cNvSpPr/>
          <p:nvPr/>
        </p:nvSpPr>
        <p:spPr>
          <a:xfrm>
            <a:off x="9679196" y="23994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0"/>
          <p:cNvSpPr/>
          <p:nvPr/>
        </p:nvSpPr>
        <p:spPr>
          <a:xfrm>
            <a:off x="9224921" y="29004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0"/>
          <p:cNvSpPr/>
          <p:nvPr/>
        </p:nvSpPr>
        <p:spPr>
          <a:xfrm>
            <a:off x="9263101" y="4000895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0"/>
          <p:cNvSpPr txBox="1"/>
          <p:nvPr/>
        </p:nvSpPr>
        <p:spPr>
          <a:xfrm>
            <a:off x="9226047" y="3926838"/>
            <a:ext cx="327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226" name="Google Shape;1226;p30"/>
          <p:cNvSpPr txBox="1"/>
          <p:nvPr/>
        </p:nvSpPr>
        <p:spPr>
          <a:xfrm>
            <a:off x="10525035" y="1664718"/>
            <a:ext cx="174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 BLUE POINTS</a:t>
            </a:r>
            <a:endParaRPr/>
          </a:p>
        </p:txBody>
      </p:sp>
      <p:sp>
        <p:nvSpPr>
          <p:cNvPr id="1227" name="Google Shape;1227;p30"/>
          <p:cNvSpPr txBox="1"/>
          <p:nvPr/>
        </p:nvSpPr>
        <p:spPr>
          <a:xfrm>
            <a:off x="8437953" y="4927596"/>
            <a:ext cx="1626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RED POINTS</a:t>
            </a:r>
            <a:endParaRPr/>
          </a:p>
        </p:txBody>
      </p:sp>
      <p:sp>
        <p:nvSpPr>
          <p:cNvPr id="1228" name="Google Shape;1228;p30"/>
          <p:cNvSpPr/>
          <p:nvPr/>
        </p:nvSpPr>
        <p:spPr>
          <a:xfrm>
            <a:off x="8690212" y="3298908"/>
            <a:ext cx="1467099" cy="1461583"/>
          </a:xfrm>
          <a:prstGeom prst="ellipse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0"/>
          <p:cNvSpPr txBox="1"/>
          <p:nvPr/>
        </p:nvSpPr>
        <p:spPr>
          <a:xfrm>
            <a:off x="10455987" y="1388574"/>
            <a:ext cx="1707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 1: RETIRE</a:t>
            </a:r>
            <a:endParaRPr/>
          </a:p>
        </p:txBody>
      </p:sp>
      <p:sp>
        <p:nvSpPr>
          <p:cNvPr id="1230" name="Google Shape;1230;p30"/>
          <p:cNvSpPr txBox="1"/>
          <p:nvPr/>
        </p:nvSpPr>
        <p:spPr>
          <a:xfrm>
            <a:off x="8106687" y="4697368"/>
            <a:ext cx="2068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0: NO RETIRE</a:t>
            </a:r>
            <a:endParaRPr/>
          </a:p>
        </p:txBody>
      </p:sp>
      <p:sp>
        <p:nvSpPr>
          <p:cNvPr id="1231" name="Google Shape;1231;p30"/>
          <p:cNvSpPr/>
          <p:nvPr/>
        </p:nvSpPr>
        <p:spPr>
          <a:xfrm>
            <a:off x="6722236" y="5766920"/>
            <a:ext cx="485312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Ahmed Ryan (FCA)</dc:creator>
</cp:coreProperties>
</file>