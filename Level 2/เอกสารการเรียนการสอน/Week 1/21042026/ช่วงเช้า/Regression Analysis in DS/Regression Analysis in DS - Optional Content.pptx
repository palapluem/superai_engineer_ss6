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6858000" cx="12192000"/>
  <p:notesSz cx="7315200" cy="9601200"/>
  <p:embeddedFontLst>
    <p:embeddedFont>
      <p:font typeface="Montserrat"/>
      <p:regular r:id="rId38"/>
      <p:bold r:id="rId39"/>
      <p:italic r:id="rId40"/>
      <p:boldItalic r:id="rId41"/>
    </p:embeddedFont>
    <p:embeddedFont>
      <p:font typeface="Urbanist Medium"/>
      <p:regular r:id="rId42"/>
      <p:bold r:id="rId43"/>
      <p:italic r:id="rId44"/>
      <p:boldItalic r:id="rId45"/>
    </p:embeddedFont>
    <p:embeddedFont>
      <p:font typeface="Urbanist"/>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50" roundtripDataSignature="AMtx7mio7FWtklExc5nozGHCBjFFkJEU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56017F4-4159-4531-9A6F-2EA572D870EB}">
  <a:tblStyle styleId="{C56017F4-4159-4531-9A6F-2EA572D870EB}"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italic.fntdata"/><Relationship Id="rId42" Type="http://schemas.openxmlformats.org/officeDocument/2006/relationships/font" Target="fonts/UrbanistMedium-regular.fntdata"/><Relationship Id="rId41" Type="http://schemas.openxmlformats.org/officeDocument/2006/relationships/font" Target="fonts/Montserrat-boldItalic.fntdata"/><Relationship Id="rId44" Type="http://schemas.openxmlformats.org/officeDocument/2006/relationships/font" Target="fonts/UrbanistMedium-italic.fntdata"/><Relationship Id="rId43" Type="http://schemas.openxmlformats.org/officeDocument/2006/relationships/font" Target="fonts/UrbanistMedium-bold.fntdata"/><Relationship Id="rId46" Type="http://schemas.openxmlformats.org/officeDocument/2006/relationships/font" Target="fonts/Urbanist-regular.fntdata"/><Relationship Id="rId45" Type="http://schemas.openxmlformats.org/officeDocument/2006/relationships/font" Target="fonts/UrbanistMedium-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Urbanist-italic.fntdata"/><Relationship Id="rId47" Type="http://schemas.openxmlformats.org/officeDocument/2006/relationships/font" Target="fonts/Urbanist-bold.fntdata"/><Relationship Id="rId49" Type="http://schemas.openxmlformats.org/officeDocument/2006/relationships/font" Target="fonts/Urbanist-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font" Target="fonts/Montserrat-bold.fntdata"/><Relationship Id="rId38" Type="http://schemas.openxmlformats.org/officeDocument/2006/relationships/font" Target="fonts/Montserrat-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69920" cy="481727"/>
          </a:xfrm>
          <a:prstGeom prst="rect">
            <a:avLst/>
          </a:prstGeom>
          <a:noFill/>
          <a:ln>
            <a:noFill/>
          </a:ln>
        </p:spPr>
        <p:txBody>
          <a:bodyPr anchorCtr="0" anchor="t"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143587" y="0"/>
            <a:ext cx="3169920" cy="481727"/>
          </a:xfrm>
          <a:prstGeom prst="rect">
            <a:avLst/>
          </a:prstGeom>
          <a:noFill/>
          <a:ln>
            <a:noFill/>
          </a:ln>
        </p:spPr>
        <p:txBody>
          <a:bodyPr anchorCtr="0" anchor="t" bIns="48325" lIns="96650" spcFirstLastPara="1" rIns="96650" wrap="square" tIns="48325">
            <a:noAutofit/>
          </a:bodyPr>
          <a:lstStyle>
            <a:lvl1pPr lvl="0" marR="0" rtl="0" algn="r">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19474"/>
            <a:ext cx="3169920" cy="481726"/>
          </a:xfrm>
          <a:prstGeom prst="rect">
            <a:avLst/>
          </a:prstGeom>
          <a:noFill/>
          <a:ln>
            <a:noFill/>
          </a:ln>
        </p:spPr>
        <p:txBody>
          <a:bodyPr anchorCtr="0" anchor="b"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143587" y="9119474"/>
            <a:ext cx="3169920" cy="481726"/>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b="0" i="0" lang="en-CA"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d81ec21adf_0_0:notes"/>
          <p:cNvSpPr/>
          <p:nvPr>
            <p:ph idx="2" type="sldImg"/>
          </p:nvPr>
        </p:nvSpPr>
        <p:spPr>
          <a:xfrm>
            <a:off x="406720" y="720090"/>
            <a:ext cx="6502500" cy="36006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d81ec21adf_0_0:notes"/>
          <p:cNvSpPr txBox="1"/>
          <p:nvPr>
            <p:ph idx="1" type="body"/>
          </p:nvPr>
        </p:nvSpPr>
        <p:spPr>
          <a:xfrm>
            <a:off x="731520" y="4560570"/>
            <a:ext cx="5852100" cy="432060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2: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21" name="Google Shape;121;p2: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27" name="Google Shape;127;p3: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33" name="Google Shape;133;p4: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5: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69" name="Google Shape;169;p5: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6: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83" name="Google Shape;183;p6: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7: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89" name="Google Shape;189;p7: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8: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00" name="Google Shape;200;p8: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9: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16" name="Google Shape;216;p9: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0: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72" name="Google Shape;272;p10: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1: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78" name="Google Shape;278;p11: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2: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87" name="Google Shape;287;p12: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3: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08" name="Google Shape;308;p13: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4: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28" name="Google Shape;328;p14: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5: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49" name="Google Shape;349;p15: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6: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74" name="Google Shape;374;p16: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7: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80" name="Google Shape;380;p17: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18: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97" name="Google Shape;397;p18: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9: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410" name="Google Shape;410;p19: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20: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419" name="Google Shape;419;p20: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1: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425" name="Google Shape;425;p21: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2: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441" name="Google Shape;441;p22: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23: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520" name="Google Shape;520;p23: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24: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547" name="Google Shape;547;p24: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25: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584" name="Google Shape;584;p25: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26: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632" name="Google Shape;632;p26: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27: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669" name="Google Shape;669;p27: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28: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706" name="Google Shape;706;p28: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29: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724" name="Google Shape;724;p29: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30: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803" name="Google Shape;803;p30: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p31: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812" name="Google Shape;812;p31: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объект" type="obj">
  <p:cSld name="OBJECT">
    <p:spTree>
      <p:nvGrpSpPr>
        <p:cNvPr id="15" name="Shape 15"/>
        <p:cNvGrpSpPr/>
        <p:nvPr/>
      </p:nvGrpSpPr>
      <p:grpSpPr>
        <a:xfrm>
          <a:off x="0" y="0"/>
          <a:ext cx="0" cy="0"/>
          <a:chOff x="0" y="0"/>
          <a:chExt cx="0" cy="0"/>
        </a:xfrm>
      </p:grpSpPr>
      <p:sp>
        <p:nvSpPr>
          <p:cNvPr id="16" name="Google Shape;16;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ый слайд" type="title">
  <p:cSld name="TITLE">
    <p:spTree>
      <p:nvGrpSpPr>
        <p:cNvPr id="21" name="Shape 21"/>
        <p:cNvGrpSpPr/>
        <p:nvPr/>
      </p:nvGrpSpPr>
      <p:grpSpPr>
        <a:xfrm>
          <a:off x="0" y="0"/>
          <a:ext cx="0" cy="0"/>
          <a:chOff x="0" y="0"/>
          <a:chExt cx="0" cy="0"/>
        </a:xfrm>
      </p:grpSpPr>
      <p:sp>
        <p:nvSpPr>
          <p:cNvPr id="22" name="Google Shape;22;p3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раздела" type="secHead">
  <p:cSld name="SECTION_HEADER">
    <p:spTree>
      <p:nvGrpSpPr>
        <p:cNvPr id="27" name="Shape 27"/>
        <p:cNvGrpSpPr/>
        <p:nvPr/>
      </p:nvGrpSpPr>
      <p:grpSpPr>
        <a:xfrm>
          <a:off x="0" y="0"/>
          <a:ext cx="0" cy="0"/>
          <a:chOff x="0" y="0"/>
          <a:chExt cx="0" cy="0"/>
        </a:xfrm>
      </p:grpSpPr>
      <p:sp>
        <p:nvSpPr>
          <p:cNvPr id="28" name="Google Shape;28;p3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Два объекта" type="twoObj">
  <p:cSld name="TWO_OBJECTS">
    <p:spTree>
      <p:nvGrpSpPr>
        <p:cNvPr id="33" name="Shape 33"/>
        <p:cNvGrpSpPr/>
        <p:nvPr/>
      </p:nvGrpSpPr>
      <p:grpSpPr>
        <a:xfrm>
          <a:off x="0" y="0"/>
          <a:ext cx="0" cy="0"/>
          <a:chOff x="0" y="0"/>
          <a:chExt cx="0" cy="0"/>
        </a:xfrm>
      </p:grpSpPr>
      <p:sp>
        <p:nvSpPr>
          <p:cNvPr id="34" name="Google Shape;34;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равнение" type="twoTxTwoObj">
  <p:cSld name="TWO_OBJECTS_WITH_TEXT">
    <p:spTree>
      <p:nvGrpSpPr>
        <p:cNvPr id="40" name="Shape 40"/>
        <p:cNvGrpSpPr/>
        <p:nvPr/>
      </p:nvGrpSpPr>
      <p:grpSpPr>
        <a:xfrm>
          <a:off x="0" y="0"/>
          <a:ext cx="0" cy="0"/>
          <a:chOff x="0" y="0"/>
          <a:chExt cx="0" cy="0"/>
        </a:xfrm>
      </p:grpSpPr>
      <p:sp>
        <p:nvSpPr>
          <p:cNvPr id="41" name="Google Shape;41;p3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олько заголовок" type="titleOnly">
  <p:cSld name="TITLE_ONLY">
    <p:spTree>
      <p:nvGrpSpPr>
        <p:cNvPr id="49" name="Shape 49"/>
        <p:cNvGrpSpPr/>
        <p:nvPr/>
      </p:nvGrpSpPr>
      <p:grpSpPr>
        <a:xfrm>
          <a:off x="0" y="0"/>
          <a:ext cx="0" cy="0"/>
          <a:chOff x="0" y="0"/>
          <a:chExt cx="0" cy="0"/>
        </a:xfrm>
      </p:grpSpPr>
      <p:sp>
        <p:nvSpPr>
          <p:cNvPr id="50" name="Google Shape;50;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устой слайд" type="blank">
  <p:cSld name="BLANK">
    <p:spTree>
      <p:nvGrpSpPr>
        <p:cNvPr id="54" name="Shape 54"/>
        <p:cNvGrpSpPr/>
        <p:nvPr/>
      </p:nvGrpSpPr>
      <p:grpSpPr>
        <a:xfrm>
          <a:off x="0" y="0"/>
          <a:ext cx="0" cy="0"/>
          <a:chOff x="0" y="0"/>
          <a:chExt cx="0" cy="0"/>
        </a:xfrm>
      </p:grpSpPr>
      <p:sp>
        <p:nvSpPr>
          <p:cNvPr id="55" name="Google Shape;55;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Объект с подписью" type="objTx">
  <p:cSld name="OBJECT_WITH_CAPTION_TEXT">
    <p:spTree>
      <p:nvGrpSpPr>
        <p:cNvPr id="58" name="Shape 58"/>
        <p:cNvGrpSpPr/>
        <p:nvPr/>
      </p:nvGrpSpPr>
      <p:grpSpPr>
        <a:xfrm>
          <a:off x="0" y="0"/>
          <a:ext cx="0" cy="0"/>
          <a:chOff x="0" y="0"/>
          <a:chExt cx="0" cy="0"/>
        </a:xfrm>
      </p:grpSpPr>
      <p:sp>
        <p:nvSpPr>
          <p:cNvPr id="59" name="Google Shape;59;p4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4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исунок с подписью" type="picTx">
  <p:cSld name="PICTURE_WITH_CAPTION_TEXT">
    <p:spTree>
      <p:nvGrpSpPr>
        <p:cNvPr id="65" name="Shape 65"/>
        <p:cNvGrpSpPr/>
        <p:nvPr/>
      </p:nvGrpSpPr>
      <p:grpSpPr>
        <a:xfrm>
          <a:off x="0" y="0"/>
          <a:ext cx="0" cy="0"/>
          <a:chOff x="0" y="0"/>
          <a:chExt cx="0" cy="0"/>
        </a:xfrm>
      </p:grpSpPr>
      <p:sp>
        <p:nvSpPr>
          <p:cNvPr id="66" name="Google Shape;66;p4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1"/>
          <p:cNvSpPr/>
          <p:nvPr>
            <p:ph idx="2" type="pic"/>
          </p:nvPr>
        </p:nvSpPr>
        <p:spPr>
          <a:xfrm>
            <a:off x="5183188" y="987425"/>
            <a:ext cx="6172200" cy="4873625"/>
          </a:xfrm>
          <a:prstGeom prst="rect">
            <a:avLst/>
          </a:prstGeom>
          <a:noFill/>
          <a:ln>
            <a:noFill/>
          </a:ln>
        </p:spPr>
      </p:sp>
      <p:sp>
        <p:nvSpPr>
          <p:cNvPr id="68" name="Google Shape;68;p4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вертикальный текст" type="vertTx">
  <p:cSld name="VERTICAL_TEXT">
    <p:spTree>
      <p:nvGrpSpPr>
        <p:cNvPr id="72" name="Shape 72"/>
        <p:cNvGrpSpPr/>
        <p:nvPr/>
      </p:nvGrpSpPr>
      <p:grpSpPr>
        <a:xfrm>
          <a:off x="0" y="0"/>
          <a:ext cx="0" cy="0"/>
          <a:chOff x="0" y="0"/>
          <a:chExt cx="0" cy="0"/>
        </a:xfrm>
      </p:grpSpPr>
      <p:sp>
        <p:nvSpPr>
          <p:cNvPr id="73" name="Google Shape;73;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ертикальный заголовок и текст" type="vertTitleAndTx">
  <p:cSld name="VERTICAL_TITLE_AND_VERTICAL_TEXT">
    <p:spTree>
      <p:nvGrpSpPr>
        <p:cNvPr id="78" name="Shape 78"/>
        <p:cNvGrpSpPr/>
        <p:nvPr/>
      </p:nvGrpSpPr>
      <p:grpSpPr>
        <a:xfrm>
          <a:off x="0" y="0"/>
          <a:ext cx="0" cy="0"/>
          <a:chOff x="0" y="0"/>
          <a:chExt cx="0" cy="0"/>
        </a:xfrm>
      </p:grpSpPr>
      <p:sp>
        <p:nvSpPr>
          <p:cNvPr id="79" name="Google Shape;79;p4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84" name="Shape 84"/>
        <p:cNvGrpSpPr/>
        <p:nvPr/>
      </p:nvGrpSpPr>
      <p:grpSpPr>
        <a:xfrm>
          <a:off x="0" y="0"/>
          <a:ext cx="0" cy="0"/>
          <a:chOff x="0" y="0"/>
          <a:chExt cx="0" cy="0"/>
        </a:xfrm>
      </p:grpSpPr>
      <p:pic>
        <p:nvPicPr>
          <p:cNvPr id="85" name="Google Shape;85;g3d81ec21adf_0_130"/>
          <p:cNvPicPr preferRelativeResize="0"/>
          <p:nvPr/>
        </p:nvPicPr>
        <p:blipFill rotWithShape="1">
          <a:blip r:embed="rId2">
            <a:alphaModFix amt="50000"/>
          </a:blip>
          <a:srcRect b="8145" l="3134" r="7835" t="16786"/>
          <a:stretch/>
        </p:blipFill>
        <p:spPr>
          <a:xfrm flipH="1" rot="10800000">
            <a:off x="0" y="-4632"/>
            <a:ext cx="12215400" cy="6872665"/>
          </a:xfrm>
          <a:prstGeom prst="rect">
            <a:avLst/>
          </a:prstGeom>
          <a:noFill/>
          <a:ln>
            <a:noFill/>
          </a:ln>
        </p:spPr>
      </p:pic>
      <p:sp>
        <p:nvSpPr>
          <p:cNvPr id="86" name="Google Shape;86;g3d81ec21adf_0_130"/>
          <p:cNvSpPr/>
          <p:nvPr/>
        </p:nvSpPr>
        <p:spPr>
          <a:xfrm flipH="1" rot="10800000">
            <a:off x="0" y="6235500"/>
            <a:ext cx="12199500" cy="6225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solidFill>
                <a:schemeClr val="dk1"/>
              </a:solidFill>
              <a:latin typeface="Urbanist"/>
              <a:ea typeface="Urbanist"/>
              <a:cs typeface="Urbanist"/>
              <a:sym typeface="Urbanist"/>
            </a:endParaRPr>
          </a:p>
        </p:txBody>
      </p:sp>
      <p:sp>
        <p:nvSpPr>
          <p:cNvPr id="87" name="Google Shape;87;g3d81ec21adf_0_130"/>
          <p:cNvSpPr txBox="1"/>
          <p:nvPr>
            <p:ph idx="1" type="subTitle"/>
          </p:nvPr>
        </p:nvSpPr>
        <p:spPr>
          <a:xfrm>
            <a:off x="304800" y="2318600"/>
            <a:ext cx="5870400" cy="336000"/>
          </a:xfrm>
          <a:prstGeom prst="rect">
            <a:avLst/>
          </a:prstGeom>
        </p:spPr>
        <p:txBody>
          <a:bodyPr anchorCtr="0" anchor="t" bIns="0" lIns="0" spcFirstLastPara="1" rIns="0" wrap="square" tIns="0">
            <a:normAutofit/>
          </a:bodyPr>
          <a:lstStyle>
            <a:lvl1pPr lvl="0">
              <a:spcBef>
                <a:spcPts val="1000"/>
              </a:spcBef>
              <a:spcAft>
                <a:spcPts val="0"/>
              </a:spcAft>
              <a:buClr>
                <a:schemeClr val="dk2"/>
              </a:buClr>
              <a:buSzPts val="2800"/>
              <a:buFont typeface="Urbanist"/>
              <a:buNone/>
              <a:defRPr>
                <a:solidFill>
                  <a:schemeClr val="dk2"/>
                </a:solidFill>
              </a:defRPr>
            </a:lvl1pPr>
            <a:lvl2pPr lvl="1">
              <a:spcBef>
                <a:spcPts val="500"/>
              </a:spcBef>
              <a:spcAft>
                <a:spcPts val="0"/>
              </a:spcAft>
              <a:buClr>
                <a:schemeClr val="dk2"/>
              </a:buClr>
              <a:buSzPts val="2400"/>
              <a:buFont typeface="Urbanist"/>
              <a:buNone/>
              <a:defRPr>
                <a:solidFill>
                  <a:schemeClr val="dk2"/>
                </a:solidFill>
                <a:latin typeface="Urbanist"/>
                <a:ea typeface="Urbanist"/>
                <a:cs typeface="Urbanist"/>
                <a:sym typeface="Urbanist"/>
              </a:defRPr>
            </a:lvl2pPr>
            <a:lvl3pPr lvl="2">
              <a:spcBef>
                <a:spcPts val="500"/>
              </a:spcBef>
              <a:spcAft>
                <a:spcPts val="0"/>
              </a:spcAft>
              <a:buClr>
                <a:schemeClr val="dk2"/>
              </a:buClr>
              <a:buSzPts val="2000"/>
              <a:buFont typeface="Urbanist"/>
              <a:buNone/>
              <a:defRPr>
                <a:solidFill>
                  <a:schemeClr val="dk2"/>
                </a:solidFill>
                <a:latin typeface="Urbanist"/>
                <a:ea typeface="Urbanist"/>
                <a:cs typeface="Urbanist"/>
                <a:sym typeface="Urbanist"/>
              </a:defRPr>
            </a:lvl3pPr>
            <a:lvl4pPr lvl="3">
              <a:spcBef>
                <a:spcPts val="500"/>
              </a:spcBef>
              <a:spcAft>
                <a:spcPts val="0"/>
              </a:spcAft>
              <a:buClr>
                <a:schemeClr val="dk2"/>
              </a:buClr>
              <a:buSzPts val="1800"/>
              <a:buFont typeface="Urbanist"/>
              <a:buNone/>
              <a:defRPr>
                <a:solidFill>
                  <a:schemeClr val="dk2"/>
                </a:solidFill>
                <a:latin typeface="Urbanist"/>
                <a:ea typeface="Urbanist"/>
                <a:cs typeface="Urbanist"/>
                <a:sym typeface="Urbanist"/>
              </a:defRPr>
            </a:lvl4pPr>
            <a:lvl5pPr lvl="4">
              <a:spcBef>
                <a:spcPts val="500"/>
              </a:spcBef>
              <a:spcAft>
                <a:spcPts val="0"/>
              </a:spcAft>
              <a:buClr>
                <a:schemeClr val="dk2"/>
              </a:buClr>
              <a:buSzPts val="1800"/>
              <a:buFont typeface="Urbanist"/>
              <a:buNone/>
              <a:defRPr>
                <a:solidFill>
                  <a:schemeClr val="dk2"/>
                </a:solidFill>
                <a:latin typeface="Urbanist"/>
                <a:ea typeface="Urbanist"/>
                <a:cs typeface="Urbanist"/>
                <a:sym typeface="Urbanist"/>
              </a:defRPr>
            </a:lvl5pPr>
            <a:lvl6pPr lvl="5">
              <a:spcBef>
                <a:spcPts val="500"/>
              </a:spcBef>
              <a:spcAft>
                <a:spcPts val="0"/>
              </a:spcAft>
              <a:buClr>
                <a:schemeClr val="dk2"/>
              </a:buClr>
              <a:buSzPts val="1800"/>
              <a:buFont typeface="Urbanist"/>
              <a:buNone/>
              <a:defRPr>
                <a:solidFill>
                  <a:schemeClr val="dk2"/>
                </a:solidFill>
                <a:latin typeface="Urbanist"/>
                <a:ea typeface="Urbanist"/>
                <a:cs typeface="Urbanist"/>
                <a:sym typeface="Urbanist"/>
              </a:defRPr>
            </a:lvl6pPr>
            <a:lvl7pPr lvl="6">
              <a:spcBef>
                <a:spcPts val="500"/>
              </a:spcBef>
              <a:spcAft>
                <a:spcPts val="0"/>
              </a:spcAft>
              <a:buClr>
                <a:schemeClr val="dk2"/>
              </a:buClr>
              <a:buSzPts val="1800"/>
              <a:buFont typeface="Urbanist"/>
              <a:buNone/>
              <a:defRPr>
                <a:solidFill>
                  <a:schemeClr val="dk2"/>
                </a:solidFill>
                <a:latin typeface="Urbanist"/>
                <a:ea typeface="Urbanist"/>
                <a:cs typeface="Urbanist"/>
                <a:sym typeface="Urbanist"/>
              </a:defRPr>
            </a:lvl7pPr>
            <a:lvl8pPr lvl="7">
              <a:spcBef>
                <a:spcPts val="500"/>
              </a:spcBef>
              <a:spcAft>
                <a:spcPts val="0"/>
              </a:spcAft>
              <a:buClr>
                <a:schemeClr val="dk2"/>
              </a:buClr>
              <a:buSzPts val="1800"/>
              <a:buFont typeface="Urbanist"/>
              <a:buNone/>
              <a:defRPr>
                <a:solidFill>
                  <a:schemeClr val="dk2"/>
                </a:solidFill>
                <a:latin typeface="Urbanist"/>
                <a:ea typeface="Urbanist"/>
                <a:cs typeface="Urbanist"/>
                <a:sym typeface="Urbanist"/>
              </a:defRPr>
            </a:lvl8pPr>
            <a:lvl9pPr lvl="8">
              <a:spcBef>
                <a:spcPts val="500"/>
              </a:spcBef>
              <a:spcAft>
                <a:spcPts val="0"/>
              </a:spcAft>
              <a:buClr>
                <a:schemeClr val="dk2"/>
              </a:buClr>
              <a:buSzPts val="1800"/>
              <a:buFont typeface="Urbanist"/>
              <a:buNone/>
              <a:defRPr>
                <a:solidFill>
                  <a:schemeClr val="dk2"/>
                </a:solidFill>
                <a:latin typeface="Urbanist"/>
                <a:ea typeface="Urbanist"/>
                <a:cs typeface="Urbanist"/>
                <a:sym typeface="Urbanist"/>
              </a:defRPr>
            </a:lvl9pPr>
          </a:lstStyle>
          <a:p/>
        </p:txBody>
      </p:sp>
      <p:sp>
        <p:nvSpPr>
          <p:cNvPr id="88" name="Google Shape;88;g3d81ec21adf_0_130"/>
          <p:cNvSpPr txBox="1"/>
          <p:nvPr>
            <p:ph idx="2" type="subTitle"/>
          </p:nvPr>
        </p:nvSpPr>
        <p:spPr>
          <a:xfrm>
            <a:off x="427500" y="6234633"/>
            <a:ext cx="3600000" cy="315300"/>
          </a:xfrm>
          <a:prstGeom prst="rect">
            <a:avLst/>
          </a:prstGeom>
        </p:spPr>
        <p:txBody>
          <a:bodyPr anchorCtr="0" anchor="b" bIns="0" lIns="0" spcFirstLastPara="1" rIns="0" wrap="square" tIns="0">
            <a:normAutofit/>
          </a:bodyPr>
          <a:lstStyle>
            <a:lvl1pPr lvl="0">
              <a:spcBef>
                <a:spcPts val="10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1pPr>
            <a:lvl2pPr lvl="1">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2pPr>
            <a:lvl3pPr lvl="2">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3pPr>
            <a:lvl4pPr lvl="3">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4pPr>
            <a:lvl5pPr lvl="4">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5pPr>
            <a:lvl6pPr lvl="5">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6pPr>
            <a:lvl7pPr lvl="6">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7pPr>
            <a:lvl8pPr lvl="7">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8pPr>
            <a:lvl9pPr lvl="8">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9pPr>
          </a:lstStyle>
          <a:p/>
        </p:txBody>
      </p:sp>
      <p:sp>
        <p:nvSpPr>
          <p:cNvPr id="89" name="Google Shape;89;g3d81ec21adf_0_130"/>
          <p:cNvSpPr txBox="1"/>
          <p:nvPr>
            <p:ph idx="3" type="subTitle"/>
          </p:nvPr>
        </p:nvSpPr>
        <p:spPr>
          <a:xfrm>
            <a:off x="6288987" y="6234633"/>
            <a:ext cx="3059700" cy="315300"/>
          </a:xfrm>
          <a:prstGeom prst="rect">
            <a:avLst/>
          </a:prstGeom>
        </p:spPr>
        <p:txBody>
          <a:bodyPr anchorCtr="0" anchor="b" bIns="0" lIns="0" spcFirstLastPara="1" rIns="0" wrap="square" tIns="0">
            <a:normAutofit/>
          </a:bodyPr>
          <a:lstStyle>
            <a:lvl1pPr lvl="0">
              <a:spcBef>
                <a:spcPts val="10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1pPr>
            <a:lvl2pPr lvl="1">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2pPr>
            <a:lvl3pPr lvl="2">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3pPr>
            <a:lvl4pPr lvl="3">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4pPr>
            <a:lvl5pPr lvl="4">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5pPr>
            <a:lvl6pPr lvl="5">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6pPr>
            <a:lvl7pPr lvl="6">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7pPr>
            <a:lvl8pPr lvl="7">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8pPr>
            <a:lvl9pPr lvl="8">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9pPr>
          </a:lstStyle>
          <a:p/>
        </p:txBody>
      </p:sp>
      <p:sp>
        <p:nvSpPr>
          <p:cNvPr id="90" name="Google Shape;90;g3d81ec21adf_0_130"/>
          <p:cNvSpPr txBox="1"/>
          <p:nvPr>
            <p:ph idx="4" type="subTitle"/>
          </p:nvPr>
        </p:nvSpPr>
        <p:spPr>
          <a:xfrm>
            <a:off x="9145600" y="6244967"/>
            <a:ext cx="2742000" cy="304800"/>
          </a:xfrm>
          <a:prstGeom prst="rect">
            <a:avLst/>
          </a:prstGeom>
        </p:spPr>
        <p:txBody>
          <a:bodyPr anchorCtr="0" anchor="b" bIns="0" lIns="0" spcFirstLastPara="1" rIns="0" wrap="square" tIns="0">
            <a:normAutofit/>
          </a:bodyPr>
          <a:lstStyle>
            <a:lvl1pPr lvl="0" algn="r">
              <a:spcBef>
                <a:spcPts val="10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1pPr>
            <a:lvl2pPr lvl="1" algn="r">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2pPr>
            <a:lvl3pPr lvl="2" algn="r">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3pPr>
            <a:lvl4pPr lvl="3" algn="r">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4pPr>
            <a:lvl5pPr lvl="4" algn="r">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5pPr>
            <a:lvl6pPr lvl="5" algn="r">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6pPr>
            <a:lvl7pPr lvl="6" algn="r">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7pPr>
            <a:lvl8pPr lvl="7" algn="r">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8pPr>
            <a:lvl9pPr lvl="8" algn="r">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9pPr>
          </a:lstStyle>
          <a:p/>
        </p:txBody>
      </p:sp>
      <p:sp>
        <p:nvSpPr>
          <p:cNvPr id="91" name="Google Shape;91;g3d81ec21adf_0_130"/>
          <p:cNvSpPr/>
          <p:nvPr/>
        </p:nvSpPr>
        <p:spPr>
          <a:xfrm>
            <a:off x="304800" y="6450000"/>
            <a:ext cx="65100" cy="65100"/>
          </a:xfrm>
          <a:prstGeom prst="ellipse">
            <a:avLst/>
          </a:prstGeom>
          <a:solidFill>
            <a:schemeClr val="lt1"/>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solidFill>
                <a:schemeClr val="dk1"/>
              </a:solidFill>
              <a:latin typeface="Urbanist"/>
              <a:ea typeface="Urbanist"/>
              <a:cs typeface="Urbanist"/>
              <a:sym typeface="Urbanist"/>
            </a:endParaRPr>
          </a:p>
        </p:txBody>
      </p:sp>
      <p:sp>
        <p:nvSpPr>
          <p:cNvPr id="92" name="Google Shape;92;g3d81ec21adf_0_130"/>
          <p:cNvSpPr/>
          <p:nvPr/>
        </p:nvSpPr>
        <p:spPr>
          <a:xfrm>
            <a:off x="6158600" y="6452000"/>
            <a:ext cx="61200" cy="61200"/>
          </a:xfrm>
          <a:prstGeom prst="rect">
            <a:avLst/>
          </a:prstGeom>
          <a:solidFill>
            <a:schemeClr val="lt1"/>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solidFill>
                <a:schemeClr val="dk1"/>
              </a:solidFill>
              <a:latin typeface="Urbanist"/>
              <a:ea typeface="Urbanist"/>
              <a:cs typeface="Urbanist"/>
              <a:sym typeface="Urbanist"/>
            </a:endParaRPr>
          </a:p>
        </p:txBody>
      </p:sp>
      <p:sp>
        <p:nvSpPr>
          <p:cNvPr id="93" name="Google Shape;93;g3d81ec21adf_0_130"/>
          <p:cNvSpPr txBox="1"/>
          <p:nvPr>
            <p:ph type="title"/>
          </p:nvPr>
        </p:nvSpPr>
        <p:spPr>
          <a:xfrm>
            <a:off x="304800" y="304800"/>
            <a:ext cx="8878500" cy="1892100"/>
          </a:xfrm>
          <a:prstGeom prst="rect">
            <a:avLst/>
          </a:prstGeom>
        </p:spPr>
        <p:txBody>
          <a:bodyPr anchorCtr="0" anchor="ctr" bIns="0" lIns="0" spcFirstLastPara="1" rIns="0" wrap="square" tIns="0">
            <a:normAutofit/>
          </a:bodyPr>
          <a:lstStyle>
            <a:lvl1pPr lvl="0">
              <a:lnSpc>
                <a:spcPct val="85000"/>
              </a:lnSpc>
              <a:spcBef>
                <a:spcPts val="0"/>
              </a:spcBef>
              <a:spcAft>
                <a:spcPts val="0"/>
              </a:spcAft>
              <a:buNone/>
              <a:defRPr sz="6400">
                <a:solidFill>
                  <a:schemeClr val="dk2"/>
                </a:solidFill>
              </a:defRPr>
            </a:lvl1pPr>
            <a:lvl2pPr lvl="1">
              <a:lnSpc>
                <a:spcPct val="85000"/>
              </a:lnSpc>
              <a:spcBef>
                <a:spcPts val="0"/>
              </a:spcBef>
              <a:spcAft>
                <a:spcPts val="0"/>
              </a:spcAft>
              <a:buNone/>
              <a:defRPr sz="6400">
                <a:solidFill>
                  <a:schemeClr val="dk2"/>
                </a:solidFill>
              </a:defRPr>
            </a:lvl2pPr>
            <a:lvl3pPr lvl="2">
              <a:lnSpc>
                <a:spcPct val="85000"/>
              </a:lnSpc>
              <a:spcBef>
                <a:spcPts val="0"/>
              </a:spcBef>
              <a:spcAft>
                <a:spcPts val="0"/>
              </a:spcAft>
              <a:buNone/>
              <a:defRPr sz="6400">
                <a:solidFill>
                  <a:schemeClr val="dk2"/>
                </a:solidFill>
              </a:defRPr>
            </a:lvl3pPr>
            <a:lvl4pPr lvl="3">
              <a:lnSpc>
                <a:spcPct val="85000"/>
              </a:lnSpc>
              <a:spcBef>
                <a:spcPts val="0"/>
              </a:spcBef>
              <a:spcAft>
                <a:spcPts val="0"/>
              </a:spcAft>
              <a:buNone/>
              <a:defRPr sz="6400">
                <a:solidFill>
                  <a:schemeClr val="dk2"/>
                </a:solidFill>
              </a:defRPr>
            </a:lvl4pPr>
            <a:lvl5pPr lvl="4">
              <a:lnSpc>
                <a:spcPct val="85000"/>
              </a:lnSpc>
              <a:spcBef>
                <a:spcPts val="0"/>
              </a:spcBef>
              <a:spcAft>
                <a:spcPts val="0"/>
              </a:spcAft>
              <a:buNone/>
              <a:defRPr sz="6400">
                <a:solidFill>
                  <a:schemeClr val="dk2"/>
                </a:solidFill>
              </a:defRPr>
            </a:lvl5pPr>
            <a:lvl6pPr lvl="5">
              <a:lnSpc>
                <a:spcPct val="85000"/>
              </a:lnSpc>
              <a:spcBef>
                <a:spcPts val="0"/>
              </a:spcBef>
              <a:spcAft>
                <a:spcPts val="0"/>
              </a:spcAft>
              <a:buNone/>
              <a:defRPr sz="6400">
                <a:solidFill>
                  <a:schemeClr val="dk2"/>
                </a:solidFill>
              </a:defRPr>
            </a:lvl6pPr>
            <a:lvl7pPr lvl="6">
              <a:lnSpc>
                <a:spcPct val="85000"/>
              </a:lnSpc>
              <a:spcBef>
                <a:spcPts val="0"/>
              </a:spcBef>
              <a:spcAft>
                <a:spcPts val="0"/>
              </a:spcAft>
              <a:buNone/>
              <a:defRPr sz="6400">
                <a:solidFill>
                  <a:schemeClr val="dk2"/>
                </a:solidFill>
              </a:defRPr>
            </a:lvl7pPr>
            <a:lvl8pPr lvl="7">
              <a:lnSpc>
                <a:spcPct val="85000"/>
              </a:lnSpc>
              <a:spcBef>
                <a:spcPts val="0"/>
              </a:spcBef>
              <a:spcAft>
                <a:spcPts val="0"/>
              </a:spcAft>
              <a:buNone/>
              <a:defRPr sz="6400">
                <a:solidFill>
                  <a:schemeClr val="dk2"/>
                </a:solidFill>
              </a:defRPr>
            </a:lvl8pPr>
            <a:lvl9pPr lvl="8">
              <a:lnSpc>
                <a:spcPct val="85000"/>
              </a:lnSpc>
              <a:spcBef>
                <a:spcPts val="0"/>
              </a:spcBef>
              <a:spcAft>
                <a:spcPts val="0"/>
              </a:spcAft>
              <a:buNone/>
              <a:defRPr sz="6400">
                <a:solidFill>
                  <a:schemeClr val="dk2"/>
                </a:solidFill>
              </a:defRPr>
            </a:lvl9pPr>
          </a:lstStyle>
          <a:p/>
        </p:txBody>
      </p:sp>
      <p:cxnSp>
        <p:nvCxnSpPr>
          <p:cNvPr id="94" name="Google Shape;94;g3d81ec21adf_0_130"/>
          <p:cNvCxnSpPr/>
          <p:nvPr/>
        </p:nvCxnSpPr>
        <p:spPr>
          <a:xfrm>
            <a:off x="318400" y="6244400"/>
            <a:ext cx="11569200" cy="0"/>
          </a:xfrm>
          <a:prstGeom prst="straightConnector1">
            <a:avLst/>
          </a:prstGeom>
          <a:noFill/>
          <a:ln cap="flat" cmpd="sng" w="9525">
            <a:solidFill>
              <a:schemeClr val="accent1"/>
            </a:solidFill>
            <a:prstDash val="solid"/>
            <a:round/>
            <a:headEnd len="med" w="med" type="none"/>
            <a:tailEnd len="med" w="med" type="none"/>
          </a:ln>
        </p:spPr>
      </p:cxnSp>
      <p:sp>
        <p:nvSpPr>
          <p:cNvPr id="95" name="Google Shape;95;g3d81ec21adf_0_130"/>
          <p:cNvSpPr txBox="1"/>
          <p:nvPr>
            <p:ph idx="5" type="subTitle"/>
          </p:nvPr>
        </p:nvSpPr>
        <p:spPr>
          <a:xfrm>
            <a:off x="396100" y="5567867"/>
            <a:ext cx="1686300" cy="304800"/>
          </a:xfrm>
          <a:prstGeom prst="rect">
            <a:avLst/>
          </a:prstGeom>
        </p:spPr>
        <p:txBody>
          <a:bodyPr anchorCtr="0" anchor="t" bIns="0" lIns="0" spcFirstLastPara="1" rIns="0" wrap="square" tIns="0">
            <a:normAutofit/>
          </a:bodyPr>
          <a:lstStyle>
            <a:lvl1pPr lvl="0" algn="ctr">
              <a:spcBef>
                <a:spcPts val="1000"/>
              </a:spcBef>
              <a:spcAft>
                <a:spcPts val="0"/>
              </a:spcAft>
              <a:buClr>
                <a:schemeClr val="lt1"/>
              </a:buClr>
              <a:buSzPts val="1600"/>
              <a:buFont typeface="Urbanist"/>
              <a:buNone/>
              <a:defRPr sz="1600"/>
            </a:lvl1pPr>
            <a:lvl2pPr lvl="1"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2pPr>
            <a:lvl3pPr lvl="2"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3pPr>
            <a:lvl4pPr lvl="3"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4pPr>
            <a:lvl5pPr lvl="4"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5pPr>
            <a:lvl6pPr lvl="5"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6pPr>
            <a:lvl7pPr lvl="6"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7pPr>
            <a:lvl8pPr lvl="7"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8pPr>
            <a:lvl9pPr lvl="8"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9pPr>
          </a:lstStyle>
          <a:p/>
        </p:txBody>
      </p:sp>
      <p:sp>
        <p:nvSpPr>
          <p:cNvPr id="96" name="Google Shape;96;g3d81ec21adf_0_130"/>
          <p:cNvSpPr txBox="1"/>
          <p:nvPr>
            <p:ph idx="6" type="subTitle"/>
          </p:nvPr>
        </p:nvSpPr>
        <p:spPr>
          <a:xfrm>
            <a:off x="2381833" y="5567867"/>
            <a:ext cx="1686300" cy="304800"/>
          </a:xfrm>
          <a:prstGeom prst="rect">
            <a:avLst/>
          </a:prstGeom>
        </p:spPr>
        <p:txBody>
          <a:bodyPr anchorCtr="0" anchor="t" bIns="0" lIns="0" spcFirstLastPara="1" rIns="0" wrap="square" tIns="0">
            <a:normAutofit/>
          </a:bodyPr>
          <a:lstStyle>
            <a:lvl1pPr lvl="0" algn="ctr">
              <a:spcBef>
                <a:spcPts val="1000"/>
              </a:spcBef>
              <a:spcAft>
                <a:spcPts val="0"/>
              </a:spcAft>
              <a:buClr>
                <a:schemeClr val="lt1"/>
              </a:buClr>
              <a:buSzPts val="1600"/>
              <a:buFont typeface="Urbanist"/>
              <a:buNone/>
              <a:defRPr sz="1600"/>
            </a:lvl1pPr>
            <a:lvl2pPr lvl="1"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2pPr>
            <a:lvl3pPr lvl="2"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3pPr>
            <a:lvl4pPr lvl="3"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4pPr>
            <a:lvl5pPr lvl="4"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5pPr>
            <a:lvl6pPr lvl="5"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6pPr>
            <a:lvl7pPr lvl="6"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7pPr>
            <a:lvl8pPr lvl="7"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8pPr>
            <a:lvl9pPr lvl="8"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9pPr>
          </a:lstStyle>
          <a:p/>
        </p:txBody>
      </p:sp>
      <p:sp>
        <p:nvSpPr>
          <p:cNvPr id="97" name="Google Shape;97;g3d81ec21adf_0_130"/>
          <p:cNvSpPr txBox="1"/>
          <p:nvPr>
            <p:ph idx="7" type="subTitle"/>
          </p:nvPr>
        </p:nvSpPr>
        <p:spPr>
          <a:xfrm>
            <a:off x="304789" y="4605967"/>
            <a:ext cx="6212700" cy="336000"/>
          </a:xfrm>
          <a:prstGeom prst="rect">
            <a:avLst/>
          </a:prstGeom>
        </p:spPr>
        <p:txBody>
          <a:bodyPr anchorCtr="0" anchor="t" bIns="121900" lIns="0" spcFirstLastPara="1" rIns="121900" wrap="square" tIns="0">
            <a:normAutofit/>
          </a:bodyPr>
          <a:lstStyle>
            <a:lvl1pPr lvl="0">
              <a:spcBef>
                <a:spcPts val="1000"/>
              </a:spcBef>
              <a:spcAft>
                <a:spcPts val="0"/>
              </a:spcAft>
              <a:buClr>
                <a:schemeClr val="lt1"/>
              </a:buClr>
              <a:buSzPts val="1600"/>
              <a:buFont typeface="Urbanist"/>
              <a:buNone/>
              <a:defRPr b="1" sz="1600"/>
            </a:lvl1pPr>
            <a:lvl2pPr lvl="1">
              <a:spcBef>
                <a:spcPts val="500"/>
              </a:spcBef>
              <a:spcAft>
                <a:spcPts val="0"/>
              </a:spcAft>
              <a:buClr>
                <a:schemeClr val="lt1"/>
              </a:buClr>
              <a:buSzPts val="2400"/>
              <a:buFont typeface="Urbanist"/>
              <a:buNone/>
              <a:defRPr b="1">
                <a:solidFill>
                  <a:schemeClr val="lt1"/>
                </a:solidFill>
                <a:latin typeface="Urbanist"/>
                <a:ea typeface="Urbanist"/>
                <a:cs typeface="Urbanist"/>
                <a:sym typeface="Urbanist"/>
              </a:defRPr>
            </a:lvl2pPr>
            <a:lvl3pPr lvl="2">
              <a:spcBef>
                <a:spcPts val="500"/>
              </a:spcBef>
              <a:spcAft>
                <a:spcPts val="0"/>
              </a:spcAft>
              <a:buClr>
                <a:schemeClr val="lt1"/>
              </a:buClr>
              <a:buSzPts val="2000"/>
              <a:buFont typeface="Urbanist"/>
              <a:buNone/>
              <a:defRPr b="1">
                <a:solidFill>
                  <a:schemeClr val="lt1"/>
                </a:solidFill>
                <a:latin typeface="Urbanist"/>
                <a:ea typeface="Urbanist"/>
                <a:cs typeface="Urbanist"/>
                <a:sym typeface="Urbanist"/>
              </a:defRPr>
            </a:lvl3pPr>
            <a:lvl4pPr lvl="3">
              <a:spcBef>
                <a:spcPts val="500"/>
              </a:spcBef>
              <a:spcAft>
                <a:spcPts val="0"/>
              </a:spcAft>
              <a:buClr>
                <a:schemeClr val="lt1"/>
              </a:buClr>
              <a:buSzPts val="1800"/>
              <a:buFont typeface="Urbanist"/>
              <a:buNone/>
              <a:defRPr b="1">
                <a:solidFill>
                  <a:schemeClr val="lt1"/>
                </a:solidFill>
                <a:latin typeface="Urbanist"/>
                <a:ea typeface="Urbanist"/>
                <a:cs typeface="Urbanist"/>
                <a:sym typeface="Urbanist"/>
              </a:defRPr>
            </a:lvl4pPr>
            <a:lvl5pPr lvl="4">
              <a:spcBef>
                <a:spcPts val="500"/>
              </a:spcBef>
              <a:spcAft>
                <a:spcPts val="0"/>
              </a:spcAft>
              <a:buClr>
                <a:schemeClr val="lt1"/>
              </a:buClr>
              <a:buSzPts val="1800"/>
              <a:buFont typeface="Urbanist"/>
              <a:buNone/>
              <a:defRPr b="1">
                <a:solidFill>
                  <a:schemeClr val="lt1"/>
                </a:solidFill>
                <a:latin typeface="Urbanist"/>
                <a:ea typeface="Urbanist"/>
                <a:cs typeface="Urbanist"/>
                <a:sym typeface="Urbanist"/>
              </a:defRPr>
            </a:lvl5pPr>
            <a:lvl6pPr lvl="5">
              <a:spcBef>
                <a:spcPts val="500"/>
              </a:spcBef>
              <a:spcAft>
                <a:spcPts val="0"/>
              </a:spcAft>
              <a:buClr>
                <a:schemeClr val="lt1"/>
              </a:buClr>
              <a:buSzPts val="1800"/>
              <a:buFont typeface="Urbanist"/>
              <a:buNone/>
              <a:defRPr b="1">
                <a:solidFill>
                  <a:schemeClr val="lt1"/>
                </a:solidFill>
                <a:latin typeface="Urbanist"/>
                <a:ea typeface="Urbanist"/>
                <a:cs typeface="Urbanist"/>
                <a:sym typeface="Urbanist"/>
              </a:defRPr>
            </a:lvl6pPr>
            <a:lvl7pPr lvl="6">
              <a:spcBef>
                <a:spcPts val="500"/>
              </a:spcBef>
              <a:spcAft>
                <a:spcPts val="0"/>
              </a:spcAft>
              <a:buClr>
                <a:schemeClr val="lt1"/>
              </a:buClr>
              <a:buSzPts val="1800"/>
              <a:buFont typeface="Urbanist"/>
              <a:buNone/>
              <a:defRPr b="1">
                <a:solidFill>
                  <a:schemeClr val="lt1"/>
                </a:solidFill>
                <a:latin typeface="Urbanist"/>
                <a:ea typeface="Urbanist"/>
                <a:cs typeface="Urbanist"/>
                <a:sym typeface="Urbanist"/>
              </a:defRPr>
            </a:lvl7pPr>
            <a:lvl8pPr lvl="7">
              <a:spcBef>
                <a:spcPts val="500"/>
              </a:spcBef>
              <a:spcAft>
                <a:spcPts val="0"/>
              </a:spcAft>
              <a:buClr>
                <a:schemeClr val="lt1"/>
              </a:buClr>
              <a:buSzPts val="1800"/>
              <a:buFont typeface="Urbanist"/>
              <a:buNone/>
              <a:defRPr b="1">
                <a:solidFill>
                  <a:schemeClr val="lt1"/>
                </a:solidFill>
                <a:latin typeface="Urbanist"/>
                <a:ea typeface="Urbanist"/>
                <a:cs typeface="Urbanist"/>
                <a:sym typeface="Urbanist"/>
              </a:defRPr>
            </a:lvl8pPr>
            <a:lvl9pPr lvl="8">
              <a:spcBef>
                <a:spcPts val="500"/>
              </a:spcBef>
              <a:spcAft>
                <a:spcPts val="0"/>
              </a:spcAft>
              <a:buClr>
                <a:schemeClr val="lt1"/>
              </a:buClr>
              <a:buSzPts val="1800"/>
              <a:buFont typeface="Urbanist"/>
              <a:buNone/>
              <a:defRPr b="1">
                <a:solidFill>
                  <a:schemeClr val="lt1"/>
                </a:solidFill>
                <a:latin typeface="Urbanist"/>
                <a:ea typeface="Urbanist"/>
                <a:cs typeface="Urbanist"/>
                <a:sym typeface="Urbanist"/>
              </a:defRPr>
            </a:lvl9pPr>
          </a:lstStyle>
          <a:p/>
        </p:txBody>
      </p:sp>
      <p:sp>
        <p:nvSpPr>
          <p:cNvPr id="98" name="Google Shape;98;g3d81ec21adf_0_130"/>
          <p:cNvSpPr txBox="1"/>
          <p:nvPr>
            <p:ph idx="8" type="subTitle"/>
          </p:nvPr>
        </p:nvSpPr>
        <p:spPr>
          <a:xfrm>
            <a:off x="304789" y="4990733"/>
            <a:ext cx="6212700" cy="336000"/>
          </a:xfrm>
          <a:prstGeom prst="rect">
            <a:avLst/>
          </a:prstGeom>
        </p:spPr>
        <p:txBody>
          <a:bodyPr anchorCtr="0" anchor="t" bIns="121900" lIns="0" spcFirstLastPara="1" rIns="121900" wrap="square" tIns="0">
            <a:normAutofit/>
          </a:bodyPr>
          <a:lstStyle>
            <a:lvl1pPr lvl="0">
              <a:spcBef>
                <a:spcPts val="1000"/>
              </a:spcBef>
              <a:spcAft>
                <a:spcPts val="0"/>
              </a:spcAft>
              <a:buClr>
                <a:schemeClr val="lt1"/>
              </a:buClr>
              <a:buSzPts val="1600"/>
              <a:buFont typeface="Urbanist"/>
              <a:buNone/>
              <a:defRPr b="1" sz="1600"/>
            </a:lvl1pPr>
            <a:lvl2pPr lvl="1">
              <a:spcBef>
                <a:spcPts val="500"/>
              </a:spcBef>
              <a:spcAft>
                <a:spcPts val="0"/>
              </a:spcAft>
              <a:buClr>
                <a:schemeClr val="lt1"/>
              </a:buClr>
              <a:buSzPts val="2400"/>
              <a:buFont typeface="Urbanist"/>
              <a:buNone/>
              <a:defRPr b="1">
                <a:solidFill>
                  <a:schemeClr val="lt1"/>
                </a:solidFill>
                <a:latin typeface="Urbanist"/>
                <a:ea typeface="Urbanist"/>
                <a:cs typeface="Urbanist"/>
                <a:sym typeface="Urbanist"/>
              </a:defRPr>
            </a:lvl2pPr>
            <a:lvl3pPr lvl="2">
              <a:spcBef>
                <a:spcPts val="500"/>
              </a:spcBef>
              <a:spcAft>
                <a:spcPts val="0"/>
              </a:spcAft>
              <a:buClr>
                <a:schemeClr val="lt1"/>
              </a:buClr>
              <a:buSzPts val="2000"/>
              <a:buFont typeface="Urbanist"/>
              <a:buNone/>
              <a:defRPr b="1">
                <a:solidFill>
                  <a:schemeClr val="lt1"/>
                </a:solidFill>
                <a:latin typeface="Urbanist"/>
                <a:ea typeface="Urbanist"/>
                <a:cs typeface="Urbanist"/>
                <a:sym typeface="Urbanist"/>
              </a:defRPr>
            </a:lvl3pPr>
            <a:lvl4pPr lvl="3">
              <a:spcBef>
                <a:spcPts val="500"/>
              </a:spcBef>
              <a:spcAft>
                <a:spcPts val="0"/>
              </a:spcAft>
              <a:buClr>
                <a:schemeClr val="lt1"/>
              </a:buClr>
              <a:buSzPts val="1800"/>
              <a:buFont typeface="Urbanist"/>
              <a:buNone/>
              <a:defRPr b="1">
                <a:solidFill>
                  <a:schemeClr val="lt1"/>
                </a:solidFill>
                <a:latin typeface="Urbanist"/>
                <a:ea typeface="Urbanist"/>
                <a:cs typeface="Urbanist"/>
                <a:sym typeface="Urbanist"/>
              </a:defRPr>
            </a:lvl4pPr>
            <a:lvl5pPr lvl="4">
              <a:spcBef>
                <a:spcPts val="500"/>
              </a:spcBef>
              <a:spcAft>
                <a:spcPts val="0"/>
              </a:spcAft>
              <a:buClr>
                <a:schemeClr val="lt1"/>
              </a:buClr>
              <a:buSzPts val="1800"/>
              <a:buFont typeface="Urbanist"/>
              <a:buNone/>
              <a:defRPr b="1">
                <a:solidFill>
                  <a:schemeClr val="lt1"/>
                </a:solidFill>
                <a:latin typeface="Urbanist"/>
                <a:ea typeface="Urbanist"/>
                <a:cs typeface="Urbanist"/>
                <a:sym typeface="Urbanist"/>
              </a:defRPr>
            </a:lvl5pPr>
            <a:lvl6pPr lvl="5">
              <a:spcBef>
                <a:spcPts val="500"/>
              </a:spcBef>
              <a:spcAft>
                <a:spcPts val="0"/>
              </a:spcAft>
              <a:buClr>
                <a:schemeClr val="lt1"/>
              </a:buClr>
              <a:buSzPts val="1800"/>
              <a:buFont typeface="Urbanist"/>
              <a:buNone/>
              <a:defRPr b="1">
                <a:solidFill>
                  <a:schemeClr val="lt1"/>
                </a:solidFill>
                <a:latin typeface="Urbanist"/>
                <a:ea typeface="Urbanist"/>
                <a:cs typeface="Urbanist"/>
                <a:sym typeface="Urbanist"/>
              </a:defRPr>
            </a:lvl6pPr>
            <a:lvl7pPr lvl="6">
              <a:spcBef>
                <a:spcPts val="500"/>
              </a:spcBef>
              <a:spcAft>
                <a:spcPts val="0"/>
              </a:spcAft>
              <a:buClr>
                <a:schemeClr val="lt1"/>
              </a:buClr>
              <a:buSzPts val="1800"/>
              <a:buFont typeface="Urbanist"/>
              <a:buNone/>
              <a:defRPr b="1">
                <a:solidFill>
                  <a:schemeClr val="lt1"/>
                </a:solidFill>
                <a:latin typeface="Urbanist"/>
                <a:ea typeface="Urbanist"/>
                <a:cs typeface="Urbanist"/>
                <a:sym typeface="Urbanist"/>
              </a:defRPr>
            </a:lvl7pPr>
            <a:lvl8pPr lvl="7">
              <a:spcBef>
                <a:spcPts val="500"/>
              </a:spcBef>
              <a:spcAft>
                <a:spcPts val="0"/>
              </a:spcAft>
              <a:buClr>
                <a:schemeClr val="lt1"/>
              </a:buClr>
              <a:buSzPts val="1800"/>
              <a:buFont typeface="Urbanist"/>
              <a:buNone/>
              <a:defRPr b="1">
                <a:solidFill>
                  <a:schemeClr val="lt1"/>
                </a:solidFill>
                <a:latin typeface="Urbanist"/>
                <a:ea typeface="Urbanist"/>
                <a:cs typeface="Urbanist"/>
                <a:sym typeface="Urbanist"/>
              </a:defRPr>
            </a:lvl8pPr>
            <a:lvl9pPr lvl="8">
              <a:spcBef>
                <a:spcPts val="500"/>
              </a:spcBef>
              <a:spcAft>
                <a:spcPts val="0"/>
              </a:spcAft>
              <a:buClr>
                <a:schemeClr val="lt1"/>
              </a:buClr>
              <a:buSzPts val="18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3740">
          <p15:clr>
            <a:srgbClr val="E46962"/>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0.jpg"/><Relationship Id="rId5" Type="http://schemas.openxmlformats.org/officeDocument/2006/relationships/hyperlink" Target="https://commons.wikimedia.org/wiki/File:Library_of_Congress,_Rosenwald_4,_Bl._5r.jp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hyperlink" Target="https://medium.com/greyatom/a-quick-guide-to-boosting-in-ml-acf7c1585cb5" TargetMode="External"/><Relationship Id="rId5" Type="http://schemas.openxmlformats.org/officeDocument/2006/relationships/hyperlink" Target="https://commons.wikimedia.org/wiki/File:Boosting.png" TargetMode="External"/><Relationship Id="rId6"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hyperlink" Target="https://commons.wikimedia.org/wiki/File:Blind_men_and_elephant.png"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hyperlink" Target="https://xgboost.readthedocs.io/en/latest/tutorials/model.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hyperlink" Target="https://xgboost.readthedocs.io/en/latest/tutorials/model.html" TargetMode="External"/><Relationship Id="rId5"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hyperlink" Target="https://www.youtube.com/watch?v=3CC4N4z3GJc&amp;t=87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hyperlink" Target="https://www.youtube.com/watch?v=3CC4N4z3GJc&amp;t=87s"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hyperlink" Target="https://www.youtube.com/watch?v=3CC4N4z3GJc&amp;t=87s"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hyperlink" Target="https://www.youtube.com/watch?v=3CC4N4z3GJc&amp;t=87s"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hyperlink" Target="https://arxiv.org/pdf/1603.02754.pdf" TargetMode="External"/><Relationship Id="rId6" Type="http://schemas.openxmlformats.org/officeDocument/2006/relationships/hyperlink" Target="https://xgboost.readthedocs.io/en/latest/tutorials/model.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png"/><Relationship Id="rId4" Type="http://schemas.openxmlformats.org/officeDocument/2006/relationships/hyperlink" Target="https://arxiv.org/pdf/1603.02754.pdf"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g3d81ec21adf_0_0"/>
          <p:cNvSpPr/>
          <p:nvPr/>
        </p:nvSpPr>
        <p:spPr>
          <a:xfrm>
            <a:off x="304800" y="5484500"/>
            <a:ext cx="1865700" cy="451500"/>
          </a:xfrm>
          <a:prstGeom prst="roundRect">
            <a:avLst>
              <a:gd fmla="val 16667" name="adj"/>
            </a:avLst>
          </a:prstGeom>
          <a:solidFill>
            <a:schemeClr val="lt2"/>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300">
              <a:solidFill>
                <a:schemeClr val="lt1"/>
              </a:solidFill>
              <a:latin typeface="Urbanist"/>
              <a:ea typeface="Urbanist"/>
              <a:cs typeface="Urbanist"/>
              <a:sym typeface="Urbanist"/>
            </a:endParaRPr>
          </a:p>
        </p:txBody>
      </p:sp>
      <p:sp>
        <p:nvSpPr>
          <p:cNvPr id="104" name="Google Shape;104;g3d81ec21adf_0_0"/>
          <p:cNvSpPr/>
          <p:nvPr/>
        </p:nvSpPr>
        <p:spPr>
          <a:xfrm>
            <a:off x="2292233" y="5484500"/>
            <a:ext cx="1865700" cy="451500"/>
          </a:xfrm>
          <a:prstGeom prst="roundRect">
            <a:avLst>
              <a:gd fmla="val 16667" name="adj"/>
            </a:avLst>
          </a:prstGeom>
          <a:solidFill>
            <a:schemeClr val="lt2"/>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300">
              <a:solidFill>
                <a:schemeClr val="lt1"/>
              </a:solidFill>
              <a:latin typeface="Urbanist"/>
              <a:ea typeface="Urbanist"/>
              <a:cs typeface="Urbanist"/>
              <a:sym typeface="Urbanist"/>
            </a:endParaRPr>
          </a:p>
        </p:txBody>
      </p:sp>
      <p:grpSp>
        <p:nvGrpSpPr>
          <p:cNvPr id="105" name="Google Shape;105;g3d81ec21adf_0_0"/>
          <p:cNvGrpSpPr/>
          <p:nvPr/>
        </p:nvGrpSpPr>
        <p:grpSpPr>
          <a:xfrm>
            <a:off x="304789" y="4169800"/>
            <a:ext cx="310792" cy="310792"/>
            <a:chOff x="259788" y="1923155"/>
            <a:chExt cx="409800" cy="409800"/>
          </a:xfrm>
        </p:grpSpPr>
        <p:sp>
          <p:nvSpPr>
            <p:cNvPr id="106" name="Google Shape;106;g3d81ec21adf_0_0"/>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latin typeface="Urbanist"/>
                <a:ea typeface="Urbanist"/>
                <a:cs typeface="Urbanist"/>
                <a:sym typeface="Urbanist"/>
              </a:endParaRPr>
            </a:p>
          </p:txBody>
        </p:sp>
        <p:grpSp>
          <p:nvGrpSpPr>
            <p:cNvPr id="107" name="Google Shape;107;g3d81ec21adf_0_0"/>
            <p:cNvGrpSpPr/>
            <p:nvPr/>
          </p:nvGrpSpPr>
          <p:grpSpPr>
            <a:xfrm>
              <a:off x="362088" y="2093825"/>
              <a:ext cx="205200" cy="102600"/>
              <a:chOff x="498725" y="2069800"/>
              <a:chExt cx="205200" cy="102600"/>
            </a:xfrm>
          </p:grpSpPr>
          <p:cxnSp>
            <p:nvCxnSpPr>
              <p:cNvPr id="108" name="Google Shape;108;g3d81ec21adf_0_0"/>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109" name="Google Shape;109;g3d81ec21adf_0_0"/>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sp>
        <p:nvSpPr>
          <p:cNvPr id="110" name="Google Shape;110;g3d81ec21adf_0_0"/>
          <p:cNvSpPr txBox="1"/>
          <p:nvPr>
            <p:ph type="title"/>
          </p:nvPr>
        </p:nvSpPr>
        <p:spPr>
          <a:xfrm>
            <a:off x="304800" y="304800"/>
            <a:ext cx="8878500" cy="1892100"/>
          </a:xfrm>
          <a:prstGeom prst="rect">
            <a:avLst/>
          </a:prstGeom>
        </p:spPr>
        <p:txBody>
          <a:bodyPr anchorCtr="0" anchor="ctr" bIns="0" lIns="0" spcFirstLastPara="1" rIns="0" wrap="square" tIns="0">
            <a:normAutofit/>
          </a:bodyPr>
          <a:lstStyle/>
          <a:p>
            <a:pPr indent="0" lvl="0" marL="0" rtl="0" algn="l">
              <a:spcBef>
                <a:spcPts val="0"/>
              </a:spcBef>
              <a:spcAft>
                <a:spcPts val="0"/>
              </a:spcAft>
              <a:buClr>
                <a:schemeClr val="dk1"/>
              </a:buClr>
              <a:buSzPts val="1500"/>
              <a:buNone/>
            </a:pPr>
            <a:r>
              <a:rPr lang="en-CA">
                <a:solidFill>
                  <a:schemeClr val="lt1"/>
                </a:solidFill>
              </a:rPr>
              <a:t>Machine Learning 1</a:t>
            </a:r>
            <a:endParaRPr>
              <a:solidFill>
                <a:schemeClr val="lt1"/>
              </a:solidFill>
            </a:endParaRPr>
          </a:p>
        </p:txBody>
      </p:sp>
      <p:sp>
        <p:nvSpPr>
          <p:cNvPr id="111" name="Google Shape;111;g3d81ec21adf_0_0"/>
          <p:cNvSpPr txBox="1"/>
          <p:nvPr>
            <p:ph idx="1" type="subTitle"/>
          </p:nvPr>
        </p:nvSpPr>
        <p:spPr>
          <a:xfrm>
            <a:off x="304800" y="2318600"/>
            <a:ext cx="5870400" cy="336000"/>
          </a:xfrm>
          <a:prstGeom prst="rect">
            <a:avLst/>
          </a:prstGeom>
          <a:effectLst>
            <a:outerShdw blurRad="76200" rotWithShape="0" algn="bl" dir="5400000" dist="25400">
              <a:srgbClr val="000000">
                <a:alpha val="50000"/>
              </a:srgbClr>
            </a:outerShdw>
          </a:effectLst>
        </p:spPr>
        <p:txBody>
          <a:bodyPr anchorCtr="0" anchor="t" bIns="0" lIns="0" spcFirstLastPara="1" rIns="0" wrap="square" tIns="0">
            <a:normAutofit lnSpcReduction="10000"/>
          </a:bodyPr>
          <a:lstStyle/>
          <a:p>
            <a:pPr indent="0" lvl="0" marL="0" rtl="0" algn="l">
              <a:lnSpc>
                <a:spcPct val="85000"/>
              </a:lnSpc>
              <a:spcBef>
                <a:spcPts val="1000"/>
              </a:spcBef>
              <a:spcAft>
                <a:spcPts val="0"/>
              </a:spcAft>
              <a:buNone/>
            </a:pPr>
            <a:r>
              <a:rPr lang="en-CA">
                <a:solidFill>
                  <a:schemeClr val="lt1"/>
                </a:solidFill>
                <a:latin typeface="Urbanist Medium"/>
                <a:ea typeface="Urbanist Medium"/>
                <a:cs typeface="Urbanist Medium"/>
                <a:sym typeface="Urbanist Medium"/>
              </a:rPr>
              <a:t>Super AI Engineer Season 6</a:t>
            </a:r>
            <a:endParaRPr>
              <a:solidFill>
                <a:schemeClr val="lt1"/>
              </a:solidFill>
              <a:latin typeface="Urbanist Medium"/>
              <a:ea typeface="Urbanist Medium"/>
              <a:cs typeface="Urbanist Medium"/>
              <a:sym typeface="Urbanist Medium"/>
            </a:endParaRPr>
          </a:p>
        </p:txBody>
      </p:sp>
      <p:sp>
        <p:nvSpPr>
          <p:cNvPr id="112" name="Google Shape;112;g3d81ec21adf_0_0"/>
          <p:cNvSpPr txBox="1"/>
          <p:nvPr>
            <p:ph idx="2" type="subTitle"/>
          </p:nvPr>
        </p:nvSpPr>
        <p:spPr>
          <a:xfrm>
            <a:off x="427500" y="6234633"/>
            <a:ext cx="3600000" cy="315300"/>
          </a:xfrm>
          <a:prstGeom prst="rect">
            <a:avLst/>
          </a:prstGeom>
        </p:spPr>
        <p:txBody>
          <a:bodyPr anchorCtr="0" anchor="b" bIns="0" lIns="0" spcFirstLastPara="1" rIns="0" wrap="square" tIns="0">
            <a:normAutofit/>
          </a:bodyPr>
          <a:lstStyle/>
          <a:p>
            <a:pPr indent="0" lvl="0" marL="0" rtl="0" algn="l">
              <a:spcBef>
                <a:spcPts val="1000"/>
              </a:spcBef>
              <a:spcAft>
                <a:spcPts val="0"/>
              </a:spcAft>
              <a:buClr>
                <a:schemeClr val="dk1"/>
              </a:buClr>
              <a:buSzPts val="1500"/>
              <a:buFont typeface="Arial"/>
              <a:buNone/>
            </a:pPr>
            <a:r>
              <a:rPr lang="en-CA"/>
              <a:t>AIAT</a:t>
            </a:r>
            <a:endParaRPr/>
          </a:p>
        </p:txBody>
      </p:sp>
      <p:sp>
        <p:nvSpPr>
          <p:cNvPr id="113" name="Google Shape;113;g3d81ec21adf_0_0"/>
          <p:cNvSpPr txBox="1"/>
          <p:nvPr>
            <p:ph idx="3" type="subTitle"/>
          </p:nvPr>
        </p:nvSpPr>
        <p:spPr>
          <a:xfrm>
            <a:off x="6288987" y="6234633"/>
            <a:ext cx="3059700" cy="315300"/>
          </a:xfrm>
          <a:prstGeom prst="rect">
            <a:avLst/>
          </a:prstGeom>
        </p:spPr>
        <p:txBody>
          <a:bodyPr anchorCtr="0" anchor="b" bIns="0" lIns="0" spcFirstLastPara="1" rIns="0" wrap="square" tIns="0">
            <a:normAutofit/>
          </a:bodyPr>
          <a:lstStyle/>
          <a:p>
            <a:pPr indent="0" lvl="0" marL="0" rtl="0" algn="l">
              <a:spcBef>
                <a:spcPts val="1000"/>
              </a:spcBef>
              <a:spcAft>
                <a:spcPts val="0"/>
              </a:spcAft>
              <a:buClr>
                <a:schemeClr val="dk1"/>
              </a:buClr>
              <a:buSzPts val="1500"/>
              <a:buFont typeface="Arial"/>
              <a:buNone/>
            </a:pPr>
            <a:r>
              <a:rPr lang="en-CA"/>
              <a:t> </a:t>
            </a:r>
            <a:endParaRPr/>
          </a:p>
        </p:txBody>
      </p:sp>
      <p:sp>
        <p:nvSpPr>
          <p:cNvPr id="114" name="Google Shape;114;g3d81ec21adf_0_0"/>
          <p:cNvSpPr txBox="1"/>
          <p:nvPr>
            <p:ph idx="4" type="subTitle"/>
          </p:nvPr>
        </p:nvSpPr>
        <p:spPr>
          <a:xfrm>
            <a:off x="9145600" y="6244967"/>
            <a:ext cx="2742000" cy="304800"/>
          </a:xfrm>
          <a:prstGeom prst="rect">
            <a:avLst/>
          </a:prstGeom>
        </p:spPr>
        <p:txBody>
          <a:bodyPr anchorCtr="0" anchor="b" bIns="0" lIns="0" spcFirstLastPara="1" rIns="0" wrap="square" tIns="0">
            <a:normAutofit/>
          </a:bodyPr>
          <a:lstStyle/>
          <a:p>
            <a:pPr indent="0" lvl="0" marL="0" rtl="0" algn="r">
              <a:spcBef>
                <a:spcPts val="1000"/>
              </a:spcBef>
              <a:spcAft>
                <a:spcPts val="0"/>
              </a:spcAft>
              <a:buNone/>
            </a:pPr>
            <a:r>
              <a:rPr lang="en-CA"/>
              <a:t>2026</a:t>
            </a:r>
            <a:endParaRPr/>
          </a:p>
        </p:txBody>
      </p:sp>
      <p:sp>
        <p:nvSpPr>
          <p:cNvPr id="115" name="Google Shape;115;g3d81ec21adf_0_0"/>
          <p:cNvSpPr txBox="1"/>
          <p:nvPr>
            <p:ph idx="5" type="subTitle"/>
          </p:nvPr>
        </p:nvSpPr>
        <p:spPr>
          <a:xfrm>
            <a:off x="396100" y="5567867"/>
            <a:ext cx="1686300" cy="304800"/>
          </a:xfrm>
          <a:prstGeom prst="rect">
            <a:avLst/>
          </a:prstGeom>
        </p:spPr>
        <p:txBody>
          <a:bodyPr anchorCtr="0" anchor="t" bIns="0" lIns="0" spcFirstLastPara="1" rIns="0" wrap="square" tIns="0">
            <a:normAutofit/>
          </a:bodyPr>
          <a:lstStyle/>
          <a:p>
            <a:pPr indent="0" lvl="0" marL="0" rtl="0" algn="ctr">
              <a:spcBef>
                <a:spcPts val="1000"/>
              </a:spcBef>
              <a:spcAft>
                <a:spcPts val="0"/>
              </a:spcAft>
              <a:buNone/>
            </a:pPr>
            <a:r>
              <a:rPr lang="en-CA"/>
              <a:t>Aslan B. Wong</a:t>
            </a:r>
            <a:endParaRPr/>
          </a:p>
        </p:txBody>
      </p:sp>
      <p:sp>
        <p:nvSpPr>
          <p:cNvPr id="116" name="Google Shape;116;g3d81ec21adf_0_0"/>
          <p:cNvSpPr txBox="1"/>
          <p:nvPr>
            <p:ph idx="6" type="subTitle"/>
          </p:nvPr>
        </p:nvSpPr>
        <p:spPr>
          <a:xfrm>
            <a:off x="2381833" y="5567867"/>
            <a:ext cx="1686300" cy="304800"/>
          </a:xfrm>
          <a:prstGeom prst="rect">
            <a:avLst/>
          </a:prstGeom>
        </p:spPr>
        <p:txBody>
          <a:bodyPr anchorCtr="0" anchor="t" bIns="0" lIns="0" spcFirstLastPara="1" rIns="0" wrap="square" tIns="0">
            <a:normAutofit/>
          </a:bodyPr>
          <a:lstStyle/>
          <a:p>
            <a:pPr indent="0" lvl="0" marL="0" rtl="0" algn="ctr">
              <a:spcBef>
                <a:spcPts val="1000"/>
              </a:spcBef>
              <a:spcAft>
                <a:spcPts val="0"/>
              </a:spcAft>
              <a:buNone/>
            </a:pPr>
            <a:r>
              <a:rPr lang="en-CA"/>
              <a:t>Arttie🉑</a:t>
            </a:r>
            <a:endParaRPr/>
          </a:p>
        </p:txBody>
      </p:sp>
      <p:sp>
        <p:nvSpPr>
          <p:cNvPr id="117" name="Google Shape;117;g3d81ec21adf_0_0"/>
          <p:cNvSpPr txBox="1"/>
          <p:nvPr>
            <p:ph idx="7" type="subTitle"/>
          </p:nvPr>
        </p:nvSpPr>
        <p:spPr>
          <a:xfrm>
            <a:off x="304789" y="4605967"/>
            <a:ext cx="6212700" cy="336000"/>
          </a:xfrm>
          <a:prstGeom prst="rect">
            <a:avLst/>
          </a:prstGeom>
        </p:spPr>
        <p:txBody>
          <a:bodyPr anchorCtr="0" anchor="t" bIns="121900" lIns="0" spcFirstLastPara="1" rIns="121900" wrap="square" tIns="0">
            <a:noAutofit/>
          </a:bodyPr>
          <a:lstStyle/>
          <a:p>
            <a:pPr indent="0" lvl="0" marL="0" rtl="0" algn="l">
              <a:lnSpc>
                <a:spcPct val="70000"/>
              </a:lnSpc>
              <a:spcBef>
                <a:spcPts val="1000"/>
              </a:spcBef>
              <a:spcAft>
                <a:spcPts val="0"/>
              </a:spcAft>
              <a:buSzPts val="275"/>
              <a:buNone/>
            </a:pPr>
            <a:r>
              <a:rPr lang="en-CA" sz="1900"/>
              <a:t>Level 2 /  21 April 2026</a:t>
            </a:r>
            <a:endParaRPr sz="1900"/>
          </a:p>
          <a:p>
            <a:pPr indent="0" lvl="0" marL="0" rtl="0" algn="l">
              <a:lnSpc>
                <a:spcPct val="70000"/>
              </a:lnSpc>
              <a:spcBef>
                <a:spcPts val="1000"/>
              </a:spcBef>
              <a:spcAft>
                <a:spcPts val="0"/>
              </a:spcAft>
              <a:buSzPts val="275"/>
              <a:buNone/>
            </a:pPr>
            <a:r>
              <a:t/>
            </a:r>
            <a:endParaRPr sz="1900"/>
          </a:p>
        </p:txBody>
      </p:sp>
      <p:sp>
        <p:nvSpPr>
          <p:cNvPr id="118" name="Google Shape;118;g3d81ec21adf_0_0"/>
          <p:cNvSpPr txBox="1"/>
          <p:nvPr>
            <p:ph idx="8" type="subTitle"/>
          </p:nvPr>
        </p:nvSpPr>
        <p:spPr>
          <a:xfrm>
            <a:off x="304789" y="4990733"/>
            <a:ext cx="6212700" cy="336000"/>
          </a:xfrm>
          <a:prstGeom prst="rect">
            <a:avLst/>
          </a:prstGeom>
        </p:spPr>
        <p:txBody>
          <a:bodyPr anchorCtr="0" anchor="t" bIns="121900" lIns="0" spcFirstLastPara="1" rIns="121900" wrap="square" tIns="0">
            <a:normAutofit lnSpcReduction="10000"/>
          </a:bodyPr>
          <a:lstStyle/>
          <a:p>
            <a:pPr indent="0" lvl="0" marL="0" rtl="0" algn="l">
              <a:spcBef>
                <a:spcPts val="1000"/>
              </a:spcBef>
              <a:spcAft>
                <a:spcPts val="0"/>
              </a:spcAft>
              <a:buNone/>
            </a:pPr>
            <a:r>
              <a:rPr lang="en-CA"/>
              <a:t>Presented by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2"/>
          <p:cNvPicPr preferRelativeResize="0"/>
          <p:nvPr/>
        </p:nvPicPr>
        <p:blipFill rotWithShape="1">
          <a:blip r:embed="rId3">
            <a:alphaModFix/>
          </a:blip>
          <a:srcRect b="0" l="0" r="0" t="0"/>
          <a:stretch/>
        </p:blipFill>
        <p:spPr>
          <a:xfrm>
            <a:off x="0" y="0"/>
            <a:ext cx="12257636" cy="6858000"/>
          </a:xfrm>
          <a:prstGeom prst="rect">
            <a:avLst/>
          </a:prstGeom>
          <a:noFill/>
          <a:ln>
            <a:noFill/>
          </a:ln>
        </p:spPr>
      </p:pic>
      <p:sp>
        <p:nvSpPr>
          <p:cNvPr id="124" name="Google Shape;124;p2"/>
          <p:cNvSpPr txBox="1"/>
          <p:nvPr/>
        </p:nvSpPr>
        <p:spPr>
          <a:xfrm>
            <a:off x="390943" y="2209800"/>
            <a:ext cx="5740923" cy="102752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4400"/>
              <a:buFont typeface="Arial"/>
              <a:buNone/>
            </a:pPr>
            <a:r>
              <a:rPr b="1" i="0" lang="en-CA" sz="4400" u="none" cap="none" strike="noStrike">
                <a:solidFill>
                  <a:schemeClr val="lt1"/>
                </a:solidFill>
                <a:latin typeface="Montserrat"/>
                <a:ea typeface="Montserrat"/>
                <a:cs typeface="Montserrat"/>
                <a:sym typeface="Montserrat"/>
              </a:rPr>
              <a:t>APPENDIX</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3"/>
          <p:cNvPicPr preferRelativeResize="0"/>
          <p:nvPr/>
        </p:nvPicPr>
        <p:blipFill rotWithShape="1">
          <a:blip r:embed="rId3">
            <a:alphaModFix/>
          </a:blip>
          <a:srcRect b="0" l="0" r="0" t="0"/>
          <a:stretch/>
        </p:blipFill>
        <p:spPr>
          <a:xfrm>
            <a:off x="0" y="0"/>
            <a:ext cx="12257636" cy="6858000"/>
          </a:xfrm>
          <a:prstGeom prst="rect">
            <a:avLst/>
          </a:prstGeom>
          <a:noFill/>
          <a:ln>
            <a:noFill/>
          </a:ln>
        </p:spPr>
      </p:pic>
      <p:sp>
        <p:nvSpPr>
          <p:cNvPr id="130" name="Google Shape;130;p3"/>
          <p:cNvSpPr txBox="1"/>
          <p:nvPr/>
        </p:nvSpPr>
        <p:spPr>
          <a:xfrm>
            <a:off x="228600" y="1828800"/>
            <a:ext cx="5740923" cy="102752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4400"/>
              <a:buFont typeface="Arial"/>
              <a:buNone/>
            </a:pPr>
            <a:r>
              <a:rPr b="1" i="0" lang="en-CA" sz="4400" u="none" cap="none" strike="noStrike">
                <a:solidFill>
                  <a:schemeClr val="lt1"/>
                </a:solidFill>
                <a:latin typeface="Montserrat"/>
                <a:ea typeface="Montserrat"/>
                <a:cs typeface="Montserrat"/>
                <a:sym typeface="Montserrat"/>
              </a:rPr>
              <a:t>SIMPLE Vs. MULTIPLE LINEAR REGRESSION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4"/>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136" name="Google Shape;136;p4"/>
          <p:cNvSpPr/>
          <p:nvPr/>
        </p:nvSpPr>
        <p:spPr>
          <a:xfrm>
            <a:off x="421867" y="250838"/>
            <a:ext cx="9803586" cy="5232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b="0" i="0" lang="en-CA" sz="3600" u="none" cap="none" strike="noStrike">
                <a:solidFill>
                  <a:schemeClr val="lt1"/>
                </a:solidFill>
                <a:latin typeface="Montserrat"/>
                <a:ea typeface="Montserrat"/>
                <a:cs typeface="Montserrat"/>
                <a:sym typeface="Montserrat"/>
              </a:rPr>
              <a:t>SIMPLE LINEAR REGRESSION</a:t>
            </a:r>
            <a:endParaRPr/>
          </a:p>
        </p:txBody>
      </p:sp>
      <p:sp>
        <p:nvSpPr>
          <p:cNvPr id="137" name="Google Shape;137;p4"/>
          <p:cNvSpPr txBox="1"/>
          <p:nvPr/>
        </p:nvSpPr>
        <p:spPr>
          <a:xfrm>
            <a:off x="350676" y="1288722"/>
            <a:ext cx="11384124" cy="4525963"/>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2000"/>
              <a:buFont typeface="Arial"/>
              <a:buChar char="•"/>
            </a:pPr>
            <a:r>
              <a:rPr b="0" i="0" lang="en-CA" sz="2000" u="none" cap="none" strike="noStrike">
                <a:solidFill>
                  <a:schemeClr val="dk1"/>
                </a:solidFill>
                <a:latin typeface="Montserrat"/>
                <a:ea typeface="Montserrat"/>
                <a:cs typeface="Montserrat"/>
                <a:sym typeface="Montserrat"/>
              </a:rPr>
              <a:t>Goal is to obtain a relationship (model) between two variables only such as age and insurance cost for example.</a:t>
            </a:r>
            <a:endParaRPr/>
          </a:p>
        </p:txBody>
      </p:sp>
      <p:sp>
        <p:nvSpPr>
          <p:cNvPr id="138" name="Google Shape;13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
        <p:nvSpPr>
          <p:cNvPr id="139" name="Google Shape;139;p4"/>
          <p:cNvSpPr txBox="1"/>
          <p:nvPr/>
        </p:nvSpPr>
        <p:spPr>
          <a:xfrm>
            <a:off x="1409700" y="1573394"/>
            <a:ext cx="8534400" cy="3025168"/>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140" name="Google Shape;140;p4"/>
          <p:cNvSpPr txBox="1"/>
          <p:nvPr/>
        </p:nvSpPr>
        <p:spPr>
          <a:xfrm>
            <a:off x="6448703" y="2886154"/>
            <a:ext cx="2861168" cy="553998"/>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CA" sz="1800" u="none" cap="none" strike="noStrike">
                <a:latin typeface="Calibri"/>
                <a:ea typeface="Calibri"/>
                <a:cs typeface="Calibri"/>
                <a:sym typeface="Calibri"/>
              </a:rPr>
              <a:t> </a:t>
            </a:r>
            <a:endParaRPr/>
          </a:p>
        </p:txBody>
      </p:sp>
      <p:cxnSp>
        <p:nvCxnSpPr>
          <p:cNvPr id="141" name="Google Shape;141;p4"/>
          <p:cNvCxnSpPr/>
          <p:nvPr/>
        </p:nvCxnSpPr>
        <p:spPr>
          <a:xfrm flipH="1" rot="10800000">
            <a:off x="1618684" y="5479239"/>
            <a:ext cx="3907020" cy="25073"/>
          </a:xfrm>
          <a:prstGeom prst="straightConnector1">
            <a:avLst/>
          </a:prstGeom>
          <a:noFill/>
          <a:ln cap="flat" cmpd="sng" w="57150">
            <a:solidFill>
              <a:srgbClr val="124359"/>
            </a:solidFill>
            <a:prstDash val="solid"/>
            <a:miter lim="800000"/>
            <a:headEnd len="sm" w="sm" type="none"/>
            <a:tailEnd len="med" w="med" type="triangle"/>
          </a:ln>
        </p:spPr>
      </p:cxnSp>
      <p:cxnSp>
        <p:nvCxnSpPr>
          <p:cNvPr id="142" name="Google Shape;142;p4"/>
          <p:cNvCxnSpPr/>
          <p:nvPr/>
        </p:nvCxnSpPr>
        <p:spPr>
          <a:xfrm rot="10800000">
            <a:off x="1595250" y="2565400"/>
            <a:ext cx="54092" cy="2961940"/>
          </a:xfrm>
          <a:prstGeom prst="straightConnector1">
            <a:avLst/>
          </a:prstGeom>
          <a:noFill/>
          <a:ln cap="flat" cmpd="sng" w="57150">
            <a:solidFill>
              <a:srgbClr val="124359"/>
            </a:solidFill>
            <a:prstDash val="solid"/>
            <a:miter lim="800000"/>
            <a:headEnd len="sm" w="sm" type="none"/>
            <a:tailEnd len="med" w="med" type="triangle"/>
          </a:ln>
        </p:spPr>
      </p:cxnSp>
      <p:sp>
        <p:nvSpPr>
          <p:cNvPr id="143" name="Google Shape;143;p4"/>
          <p:cNvSpPr/>
          <p:nvPr/>
        </p:nvSpPr>
        <p:spPr>
          <a:xfrm>
            <a:off x="2323088" y="4290297"/>
            <a:ext cx="284199" cy="300118"/>
          </a:xfrm>
          <a:prstGeom prst="ellipse">
            <a:avLst/>
          </a:prstGeom>
          <a:solidFill>
            <a:srgbClr val="7F7F7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4" name="Google Shape;144;p4"/>
          <p:cNvSpPr/>
          <p:nvPr/>
        </p:nvSpPr>
        <p:spPr>
          <a:xfrm>
            <a:off x="2804780" y="3987298"/>
            <a:ext cx="284199" cy="300118"/>
          </a:xfrm>
          <a:prstGeom prst="ellipse">
            <a:avLst/>
          </a:prstGeom>
          <a:solidFill>
            <a:srgbClr val="7F7F7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 name="Google Shape;145;p4"/>
          <p:cNvSpPr/>
          <p:nvPr/>
        </p:nvSpPr>
        <p:spPr>
          <a:xfrm>
            <a:off x="3065713" y="4367679"/>
            <a:ext cx="284199" cy="300118"/>
          </a:xfrm>
          <a:prstGeom prst="ellipse">
            <a:avLst/>
          </a:prstGeom>
          <a:solidFill>
            <a:srgbClr val="7F7F7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 name="Google Shape;146;p4"/>
          <p:cNvSpPr/>
          <p:nvPr/>
        </p:nvSpPr>
        <p:spPr>
          <a:xfrm>
            <a:off x="5953863" y="2848229"/>
            <a:ext cx="284199" cy="300118"/>
          </a:xfrm>
          <a:prstGeom prst="ellipse">
            <a:avLst/>
          </a:prstGeom>
          <a:solidFill>
            <a:srgbClr val="7F7F7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 name="Google Shape;147;p4"/>
          <p:cNvSpPr/>
          <p:nvPr/>
        </p:nvSpPr>
        <p:spPr>
          <a:xfrm>
            <a:off x="3495756" y="3441840"/>
            <a:ext cx="284199" cy="300118"/>
          </a:xfrm>
          <a:prstGeom prst="ellipse">
            <a:avLst/>
          </a:prstGeom>
          <a:solidFill>
            <a:srgbClr val="7F7F7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 name="Google Shape;148;p4"/>
          <p:cNvSpPr/>
          <p:nvPr/>
        </p:nvSpPr>
        <p:spPr>
          <a:xfrm>
            <a:off x="3495757" y="2955066"/>
            <a:ext cx="284199" cy="300118"/>
          </a:xfrm>
          <a:prstGeom prst="ellipse">
            <a:avLst/>
          </a:prstGeom>
          <a:solidFill>
            <a:srgbClr val="7F7F7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 name="Google Shape;149;p4"/>
          <p:cNvSpPr/>
          <p:nvPr/>
        </p:nvSpPr>
        <p:spPr>
          <a:xfrm>
            <a:off x="4235337" y="3113301"/>
            <a:ext cx="284199" cy="300118"/>
          </a:xfrm>
          <a:prstGeom prst="ellipse">
            <a:avLst/>
          </a:prstGeom>
          <a:solidFill>
            <a:srgbClr val="7F7F7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 name="Google Shape;150;p4"/>
          <p:cNvSpPr/>
          <p:nvPr/>
        </p:nvSpPr>
        <p:spPr>
          <a:xfrm>
            <a:off x="4377436" y="3619506"/>
            <a:ext cx="284199" cy="300118"/>
          </a:xfrm>
          <a:prstGeom prst="ellipse">
            <a:avLst/>
          </a:prstGeom>
          <a:solidFill>
            <a:srgbClr val="7F7F7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 name="Google Shape;151;p4"/>
          <p:cNvSpPr/>
          <p:nvPr/>
        </p:nvSpPr>
        <p:spPr>
          <a:xfrm>
            <a:off x="4974914" y="2529387"/>
            <a:ext cx="284199" cy="300118"/>
          </a:xfrm>
          <a:prstGeom prst="ellipse">
            <a:avLst/>
          </a:prstGeom>
          <a:solidFill>
            <a:srgbClr val="7F7F7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 name="Google Shape;152;p4"/>
          <p:cNvSpPr/>
          <p:nvPr/>
        </p:nvSpPr>
        <p:spPr>
          <a:xfrm>
            <a:off x="3933240" y="4020347"/>
            <a:ext cx="284199" cy="300118"/>
          </a:xfrm>
          <a:prstGeom prst="ellipse">
            <a:avLst/>
          </a:prstGeom>
          <a:solidFill>
            <a:srgbClr val="7F7F7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 name="Google Shape;153;p4"/>
          <p:cNvSpPr/>
          <p:nvPr/>
        </p:nvSpPr>
        <p:spPr>
          <a:xfrm>
            <a:off x="5525704" y="2347057"/>
            <a:ext cx="284199" cy="300118"/>
          </a:xfrm>
          <a:prstGeom prst="ellipse">
            <a:avLst/>
          </a:prstGeom>
          <a:solidFill>
            <a:srgbClr val="7F7F7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 name="Google Shape;154;p4"/>
          <p:cNvSpPr/>
          <p:nvPr/>
        </p:nvSpPr>
        <p:spPr>
          <a:xfrm>
            <a:off x="4974915" y="3119784"/>
            <a:ext cx="284199" cy="300118"/>
          </a:xfrm>
          <a:prstGeom prst="ellipse">
            <a:avLst/>
          </a:prstGeom>
          <a:solidFill>
            <a:srgbClr val="7F7F7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 name="Google Shape;155;p4"/>
          <p:cNvSpPr txBox="1"/>
          <p:nvPr/>
        </p:nvSpPr>
        <p:spPr>
          <a:xfrm>
            <a:off x="2015412" y="5526410"/>
            <a:ext cx="408058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2400">
                <a:solidFill>
                  <a:schemeClr val="dk1"/>
                </a:solidFill>
                <a:latin typeface="Calibri"/>
                <a:ea typeface="Calibri"/>
                <a:cs typeface="Calibri"/>
                <a:sym typeface="Calibri"/>
              </a:rPr>
              <a:t>ENGINE SIZE</a:t>
            </a:r>
            <a:endParaRPr/>
          </a:p>
        </p:txBody>
      </p:sp>
      <p:sp>
        <p:nvSpPr>
          <p:cNvPr id="156" name="Google Shape;156;p4"/>
          <p:cNvSpPr txBox="1"/>
          <p:nvPr/>
        </p:nvSpPr>
        <p:spPr>
          <a:xfrm rot="-5400000">
            <a:off x="129056" y="3604285"/>
            <a:ext cx="234070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2400">
                <a:solidFill>
                  <a:schemeClr val="dk1"/>
                </a:solidFill>
                <a:latin typeface="Calibri"/>
                <a:ea typeface="Calibri"/>
                <a:cs typeface="Calibri"/>
                <a:sym typeface="Calibri"/>
              </a:rPr>
              <a:t>CAR PRICE ($)</a:t>
            </a:r>
            <a:endParaRPr/>
          </a:p>
        </p:txBody>
      </p:sp>
      <p:cxnSp>
        <p:nvCxnSpPr>
          <p:cNvPr id="157" name="Google Shape;157;p4"/>
          <p:cNvCxnSpPr/>
          <p:nvPr/>
        </p:nvCxnSpPr>
        <p:spPr>
          <a:xfrm flipH="1">
            <a:off x="1670137" y="2497116"/>
            <a:ext cx="4481472" cy="2466465"/>
          </a:xfrm>
          <a:prstGeom prst="straightConnector1">
            <a:avLst/>
          </a:prstGeom>
          <a:noFill/>
          <a:ln cap="flat" cmpd="sng" w="57150">
            <a:solidFill>
              <a:srgbClr val="A5D9E7"/>
            </a:solidFill>
            <a:prstDash val="solid"/>
            <a:miter lim="800000"/>
            <a:headEnd len="sm" w="sm" type="none"/>
            <a:tailEnd len="sm" w="sm" type="none"/>
          </a:ln>
        </p:spPr>
      </p:cxnSp>
      <p:cxnSp>
        <p:nvCxnSpPr>
          <p:cNvPr id="158" name="Google Shape;158;p4"/>
          <p:cNvCxnSpPr/>
          <p:nvPr/>
        </p:nvCxnSpPr>
        <p:spPr>
          <a:xfrm rot="-5400000">
            <a:off x="5634086" y="3696731"/>
            <a:ext cx="1216800" cy="868500"/>
          </a:xfrm>
          <a:prstGeom prst="curvedConnector3">
            <a:avLst>
              <a:gd fmla="val 50000" name="adj1"/>
            </a:avLst>
          </a:prstGeom>
          <a:noFill/>
          <a:ln cap="flat" cmpd="sng" w="38100">
            <a:solidFill>
              <a:srgbClr val="7F7F7F"/>
            </a:solidFill>
            <a:prstDash val="solid"/>
            <a:miter lim="800000"/>
            <a:headEnd len="sm" w="sm" type="none"/>
            <a:tailEnd len="med" w="med" type="triangle"/>
          </a:ln>
        </p:spPr>
      </p:cxnSp>
      <p:sp>
        <p:nvSpPr>
          <p:cNvPr id="159" name="Google Shape;159;p4"/>
          <p:cNvSpPr txBox="1"/>
          <p:nvPr/>
        </p:nvSpPr>
        <p:spPr>
          <a:xfrm>
            <a:off x="4665391" y="4706980"/>
            <a:ext cx="2558713"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CA" sz="1600">
                <a:solidFill>
                  <a:schemeClr val="dk1"/>
                </a:solidFill>
                <a:latin typeface="Calibri"/>
                <a:ea typeface="Calibri"/>
                <a:cs typeface="Calibri"/>
                <a:sym typeface="Calibri"/>
              </a:rPr>
              <a:t>DEPENDANT VARIABLE</a:t>
            </a:r>
            <a:endParaRPr/>
          </a:p>
          <a:p>
            <a:pPr indent="0" lvl="0" marL="0" marR="0" rtl="0" algn="ctr">
              <a:spcBef>
                <a:spcPts val="0"/>
              </a:spcBef>
              <a:spcAft>
                <a:spcPts val="0"/>
              </a:spcAft>
              <a:buNone/>
            </a:pPr>
            <a:r>
              <a:rPr b="1" lang="en-CA" sz="1600">
                <a:solidFill>
                  <a:schemeClr val="dk1"/>
                </a:solidFill>
                <a:latin typeface="Calibri"/>
                <a:ea typeface="Calibri"/>
                <a:cs typeface="Calibri"/>
                <a:sym typeface="Calibri"/>
              </a:rPr>
              <a:t>CAR PRICE ($)</a:t>
            </a:r>
            <a:endParaRPr/>
          </a:p>
        </p:txBody>
      </p:sp>
      <p:cxnSp>
        <p:nvCxnSpPr>
          <p:cNvPr id="160" name="Google Shape;160;p4"/>
          <p:cNvCxnSpPr/>
          <p:nvPr/>
        </p:nvCxnSpPr>
        <p:spPr>
          <a:xfrm rot="-5400000">
            <a:off x="8024419" y="3586149"/>
            <a:ext cx="1216800" cy="868500"/>
          </a:xfrm>
          <a:prstGeom prst="curvedConnector3">
            <a:avLst>
              <a:gd fmla="val 50000" name="adj1"/>
            </a:avLst>
          </a:prstGeom>
          <a:noFill/>
          <a:ln cap="flat" cmpd="sng" w="38100">
            <a:solidFill>
              <a:srgbClr val="7F7F7F"/>
            </a:solidFill>
            <a:prstDash val="solid"/>
            <a:miter lim="800000"/>
            <a:headEnd len="sm" w="sm" type="none"/>
            <a:tailEnd len="med" w="med" type="triangle"/>
          </a:ln>
        </p:spPr>
      </p:cxnSp>
      <p:sp>
        <p:nvSpPr>
          <p:cNvPr id="161" name="Google Shape;161;p4"/>
          <p:cNvSpPr txBox="1"/>
          <p:nvPr/>
        </p:nvSpPr>
        <p:spPr>
          <a:xfrm>
            <a:off x="7732878" y="4702322"/>
            <a:ext cx="2810385"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CA" sz="1600">
                <a:solidFill>
                  <a:schemeClr val="dk1"/>
                </a:solidFill>
                <a:latin typeface="Calibri"/>
                <a:ea typeface="Calibri"/>
                <a:cs typeface="Calibri"/>
                <a:sym typeface="Calibri"/>
              </a:rPr>
              <a:t>INDEPENDENT VARIABLE </a:t>
            </a:r>
            <a:endParaRPr/>
          </a:p>
          <a:p>
            <a:pPr indent="0" lvl="0" marL="0" marR="0" rtl="0" algn="ctr">
              <a:spcBef>
                <a:spcPts val="0"/>
              </a:spcBef>
              <a:spcAft>
                <a:spcPts val="0"/>
              </a:spcAft>
              <a:buNone/>
            </a:pPr>
            <a:r>
              <a:rPr b="1" lang="en-CA" sz="1600">
                <a:solidFill>
                  <a:schemeClr val="dk1"/>
                </a:solidFill>
                <a:latin typeface="Calibri"/>
                <a:ea typeface="Calibri"/>
                <a:cs typeface="Calibri"/>
                <a:sym typeface="Calibri"/>
              </a:rPr>
              <a:t>ENGINE SIZE</a:t>
            </a:r>
            <a:endParaRPr/>
          </a:p>
        </p:txBody>
      </p:sp>
      <p:sp>
        <p:nvSpPr>
          <p:cNvPr id="162" name="Google Shape;162;p4"/>
          <p:cNvSpPr/>
          <p:nvPr/>
        </p:nvSpPr>
        <p:spPr>
          <a:xfrm>
            <a:off x="7277100" y="2886153"/>
            <a:ext cx="465941" cy="665551"/>
          </a:xfrm>
          <a:prstGeom prst="roundRect">
            <a:avLst>
              <a:gd fmla="val 16667" name="adj"/>
            </a:avLst>
          </a:prstGeom>
          <a:noFill/>
          <a:ln cap="flat" cmpd="sng" w="5715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3" name="Google Shape;163;p4"/>
          <p:cNvSpPr/>
          <p:nvPr/>
        </p:nvSpPr>
        <p:spPr>
          <a:xfrm>
            <a:off x="8101280" y="2886153"/>
            <a:ext cx="507757" cy="665551"/>
          </a:xfrm>
          <a:prstGeom prst="roundRect">
            <a:avLst>
              <a:gd fmla="val 16667" name="adj"/>
            </a:avLst>
          </a:prstGeom>
          <a:noFill/>
          <a:ln cap="flat" cmpd="sng" w="5715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64" name="Google Shape;164;p4"/>
          <p:cNvCxnSpPr/>
          <p:nvPr/>
        </p:nvCxnSpPr>
        <p:spPr>
          <a:xfrm flipH="1" rot="10800000">
            <a:off x="8572500" y="2096800"/>
            <a:ext cx="1275000" cy="773400"/>
          </a:xfrm>
          <a:prstGeom prst="curvedConnector3">
            <a:avLst>
              <a:gd fmla="val 50000" name="adj1"/>
            </a:avLst>
          </a:prstGeom>
          <a:noFill/>
          <a:ln cap="flat" cmpd="sng" w="38100">
            <a:solidFill>
              <a:srgbClr val="7F7F7F"/>
            </a:solidFill>
            <a:prstDash val="solid"/>
            <a:miter lim="800000"/>
            <a:headEnd len="sm" w="sm" type="none"/>
            <a:tailEnd len="med" w="med" type="triangle"/>
          </a:ln>
        </p:spPr>
      </p:cxnSp>
      <p:cxnSp>
        <p:nvCxnSpPr>
          <p:cNvPr id="165" name="Google Shape;165;p4"/>
          <p:cNvCxnSpPr/>
          <p:nvPr/>
        </p:nvCxnSpPr>
        <p:spPr>
          <a:xfrm flipH="1" rot="10800000">
            <a:off x="7581900" y="2029851"/>
            <a:ext cx="2029800" cy="820800"/>
          </a:xfrm>
          <a:prstGeom prst="curvedConnector3">
            <a:avLst>
              <a:gd fmla="val 50000" name="adj1"/>
            </a:avLst>
          </a:prstGeom>
          <a:noFill/>
          <a:ln cap="flat" cmpd="sng" w="38100">
            <a:solidFill>
              <a:srgbClr val="7F7F7F"/>
            </a:solidFill>
            <a:prstDash val="solid"/>
            <a:miter lim="800000"/>
            <a:headEnd len="sm" w="sm" type="none"/>
            <a:tailEnd len="med" w="med" type="triangle"/>
          </a:ln>
        </p:spPr>
      </p:cxnSp>
      <p:sp>
        <p:nvSpPr>
          <p:cNvPr id="166" name="Google Shape;166;p4"/>
          <p:cNvSpPr txBox="1"/>
          <p:nvPr/>
        </p:nvSpPr>
        <p:spPr>
          <a:xfrm>
            <a:off x="9847371" y="1867393"/>
            <a:ext cx="178286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1600">
                <a:solidFill>
                  <a:schemeClr val="dk1"/>
                </a:solidFill>
                <a:latin typeface="Calibri"/>
                <a:ea typeface="Calibri"/>
                <a:cs typeface="Calibri"/>
                <a:sym typeface="Calibri"/>
              </a:rPr>
              <a:t>MODEL! (GOAL)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
                                        </p:tgtEl>
                                        <p:attrNameLst>
                                          <p:attrName>style.visibility</p:attrName>
                                        </p:attrNameLst>
                                      </p:cBhvr>
                                      <p:to>
                                        <p:strVal val="visible"/>
                                      </p:to>
                                    </p:set>
                                    <p:anim calcmode="lin" valueType="num">
                                      <p:cBhvr additive="base">
                                        <p:cTn dur="500"/>
                                        <p:tgtEl>
                                          <p:spTgt spid="157"/>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500"/>
                                        <p:tgtEl>
                                          <p:spTgt spid="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2"/>
                                        </p:tgtEl>
                                        <p:attrNameLst>
                                          <p:attrName>style.visibility</p:attrName>
                                        </p:attrNameLst>
                                      </p:cBhvr>
                                      <p:to>
                                        <p:strVal val="visible"/>
                                      </p:to>
                                    </p:set>
                                    <p:anim calcmode="lin" valueType="num">
                                      <p:cBhvr additive="base">
                                        <p:cTn dur="500"/>
                                        <p:tgtEl>
                                          <p:spTgt spid="16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63"/>
                                        </p:tgtEl>
                                        <p:attrNameLst>
                                          <p:attrName>style.visibility</p:attrName>
                                        </p:attrNameLst>
                                      </p:cBhvr>
                                      <p:to>
                                        <p:strVal val="visible"/>
                                      </p:to>
                                    </p:set>
                                    <p:anim calcmode="lin" valueType="num">
                                      <p:cBhvr additive="base">
                                        <p:cTn dur="500"/>
                                        <p:tgtEl>
                                          <p:spTgt spid="16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65"/>
                                        </p:tgtEl>
                                        <p:attrNameLst>
                                          <p:attrName>style.visibility</p:attrName>
                                        </p:attrNameLst>
                                      </p:cBhvr>
                                      <p:to>
                                        <p:strVal val="visible"/>
                                      </p:to>
                                    </p:set>
                                    <p:anim calcmode="lin" valueType="num">
                                      <p:cBhvr additive="base">
                                        <p:cTn dur="500"/>
                                        <p:tgtEl>
                                          <p:spTgt spid="16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64"/>
                                        </p:tgtEl>
                                        <p:attrNameLst>
                                          <p:attrName>style.visibility</p:attrName>
                                        </p:attrNameLst>
                                      </p:cBhvr>
                                      <p:to>
                                        <p:strVal val="visible"/>
                                      </p:to>
                                    </p:set>
                                    <p:anim calcmode="lin" valueType="num">
                                      <p:cBhvr additive="base">
                                        <p:cTn dur="500"/>
                                        <p:tgtEl>
                                          <p:spTgt spid="16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66"/>
                                        </p:tgtEl>
                                        <p:attrNameLst>
                                          <p:attrName>style.visibility</p:attrName>
                                        </p:attrNameLst>
                                      </p:cBhvr>
                                      <p:to>
                                        <p:strVal val="visible"/>
                                      </p:to>
                                    </p:set>
                                    <p:anim calcmode="lin" valueType="num">
                                      <p:cBhvr additive="base">
                                        <p:cTn dur="500"/>
                                        <p:tgtEl>
                                          <p:spTgt spid="16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58"/>
                                        </p:tgtEl>
                                        <p:attrNameLst>
                                          <p:attrName>style.visibility</p:attrName>
                                        </p:attrNameLst>
                                      </p:cBhvr>
                                      <p:to>
                                        <p:strVal val="visible"/>
                                      </p:to>
                                    </p:set>
                                    <p:anim calcmode="lin" valueType="num">
                                      <p:cBhvr additive="base">
                                        <p:cTn dur="500"/>
                                        <p:tgtEl>
                                          <p:spTgt spid="15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59"/>
                                        </p:tgtEl>
                                        <p:attrNameLst>
                                          <p:attrName>style.visibility</p:attrName>
                                        </p:attrNameLst>
                                      </p:cBhvr>
                                      <p:to>
                                        <p:strVal val="visible"/>
                                      </p:to>
                                    </p:set>
                                    <p:anim calcmode="lin" valueType="num">
                                      <p:cBhvr additive="base">
                                        <p:cTn dur="500"/>
                                        <p:tgtEl>
                                          <p:spTgt spid="15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61"/>
                                        </p:tgtEl>
                                        <p:attrNameLst>
                                          <p:attrName>style.visibility</p:attrName>
                                        </p:attrNameLst>
                                      </p:cBhvr>
                                      <p:to>
                                        <p:strVal val="visible"/>
                                      </p:to>
                                    </p:set>
                                    <p:anim calcmode="lin" valueType="num">
                                      <p:cBhvr additive="base">
                                        <p:cTn dur="500"/>
                                        <p:tgtEl>
                                          <p:spTgt spid="16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60"/>
                                        </p:tgtEl>
                                        <p:attrNameLst>
                                          <p:attrName>style.visibility</p:attrName>
                                        </p:attrNameLst>
                                      </p:cBhvr>
                                      <p:to>
                                        <p:strVal val="visible"/>
                                      </p:to>
                                    </p:set>
                                    <p:anim calcmode="lin" valueType="num">
                                      <p:cBhvr additive="base">
                                        <p:cTn dur="500"/>
                                        <p:tgtEl>
                                          <p:spTgt spid="16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5"/>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172" name="Google Shape;172;p5"/>
          <p:cNvSpPr/>
          <p:nvPr/>
        </p:nvSpPr>
        <p:spPr>
          <a:xfrm>
            <a:off x="269875" y="239546"/>
            <a:ext cx="11061322" cy="108952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CA" sz="3600">
                <a:solidFill>
                  <a:schemeClr val="lt1"/>
                </a:solidFill>
                <a:latin typeface="Montserrat"/>
                <a:ea typeface="Montserrat"/>
                <a:cs typeface="Montserrat"/>
                <a:sym typeface="Montserrat"/>
              </a:rPr>
              <a:t>MULTIPLE LINEAR REGRESSION</a:t>
            </a:r>
            <a:endParaRPr/>
          </a:p>
        </p:txBody>
      </p:sp>
      <p:sp>
        <p:nvSpPr>
          <p:cNvPr id="173" name="Google Shape;173;p5"/>
          <p:cNvSpPr txBox="1"/>
          <p:nvPr/>
        </p:nvSpPr>
        <p:spPr>
          <a:xfrm>
            <a:off x="439700" y="1278900"/>
            <a:ext cx="11472900" cy="4525963"/>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Multiple Linear Regression: examines relationship between more than two variables.</a:t>
            </a:r>
            <a:endParaRPr/>
          </a:p>
          <a:p>
            <a:pPr indent="-342900" lvl="0" marL="342900" marR="0" rtl="0" algn="l">
              <a:lnSpc>
                <a:spcPct val="90000"/>
              </a:lnSpc>
              <a:spcBef>
                <a:spcPts val="100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Recall that Simple Linear regression is a statistical model that examines linear relationship between two variables only.</a:t>
            </a:r>
            <a:endParaRPr/>
          </a:p>
          <a:p>
            <a:pPr indent="-342900" lvl="0" marL="342900" marR="0" rtl="0" algn="l">
              <a:lnSpc>
                <a:spcPct val="90000"/>
              </a:lnSpc>
              <a:spcBef>
                <a:spcPts val="100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Each independent variable has its own corresponding coefficient.</a:t>
            </a:r>
            <a:endParaRPr/>
          </a:p>
          <a:p>
            <a:pPr indent="-228600" lvl="0" marL="342900" marR="0" rtl="0" algn="l">
              <a:lnSpc>
                <a:spcPct val="90000"/>
              </a:lnSpc>
              <a:spcBef>
                <a:spcPts val="1000"/>
              </a:spcBef>
              <a:spcAft>
                <a:spcPts val="0"/>
              </a:spcAft>
              <a:buClr>
                <a:schemeClr val="dk1"/>
              </a:buClr>
              <a:buSzPts val="1800"/>
              <a:buFont typeface="Arial"/>
              <a:buNone/>
            </a:pPr>
            <a:r>
              <a:t/>
            </a:r>
            <a:endParaRPr sz="1800">
              <a:solidFill>
                <a:schemeClr val="dk1"/>
              </a:solidFill>
              <a:latin typeface="Montserrat"/>
              <a:ea typeface="Montserrat"/>
              <a:cs typeface="Montserrat"/>
              <a:sym typeface="Montserrat"/>
            </a:endParaRPr>
          </a:p>
          <a:p>
            <a:pPr indent="0" lvl="0" marL="0" marR="0" rtl="0" algn="ctr">
              <a:lnSpc>
                <a:spcPct val="90000"/>
              </a:lnSpc>
              <a:spcBef>
                <a:spcPts val="100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
        <p:nvSpPr>
          <p:cNvPr id="174" name="Google Shape;174;p5"/>
          <p:cNvSpPr txBox="1"/>
          <p:nvPr/>
        </p:nvSpPr>
        <p:spPr>
          <a:xfrm>
            <a:off x="2937237" y="2908519"/>
            <a:ext cx="7246599" cy="553998"/>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CA" sz="1800">
                <a:latin typeface="Calibri"/>
                <a:ea typeface="Calibri"/>
                <a:cs typeface="Calibri"/>
                <a:sym typeface="Calibri"/>
              </a:rPr>
              <a:t> </a:t>
            </a:r>
            <a:endParaRPr/>
          </a:p>
        </p:txBody>
      </p:sp>
      <p:cxnSp>
        <p:nvCxnSpPr>
          <p:cNvPr id="175" name="Google Shape;175;p5"/>
          <p:cNvCxnSpPr/>
          <p:nvPr/>
        </p:nvCxnSpPr>
        <p:spPr>
          <a:xfrm flipH="1" rot="5400000">
            <a:off x="5822250" y="3434406"/>
            <a:ext cx="1264500" cy="1264200"/>
          </a:xfrm>
          <a:prstGeom prst="curvedConnector3">
            <a:avLst>
              <a:gd fmla="val 50000" name="adj1"/>
            </a:avLst>
          </a:prstGeom>
          <a:noFill/>
          <a:ln cap="flat" cmpd="sng" w="38100">
            <a:solidFill>
              <a:srgbClr val="FF0000"/>
            </a:solidFill>
            <a:prstDash val="solid"/>
            <a:miter lim="800000"/>
            <a:headEnd len="sm" w="sm" type="none"/>
            <a:tailEnd len="med" w="med" type="triangle"/>
          </a:ln>
        </p:spPr>
      </p:cxnSp>
      <p:sp>
        <p:nvSpPr>
          <p:cNvPr id="176" name="Google Shape;176;p5"/>
          <p:cNvSpPr txBox="1"/>
          <p:nvPr/>
        </p:nvSpPr>
        <p:spPr>
          <a:xfrm>
            <a:off x="6383590" y="4775924"/>
            <a:ext cx="4535943"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2400">
                <a:solidFill>
                  <a:schemeClr val="dk1"/>
                </a:solidFill>
                <a:latin typeface="Calibri"/>
                <a:ea typeface="Calibri"/>
                <a:cs typeface="Calibri"/>
                <a:sym typeface="Calibri"/>
              </a:rPr>
              <a:t>INDEPENDENT VARIABLES</a:t>
            </a:r>
            <a:endParaRPr/>
          </a:p>
          <a:p>
            <a:pPr indent="0" lvl="0" marL="0" marR="0" rtl="0" algn="l">
              <a:spcBef>
                <a:spcPts val="0"/>
              </a:spcBef>
              <a:spcAft>
                <a:spcPts val="0"/>
              </a:spcAft>
              <a:buNone/>
            </a:pPr>
            <a:r>
              <a:rPr b="1" lang="en-CA" sz="2400">
                <a:solidFill>
                  <a:schemeClr val="dk1"/>
                </a:solidFill>
                <a:latin typeface="Calibri"/>
                <a:ea typeface="Calibri"/>
                <a:cs typeface="Calibri"/>
                <a:sym typeface="Calibri"/>
              </a:rPr>
              <a:t>(ENGINE SIZE, MPG, MAKE, MODEL, YEAR..ETC)</a:t>
            </a:r>
            <a:endParaRPr/>
          </a:p>
        </p:txBody>
      </p:sp>
      <p:cxnSp>
        <p:nvCxnSpPr>
          <p:cNvPr id="177" name="Google Shape;177;p5"/>
          <p:cNvCxnSpPr/>
          <p:nvPr/>
        </p:nvCxnSpPr>
        <p:spPr>
          <a:xfrm rot="-5400000">
            <a:off x="6937800" y="3806256"/>
            <a:ext cx="1269900" cy="515100"/>
          </a:xfrm>
          <a:prstGeom prst="curvedConnector3">
            <a:avLst>
              <a:gd fmla="val 50000" name="adj1"/>
            </a:avLst>
          </a:prstGeom>
          <a:noFill/>
          <a:ln cap="flat" cmpd="sng" w="38100">
            <a:solidFill>
              <a:srgbClr val="FF0000"/>
            </a:solidFill>
            <a:prstDash val="solid"/>
            <a:miter lim="800000"/>
            <a:headEnd len="sm" w="sm" type="none"/>
            <a:tailEnd len="med" w="med" type="triangle"/>
          </a:ln>
        </p:spPr>
      </p:cxnSp>
      <p:cxnSp>
        <p:nvCxnSpPr>
          <p:cNvPr id="178" name="Google Shape;178;p5"/>
          <p:cNvCxnSpPr/>
          <p:nvPr/>
        </p:nvCxnSpPr>
        <p:spPr>
          <a:xfrm flipH="1" rot="10800000">
            <a:off x="7572805" y="3581256"/>
            <a:ext cx="2409300" cy="1117500"/>
          </a:xfrm>
          <a:prstGeom prst="curvedConnector3">
            <a:avLst>
              <a:gd fmla="val 50000" name="adj1"/>
            </a:avLst>
          </a:prstGeom>
          <a:noFill/>
          <a:ln cap="flat" cmpd="sng" w="38100">
            <a:solidFill>
              <a:srgbClr val="FF0000"/>
            </a:solidFill>
            <a:prstDash val="solid"/>
            <a:miter lim="800000"/>
            <a:headEnd len="sm" w="sm" type="none"/>
            <a:tailEnd len="med" w="med" type="triangle"/>
          </a:ln>
        </p:spPr>
      </p:cxnSp>
      <p:sp>
        <p:nvSpPr>
          <p:cNvPr id="179" name="Google Shape;179;p5"/>
          <p:cNvSpPr txBox="1"/>
          <p:nvPr/>
        </p:nvSpPr>
        <p:spPr>
          <a:xfrm>
            <a:off x="1110633" y="4699118"/>
            <a:ext cx="396615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CA" sz="2400">
                <a:solidFill>
                  <a:schemeClr val="dk1"/>
                </a:solidFill>
                <a:latin typeface="Calibri"/>
                <a:ea typeface="Calibri"/>
                <a:cs typeface="Calibri"/>
                <a:sym typeface="Calibri"/>
              </a:rPr>
              <a:t>DEPENDANT VARIABLES</a:t>
            </a:r>
            <a:endParaRPr/>
          </a:p>
          <a:p>
            <a:pPr indent="0" lvl="0" marL="0" marR="0" rtl="0" algn="ctr">
              <a:spcBef>
                <a:spcPts val="0"/>
              </a:spcBef>
              <a:spcAft>
                <a:spcPts val="0"/>
              </a:spcAft>
              <a:buNone/>
            </a:pPr>
            <a:r>
              <a:rPr b="1" lang="en-CA" sz="2400">
                <a:solidFill>
                  <a:schemeClr val="dk1"/>
                </a:solidFill>
                <a:latin typeface="Calibri"/>
                <a:ea typeface="Calibri"/>
                <a:cs typeface="Calibri"/>
                <a:sym typeface="Calibri"/>
              </a:rPr>
              <a:t>CAR PRICE ($)</a:t>
            </a:r>
            <a:endParaRPr/>
          </a:p>
        </p:txBody>
      </p:sp>
      <p:cxnSp>
        <p:nvCxnSpPr>
          <p:cNvPr id="180" name="Google Shape;180;p5"/>
          <p:cNvCxnSpPr/>
          <p:nvPr/>
        </p:nvCxnSpPr>
        <p:spPr>
          <a:xfrm rot="-5400000">
            <a:off x="2223044" y="3570293"/>
            <a:ext cx="1161300" cy="945600"/>
          </a:xfrm>
          <a:prstGeom prst="curvedConnector3">
            <a:avLst>
              <a:gd fmla="val 50000" name="adj1"/>
            </a:avLst>
          </a:prstGeom>
          <a:noFill/>
          <a:ln cap="flat" cmpd="sng" w="38100">
            <a:solidFill>
              <a:srgbClr val="FF0000"/>
            </a:solidFill>
            <a:prstDash val="solid"/>
            <a:miter lim="800000"/>
            <a:headEnd len="sm" w="sm"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id="185" name="Google Shape;185;p6"/>
          <p:cNvPicPr preferRelativeResize="0"/>
          <p:nvPr/>
        </p:nvPicPr>
        <p:blipFill rotWithShape="1">
          <a:blip r:embed="rId3">
            <a:alphaModFix/>
          </a:blip>
          <a:srcRect b="0" l="0" r="0" t="0"/>
          <a:stretch/>
        </p:blipFill>
        <p:spPr>
          <a:xfrm>
            <a:off x="0" y="0"/>
            <a:ext cx="12257636" cy="6858000"/>
          </a:xfrm>
          <a:prstGeom prst="rect">
            <a:avLst/>
          </a:prstGeom>
          <a:noFill/>
          <a:ln>
            <a:noFill/>
          </a:ln>
        </p:spPr>
      </p:pic>
      <p:sp>
        <p:nvSpPr>
          <p:cNvPr id="186" name="Google Shape;186;p6"/>
          <p:cNvSpPr txBox="1"/>
          <p:nvPr/>
        </p:nvSpPr>
        <p:spPr>
          <a:xfrm>
            <a:off x="349997" y="1981200"/>
            <a:ext cx="5740923" cy="102752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4400"/>
              <a:buFont typeface="Arial"/>
              <a:buNone/>
            </a:pPr>
            <a:r>
              <a:rPr b="1" lang="en-CA" sz="4400">
                <a:solidFill>
                  <a:schemeClr val="lt1"/>
                </a:solidFill>
                <a:latin typeface="Montserrat"/>
                <a:ea typeface="Montserrat"/>
                <a:cs typeface="Montserrat"/>
                <a:sym typeface="Montserrat"/>
              </a:rPr>
              <a:t>XG-BOOST ALGORITHM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7"/>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192" name="Google Shape;192;p7"/>
          <p:cNvSpPr/>
          <p:nvPr/>
        </p:nvSpPr>
        <p:spPr>
          <a:xfrm>
            <a:off x="317878" y="279727"/>
            <a:ext cx="7585714" cy="5232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CA" sz="3600">
                <a:solidFill>
                  <a:schemeClr val="lt1"/>
                </a:solidFill>
                <a:latin typeface="Montserrat"/>
                <a:ea typeface="Montserrat"/>
                <a:cs typeface="Montserrat"/>
                <a:sym typeface="Montserrat"/>
              </a:rPr>
              <a:t>XGBOOST: INTRODUCTION</a:t>
            </a:r>
            <a:endParaRPr/>
          </a:p>
        </p:txBody>
      </p:sp>
      <p:sp>
        <p:nvSpPr>
          <p:cNvPr id="193" name="Google Shape;193;p7"/>
          <p:cNvSpPr txBox="1"/>
          <p:nvPr/>
        </p:nvSpPr>
        <p:spPr>
          <a:xfrm>
            <a:off x="242656" y="1166018"/>
            <a:ext cx="8297900" cy="4525963"/>
          </a:xfrm>
          <a:prstGeom prst="rect">
            <a:avLst/>
          </a:prstGeom>
          <a:noFill/>
          <a:ln>
            <a:noFill/>
          </a:ln>
        </p:spPr>
        <p:txBody>
          <a:bodyPr anchorCtr="0" anchor="t" bIns="45700" lIns="91425" spcFirstLastPara="1" rIns="91425" wrap="square" tIns="45700">
            <a:normAutofit/>
          </a:bodyPr>
          <a:lstStyle/>
          <a:p>
            <a:pPr indent="-285750" lvl="0" marL="285750" marR="0" rtl="0" algn="l">
              <a:lnSpc>
                <a:spcPct val="90000"/>
              </a:lnSpc>
              <a:spcBef>
                <a:spcPts val="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XGBoost or Extreme gradient boosting is the algorithm of choice for many data scientists and could be used for regression and classification tasks. </a:t>
            </a:r>
            <a:endParaRPr/>
          </a:p>
          <a:p>
            <a:pPr indent="-285750" lvl="0" marL="285750" marR="0" rtl="0" algn="l">
              <a:lnSpc>
                <a:spcPct val="90000"/>
              </a:lnSpc>
              <a:spcBef>
                <a:spcPts val="100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XGBoost is a supervised learning algorithm and implements gradient boosted trees algorithm. </a:t>
            </a:r>
            <a:endParaRPr/>
          </a:p>
          <a:p>
            <a:pPr indent="-285750" lvl="0" marL="285750" marR="0" rtl="0" algn="l">
              <a:lnSpc>
                <a:spcPct val="90000"/>
              </a:lnSpc>
              <a:spcBef>
                <a:spcPts val="100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The algorithm work by combining an ensemble of predictions from several weak models.</a:t>
            </a:r>
            <a:endParaRPr/>
          </a:p>
          <a:p>
            <a:pPr indent="-285750" lvl="0" marL="285750" marR="0" rtl="0" algn="l">
              <a:lnSpc>
                <a:spcPct val="90000"/>
              </a:lnSpc>
              <a:spcBef>
                <a:spcPts val="100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It is robust to many data distributions and relationships and offers many hyperparameters to tune model performance.</a:t>
            </a:r>
            <a:endParaRPr/>
          </a:p>
          <a:p>
            <a:pPr indent="-285750" lvl="0" marL="285750" marR="0" rtl="0" algn="l">
              <a:lnSpc>
                <a:spcPct val="90000"/>
              </a:lnSpc>
              <a:spcBef>
                <a:spcPts val="100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Xgboost offers increased speed and enhanced memory utilization.</a:t>
            </a:r>
            <a:endParaRPr/>
          </a:p>
          <a:p>
            <a:pPr indent="-285750" lvl="0" marL="285750" marR="0" rtl="0" algn="l">
              <a:lnSpc>
                <a:spcPct val="90000"/>
              </a:lnSpc>
              <a:spcBef>
                <a:spcPts val="100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Xgboost is analogous to the idea of “discovering truth by building on previous discoveries”.</a:t>
            </a:r>
            <a:endParaRPr/>
          </a:p>
          <a:p>
            <a:pPr indent="-171450" lvl="0" marL="285750" marR="0" rtl="0" algn="l">
              <a:lnSpc>
                <a:spcPct val="90000"/>
              </a:lnSpc>
              <a:spcBef>
                <a:spcPts val="1000"/>
              </a:spcBef>
              <a:spcAft>
                <a:spcPts val="0"/>
              </a:spcAft>
              <a:buClr>
                <a:schemeClr val="dk1"/>
              </a:buClr>
              <a:buSzPts val="1800"/>
              <a:buFont typeface="Arial"/>
              <a:buNone/>
            </a:pPr>
            <a:r>
              <a:t/>
            </a:r>
            <a:endParaRPr sz="1800">
              <a:solidFill>
                <a:schemeClr val="dk1"/>
              </a:solidFill>
              <a:latin typeface="Montserrat"/>
              <a:ea typeface="Montserrat"/>
              <a:cs typeface="Montserrat"/>
              <a:sym typeface="Montserrat"/>
            </a:endParaRPr>
          </a:p>
          <a:p>
            <a:pPr indent="-228600" lvl="0" marL="342900" marR="0" rtl="0" algn="l">
              <a:lnSpc>
                <a:spcPct val="90000"/>
              </a:lnSpc>
              <a:spcBef>
                <a:spcPts val="1000"/>
              </a:spcBef>
              <a:spcAft>
                <a:spcPts val="0"/>
              </a:spcAft>
              <a:buClr>
                <a:schemeClr val="dk1"/>
              </a:buClr>
              <a:buSzPts val="1800"/>
              <a:buFont typeface="Arial"/>
              <a:buNone/>
            </a:pPr>
            <a:r>
              <a:t/>
            </a:r>
            <a:endParaRPr sz="1800">
              <a:solidFill>
                <a:schemeClr val="dk1"/>
              </a:solidFill>
              <a:latin typeface="Montserrat"/>
              <a:ea typeface="Montserrat"/>
              <a:cs typeface="Montserrat"/>
              <a:sym typeface="Montserrat"/>
            </a:endParaRPr>
          </a:p>
          <a:p>
            <a:pPr indent="-171450" lvl="0" marL="285750" marR="0" rtl="0" algn="l">
              <a:lnSpc>
                <a:spcPct val="90000"/>
              </a:lnSpc>
              <a:spcBef>
                <a:spcPts val="1000"/>
              </a:spcBef>
              <a:spcAft>
                <a:spcPts val="0"/>
              </a:spcAft>
              <a:buClr>
                <a:schemeClr val="dk1"/>
              </a:buClr>
              <a:buSzPts val="1800"/>
              <a:buFont typeface="Arial"/>
              <a:buNone/>
            </a:pPr>
            <a:r>
              <a:t/>
            </a:r>
            <a:endParaRPr sz="1800">
              <a:solidFill>
                <a:schemeClr val="dk1"/>
              </a:solidFill>
              <a:latin typeface="Montserrat"/>
              <a:ea typeface="Montserrat"/>
              <a:cs typeface="Montserrat"/>
              <a:sym typeface="Montserrat"/>
            </a:endParaRPr>
          </a:p>
          <a:p>
            <a:pPr indent="-171450" lvl="0" marL="285750" marR="0" rtl="0" algn="l">
              <a:lnSpc>
                <a:spcPct val="90000"/>
              </a:lnSpc>
              <a:spcBef>
                <a:spcPts val="1000"/>
              </a:spcBef>
              <a:spcAft>
                <a:spcPts val="0"/>
              </a:spcAft>
              <a:buClr>
                <a:schemeClr val="dk1"/>
              </a:buClr>
              <a:buSzPts val="1800"/>
              <a:buFont typeface="Arial"/>
              <a:buNone/>
            </a:pPr>
            <a:r>
              <a:t/>
            </a:r>
            <a:endParaRPr sz="1800">
              <a:solidFill>
                <a:schemeClr val="dk1"/>
              </a:solidFill>
              <a:latin typeface="Montserrat"/>
              <a:ea typeface="Montserrat"/>
              <a:cs typeface="Montserrat"/>
              <a:sym typeface="Montserrat"/>
            </a:endParaRPr>
          </a:p>
          <a:p>
            <a:pPr indent="-171450" lvl="0" marL="285750" marR="0" rtl="0" algn="l">
              <a:lnSpc>
                <a:spcPct val="90000"/>
              </a:lnSpc>
              <a:spcBef>
                <a:spcPts val="1000"/>
              </a:spcBef>
              <a:spcAft>
                <a:spcPts val="0"/>
              </a:spcAft>
              <a:buClr>
                <a:schemeClr val="dk1"/>
              </a:buClr>
              <a:buSzPts val="1800"/>
              <a:buFont typeface="Arial"/>
              <a:buNone/>
            </a:pPr>
            <a:r>
              <a:t/>
            </a:r>
            <a:endParaRPr sz="1800">
              <a:solidFill>
                <a:schemeClr val="dk1"/>
              </a:solidFill>
              <a:latin typeface="Montserrat"/>
              <a:ea typeface="Montserrat"/>
              <a:cs typeface="Montserrat"/>
              <a:sym typeface="Montserrat"/>
            </a:endParaRPr>
          </a:p>
          <a:p>
            <a:pPr indent="-171450" lvl="0" marL="285750" marR="0" rtl="0" algn="l">
              <a:lnSpc>
                <a:spcPct val="90000"/>
              </a:lnSpc>
              <a:spcBef>
                <a:spcPts val="1000"/>
              </a:spcBef>
              <a:spcAft>
                <a:spcPts val="0"/>
              </a:spcAft>
              <a:buClr>
                <a:schemeClr val="dk1"/>
              </a:buClr>
              <a:buSzPts val="1800"/>
              <a:buFont typeface="Arial"/>
              <a:buNone/>
            </a:pPr>
            <a:r>
              <a:t/>
            </a:r>
            <a:endParaRPr sz="1800">
              <a:solidFill>
                <a:schemeClr val="dk1"/>
              </a:solidFill>
              <a:latin typeface="Montserrat"/>
              <a:ea typeface="Montserrat"/>
              <a:cs typeface="Montserrat"/>
              <a:sym typeface="Montserrat"/>
            </a:endParaRPr>
          </a:p>
          <a:p>
            <a:pPr indent="-228600" lvl="0" marL="342900" marR="0" rtl="0" algn="l">
              <a:lnSpc>
                <a:spcPct val="90000"/>
              </a:lnSpc>
              <a:spcBef>
                <a:spcPts val="1000"/>
              </a:spcBef>
              <a:spcAft>
                <a:spcPts val="0"/>
              </a:spcAft>
              <a:buClr>
                <a:schemeClr val="dk1"/>
              </a:buClr>
              <a:buSzPts val="1800"/>
              <a:buFont typeface="Arial"/>
              <a:buNone/>
            </a:pPr>
            <a:r>
              <a:t/>
            </a:r>
            <a:endParaRPr sz="1800">
              <a:solidFill>
                <a:schemeClr val="dk1"/>
              </a:solidFill>
              <a:latin typeface="Montserrat"/>
              <a:ea typeface="Montserrat"/>
              <a:cs typeface="Montserrat"/>
              <a:sym typeface="Montserrat"/>
            </a:endParaRPr>
          </a:p>
          <a:p>
            <a:pPr indent="0" lvl="0" marL="0" marR="0" rtl="0" algn="ctr">
              <a:lnSpc>
                <a:spcPct val="90000"/>
              </a:lnSpc>
              <a:spcBef>
                <a:spcPts val="100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pic>
        <p:nvPicPr>
          <p:cNvPr id="194" name="Google Shape;194;p7"/>
          <p:cNvPicPr preferRelativeResize="0"/>
          <p:nvPr/>
        </p:nvPicPr>
        <p:blipFill rotWithShape="1">
          <a:blip r:embed="rId4">
            <a:alphaModFix/>
          </a:blip>
          <a:srcRect b="0" l="0" r="0" t="0"/>
          <a:stretch/>
        </p:blipFill>
        <p:spPr>
          <a:xfrm>
            <a:off x="8959267" y="1220438"/>
            <a:ext cx="2305658" cy="2924381"/>
          </a:xfrm>
          <a:prstGeom prst="rect">
            <a:avLst/>
          </a:prstGeom>
          <a:noFill/>
          <a:ln>
            <a:noFill/>
          </a:ln>
        </p:spPr>
      </p:pic>
      <p:sp>
        <p:nvSpPr>
          <p:cNvPr id="195" name="Google Shape;195;p7"/>
          <p:cNvSpPr/>
          <p:nvPr/>
        </p:nvSpPr>
        <p:spPr>
          <a:xfrm>
            <a:off x="2019290" y="6280816"/>
            <a:ext cx="93472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u="sng">
                <a:solidFill>
                  <a:schemeClr val="dk1"/>
                </a:solidFill>
                <a:latin typeface="Calibri"/>
                <a:ea typeface="Calibri"/>
                <a:cs typeface="Calibri"/>
                <a:sym typeface="Calibri"/>
                <a:hlinkClick r:id="rId5">
                  <a:extLst>
                    <a:ext uri="{A12FA001-AC4F-418D-AE19-62706E023703}">
                      <ahyp:hlinkClr val="tx"/>
                    </a:ext>
                  </a:extLst>
                </a:hlinkClick>
              </a:rPr>
              <a:t>Source: https://commons.wikimedia.org/wiki/File:Library_of_Congress,_Rosenwald_4,_Bl._5r.jpg</a:t>
            </a:r>
            <a:endParaRPr sz="1800">
              <a:solidFill>
                <a:schemeClr val="dk1"/>
              </a:solidFill>
              <a:latin typeface="Calibri"/>
              <a:ea typeface="Calibri"/>
              <a:cs typeface="Calibri"/>
              <a:sym typeface="Calibri"/>
            </a:endParaRPr>
          </a:p>
        </p:txBody>
      </p:sp>
      <p:sp>
        <p:nvSpPr>
          <p:cNvPr id="196" name="Google Shape;196;p7"/>
          <p:cNvSpPr/>
          <p:nvPr/>
        </p:nvSpPr>
        <p:spPr>
          <a:xfrm>
            <a:off x="825511" y="4635290"/>
            <a:ext cx="7582348"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i="1" sz="2800">
              <a:solidFill>
                <a:srgbClr val="202122"/>
              </a:solidFill>
              <a:latin typeface="Arial"/>
              <a:ea typeface="Arial"/>
              <a:cs typeface="Arial"/>
              <a:sym typeface="Arial"/>
            </a:endParaRPr>
          </a:p>
          <a:p>
            <a:pPr indent="0" lvl="0" marL="0" marR="0" rtl="0" algn="l">
              <a:spcBef>
                <a:spcPts val="0"/>
              </a:spcBef>
              <a:spcAft>
                <a:spcPts val="0"/>
              </a:spcAft>
              <a:buNone/>
            </a:pPr>
            <a:r>
              <a:rPr b="1" i="1" lang="en-CA" sz="2800">
                <a:solidFill>
                  <a:srgbClr val="202122"/>
                </a:solidFill>
                <a:latin typeface="Arial"/>
                <a:ea typeface="Arial"/>
                <a:cs typeface="Arial"/>
                <a:sym typeface="Arial"/>
              </a:rPr>
              <a:t>"If I have seen further, it is by standing on the shoulders of Giants”, Isaac Newton</a:t>
            </a:r>
            <a:endParaRPr b="1" i="1" sz="2800">
              <a:solidFill>
                <a:srgbClr val="202122"/>
              </a:solidFill>
              <a:latin typeface="Arial"/>
              <a:ea typeface="Arial"/>
              <a:cs typeface="Arial"/>
              <a:sym typeface="Arial"/>
            </a:endParaRPr>
          </a:p>
        </p:txBody>
      </p:sp>
      <p:sp>
        <p:nvSpPr>
          <p:cNvPr id="197" name="Google Shape;197;p7"/>
          <p:cNvSpPr/>
          <p:nvPr/>
        </p:nvSpPr>
        <p:spPr>
          <a:xfrm>
            <a:off x="8566906" y="4294522"/>
            <a:ext cx="3302652" cy="6001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CA" sz="1100">
                <a:solidFill>
                  <a:schemeClr val="dk1"/>
                </a:solidFill>
                <a:latin typeface="Arial"/>
                <a:ea typeface="Arial"/>
                <a:cs typeface="Arial"/>
                <a:sym typeface="Arial"/>
              </a:rPr>
              <a:t>This picture is derived from Greek mythology: the giant Orion carried his servant Cedalion on his shoulders to act as the giant's eyes.</a:t>
            </a:r>
            <a:endParaRPr b="1" i="1" sz="11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8"/>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203" name="Google Shape;203;p8"/>
          <p:cNvSpPr/>
          <p:nvPr/>
        </p:nvSpPr>
        <p:spPr>
          <a:xfrm>
            <a:off x="368678" y="117674"/>
            <a:ext cx="8470522" cy="121772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CA" sz="3600">
                <a:solidFill>
                  <a:schemeClr val="lt1"/>
                </a:solidFill>
                <a:latin typeface="Montserrat"/>
                <a:ea typeface="Montserrat"/>
                <a:cs typeface="Montserrat"/>
                <a:sym typeface="Montserrat"/>
              </a:rPr>
              <a:t>ADVANTAGES &amp; DISADVANTAGES OF XGBOOST</a:t>
            </a:r>
            <a:endParaRPr/>
          </a:p>
        </p:txBody>
      </p:sp>
      <p:sp>
        <p:nvSpPr>
          <p:cNvPr id="204" name="Google Shape;204;p8"/>
          <p:cNvSpPr txBox="1"/>
          <p:nvPr/>
        </p:nvSpPr>
        <p:spPr>
          <a:xfrm>
            <a:off x="4070666" y="1979516"/>
            <a:ext cx="11472900" cy="4525963"/>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1800"/>
              <a:buFont typeface="Arial"/>
              <a:buNone/>
            </a:pPr>
            <a:r>
              <a:t/>
            </a:r>
            <a:endParaRPr b="1" sz="1800">
              <a:solidFill>
                <a:schemeClr val="dk1"/>
              </a:solidFill>
              <a:latin typeface="Montserrat"/>
              <a:ea typeface="Montserrat"/>
              <a:cs typeface="Montserrat"/>
              <a:sym typeface="Montserrat"/>
            </a:endParaRPr>
          </a:p>
        </p:txBody>
      </p:sp>
      <p:grpSp>
        <p:nvGrpSpPr>
          <p:cNvPr id="205" name="Google Shape;205;p8"/>
          <p:cNvGrpSpPr/>
          <p:nvPr/>
        </p:nvGrpSpPr>
        <p:grpSpPr>
          <a:xfrm>
            <a:off x="1203068" y="1291434"/>
            <a:ext cx="7401711" cy="4408561"/>
            <a:chOff x="0" y="58701"/>
            <a:chExt cx="7401711" cy="4408561"/>
          </a:xfrm>
        </p:grpSpPr>
        <p:sp>
          <p:nvSpPr>
            <p:cNvPr id="206" name="Google Shape;206;p8"/>
            <p:cNvSpPr/>
            <p:nvPr/>
          </p:nvSpPr>
          <p:spPr>
            <a:xfrm>
              <a:off x="0" y="58701"/>
              <a:ext cx="7401711" cy="589679"/>
            </a:xfrm>
            <a:prstGeom prst="roundRect">
              <a:avLst>
                <a:gd fmla="val 16667" name="adj"/>
              </a:avLst>
            </a:prstGeom>
            <a:solidFill>
              <a:schemeClr val="accent3">
                <a:alpha val="90196"/>
              </a:schemeClr>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
            <p:cNvSpPr txBox="1"/>
            <p:nvPr/>
          </p:nvSpPr>
          <p:spPr>
            <a:xfrm>
              <a:off x="28786" y="87487"/>
              <a:ext cx="7344139" cy="532107"/>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chemeClr val="lt1"/>
                </a:buClr>
                <a:buSzPts val="2400"/>
                <a:buFont typeface="Montserrat"/>
                <a:buNone/>
              </a:pPr>
              <a:r>
                <a:rPr b="1" lang="en-CA" sz="2400">
                  <a:solidFill>
                    <a:schemeClr val="lt1"/>
                  </a:solidFill>
                  <a:latin typeface="Montserrat"/>
                  <a:ea typeface="Montserrat"/>
                  <a:cs typeface="Montserrat"/>
                  <a:sym typeface="Montserrat"/>
                </a:rPr>
                <a:t>ADVANTAGES:</a:t>
              </a:r>
              <a:endParaRPr sz="2400">
                <a:solidFill>
                  <a:schemeClr val="lt1"/>
                </a:solidFill>
                <a:latin typeface="Calibri"/>
                <a:ea typeface="Calibri"/>
                <a:cs typeface="Calibri"/>
                <a:sym typeface="Calibri"/>
              </a:endParaRPr>
            </a:p>
          </p:txBody>
        </p:sp>
        <p:sp>
          <p:nvSpPr>
            <p:cNvPr id="208" name="Google Shape;208;p8"/>
            <p:cNvSpPr/>
            <p:nvPr/>
          </p:nvSpPr>
          <p:spPr>
            <a:xfrm>
              <a:off x="0" y="648381"/>
              <a:ext cx="7401711" cy="2235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8"/>
            <p:cNvSpPr txBox="1"/>
            <p:nvPr/>
          </p:nvSpPr>
          <p:spPr>
            <a:xfrm>
              <a:off x="0" y="648381"/>
              <a:ext cx="7401711" cy="2235600"/>
            </a:xfrm>
            <a:prstGeom prst="rect">
              <a:avLst/>
            </a:prstGeom>
            <a:noFill/>
            <a:ln>
              <a:noFill/>
            </a:ln>
          </p:spPr>
          <p:txBody>
            <a:bodyPr anchorCtr="0" anchor="t" bIns="30475" lIns="235000" spcFirstLastPara="1" rIns="170675" wrap="square" tIns="30475">
              <a:noAutofit/>
            </a:bodyPr>
            <a:lstStyle/>
            <a:p>
              <a:pPr indent="-171450" lvl="1" marL="171450" marR="0" rtl="0" algn="l">
                <a:lnSpc>
                  <a:spcPct val="90000"/>
                </a:lnSpc>
                <a:spcBef>
                  <a:spcPts val="0"/>
                </a:spcBef>
                <a:spcAft>
                  <a:spcPts val="0"/>
                </a:spcAft>
                <a:buClr>
                  <a:schemeClr val="dk1"/>
                </a:buClr>
                <a:buSzPts val="1900"/>
                <a:buFont typeface="Montserrat"/>
                <a:buChar char="•"/>
              </a:pPr>
              <a:r>
                <a:rPr b="0" i="0" lang="en-CA" sz="1900" u="none" cap="none" strike="noStrike">
                  <a:solidFill>
                    <a:schemeClr val="dk1"/>
                  </a:solidFill>
                  <a:latin typeface="Montserrat"/>
                  <a:ea typeface="Montserrat"/>
                  <a:cs typeface="Montserrat"/>
                  <a:sym typeface="Montserrat"/>
                </a:rPr>
                <a:t>No need to perform any feature scaling </a:t>
              </a:r>
              <a:endParaRPr/>
            </a:p>
            <a:p>
              <a:pPr indent="-171450" lvl="1" marL="171450" marR="0" rtl="0" algn="l">
                <a:lnSpc>
                  <a:spcPct val="90000"/>
                </a:lnSpc>
                <a:spcBef>
                  <a:spcPts val="380"/>
                </a:spcBef>
                <a:spcAft>
                  <a:spcPts val="0"/>
                </a:spcAft>
                <a:buClr>
                  <a:schemeClr val="dk1"/>
                </a:buClr>
                <a:buSzPts val="1900"/>
                <a:buFont typeface="Montserrat"/>
                <a:buChar char="•"/>
              </a:pPr>
              <a:r>
                <a:rPr b="0" i="0" lang="en-CA" sz="1900" u="none" cap="none" strike="noStrike">
                  <a:solidFill>
                    <a:schemeClr val="dk1"/>
                  </a:solidFill>
                  <a:latin typeface="Montserrat"/>
                  <a:ea typeface="Montserrat"/>
                  <a:cs typeface="Montserrat"/>
                  <a:sym typeface="Montserrat"/>
                </a:rPr>
                <a:t>Can work well with missing data </a:t>
              </a:r>
              <a:endParaRPr/>
            </a:p>
            <a:p>
              <a:pPr indent="-171450" lvl="1" marL="171450" marR="0" rtl="0" algn="l">
                <a:lnSpc>
                  <a:spcPct val="90000"/>
                </a:lnSpc>
                <a:spcBef>
                  <a:spcPts val="380"/>
                </a:spcBef>
                <a:spcAft>
                  <a:spcPts val="0"/>
                </a:spcAft>
                <a:buClr>
                  <a:schemeClr val="dk1"/>
                </a:buClr>
                <a:buSzPts val="1900"/>
                <a:buFont typeface="Montserrat"/>
                <a:buChar char="•"/>
              </a:pPr>
              <a:r>
                <a:rPr b="0" i="0" lang="en-CA" sz="1900" u="none" cap="none" strike="noStrike">
                  <a:solidFill>
                    <a:schemeClr val="dk1"/>
                  </a:solidFill>
                  <a:latin typeface="Montserrat"/>
                  <a:ea typeface="Montserrat"/>
                  <a:cs typeface="Montserrat"/>
                  <a:sym typeface="Montserrat"/>
                </a:rPr>
                <a:t>Robust to outliers in the data </a:t>
              </a:r>
              <a:endParaRPr/>
            </a:p>
            <a:p>
              <a:pPr indent="-171450" lvl="1" marL="171450" marR="0" rtl="0" algn="l">
                <a:lnSpc>
                  <a:spcPct val="90000"/>
                </a:lnSpc>
                <a:spcBef>
                  <a:spcPts val="380"/>
                </a:spcBef>
                <a:spcAft>
                  <a:spcPts val="0"/>
                </a:spcAft>
                <a:buClr>
                  <a:schemeClr val="dk1"/>
                </a:buClr>
                <a:buSzPts val="1900"/>
                <a:buFont typeface="Montserrat"/>
                <a:buChar char="•"/>
              </a:pPr>
              <a:r>
                <a:rPr b="0" i="0" lang="en-CA" sz="1900" u="none" cap="none" strike="noStrike">
                  <a:solidFill>
                    <a:schemeClr val="dk1"/>
                  </a:solidFill>
                  <a:latin typeface="Montserrat"/>
                  <a:ea typeface="Montserrat"/>
                  <a:cs typeface="Montserrat"/>
                  <a:sym typeface="Montserrat"/>
                </a:rPr>
                <a:t>Can work well for both regression and classification </a:t>
              </a:r>
              <a:endParaRPr b="0" i="0" sz="1900" u="none" cap="none" strike="noStrike">
                <a:solidFill>
                  <a:schemeClr val="dk1"/>
                </a:solidFill>
                <a:latin typeface="Montserrat"/>
                <a:ea typeface="Montserrat"/>
                <a:cs typeface="Montserrat"/>
                <a:sym typeface="Montserrat"/>
              </a:endParaRPr>
            </a:p>
            <a:p>
              <a:pPr indent="-171450" lvl="1" marL="171450" marR="0" rtl="0" algn="l">
                <a:lnSpc>
                  <a:spcPct val="90000"/>
                </a:lnSpc>
                <a:spcBef>
                  <a:spcPts val="380"/>
                </a:spcBef>
                <a:spcAft>
                  <a:spcPts val="0"/>
                </a:spcAft>
                <a:buClr>
                  <a:schemeClr val="dk1"/>
                </a:buClr>
                <a:buSzPts val="1900"/>
                <a:buFont typeface="Montserrat"/>
                <a:buChar char="•"/>
              </a:pPr>
              <a:r>
                <a:rPr b="0" i="0" lang="en-CA" sz="1900" u="none" cap="none" strike="noStrike">
                  <a:solidFill>
                    <a:schemeClr val="dk1"/>
                  </a:solidFill>
                  <a:latin typeface="Montserrat"/>
                  <a:ea typeface="Montserrat"/>
                  <a:cs typeface="Montserrat"/>
                  <a:sym typeface="Montserrat"/>
                </a:rPr>
                <a:t>Computationally efficient and produce fast predictions</a:t>
              </a:r>
              <a:endParaRPr/>
            </a:p>
            <a:p>
              <a:pPr indent="-171450" lvl="1" marL="171450" marR="0" rtl="0" algn="l">
                <a:lnSpc>
                  <a:spcPct val="90000"/>
                </a:lnSpc>
                <a:spcBef>
                  <a:spcPts val="380"/>
                </a:spcBef>
                <a:spcAft>
                  <a:spcPts val="0"/>
                </a:spcAft>
                <a:buClr>
                  <a:schemeClr val="dk1"/>
                </a:buClr>
                <a:buSzPts val="1900"/>
                <a:buFont typeface="Montserrat"/>
                <a:buChar char="•"/>
              </a:pPr>
              <a:r>
                <a:rPr b="0" i="0" lang="en-CA" sz="1900" u="none" cap="none" strike="noStrike">
                  <a:solidFill>
                    <a:schemeClr val="dk1"/>
                  </a:solidFill>
                  <a:latin typeface="Montserrat"/>
                  <a:ea typeface="Montserrat"/>
                  <a:cs typeface="Montserrat"/>
                  <a:sym typeface="Montserrat"/>
                </a:rPr>
                <a:t>Works with distributed training: AWS can distribute the training process and data on many machines</a:t>
              </a:r>
              <a:endParaRPr b="0" i="0" sz="1900" u="none" cap="none" strike="noStrike">
                <a:solidFill>
                  <a:schemeClr val="dk1"/>
                </a:solidFill>
                <a:latin typeface="Montserrat"/>
                <a:ea typeface="Montserrat"/>
                <a:cs typeface="Montserrat"/>
                <a:sym typeface="Montserrat"/>
              </a:endParaRPr>
            </a:p>
          </p:txBody>
        </p:sp>
        <p:sp>
          <p:nvSpPr>
            <p:cNvPr id="210" name="Google Shape;210;p8"/>
            <p:cNvSpPr/>
            <p:nvPr/>
          </p:nvSpPr>
          <p:spPr>
            <a:xfrm>
              <a:off x="0" y="2883982"/>
              <a:ext cx="7401711" cy="589679"/>
            </a:xfrm>
            <a:prstGeom prst="roundRect">
              <a:avLst>
                <a:gd fmla="val 16667" name="adj"/>
              </a:avLst>
            </a:prstGeom>
            <a:solidFill>
              <a:schemeClr val="accent3">
                <a:alpha val="50196"/>
              </a:schemeClr>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8"/>
            <p:cNvSpPr txBox="1"/>
            <p:nvPr/>
          </p:nvSpPr>
          <p:spPr>
            <a:xfrm>
              <a:off x="28786" y="2912768"/>
              <a:ext cx="7344139" cy="532107"/>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chemeClr val="lt1"/>
                </a:buClr>
                <a:buSzPts val="2400"/>
                <a:buFont typeface="Montserrat"/>
                <a:buNone/>
              </a:pPr>
              <a:r>
                <a:rPr b="1" lang="en-CA" sz="2400">
                  <a:solidFill>
                    <a:schemeClr val="lt1"/>
                  </a:solidFill>
                  <a:latin typeface="Montserrat"/>
                  <a:ea typeface="Montserrat"/>
                  <a:cs typeface="Montserrat"/>
                  <a:sym typeface="Montserrat"/>
                </a:rPr>
                <a:t>DISADVANTAGES:</a:t>
              </a:r>
              <a:endParaRPr b="1" sz="2400">
                <a:solidFill>
                  <a:schemeClr val="lt1"/>
                </a:solidFill>
                <a:latin typeface="Montserrat"/>
                <a:ea typeface="Montserrat"/>
                <a:cs typeface="Montserrat"/>
                <a:sym typeface="Montserrat"/>
              </a:endParaRPr>
            </a:p>
          </p:txBody>
        </p:sp>
        <p:sp>
          <p:nvSpPr>
            <p:cNvPr id="212" name="Google Shape;212;p8"/>
            <p:cNvSpPr/>
            <p:nvPr/>
          </p:nvSpPr>
          <p:spPr>
            <a:xfrm>
              <a:off x="0" y="3473662"/>
              <a:ext cx="7401711" cy="9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8"/>
            <p:cNvSpPr txBox="1"/>
            <p:nvPr/>
          </p:nvSpPr>
          <p:spPr>
            <a:xfrm>
              <a:off x="0" y="3473662"/>
              <a:ext cx="7401711" cy="993600"/>
            </a:xfrm>
            <a:prstGeom prst="rect">
              <a:avLst/>
            </a:prstGeom>
            <a:noFill/>
            <a:ln>
              <a:noFill/>
            </a:ln>
          </p:spPr>
          <p:txBody>
            <a:bodyPr anchorCtr="0" anchor="t" bIns="30475" lIns="235000" spcFirstLastPara="1" rIns="170675" wrap="square" tIns="30475">
              <a:noAutofit/>
            </a:bodyPr>
            <a:lstStyle/>
            <a:p>
              <a:pPr indent="-171450" lvl="1" marL="171450" marR="0" rtl="0" algn="l">
                <a:lnSpc>
                  <a:spcPct val="90000"/>
                </a:lnSpc>
                <a:spcBef>
                  <a:spcPts val="0"/>
                </a:spcBef>
                <a:spcAft>
                  <a:spcPts val="0"/>
                </a:spcAft>
                <a:buClr>
                  <a:schemeClr val="dk1"/>
                </a:buClr>
                <a:buSzPts val="1900"/>
                <a:buFont typeface="Montserrat"/>
                <a:buChar char="•"/>
              </a:pPr>
              <a:r>
                <a:rPr b="0" i="0" lang="en-CA" sz="1900" u="none" cap="none" strike="noStrike">
                  <a:solidFill>
                    <a:schemeClr val="dk1"/>
                  </a:solidFill>
                  <a:latin typeface="Montserrat"/>
                  <a:ea typeface="Montserrat"/>
                  <a:cs typeface="Montserrat"/>
                  <a:sym typeface="Montserrat"/>
                </a:rPr>
                <a:t>Poor extrapolation characteristics</a:t>
              </a:r>
              <a:endParaRPr b="0" i="0" sz="1900" u="none" cap="none" strike="noStrike">
                <a:solidFill>
                  <a:schemeClr val="dk1"/>
                </a:solidFill>
                <a:latin typeface="Montserrat"/>
                <a:ea typeface="Montserrat"/>
                <a:cs typeface="Montserrat"/>
                <a:sym typeface="Montserrat"/>
              </a:endParaRPr>
            </a:p>
            <a:p>
              <a:pPr indent="-171450" lvl="1" marL="171450" marR="0" rtl="0" algn="l">
                <a:lnSpc>
                  <a:spcPct val="90000"/>
                </a:lnSpc>
                <a:spcBef>
                  <a:spcPts val="380"/>
                </a:spcBef>
                <a:spcAft>
                  <a:spcPts val="0"/>
                </a:spcAft>
                <a:buClr>
                  <a:schemeClr val="dk1"/>
                </a:buClr>
                <a:buSzPts val="1900"/>
                <a:buFont typeface="Montserrat"/>
                <a:buChar char="•"/>
              </a:pPr>
              <a:r>
                <a:rPr b="0" i="0" lang="en-CA" sz="1900" u="none" cap="none" strike="noStrike">
                  <a:solidFill>
                    <a:schemeClr val="dk1"/>
                  </a:solidFill>
                  <a:latin typeface="Montserrat"/>
                  <a:ea typeface="Montserrat"/>
                  <a:cs typeface="Montserrat"/>
                  <a:sym typeface="Montserrat"/>
                </a:rPr>
                <a:t>Need extensive tuning </a:t>
              </a:r>
              <a:endParaRPr b="0" i="0" sz="1900" u="none" cap="none" strike="noStrike">
                <a:solidFill>
                  <a:schemeClr val="dk1"/>
                </a:solidFill>
                <a:latin typeface="Montserrat"/>
                <a:ea typeface="Montserrat"/>
                <a:cs typeface="Montserrat"/>
                <a:sym typeface="Montserrat"/>
              </a:endParaRPr>
            </a:p>
            <a:p>
              <a:pPr indent="-171450" lvl="1" marL="171450" marR="0" rtl="0" algn="l">
                <a:lnSpc>
                  <a:spcPct val="90000"/>
                </a:lnSpc>
                <a:spcBef>
                  <a:spcPts val="380"/>
                </a:spcBef>
                <a:spcAft>
                  <a:spcPts val="0"/>
                </a:spcAft>
                <a:buClr>
                  <a:schemeClr val="dk1"/>
                </a:buClr>
                <a:buSzPts val="1900"/>
                <a:buFont typeface="Montserrat"/>
                <a:buChar char="•"/>
              </a:pPr>
              <a:r>
                <a:rPr b="0" i="0" lang="en-CA" sz="1900" u="none" cap="none" strike="noStrike">
                  <a:solidFill>
                    <a:schemeClr val="dk1"/>
                  </a:solidFill>
                  <a:latin typeface="Montserrat"/>
                  <a:ea typeface="Montserrat"/>
                  <a:cs typeface="Montserrat"/>
                  <a:sym typeface="Montserrat"/>
                </a:rPr>
                <a:t>Slow training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id="218" name="Google Shape;218;p9"/>
          <p:cNvPicPr preferRelativeResize="0"/>
          <p:nvPr/>
        </p:nvPicPr>
        <p:blipFill rotWithShape="1">
          <a:blip r:embed="rId3">
            <a:alphaModFix/>
          </a:blip>
          <a:srcRect b="13333" l="0" r="0" t="0"/>
          <a:stretch/>
        </p:blipFill>
        <p:spPr>
          <a:xfrm>
            <a:off x="0" y="0"/>
            <a:ext cx="12192001" cy="5943600"/>
          </a:xfrm>
          <a:prstGeom prst="rect">
            <a:avLst/>
          </a:prstGeom>
          <a:noFill/>
          <a:ln>
            <a:noFill/>
          </a:ln>
        </p:spPr>
      </p:pic>
      <p:cxnSp>
        <p:nvCxnSpPr>
          <p:cNvPr id="219" name="Google Shape;219;p9"/>
          <p:cNvCxnSpPr/>
          <p:nvPr/>
        </p:nvCxnSpPr>
        <p:spPr>
          <a:xfrm flipH="1" rot="10800000">
            <a:off x="508658" y="6044312"/>
            <a:ext cx="3630796" cy="24351"/>
          </a:xfrm>
          <a:prstGeom prst="straightConnector1">
            <a:avLst/>
          </a:prstGeom>
          <a:noFill/>
          <a:ln cap="flat" cmpd="sng" w="57150">
            <a:solidFill>
              <a:srgbClr val="124359"/>
            </a:solidFill>
            <a:prstDash val="solid"/>
            <a:miter lim="800000"/>
            <a:headEnd len="sm" w="sm" type="none"/>
            <a:tailEnd len="med" w="med" type="triangle"/>
          </a:ln>
        </p:spPr>
      </p:cxnSp>
      <p:cxnSp>
        <p:nvCxnSpPr>
          <p:cNvPr id="220" name="Google Shape;220;p9"/>
          <p:cNvCxnSpPr/>
          <p:nvPr/>
        </p:nvCxnSpPr>
        <p:spPr>
          <a:xfrm rot="10800000">
            <a:off x="508660" y="2719475"/>
            <a:ext cx="1" cy="3384148"/>
          </a:xfrm>
          <a:prstGeom prst="straightConnector1">
            <a:avLst/>
          </a:prstGeom>
          <a:noFill/>
          <a:ln cap="flat" cmpd="sng" w="57150">
            <a:solidFill>
              <a:srgbClr val="124359"/>
            </a:solidFill>
            <a:prstDash val="solid"/>
            <a:miter lim="800000"/>
            <a:headEnd len="sm" w="sm" type="none"/>
            <a:tailEnd len="med" w="med" type="triangle"/>
          </a:ln>
        </p:spPr>
      </p:cxnSp>
      <p:sp>
        <p:nvSpPr>
          <p:cNvPr id="221" name="Google Shape;221;p9"/>
          <p:cNvSpPr/>
          <p:nvPr/>
        </p:nvSpPr>
        <p:spPr>
          <a:xfrm>
            <a:off x="2473553" y="4144651"/>
            <a:ext cx="284199" cy="300118"/>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22" name="Google Shape;222;p9"/>
          <p:cNvSpPr/>
          <p:nvPr/>
        </p:nvSpPr>
        <p:spPr>
          <a:xfrm>
            <a:off x="1425486" y="5081539"/>
            <a:ext cx="284199" cy="300118"/>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23" name="Google Shape;223;p9"/>
          <p:cNvSpPr txBox="1"/>
          <p:nvPr/>
        </p:nvSpPr>
        <p:spPr>
          <a:xfrm>
            <a:off x="1680099" y="6134714"/>
            <a:ext cx="13048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2400">
                <a:solidFill>
                  <a:srgbClr val="002060"/>
                </a:solidFill>
                <a:latin typeface="Calibri"/>
                <a:ea typeface="Calibri"/>
                <a:cs typeface="Calibri"/>
                <a:sym typeface="Calibri"/>
              </a:rPr>
              <a:t>SAVINGS</a:t>
            </a:r>
            <a:endParaRPr/>
          </a:p>
        </p:txBody>
      </p:sp>
      <p:sp>
        <p:nvSpPr>
          <p:cNvPr id="224" name="Google Shape;224;p9"/>
          <p:cNvSpPr txBox="1"/>
          <p:nvPr/>
        </p:nvSpPr>
        <p:spPr>
          <a:xfrm rot="-5400000">
            <a:off x="-116785" y="3058093"/>
            <a:ext cx="71308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2400">
                <a:solidFill>
                  <a:srgbClr val="002060"/>
                </a:solidFill>
                <a:latin typeface="Calibri"/>
                <a:ea typeface="Calibri"/>
                <a:cs typeface="Calibri"/>
                <a:sym typeface="Calibri"/>
              </a:rPr>
              <a:t>AGE</a:t>
            </a:r>
            <a:endParaRPr/>
          </a:p>
        </p:txBody>
      </p:sp>
      <p:sp>
        <p:nvSpPr>
          <p:cNvPr id="225" name="Google Shape;225;p9"/>
          <p:cNvSpPr/>
          <p:nvPr/>
        </p:nvSpPr>
        <p:spPr>
          <a:xfrm>
            <a:off x="1307956" y="4254234"/>
            <a:ext cx="284199" cy="300118"/>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26" name="Google Shape;226;p9"/>
          <p:cNvSpPr/>
          <p:nvPr/>
        </p:nvSpPr>
        <p:spPr>
          <a:xfrm>
            <a:off x="815407" y="5557229"/>
            <a:ext cx="284199" cy="300118"/>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27" name="Google Shape;227;p9"/>
          <p:cNvSpPr/>
          <p:nvPr/>
        </p:nvSpPr>
        <p:spPr>
          <a:xfrm>
            <a:off x="1996624" y="4041543"/>
            <a:ext cx="284199" cy="300118"/>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28" name="Google Shape;228;p9"/>
          <p:cNvSpPr/>
          <p:nvPr/>
        </p:nvSpPr>
        <p:spPr>
          <a:xfrm>
            <a:off x="2415366" y="3771824"/>
            <a:ext cx="284199" cy="300118"/>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29" name="Google Shape;229;p9"/>
          <p:cNvSpPr/>
          <p:nvPr/>
        </p:nvSpPr>
        <p:spPr>
          <a:xfrm>
            <a:off x="1115153" y="5045736"/>
            <a:ext cx="284199" cy="300118"/>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30" name="Google Shape;230;p9"/>
          <p:cNvSpPr/>
          <p:nvPr/>
        </p:nvSpPr>
        <p:spPr>
          <a:xfrm>
            <a:off x="239755" y="57738"/>
            <a:ext cx="8624395" cy="171632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CA" sz="3600">
                <a:solidFill>
                  <a:schemeClr val="lt1"/>
                </a:solidFill>
                <a:latin typeface="Montserrat"/>
                <a:ea typeface="Montserrat"/>
                <a:cs typeface="Montserrat"/>
                <a:sym typeface="Montserrat"/>
              </a:rPr>
              <a:t>DISADVANTAGES OF XGBOOST: POOR EXTRAPOLATION CAPABILITY BY XGBOOST</a:t>
            </a:r>
            <a:endParaRPr/>
          </a:p>
        </p:txBody>
      </p:sp>
      <p:cxnSp>
        <p:nvCxnSpPr>
          <p:cNvPr id="231" name="Google Shape;231;p9"/>
          <p:cNvCxnSpPr/>
          <p:nvPr/>
        </p:nvCxnSpPr>
        <p:spPr>
          <a:xfrm flipH="1" rot="10800000">
            <a:off x="508658" y="3755837"/>
            <a:ext cx="2476285" cy="2101510"/>
          </a:xfrm>
          <a:prstGeom prst="straightConnector1">
            <a:avLst/>
          </a:prstGeom>
          <a:noFill/>
          <a:ln cap="flat" cmpd="sng" w="76200">
            <a:solidFill>
              <a:schemeClr val="accent1"/>
            </a:solidFill>
            <a:prstDash val="solid"/>
            <a:miter lim="800000"/>
            <a:headEnd len="sm" w="sm" type="none"/>
            <a:tailEnd len="sm" w="sm" type="none"/>
          </a:ln>
        </p:spPr>
      </p:cxnSp>
      <p:sp>
        <p:nvSpPr>
          <p:cNvPr id="232" name="Google Shape;232;p9"/>
          <p:cNvSpPr/>
          <p:nvPr/>
        </p:nvSpPr>
        <p:spPr>
          <a:xfrm>
            <a:off x="3036177" y="3401973"/>
            <a:ext cx="284199" cy="300118"/>
          </a:xfrm>
          <a:prstGeom prst="ellipse">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33" name="Google Shape;233;p9"/>
          <p:cNvSpPr/>
          <p:nvPr/>
        </p:nvSpPr>
        <p:spPr>
          <a:xfrm>
            <a:off x="3320376" y="3138866"/>
            <a:ext cx="284199" cy="300118"/>
          </a:xfrm>
          <a:prstGeom prst="ellipse">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34" name="Google Shape;234;p9"/>
          <p:cNvSpPr/>
          <p:nvPr/>
        </p:nvSpPr>
        <p:spPr>
          <a:xfrm>
            <a:off x="3728875" y="2838748"/>
            <a:ext cx="284199" cy="300118"/>
          </a:xfrm>
          <a:prstGeom prst="ellipse">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35" name="Google Shape;235;p9"/>
          <p:cNvSpPr/>
          <p:nvPr/>
        </p:nvSpPr>
        <p:spPr>
          <a:xfrm>
            <a:off x="4055323" y="2552341"/>
            <a:ext cx="284199" cy="300118"/>
          </a:xfrm>
          <a:prstGeom prst="ellipse">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cxnSp>
        <p:nvCxnSpPr>
          <p:cNvPr id="236" name="Google Shape;236;p9"/>
          <p:cNvCxnSpPr/>
          <p:nvPr/>
        </p:nvCxnSpPr>
        <p:spPr>
          <a:xfrm flipH="1" rot="10800000">
            <a:off x="6034929" y="6077532"/>
            <a:ext cx="3630796" cy="24351"/>
          </a:xfrm>
          <a:prstGeom prst="straightConnector1">
            <a:avLst/>
          </a:prstGeom>
          <a:noFill/>
          <a:ln cap="flat" cmpd="sng" w="57150">
            <a:solidFill>
              <a:srgbClr val="124359"/>
            </a:solidFill>
            <a:prstDash val="solid"/>
            <a:miter lim="800000"/>
            <a:headEnd len="sm" w="sm" type="none"/>
            <a:tailEnd len="med" w="med" type="triangle"/>
          </a:ln>
        </p:spPr>
      </p:cxnSp>
      <p:cxnSp>
        <p:nvCxnSpPr>
          <p:cNvPr id="237" name="Google Shape;237;p9"/>
          <p:cNvCxnSpPr/>
          <p:nvPr/>
        </p:nvCxnSpPr>
        <p:spPr>
          <a:xfrm rot="10800000">
            <a:off x="6034931" y="2752695"/>
            <a:ext cx="1" cy="3384148"/>
          </a:xfrm>
          <a:prstGeom prst="straightConnector1">
            <a:avLst/>
          </a:prstGeom>
          <a:noFill/>
          <a:ln cap="flat" cmpd="sng" w="57150">
            <a:solidFill>
              <a:srgbClr val="124359"/>
            </a:solidFill>
            <a:prstDash val="solid"/>
            <a:miter lim="800000"/>
            <a:headEnd len="sm" w="sm" type="none"/>
            <a:tailEnd len="med" w="med" type="triangle"/>
          </a:ln>
        </p:spPr>
      </p:cxnSp>
      <p:sp>
        <p:nvSpPr>
          <p:cNvPr id="238" name="Google Shape;238;p9"/>
          <p:cNvSpPr/>
          <p:nvPr/>
        </p:nvSpPr>
        <p:spPr>
          <a:xfrm>
            <a:off x="7999824" y="4177871"/>
            <a:ext cx="284199" cy="300118"/>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39" name="Google Shape;239;p9"/>
          <p:cNvSpPr/>
          <p:nvPr/>
        </p:nvSpPr>
        <p:spPr>
          <a:xfrm>
            <a:off x="7490569" y="4493976"/>
            <a:ext cx="284199" cy="300118"/>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40" name="Google Shape;240;p9"/>
          <p:cNvSpPr/>
          <p:nvPr/>
        </p:nvSpPr>
        <p:spPr>
          <a:xfrm>
            <a:off x="7178761" y="4722268"/>
            <a:ext cx="284199" cy="300118"/>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41" name="Google Shape;241;p9"/>
          <p:cNvSpPr/>
          <p:nvPr/>
        </p:nvSpPr>
        <p:spPr>
          <a:xfrm>
            <a:off x="6951757" y="5114759"/>
            <a:ext cx="284199" cy="300118"/>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42" name="Google Shape;242;p9"/>
          <p:cNvSpPr txBox="1"/>
          <p:nvPr/>
        </p:nvSpPr>
        <p:spPr>
          <a:xfrm>
            <a:off x="7206370" y="6167934"/>
            <a:ext cx="13048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2400">
                <a:solidFill>
                  <a:srgbClr val="002060"/>
                </a:solidFill>
                <a:latin typeface="Calibri"/>
                <a:ea typeface="Calibri"/>
                <a:cs typeface="Calibri"/>
                <a:sym typeface="Calibri"/>
              </a:rPr>
              <a:t>SAVINGS</a:t>
            </a:r>
            <a:endParaRPr/>
          </a:p>
        </p:txBody>
      </p:sp>
      <p:sp>
        <p:nvSpPr>
          <p:cNvPr id="243" name="Google Shape;243;p9"/>
          <p:cNvSpPr txBox="1"/>
          <p:nvPr/>
        </p:nvSpPr>
        <p:spPr>
          <a:xfrm rot="-5400000">
            <a:off x="6108156" y="2988205"/>
            <a:ext cx="71308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2400">
                <a:solidFill>
                  <a:srgbClr val="002060"/>
                </a:solidFill>
                <a:latin typeface="Calibri"/>
                <a:ea typeface="Calibri"/>
                <a:cs typeface="Calibri"/>
                <a:sym typeface="Calibri"/>
              </a:rPr>
              <a:t>AGE</a:t>
            </a:r>
            <a:endParaRPr/>
          </a:p>
        </p:txBody>
      </p:sp>
      <p:sp>
        <p:nvSpPr>
          <p:cNvPr id="244" name="Google Shape;244;p9"/>
          <p:cNvSpPr/>
          <p:nvPr/>
        </p:nvSpPr>
        <p:spPr>
          <a:xfrm>
            <a:off x="6699611" y="5451783"/>
            <a:ext cx="284199" cy="300118"/>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45" name="Google Shape;245;p9"/>
          <p:cNvSpPr/>
          <p:nvPr/>
        </p:nvSpPr>
        <p:spPr>
          <a:xfrm>
            <a:off x="6341678" y="5590449"/>
            <a:ext cx="284199" cy="300118"/>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46" name="Google Shape;246;p9"/>
          <p:cNvSpPr/>
          <p:nvPr/>
        </p:nvSpPr>
        <p:spPr>
          <a:xfrm>
            <a:off x="7522895" y="4074763"/>
            <a:ext cx="284199" cy="300118"/>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47" name="Google Shape;247;p9"/>
          <p:cNvSpPr/>
          <p:nvPr/>
        </p:nvSpPr>
        <p:spPr>
          <a:xfrm>
            <a:off x="7941637" y="3805044"/>
            <a:ext cx="284199" cy="300118"/>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48" name="Google Shape;248;p9"/>
          <p:cNvSpPr/>
          <p:nvPr/>
        </p:nvSpPr>
        <p:spPr>
          <a:xfrm>
            <a:off x="6641424" y="5078956"/>
            <a:ext cx="284199" cy="300118"/>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cxnSp>
        <p:nvCxnSpPr>
          <p:cNvPr id="249" name="Google Shape;249;p9"/>
          <p:cNvCxnSpPr/>
          <p:nvPr/>
        </p:nvCxnSpPr>
        <p:spPr>
          <a:xfrm flipH="1" rot="10800000">
            <a:off x="6034929" y="3789057"/>
            <a:ext cx="2476285" cy="2101510"/>
          </a:xfrm>
          <a:prstGeom prst="straightConnector1">
            <a:avLst/>
          </a:prstGeom>
          <a:noFill/>
          <a:ln cap="flat" cmpd="sng" w="76200">
            <a:solidFill>
              <a:schemeClr val="accent1"/>
            </a:solidFill>
            <a:prstDash val="solid"/>
            <a:miter lim="800000"/>
            <a:headEnd len="sm" w="sm" type="none"/>
            <a:tailEnd len="sm" w="sm" type="none"/>
          </a:ln>
        </p:spPr>
      </p:cxnSp>
      <p:sp>
        <p:nvSpPr>
          <p:cNvPr id="250" name="Google Shape;250;p9"/>
          <p:cNvSpPr/>
          <p:nvPr/>
        </p:nvSpPr>
        <p:spPr>
          <a:xfrm>
            <a:off x="8704544" y="3494319"/>
            <a:ext cx="284199" cy="300118"/>
          </a:xfrm>
          <a:prstGeom prst="ellipse">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51" name="Google Shape;251;p9"/>
          <p:cNvSpPr/>
          <p:nvPr/>
        </p:nvSpPr>
        <p:spPr>
          <a:xfrm>
            <a:off x="9182073" y="3478548"/>
            <a:ext cx="284199" cy="300118"/>
          </a:xfrm>
          <a:prstGeom prst="ellipse">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52" name="Google Shape;252;p9"/>
          <p:cNvSpPr/>
          <p:nvPr/>
        </p:nvSpPr>
        <p:spPr>
          <a:xfrm>
            <a:off x="9587670" y="3446457"/>
            <a:ext cx="284199" cy="300118"/>
          </a:xfrm>
          <a:prstGeom prst="ellipse">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53" name="Google Shape;253;p9"/>
          <p:cNvSpPr/>
          <p:nvPr/>
        </p:nvSpPr>
        <p:spPr>
          <a:xfrm>
            <a:off x="10074978" y="3446457"/>
            <a:ext cx="284199" cy="300118"/>
          </a:xfrm>
          <a:prstGeom prst="ellipse">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54" name="Google Shape;254;p9"/>
          <p:cNvSpPr txBox="1"/>
          <p:nvPr/>
        </p:nvSpPr>
        <p:spPr>
          <a:xfrm>
            <a:off x="509092" y="1632252"/>
            <a:ext cx="4497321"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CA" sz="2400">
                <a:solidFill>
                  <a:srgbClr val="FF0000"/>
                </a:solidFill>
                <a:latin typeface="Calibri"/>
                <a:ea typeface="Calibri"/>
                <a:cs typeface="Calibri"/>
                <a:sym typeface="Calibri"/>
              </a:rPr>
              <a:t>LINEAR REGRESSION</a:t>
            </a:r>
            <a:endParaRPr/>
          </a:p>
          <a:p>
            <a:pPr indent="0" lvl="0" marL="0" marR="0" rtl="0" algn="ctr">
              <a:spcBef>
                <a:spcPts val="0"/>
              </a:spcBef>
              <a:spcAft>
                <a:spcPts val="0"/>
              </a:spcAft>
              <a:buNone/>
            </a:pPr>
            <a:r>
              <a:rPr b="1" lang="en-CA" sz="2400">
                <a:solidFill>
                  <a:srgbClr val="FF0000"/>
                </a:solidFill>
                <a:latin typeface="Calibri"/>
                <a:ea typeface="Calibri"/>
                <a:cs typeface="Calibri"/>
                <a:sym typeface="Calibri"/>
              </a:rPr>
              <a:t>&amp; ARTIFICIAL NEURAL NETWORKS</a:t>
            </a:r>
            <a:endParaRPr b="1" sz="2400">
              <a:solidFill>
                <a:srgbClr val="FF0000"/>
              </a:solidFill>
              <a:latin typeface="Calibri"/>
              <a:ea typeface="Calibri"/>
              <a:cs typeface="Calibri"/>
              <a:sym typeface="Calibri"/>
            </a:endParaRPr>
          </a:p>
        </p:txBody>
      </p:sp>
      <p:sp>
        <p:nvSpPr>
          <p:cNvPr id="255" name="Google Shape;255;p9"/>
          <p:cNvSpPr txBox="1"/>
          <p:nvPr/>
        </p:nvSpPr>
        <p:spPr>
          <a:xfrm>
            <a:off x="6957977" y="1851904"/>
            <a:ext cx="2734788"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CA" sz="2400">
                <a:solidFill>
                  <a:srgbClr val="FF0000"/>
                </a:solidFill>
                <a:latin typeface="Calibri"/>
                <a:ea typeface="Calibri"/>
                <a:cs typeface="Calibri"/>
                <a:sym typeface="Calibri"/>
              </a:rPr>
              <a:t>XGBOOST</a:t>
            </a:r>
            <a:endParaRPr/>
          </a:p>
          <a:p>
            <a:pPr indent="0" lvl="0" marL="0" marR="0" rtl="0" algn="ctr">
              <a:spcBef>
                <a:spcPts val="0"/>
              </a:spcBef>
              <a:spcAft>
                <a:spcPts val="0"/>
              </a:spcAft>
              <a:buNone/>
            </a:pPr>
            <a:r>
              <a:rPr b="1" lang="en-CA" sz="2400">
                <a:solidFill>
                  <a:srgbClr val="FF0000"/>
                </a:solidFill>
                <a:latin typeface="Calibri"/>
                <a:ea typeface="Calibri"/>
                <a:cs typeface="Calibri"/>
                <a:sym typeface="Calibri"/>
              </a:rPr>
              <a:t>&amp; RANDOM FOREST</a:t>
            </a:r>
            <a:endParaRPr b="1" sz="2400">
              <a:solidFill>
                <a:srgbClr val="FF0000"/>
              </a:solidFill>
              <a:latin typeface="Calibri"/>
              <a:ea typeface="Calibri"/>
              <a:cs typeface="Calibri"/>
              <a:sym typeface="Calibri"/>
            </a:endParaRPr>
          </a:p>
        </p:txBody>
      </p:sp>
      <p:sp>
        <p:nvSpPr>
          <p:cNvPr id="256" name="Google Shape;256;p9"/>
          <p:cNvSpPr txBox="1"/>
          <p:nvPr/>
        </p:nvSpPr>
        <p:spPr>
          <a:xfrm>
            <a:off x="362646" y="1097823"/>
            <a:ext cx="11407108" cy="4525963"/>
          </a:xfrm>
          <a:prstGeom prst="rect">
            <a:avLst/>
          </a:prstGeom>
          <a:noFill/>
          <a:ln>
            <a:noFill/>
          </a:ln>
        </p:spPr>
        <p:txBody>
          <a:bodyPr anchorCtr="0" anchor="t" bIns="45700" lIns="91425" spcFirstLastPara="1" rIns="91425" wrap="square" tIns="45700">
            <a:normAutofit/>
          </a:bodyPr>
          <a:lstStyle/>
          <a:p>
            <a:pPr indent="-285750" lvl="0" marL="285750" marR="0" rtl="0" algn="l">
              <a:lnSpc>
                <a:spcPct val="90000"/>
              </a:lnSpc>
              <a:spcBef>
                <a:spcPts val="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Out of bound inference with XGBoost will cause issues and result in unreasonable predictions</a:t>
            </a:r>
            <a:endParaRPr/>
          </a:p>
          <a:p>
            <a:pPr indent="0" lvl="0" marL="0" marR="0" rtl="0" algn="l">
              <a:lnSpc>
                <a:spcPct val="90000"/>
              </a:lnSpc>
              <a:spcBef>
                <a:spcPts val="1000"/>
              </a:spcBef>
              <a:spcAft>
                <a:spcPts val="0"/>
              </a:spcAft>
              <a:buClr>
                <a:schemeClr val="dk1"/>
              </a:buClr>
              <a:buSzPts val="1800"/>
              <a:buFont typeface="Arial"/>
              <a:buNone/>
            </a:pPr>
            <a:r>
              <a:t/>
            </a:r>
            <a:endParaRPr b="1" sz="1800">
              <a:solidFill>
                <a:schemeClr val="dk1"/>
              </a:solidFill>
              <a:latin typeface="Montserrat"/>
              <a:ea typeface="Montserrat"/>
              <a:cs typeface="Montserrat"/>
              <a:sym typeface="Montserrat"/>
            </a:endParaRPr>
          </a:p>
        </p:txBody>
      </p:sp>
      <p:sp>
        <p:nvSpPr>
          <p:cNvPr id="257" name="Google Shape;257;p9"/>
          <p:cNvSpPr/>
          <p:nvPr/>
        </p:nvSpPr>
        <p:spPr>
          <a:xfrm>
            <a:off x="1282860" y="4618107"/>
            <a:ext cx="284199" cy="300118"/>
          </a:xfrm>
          <a:prstGeom prst="ellipse">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58" name="Google Shape;258;p9"/>
          <p:cNvSpPr/>
          <p:nvPr/>
        </p:nvSpPr>
        <p:spPr>
          <a:xfrm>
            <a:off x="2267704" y="4378567"/>
            <a:ext cx="284199" cy="300118"/>
          </a:xfrm>
          <a:prstGeom prst="ellipse">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59" name="Google Shape;259;p9"/>
          <p:cNvSpPr/>
          <p:nvPr/>
        </p:nvSpPr>
        <p:spPr>
          <a:xfrm>
            <a:off x="1648675" y="4342744"/>
            <a:ext cx="284199" cy="300118"/>
          </a:xfrm>
          <a:prstGeom prst="ellipse">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60" name="Google Shape;260;p9"/>
          <p:cNvSpPr/>
          <p:nvPr/>
        </p:nvSpPr>
        <p:spPr>
          <a:xfrm>
            <a:off x="738837" y="5118445"/>
            <a:ext cx="284199" cy="300118"/>
          </a:xfrm>
          <a:prstGeom prst="ellipse">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61" name="Google Shape;261;p9"/>
          <p:cNvSpPr/>
          <p:nvPr/>
        </p:nvSpPr>
        <p:spPr>
          <a:xfrm>
            <a:off x="2807877" y="3896451"/>
            <a:ext cx="284199" cy="300118"/>
          </a:xfrm>
          <a:prstGeom prst="ellipse">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62" name="Google Shape;262;p9"/>
          <p:cNvSpPr/>
          <p:nvPr/>
        </p:nvSpPr>
        <p:spPr>
          <a:xfrm>
            <a:off x="1649557" y="4673008"/>
            <a:ext cx="284199" cy="300118"/>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263" name="Google Shape;263;p9"/>
          <p:cNvSpPr/>
          <p:nvPr/>
        </p:nvSpPr>
        <p:spPr>
          <a:xfrm>
            <a:off x="1964298" y="4460756"/>
            <a:ext cx="284199" cy="300118"/>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cxnSp>
        <p:nvCxnSpPr>
          <p:cNvPr id="264" name="Google Shape;264;p9"/>
          <p:cNvCxnSpPr>
            <a:stCxn id="263" idx="5"/>
          </p:cNvCxnSpPr>
          <p:nvPr/>
        </p:nvCxnSpPr>
        <p:spPr>
          <a:xfrm flipH="1" rot="-5400000">
            <a:off x="2326127" y="4597673"/>
            <a:ext cx="628800" cy="867300"/>
          </a:xfrm>
          <a:prstGeom prst="curvedConnector2">
            <a:avLst/>
          </a:prstGeom>
          <a:noFill/>
          <a:ln cap="flat" cmpd="sng" w="38100">
            <a:solidFill>
              <a:srgbClr val="FF0000"/>
            </a:solidFill>
            <a:prstDash val="solid"/>
            <a:miter lim="800000"/>
            <a:headEnd len="sm" w="sm" type="none"/>
            <a:tailEnd len="med" w="med" type="triangle"/>
          </a:ln>
        </p:spPr>
      </p:cxnSp>
      <p:sp>
        <p:nvSpPr>
          <p:cNvPr id="265" name="Google Shape;265;p9"/>
          <p:cNvSpPr txBox="1"/>
          <p:nvPr/>
        </p:nvSpPr>
        <p:spPr>
          <a:xfrm>
            <a:off x="2470425" y="5334151"/>
            <a:ext cx="17017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1800">
                <a:solidFill>
                  <a:srgbClr val="FF0000"/>
                </a:solidFill>
                <a:latin typeface="Calibri"/>
                <a:ea typeface="Calibri"/>
                <a:cs typeface="Calibri"/>
                <a:sym typeface="Calibri"/>
              </a:rPr>
              <a:t>TRAINING DATA</a:t>
            </a:r>
            <a:endParaRPr b="1" sz="1800">
              <a:solidFill>
                <a:srgbClr val="FF0000"/>
              </a:solidFill>
              <a:latin typeface="Calibri"/>
              <a:ea typeface="Calibri"/>
              <a:cs typeface="Calibri"/>
              <a:sym typeface="Calibri"/>
            </a:endParaRPr>
          </a:p>
        </p:txBody>
      </p:sp>
      <p:sp>
        <p:nvSpPr>
          <p:cNvPr id="266" name="Google Shape;266;p9"/>
          <p:cNvSpPr txBox="1"/>
          <p:nvPr/>
        </p:nvSpPr>
        <p:spPr>
          <a:xfrm>
            <a:off x="3612929" y="4033745"/>
            <a:ext cx="2244534"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CA" sz="1800">
                <a:solidFill>
                  <a:srgbClr val="FF0000"/>
                </a:solidFill>
                <a:latin typeface="Calibri"/>
                <a:ea typeface="Calibri"/>
                <a:cs typeface="Calibri"/>
                <a:sym typeface="Calibri"/>
              </a:rPr>
              <a:t>MODEL PREDICTIONS (INFERENCE)</a:t>
            </a:r>
            <a:endParaRPr b="1" sz="1800">
              <a:solidFill>
                <a:srgbClr val="FF0000"/>
              </a:solidFill>
              <a:latin typeface="Calibri"/>
              <a:ea typeface="Calibri"/>
              <a:cs typeface="Calibri"/>
              <a:sym typeface="Calibri"/>
            </a:endParaRPr>
          </a:p>
        </p:txBody>
      </p:sp>
      <p:cxnSp>
        <p:nvCxnSpPr>
          <p:cNvPr id="267" name="Google Shape;267;p9"/>
          <p:cNvCxnSpPr>
            <a:stCxn id="258" idx="6"/>
          </p:cNvCxnSpPr>
          <p:nvPr/>
        </p:nvCxnSpPr>
        <p:spPr>
          <a:xfrm flipH="1" rot="10800000">
            <a:off x="2551903" y="4024026"/>
            <a:ext cx="1519200" cy="504600"/>
          </a:xfrm>
          <a:prstGeom prst="curvedConnector3">
            <a:avLst>
              <a:gd fmla="val 49995" name="adj1"/>
            </a:avLst>
          </a:prstGeom>
          <a:noFill/>
          <a:ln cap="flat" cmpd="sng" w="38100">
            <a:solidFill>
              <a:srgbClr val="FF0000"/>
            </a:solidFill>
            <a:prstDash val="solid"/>
            <a:miter lim="800000"/>
            <a:headEnd len="sm" w="sm" type="none"/>
            <a:tailEnd len="med" w="med" type="triangle"/>
          </a:ln>
        </p:spPr>
      </p:cxnSp>
      <p:cxnSp>
        <p:nvCxnSpPr>
          <p:cNvPr id="268" name="Google Shape;268;p9"/>
          <p:cNvCxnSpPr/>
          <p:nvPr/>
        </p:nvCxnSpPr>
        <p:spPr>
          <a:xfrm flipH="1" rot="-5400000">
            <a:off x="3909389" y="3154293"/>
            <a:ext cx="919200" cy="915900"/>
          </a:xfrm>
          <a:prstGeom prst="curvedConnector3">
            <a:avLst>
              <a:gd fmla="val 50005" name="adj1"/>
            </a:avLst>
          </a:prstGeom>
          <a:noFill/>
          <a:ln cap="flat" cmpd="sng" w="38100">
            <a:solidFill>
              <a:srgbClr val="FF0000"/>
            </a:solidFill>
            <a:prstDash val="solid"/>
            <a:miter lim="800000"/>
            <a:headEnd len="sm" w="sm" type="none"/>
            <a:tailEnd len="med" w="med" type="triangle"/>
          </a:ln>
        </p:spPr>
      </p:cxnSp>
      <p:cxnSp>
        <p:nvCxnSpPr>
          <p:cNvPr id="269" name="Google Shape;269;p9"/>
          <p:cNvCxnSpPr/>
          <p:nvPr/>
        </p:nvCxnSpPr>
        <p:spPr>
          <a:xfrm>
            <a:off x="1700373" y="5293220"/>
            <a:ext cx="875400" cy="372600"/>
          </a:xfrm>
          <a:prstGeom prst="curvedConnector3">
            <a:avLst>
              <a:gd fmla="val 49998" name="adj1"/>
            </a:avLst>
          </a:prstGeom>
          <a:noFill/>
          <a:ln cap="flat" cmpd="sng" w="38100">
            <a:solidFill>
              <a:srgbClr val="FF0000"/>
            </a:solidFill>
            <a:prstDash val="solid"/>
            <a:miter lim="800000"/>
            <a:headEnd len="sm" w="sm"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id="274" name="Google Shape;274;p10"/>
          <p:cNvPicPr preferRelativeResize="0"/>
          <p:nvPr/>
        </p:nvPicPr>
        <p:blipFill rotWithShape="1">
          <a:blip r:embed="rId3">
            <a:alphaModFix/>
          </a:blip>
          <a:srcRect b="0" l="0" r="0" t="0"/>
          <a:stretch/>
        </p:blipFill>
        <p:spPr>
          <a:xfrm>
            <a:off x="0" y="0"/>
            <a:ext cx="12257636" cy="6858000"/>
          </a:xfrm>
          <a:prstGeom prst="rect">
            <a:avLst/>
          </a:prstGeom>
          <a:noFill/>
          <a:ln>
            <a:noFill/>
          </a:ln>
        </p:spPr>
      </p:pic>
      <p:sp>
        <p:nvSpPr>
          <p:cNvPr id="275" name="Google Shape;275;p10"/>
          <p:cNvSpPr txBox="1"/>
          <p:nvPr/>
        </p:nvSpPr>
        <p:spPr>
          <a:xfrm>
            <a:off x="349997" y="1981200"/>
            <a:ext cx="5740923" cy="102752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4400"/>
              <a:buFont typeface="Arial"/>
              <a:buNone/>
            </a:pPr>
            <a:r>
              <a:rPr b="1" lang="en-CA" sz="4400">
                <a:solidFill>
                  <a:schemeClr val="lt1"/>
                </a:solidFill>
                <a:latin typeface="Montserrat"/>
                <a:ea typeface="Montserrat"/>
                <a:cs typeface="Montserrat"/>
                <a:sym typeface="Montserrat"/>
              </a:rPr>
              <a:t>XG-BOOST ALGORITHM: WHAT IS BOOSTING?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pic>
        <p:nvPicPr>
          <p:cNvPr id="280" name="Google Shape;280;p11"/>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281" name="Google Shape;281;p11"/>
          <p:cNvSpPr/>
          <p:nvPr/>
        </p:nvSpPr>
        <p:spPr>
          <a:xfrm>
            <a:off x="292478" y="225763"/>
            <a:ext cx="9232522" cy="71913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CA" sz="3600">
                <a:solidFill>
                  <a:schemeClr val="lt1"/>
                </a:solidFill>
                <a:latin typeface="Montserrat"/>
                <a:ea typeface="Montserrat"/>
                <a:cs typeface="Montserrat"/>
                <a:sym typeface="Montserrat"/>
              </a:rPr>
              <a:t>XGBOOST: WHAT IS BOOSTING?</a:t>
            </a:r>
            <a:endParaRPr/>
          </a:p>
        </p:txBody>
      </p:sp>
      <p:sp>
        <p:nvSpPr>
          <p:cNvPr id="282" name="Google Shape;282;p11"/>
          <p:cNvSpPr txBox="1"/>
          <p:nvPr/>
        </p:nvSpPr>
        <p:spPr>
          <a:xfrm>
            <a:off x="292478" y="1170657"/>
            <a:ext cx="11594722" cy="3128000"/>
          </a:xfrm>
          <a:prstGeom prst="rect">
            <a:avLst/>
          </a:prstGeom>
          <a:noFill/>
          <a:ln>
            <a:noFill/>
          </a:ln>
        </p:spPr>
        <p:txBody>
          <a:bodyPr anchorCtr="0" anchor="t" bIns="45700" lIns="91425" spcFirstLastPara="1" rIns="91425" wrap="square" tIns="45700">
            <a:normAutofit/>
          </a:bodyPr>
          <a:lstStyle/>
          <a:p>
            <a:pPr indent="-279400" lvl="0" marL="285750" marR="0" rtl="0" algn="l">
              <a:lnSpc>
                <a:spcPct val="90000"/>
              </a:lnSpc>
              <a:spcBef>
                <a:spcPts val="0"/>
              </a:spcBef>
              <a:spcAft>
                <a:spcPts val="0"/>
              </a:spcAft>
              <a:buClr>
                <a:schemeClr val="dk1"/>
              </a:buClr>
              <a:buSzPts val="1700"/>
              <a:buFont typeface="Arial"/>
              <a:buChar char="•"/>
            </a:pPr>
            <a:r>
              <a:rPr lang="en-CA" sz="1700">
                <a:solidFill>
                  <a:schemeClr val="dk1"/>
                </a:solidFill>
                <a:latin typeface="Montserrat"/>
                <a:ea typeface="Montserrat"/>
                <a:cs typeface="Montserrat"/>
                <a:sym typeface="Montserrat"/>
              </a:rPr>
              <a:t>Boosting works by learning from previous mistakes (errors in model predictions) to come up with better future predictions. </a:t>
            </a:r>
            <a:endParaRPr sz="1300"/>
          </a:p>
          <a:p>
            <a:pPr indent="-279400" lvl="0" marL="285750" marR="0" rtl="0" algn="l">
              <a:lnSpc>
                <a:spcPct val="90000"/>
              </a:lnSpc>
              <a:spcBef>
                <a:spcPts val="1000"/>
              </a:spcBef>
              <a:spcAft>
                <a:spcPts val="0"/>
              </a:spcAft>
              <a:buClr>
                <a:schemeClr val="dk1"/>
              </a:buClr>
              <a:buSzPts val="1700"/>
              <a:buFont typeface="Arial"/>
              <a:buChar char="•"/>
            </a:pPr>
            <a:r>
              <a:rPr lang="en-CA" sz="1700">
                <a:solidFill>
                  <a:schemeClr val="dk1"/>
                </a:solidFill>
                <a:latin typeface="Montserrat"/>
                <a:ea typeface="Montserrat"/>
                <a:cs typeface="Montserrat"/>
                <a:sym typeface="Montserrat"/>
              </a:rPr>
              <a:t>Boosting is an ensemble machine learning technique that works by training weak models in a sequential fashion. </a:t>
            </a:r>
            <a:endParaRPr sz="1300"/>
          </a:p>
          <a:p>
            <a:pPr indent="-279400" lvl="0" marL="285750" marR="0" rtl="0" algn="l">
              <a:lnSpc>
                <a:spcPct val="90000"/>
              </a:lnSpc>
              <a:spcBef>
                <a:spcPts val="1000"/>
              </a:spcBef>
              <a:spcAft>
                <a:spcPts val="0"/>
              </a:spcAft>
              <a:buClr>
                <a:schemeClr val="dk1"/>
              </a:buClr>
              <a:buSzPts val="1700"/>
              <a:buFont typeface="Arial"/>
              <a:buChar char="•"/>
            </a:pPr>
            <a:r>
              <a:rPr lang="en-CA" sz="1700">
                <a:solidFill>
                  <a:schemeClr val="dk1"/>
                </a:solidFill>
                <a:latin typeface="Montserrat"/>
                <a:ea typeface="Montserrat"/>
                <a:cs typeface="Montserrat"/>
                <a:sym typeface="Montserrat"/>
              </a:rPr>
              <a:t>Each model is trying to learn from the previous weak model and become better at making predictions. </a:t>
            </a:r>
            <a:endParaRPr sz="1300"/>
          </a:p>
          <a:p>
            <a:pPr indent="-279400" lvl="0" marL="285750" marR="0" rtl="0" algn="l">
              <a:lnSpc>
                <a:spcPct val="90000"/>
              </a:lnSpc>
              <a:spcBef>
                <a:spcPts val="1000"/>
              </a:spcBef>
              <a:spcAft>
                <a:spcPts val="0"/>
              </a:spcAft>
              <a:buClr>
                <a:schemeClr val="dk1"/>
              </a:buClr>
              <a:buSzPts val="1700"/>
              <a:buFont typeface="Arial"/>
              <a:buChar char="•"/>
            </a:pPr>
            <a:r>
              <a:rPr lang="en-CA" sz="1700">
                <a:solidFill>
                  <a:schemeClr val="dk1"/>
                </a:solidFill>
                <a:latin typeface="Montserrat"/>
                <a:ea typeface="Montserrat"/>
                <a:cs typeface="Montserrat"/>
                <a:sym typeface="Montserrat"/>
              </a:rPr>
              <a:t>Boosting algorithms work by building a model from the training data, then the second model is built based on the mistakes (residuals) of the first model. The algorithm repeats until the maximum number of models have been created or until the model provides good predictions.</a:t>
            </a:r>
            <a:endParaRPr sz="1300"/>
          </a:p>
          <a:p>
            <a:pPr indent="-171450" lvl="0" marL="285750" marR="0" rtl="0" algn="l">
              <a:lnSpc>
                <a:spcPct val="90000"/>
              </a:lnSpc>
              <a:spcBef>
                <a:spcPts val="1000"/>
              </a:spcBef>
              <a:spcAft>
                <a:spcPts val="0"/>
              </a:spcAft>
              <a:buClr>
                <a:schemeClr val="dk1"/>
              </a:buClr>
              <a:buSzPts val="1800"/>
              <a:buFont typeface="Arial"/>
              <a:buNone/>
            </a:pPr>
            <a:r>
              <a:t/>
            </a:r>
            <a:endParaRPr sz="1700">
              <a:solidFill>
                <a:schemeClr val="dk1"/>
              </a:solidFill>
              <a:latin typeface="Montserrat"/>
              <a:ea typeface="Montserrat"/>
              <a:cs typeface="Montserrat"/>
              <a:sym typeface="Montserrat"/>
            </a:endParaRPr>
          </a:p>
          <a:p>
            <a:pPr indent="0" lvl="0" marL="0" marR="0" rtl="0" algn="ctr">
              <a:lnSpc>
                <a:spcPct val="90000"/>
              </a:lnSpc>
              <a:spcBef>
                <a:spcPts val="1000"/>
              </a:spcBef>
              <a:spcAft>
                <a:spcPts val="0"/>
              </a:spcAft>
              <a:buClr>
                <a:schemeClr val="dk1"/>
              </a:buClr>
              <a:buSzPts val="1800"/>
              <a:buFont typeface="Arial"/>
              <a:buNone/>
            </a:pPr>
            <a:r>
              <a:t/>
            </a:r>
            <a:endParaRPr sz="1700">
              <a:solidFill>
                <a:schemeClr val="dk1"/>
              </a:solidFill>
              <a:latin typeface="Calibri"/>
              <a:ea typeface="Calibri"/>
              <a:cs typeface="Calibri"/>
              <a:sym typeface="Calibri"/>
            </a:endParaRPr>
          </a:p>
        </p:txBody>
      </p:sp>
      <p:sp>
        <p:nvSpPr>
          <p:cNvPr id="283" name="Google Shape;283;p11"/>
          <p:cNvSpPr/>
          <p:nvPr/>
        </p:nvSpPr>
        <p:spPr>
          <a:xfrm>
            <a:off x="762000" y="5977000"/>
            <a:ext cx="7467600"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400" u="sng">
                <a:solidFill>
                  <a:schemeClr val="dk1"/>
                </a:solidFill>
                <a:latin typeface="Calibri"/>
                <a:ea typeface="Calibri"/>
                <a:cs typeface="Calibri"/>
                <a:sym typeface="Calibri"/>
                <a:hlinkClick r:id="rId4">
                  <a:extLst>
                    <a:ext uri="{A12FA001-AC4F-418D-AE19-62706E023703}">
                      <ahyp:hlinkClr val="tx"/>
                    </a:ext>
                  </a:extLst>
                </a:hlinkClick>
              </a:rPr>
              <a:t>Great Resource: https://medium.com/greyatom/a-quick-guide-to-boosting-in-ml-acf7c1585cb5</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CA" sz="1400" u="sng">
                <a:solidFill>
                  <a:srgbClr val="002060"/>
                </a:solidFill>
                <a:latin typeface="Calibri"/>
                <a:ea typeface="Calibri"/>
                <a:cs typeface="Calibri"/>
                <a:sym typeface="Calibri"/>
                <a:hlinkClick r:id="rId5">
                  <a:extLst>
                    <a:ext uri="{A12FA001-AC4F-418D-AE19-62706E023703}">
                      <ahyp:hlinkClr val="tx"/>
                    </a:ext>
                  </a:extLst>
                </a:hlinkClick>
              </a:rPr>
              <a:t>Photo Credit: https://commons.wikimedia.org/wiki/File:Boosting.png</a:t>
            </a:r>
            <a:endParaRPr sz="1400">
              <a:solidFill>
                <a:srgbClr val="002060"/>
              </a:solidFill>
              <a:latin typeface="Calibri"/>
              <a:ea typeface="Calibri"/>
              <a:cs typeface="Calibri"/>
              <a:sym typeface="Calibri"/>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File:Boosting.png" id="284" name="Google Shape;284;p11"/>
          <p:cNvPicPr preferRelativeResize="0"/>
          <p:nvPr/>
        </p:nvPicPr>
        <p:blipFill rotWithShape="1">
          <a:blip r:embed="rId6">
            <a:alphaModFix/>
          </a:blip>
          <a:srcRect b="0" l="0" r="0" t="0"/>
          <a:stretch/>
        </p:blipFill>
        <p:spPr>
          <a:xfrm>
            <a:off x="1600200" y="3501848"/>
            <a:ext cx="8272148" cy="255463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pic>
        <p:nvPicPr>
          <p:cNvPr id="289" name="Google Shape;289;p12"/>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290" name="Google Shape;290;p12"/>
          <p:cNvSpPr/>
          <p:nvPr/>
        </p:nvSpPr>
        <p:spPr>
          <a:xfrm>
            <a:off x="216278" y="260454"/>
            <a:ext cx="9156322" cy="71913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CA" sz="3600">
                <a:solidFill>
                  <a:schemeClr val="lt1"/>
                </a:solidFill>
                <a:latin typeface="Montserrat"/>
                <a:ea typeface="Montserrat"/>
                <a:cs typeface="Montserrat"/>
                <a:sym typeface="Montserrat"/>
              </a:rPr>
              <a:t>XGBOOST: BOOSTING EXAMPLE</a:t>
            </a:r>
            <a:endParaRPr/>
          </a:p>
        </p:txBody>
      </p:sp>
      <p:sp>
        <p:nvSpPr>
          <p:cNvPr id="291" name="Google Shape;291;p12"/>
          <p:cNvSpPr/>
          <p:nvPr/>
        </p:nvSpPr>
        <p:spPr>
          <a:xfrm>
            <a:off x="4214842" y="3209165"/>
            <a:ext cx="2982897" cy="2467992"/>
          </a:xfrm>
          <a:prstGeom prst="rect">
            <a:avLst/>
          </a:prstGeom>
          <a:noFill/>
          <a:ln cap="flat" cmpd="sng" w="381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92" name="Google Shape;292;p12"/>
          <p:cNvCxnSpPr/>
          <p:nvPr/>
        </p:nvCxnSpPr>
        <p:spPr>
          <a:xfrm>
            <a:off x="4781903" y="3205235"/>
            <a:ext cx="0" cy="2467992"/>
          </a:xfrm>
          <a:prstGeom prst="straightConnector1">
            <a:avLst/>
          </a:prstGeom>
          <a:noFill/>
          <a:ln cap="flat" cmpd="sng" w="38100">
            <a:solidFill>
              <a:srgbClr val="002060"/>
            </a:solidFill>
            <a:prstDash val="solid"/>
            <a:miter lim="800000"/>
            <a:headEnd len="sm" w="sm" type="none"/>
            <a:tailEnd len="sm" w="sm" type="none"/>
          </a:ln>
        </p:spPr>
      </p:cxnSp>
      <p:sp>
        <p:nvSpPr>
          <p:cNvPr id="293" name="Google Shape;293;p12"/>
          <p:cNvSpPr/>
          <p:nvPr/>
        </p:nvSpPr>
        <p:spPr>
          <a:xfrm>
            <a:off x="4209298" y="4057492"/>
            <a:ext cx="381732" cy="381739"/>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4" name="Google Shape;294;p12"/>
          <p:cNvSpPr/>
          <p:nvPr/>
        </p:nvSpPr>
        <p:spPr>
          <a:xfrm>
            <a:off x="4397399" y="4781021"/>
            <a:ext cx="381732" cy="381739"/>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5" name="Google Shape;295;p12"/>
          <p:cNvSpPr/>
          <p:nvPr/>
        </p:nvSpPr>
        <p:spPr>
          <a:xfrm>
            <a:off x="5348965" y="3215130"/>
            <a:ext cx="381732" cy="381739"/>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6" name="Google Shape;296;p12"/>
          <p:cNvSpPr/>
          <p:nvPr/>
        </p:nvSpPr>
        <p:spPr>
          <a:xfrm>
            <a:off x="4890102" y="3534392"/>
            <a:ext cx="381732" cy="381739"/>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7" name="Google Shape;297;p12"/>
          <p:cNvSpPr/>
          <p:nvPr/>
        </p:nvSpPr>
        <p:spPr>
          <a:xfrm>
            <a:off x="5814489" y="3591843"/>
            <a:ext cx="381732" cy="381739"/>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8" name="Google Shape;298;p12"/>
          <p:cNvSpPr/>
          <p:nvPr/>
        </p:nvSpPr>
        <p:spPr>
          <a:xfrm>
            <a:off x="6664518" y="3358032"/>
            <a:ext cx="439081" cy="233811"/>
          </a:xfrm>
          <a:prstGeom prst="mathMinus">
            <a:avLst>
              <a:gd fmla="val 23520" name="adj1"/>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9" name="Google Shape;299;p12"/>
          <p:cNvSpPr/>
          <p:nvPr/>
        </p:nvSpPr>
        <p:spPr>
          <a:xfrm>
            <a:off x="4909884" y="4103151"/>
            <a:ext cx="439081" cy="233811"/>
          </a:xfrm>
          <a:prstGeom prst="mathMinus">
            <a:avLst>
              <a:gd fmla="val 23520" name="adj1"/>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0" name="Google Shape;300;p12"/>
          <p:cNvSpPr/>
          <p:nvPr/>
        </p:nvSpPr>
        <p:spPr>
          <a:xfrm>
            <a:off x="5539831" y="4388350"/>
            <a:ext cx="439081" cy="233811"/>
          </a:xfrm>
          <a:prstGeom prst="mathMinus">
            <a:avLst>
              <a:gd fmla="val 23520" name="adj1"/>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1" name="Google Shape;301;p12"/>
          <p:cNvSpPr/>
          <p:nvPr/>
        </p:nvSpPr>
        <p:spPr>
          <a:xfrm>
            <a:off x="6667474" y="4971890"/>
            <a:ext cx="439081" cy="233811"/>
          </a:xfrm>
          <a:prstGeom prst="mathMinus">
            <a:avLst>
              <a:gd fmla="val 23520" name="adj1"/>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2" name="Google Shape;302;p12"/>
          <p:cNvSpPr/>
          <p:nvPr/>
        </p:nvSpPr>
        <p:spPr>
          <a:xfrm>
            <a:off x="4901287" y="5387645"/>
            <a:ext cx="439081" cy="233811"/>
          </a:xfrm>
          <a:prstGeom prst="mathMinus">
            <a:avLst>
              <a:gd fmla="val 23520" name="adj1"/>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3" name="Google Shape;303;p12"/>
          <p:cNvSpPr/>
          <p:nvPr/>
        </p:nvSpPr>
        <p:spPr>
          <a:xfrm>
            <a:off x="4218054" y="3218534"/>
            <a:ext cx="567328" cy="2454693"/>
          </a:xfrm>
          <a:prstGeom prst="rect">
            <a:avLst/>
          </a:prstGeom>
          <a:solidFill>
            <a:srgbClr val="8DA9DB">
              <a:alpha val="54117"/>
            </a:srgbClr>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4" name="Google Shape;304;p12"/>
          <p:cNvSpPr/>
          <p:nvPr/>
        </p:nvSpPr>
        <p:spPr>
          <a:xfrm>
            <a:off x="4788154" y="3215130"/>
            <a:ext cx="2425015" cy="2458097"/>
          </a:xfrm>
          <a:prstGeom prst="rect">
            <a:avLst/>
          </a:prstGeom>
          <a:solidFill>
            <a:srgbClr val="F7CAAC">
              <a:alpha val="40000"/>
            </a:srgbClr>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5" name="Google Shape;305;p12"/>
          <p:cNvSpPr txBox="1"/>
          <p:nvPr/>
        </p:nvSpPr>
        <p:spPr>
          <a:xfrm>
            <a:off x="437191" y="1272652"/>
            <a:ext cx="9946329" cy="4525963"/>
          </a:xfrm>
          <a:prstGeom prst="rect">
            <a:avLst/>
          </a:prstGeom>
          <a:noFill/>
          <a:ln>
            <a:noFill/>
          </a:ln>
        </p:spPr>
        <p:txBody>
          <a:bodyPr anchorCtr="0" anchor="t" bIns="45700" lIns="91425" spcFirstLastPara="1" rIns="91425" wrap="square" tIns="45700">
            <a:normAutofit/>
          </a:bodyPr>
          <a:lstStyle/>
          <a:p>
            <a:pPr indent="-285750" lvl="0" marL="285750" marR="0" rtl="0" algn="l">
              <a:lnSpc>
                <a:spcPct val="90000"/>
              </a:lnSpc>
              <a:spcBef>
                <a:spcPts val="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Model #1 works by attempting to classify the two classes (+) and (-) with the vertical line shown. </a:t>
            </a:r>
            <a:endParaRPr/>
          </a:p>
          <a:p>
            <a:pPr indent="-285750" lvl="0" marL="285750" marR="0" rtl="0" algn="l">
              <a:lnSpc>
                <a:spcPct val="90000"/>
              </a:lnSpc>
              <a:spcBef>
                <a:spcPts val="100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Model #1 has assigned equal weights to all data points since it has no prior knowledge or experience from before.</a:t>
            </a:r>
            <a:endParaRPr/>
          </a:p>
          <a:p>
            <a:pPr indent="-285750" lvl="0" marL="285750" marR="0" rtl="0" algn="l">
              <a:lnSpc>
                <a:spcPct val="90000"/>
              </a:lnSpc>
              <a:spcBef>
                <a:spcPts val="100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Model #1 misclassified 3 (+) samples. </a:t>
            </a:r>
            <a:endParaRPr/>
          </a:p>
          <a:p>
            <a:pPr indent="-171450" lvl="0" marL="285750" marR="0" rtl="0" algn="l">
              <a:lnSpc>
                <a:spcPct val="90000"/>
              </a:lnSpc>
              <a:spcBef>
                <a:spcPts val="100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pic>
        <p:nvPicPr>
          <p:cNvPr id="310" name="Google Shape;310;p13"/>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311" name="Google Shape;311;p13"/>
          <p:cNvSpPr/>
          <p:nvPr/>
        </p:nvSpPr>
        <p:spPr>
          <a:xfrm>
            <a:off x="216278" y="260454"/>
            <a:ext cx="9613522" cy="71913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CA" sz="3600">
                <a:solidFill>
                  <a:schemeClr val="lt1"/>
                </a:solidFill>
                <a:latin typeface="Montserrat"/>
                <a:ea typeface="Montserrat"/>
                <a:cs typeface="Montserrat"/>
                <a:sym typeface="Montserrat"/>
              </a:rPr>
              <a:t>XGBOOST: BOOSTING EXAMPLE</a:t>
            </a:r>
            <a:endParaRPr/>
          </a:p>
        </p:txBody>
      </p:sp>
      <p:sp>
        <p:nvSpPr>
          <p:cNvPr id="312" name="Google Shape;312;p13"/>
          <p:cNvSpPr/>
          <p:nvPr/>
        </p:nvSpPr>
        <p:spPr>
          <a:xfrm>
            <a:off x="4281269" y="3453751"/>
            <a:ext cx="2982897" cy="2467992"/>
          </a:xfrm>
          <a:prstGeom prst="rect">
            <a:avLst/>
          </a:prstGeom>
          <a:noFill/>
          <a:ln cap="flat" cmpd="sng" w="381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13" name="Google Shape;313;p13"/>
          <p:cNvCxnSpPr/>
          <p:nvPr/>
        </p:nvCxnSpPr>
        <p:spPr>
          <a:xfrm>
            <a:off x="6600930" y="3449821"/>
            <a:ext cx="0" cy="2467992"/>
          </a:xfrm>
          <a:prstGeom prst="straightConnector1">
            <a:avLst/>
          </a:prstGeom>
          <a:noFill/>
          <a:ln cap="flat" cmpd="sng" w="38100">
            <a:solidFill>
              <a:srgbClr val="002060"/>
            </a:solidFill>
            <a:prstDash val="solid"/>
            <a:miter lim="800000"/>
            <a:headEnd len="sm" w="sm" type="none"/>
            <a:tailEnd len="sm" w="sm" type="none"/>
          </a:ln>
        </p:spPr>
      </p:cxnSp>
      <p:sp>
        <p:nvSpPr>
          <p:cNvPr id="314" name="Google Shape;314;p13"/>
          <p:cNvSpPr/>
          <p:nvPr/>
        </p:nvSpPr>
        <p:spPr>
          <a:xfrm>
            <a:off x="4275725" y="4302078"/>
            <a:ext cx="381732" cy="381739"/>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5" name="Google Shape;315;p13"/>
          <p:cNvSpPr/>
          <p:nvPr/>
        </p:nvSpPr>
        <p:spPr>
          <a:xfrm>
            <a:off x="4463826" y="5025607"/>
            <a:ext cx="381732" cy="381739"/>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6" name="Google Shape;316;p13"/>
          <p:cNvSpPr/>
          <p:nvPr/>
        </p:nvSpPr>
        <p:spPr>
          <a:xfrm>
            <a:off x="5284820" y="3429000"/>
            <a:ext cx="720011" cy="745119"/>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7" name="Google Shape;317;p13"/>
          <p:cNvSpPr/>
          <p:nvPr/>
        </p:nvSpPr>
        <p:spPr>
          <a:xfrm>
            <a:off x="4825957" y="3748262"/>
            <a:ext cx="720011" cy="745119"/>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8" name="Google Shape;318;p13"/>
          <p:cNvSpPr/>
          <p:nvPr/>
        </p:nvSpPr>
        <p:spPr>
          <a:xfrm>
            <a:off x="5750344" y="3805713"/>
            <a:ext cx="720011" cy="745119"/>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9" name="Google Shape;319;p13"/>
          <p:cNvSpPr/>
          <p:nvPr/>
        </p:nvSpPr>
        <p:spPr>
          <a:xfrm>
            <a:off x="6730945" y="3602618"/>
            <a:ext cx="439081" cy="233811"/>
          </a:xfrm>
          <a:prstGeom prst="mathMinus">
            <a:avLst>
              <a:gd fmla="val 23520" name="adj1"/>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0" name="Google Shape;320;p13"/>
          <p:cNvSpPr/>
          <p:nvPr/>
        </p:nvSpPr>
        <p:spPr>
          <a:xfrm>
            <a:off x="4976311" y="4347737"/>
            <a:ext cx="439081" cy="233811"/>
          </a:xfrm>
          <a:prstGeom prst="mathMinus">
            <a:avLst>
              <a:gd fmla="val 23520" name="adj1"/>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1" name="Google Shape;321;p13"/>
          <p:cNvSpPr/>
          <p:nvPr/>
        </p:nvSpPr>
        <p:spPr>
          <a:xfrm>
            <a:off x="5606258" y="4632936"/>
            <a:ext cx="439081" cy="233811"/>
          </a:xfrm>
          <a:prstGeom prst="mathMinus">
            <a:avLst>
              <a:gd fmla="val 23520" name="adj1"/>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2" name="Google Shape;322;p13"/>
          <p:cNvSpPr/>
          <p:nvPr/>
        </p:nvSpPr>
        <p:spPr>
          <a:xfrm>
            <a:off x="6733901" y="5216476"/>
            <a:ext cx="439081" cy="233811"/>
          </a:xfrm>
          <a:prstGeom prst="mathMinus">
            <a:avLst>
              <a:gd fmla="val 23520" name="adj1"/>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3" name="Google Shape;323;p13"/>
          <p:cNvSpPr/>
          <p:nvPr/>
        </p:nvSpPr>
        <p:spPr>
          <a:xfrm>
            <a:off x="4275725" y="3465597"/>
            <a:ext cx="2302821" cy="2454693"/>
          </a:xfrm>
          <a:prstGeom prst="rect">
            <a:avLst/>
          </a:prstGeom>
          <a:solidFill>
            <a:srgbClr val="8DA9DB">
              <a:alpha val="54117"/>
            </a:srgbClr>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4" name="Google Shape;324;p13"/>
          <p:cNvSpPr txBox="1"/>
          <p:nvPr/>
        </p:nvSpPr>
        <p:spPr>
          <a:xfrm>
            <a:off x="437191" y="1272652"/>
            <a:ext cx="9905689" cy="4525963"/>
          </a:xfrm>
          <a:prstGeom prst="rect">
            <a:avLst/>
          </a:prstGeom>
          <a:noFill/>
          <a:ln>
            <a:noFill/>
          </a:ln>
        </p:spPr>
        <p:txBody>
          <a:bodyPr anchorCtr="0" anchor="t" bIns="45700" lIns="91425" spcFirstLastPara="1" rIns="91425" wrap="square" tIns="45700">
            <a:normAutofit/>
          </a:bodyPr>
          <a:lstStyle/>
          <a:p>
            <a:pPr indent="-285750" lvl="0" marL="285750" marR="0" rtl="0" algn="l">
              <a:lnSpc>
                <a:spcPct val="90000"/>
              </a:lnSpc>
              <a:spcBef>
                <a:spcPts val="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Model #2 learns from the mistakes of the previous model and assigns more weight to the wrongly classified data points (3 +) as shown in the figure below. </a:t>
            </a:r>
            <a:endParaRPr/>
          </a:p>
          <a:p>
            <a:pPr indent="-285750" lvl="0" marL="285750" marR="0" rtl="0" algn="l">
              <a:lnSpc>
                <a:spcPct val="90000"/>
              </a:lnSpc>
              <a:spcBef>
                <a:spcPts val="100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So model #2 draws a vertical separating line and “made sure” to properly classify these points this time!</a:t>
            </a:r>
            <a:endParaRPr/>
          </a:p>
          <a:p>
            <a:pPr indent="-285750" lvl="0" marL="285750" marR="0" rtl="0" algn="l">
              <a:lnSpc>
                <a:spcPct val="90000"/>
              </a:lnSpc>
              <a:spcBef>
                <a:spcPts val="100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The model did a great job correctly classifying points with higher weights but in the process, it has misclassified two red (-) samples. </a:t>
            </a:r>
            <a:endParaRPr/>
          </a:p>
          <a:p>
            <a:pPr indent="-171450" lvl="0" marL="285750" marR="0" rtl="0" algn="l">
              <a:lnSpc>
                <a:spcPct val="90000"/>
              </a:lnSpc>
              <a:spcBef>
                <a:spcPts val="100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
        <p:nvSpPr>
          <p:cNvPr id="325" name="Google Shape;325;p13"/>
          <p:cNvSpPr/>
          <p:nvPr/>
        </p:nvSpPr>
        <p:spPr>
          <a:xfrm>
            <a:off x="6596347" y="3461681"/>
            <a:ext cx="667820" cy="2458097"/>
          </a:xfrm>
          <a:prstGeom prst="rect">
            <a:avLst/>
          </a:prstGeom>
          <a:solidFill>
            <a:srgbClr val="F7CAAC">
              <a:alpha val="40000"/>
            </a:srgbClr>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pic>
        <p:nvPicPr>
          <p:cNvPr id="330" name="Google Shape;330;p14"/>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331" name="Google Shape;331;p14"/>
          <p:cNvSpPr/>
          <p:nvPr/>
        </p:nvSpPr>
        <p:spPr>
          <a:xfrm>
            <a:off x="216278" y="260454"/>
            <a:ext cx="9080122" cy="71913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CA" sz="3600">
                <a:solidFill>
                  <a:schemeClr val="lt1"/>
                </a:solidFill>
                <a:latin typeface="Montserrat"/>
                <a:ea typeface="Montserrat"/>
                <a:cs typeface="Montserrat"/>
                <a:sym typeface="Montserrat"/>
              </a:rPr>
              <a:t>XGBOOST: BOOSTING EXAMPLE</a:t>
            </a:r>
            <a:endParaRPr/>
          </a:p>
        </p:txBody>
      </p:sp>
      <p:sp>
        <p:nvSpPr>
          <p:cNvPr id="332" name="Google Shape;332;p14"/>
          <p:cNvSpPr/>
          <p:nvPr/>
        </p:nvSpPr>
        <p:spPr>
          <a:xfrm>
            <a:off x="4232596" y="3886270"/>
            <a:ext cx="2982897" cy="2467992"/>
          </a:xfrm>
          <a:prstGeom prst="rect">
            <a:avLst/>
          </a:prstGeom>
          <a:noFill/>
          <a:ln cap="flat" cmpd="sng" w="381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33" name="Google Shape;333;p14"/>
          <p:cNvCxnSpPr/>
          <p:nvPr/>
        </p:nvCxnSpPr>
        <p:spPr>
          <a:xfrm rot="10800000">
            <a:off x="4217167" y="4638868"/>
            <a:ext cx="2998326" cy="0"/>
          </a:xfrm>
          <a:prstGeom prst="straightConnector1">
            <a:avLst/>
          </a:prstGeom>
          <a:noFill/>
          <a:ln cap="flat" cmpd="sng" w="38100">
            <a:solidFill>
              <a:srgbClr val="002060"/>
            </a:solidFill>
            <a:prstDash val="solid"/>
            <a:miter lim="800000"/>
            <a:headEnd len="sm" w="sm" type="none"/>
            <a:tailEnd len="sm" w="sm" type="none"/>
          </a:ln>
        </p:spPr>
      </p:cxnSp>
      <p:sp>
        <p:nvSpPr>
          <p:cNvPr id="334" name="Google Shape;334;p14"/>
          <p:cNvSpPr/>
          <p:nvPr/>
        </p:nvSpPr>
        <p:spPr>
          <a:xfrm>
            <a:off x="4227052" y="4734597"/>
            <a:ext cx="381732" cy="381739"/>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5" name="Google Shape;335;p14"/>
          <p:cNvSpPr/>
          <p:nvPr/>
        </p:nvSpPr>
        <p:spPr>
          <a:xfrm>
            <a:off x="4415153" y="5458126"/>
            <a:ext cx="381732" cy="381739"/>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6" name="Google Shape;336;p14"/>
          <p:cNvSpPr/>
          <p:nvPr/>
        </p:nvSpPr>
        <p:spPr>
          <a:xfrm>
            <a:off x="5366719" y="3892235"/>
            <a:ext cx="381732" cy="381739"/>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7" name="Google Shape;337;p14"/>
          <p:cNvSpPr/>
          <p:nvPr/>
        </p:nvSpPr>
        <p:spPr>
          <a:xfrm>
            <a:off x="4907856" y="4211497"/>
            <a:ext cx="381732" cy="381739"/>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8" name="Google Shape;338;p14"/>
          <p:cNvSpPr/>
          <p:nvPr/>
        </p:nvSpPr>
        <p:spPr>
          <a:xfrm>
            <a:off x="5832243" y="4268948"/>
            <a:ext cx="381732" cy="381739"/>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9" name="Google Shape;339;p14"/>
          <p:cNvSpPr/>
          <p:nvPr/>
        </p:nvSpPr>
        <p:spPr>
          <a:xfrm>
            <a:off x="6682272" y="4035137"/>
            <a:ext cx="439081" cy="233811"/>
          </a:xfrm>
          <a:prstGeom prst="mathMinus">
            <a:avLst>
              <a:gd fmla="val 23520" name="adj1"/>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0" name="Google Shape;340;p14"/>
          <p:cNvSpPr/>
          <p:nvPr/>
        </p:nvSpPr>
        <p:spPr>
          <a:xfrm>
            <a:off x="4736772" y="4692655"/>
            <a:ext cx="820813" cy="422666"/>
          </a:xfrm>
          <a:prstGeom prst="mathMinus">
            <a:avLst>
              <a:gd fmla="val 23520" name="adj1"/>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1" name="Google Shape;341;p14"/>
          <p:cNvSpPr/>
          <p:nvPr/>
        </p:nvSpPr>
        <p:spPr>
          <a:xfrm>
            <a:off x="5557585" y="5021843"/>
            <a:ext cx="820813" cy="442606"/>
          </a:xfrm>
          <a:prstGeom prst="mathMinus">
            <a:avLst>
              <a:gd fmla="val 23520" name="adj1"/>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2" name="Google Shape;342;p14"/>
          <p:cNvSpPr/>
          <p:nvPr/>
        </p:nvSpPr>
        <p:spPr>
          <a:xfrm>
            <a:off x="6729342" y="5649398"/>
            <a:ext cx="439081" cy="233811"/>
          </a:xfrm>
          <a:prstGeom prst="mathMinus">
            <a:avLst>
              <a:gd fmla="val 23520" name="adj1"/>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3" name="Google Shape;343;p14"/>
          <p:cNvSpPr/>
          <p:nvPr/>
        </p:nvSpPr>
        <p:spPr>
          <a:xfrm>
            <a:off x="4919041" y="6064750"/>
            <a:ext cx="439081" cy="233811"/>
          </a:xfrm>
          <a:prstGeom prst="mathMinus">
            <a:avLst>
              <a:gd fmla="val 23520" name="adj1"/>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4" name="Google Shape;344;p14"/>
          <p:cNvSpPr/>
          <p:nvPr/>
        </p:nvSpPr>
        <p:spPr>
          <a:xfrm>
            <a:off x="4226326" y="3893716"/>
            <a:ext cx="2982896" cy="722048"/>
          </a:xfrm>
          <a:prstGeom prst="rect">
            <a:avLst/>
          </a:prstGeom>
          <a:solidFill>
            <a:srgbClr val="8DA9DB">
              <a:alpha val="54117"/>
            </a:srgbClr>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5" name="Google Shape;345;p14"/>
          <p:cNvSpPr/>
          <p:nvPr/>
        </p:nvSpPr>
        <p:spPr>
          <a:xfrm>
            <a:off x="4260747" y="4661973"/>
            <a:ext cx="2926594" cy="1672796"/>
          </a:xfrm>
          <a:prstGeom prst="rect">
            <a:avLst/>
          </a:prstGeom>
          <a:solidFill>
            <a:srgbClr val="F7CAAC">
              <a:alpha val="40000"/>
            </a:srgbClr>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6" name="Google Shape;346;p14"/>
          <p:cNvSpPr txBox="1"/>
          <p:nvPr/>
        </p:nvSpPr>
        <p:spPr>
          <a:xfrm>
            <a:off x="437191" y="1272652"/>
            <a:ext cx="10106688" cy="4525963"/>
          </a:xfrm>
          <a:prstGeom prst="rect">
            <a:avLst/>
          </a:prstGeom>
          <a:noFill/>
          <a:ln>
            <a:noFill/>
          </a:ln>
        </p:spPr>
        <p:txBody>
          <a:bodyPr anchorCtr="0" anchor="t" bIns="45700" lIns="91425" spcFirstLastPara="1" rIns="91425" wrap="square" tIns="45700">
            <a:normAutofit/>
          </a:bodyPr>
          <a:lstStyle/>
          <a:p>
            <a:pPr indent="-285750" lvl="0" marL="285750" marR="0" rtl="0" algn="l">
              <a:lnSpc>
                <a:spcPct val="90000"/>
              </a:lnSpc>
              <a:spcBef>
                <a:spcPts val="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Model #3 learns from the mistakes of the previous model and assigns more weight to the wrongly classified data points (2 -) as shown in the figure below. </a:t>
            </a:r>
            <a:endParaRPr/>
          </a:p>
          <a:p>
            <a:pPr indent="-285750" lvl="0" marL="285750" marR="0" rtl="0" algn="l">
              <a:lnSpc>
                <a:spcPct val="90000"/>
              </a:lnSpc>
              <a:spcBef>
                <a:spcPts val="100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So model #3 draws a horizontal separating line and “made sure” to properly classify these points this time!</a:t>
            </a:r>
            <a:endParaRPr/>
          </a:p>
          <a:p>
            <a:pPr indent="-285750" lvl="0" marL="285750" marR="0" rtl="0" algn="l">
              <a:lnSpc>
                <a:spcPct val="90000"/>
              </a:lnSpc>
              <a:spcBef>
                <a:spcPts val="100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The model did a great job correctly classifying points with higher weights but in the process, it has misclassified two blue (+) samples. </a:t>
            </a:r>
            <a:endParaRPr/>
          </a:p>
          <a:p>
            <a:pPr indent="-171450" lvl="0" marL="285750" marR="0" rtl="0" algn="l">
              <a:lnSpc>
                <a:spcPct val="90000"/>
              </a:lnSpc>
              <a:spcBef>
                <a:spcPts val="100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pic>
        <p:nvPicPr>
          <p:cNvPr id="351" name="Google Shape;351;p15"/>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352" name="Google Shape;352;p15"/>
          <p:cNvSpPr/>
          <p:nvPr/>
        </p:nvSpPr>
        <p:spPr>
          <a:xfrm>
            <a:off x="216278" y="260454"/>
            <a:ext cx="8775322" cy="71913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CA" sz="3600">
                <a:solidFill>
                  <a:schemeClr val="lt1"/>
                </a:solidFill>
                <a:latin typeface="Montserrat"/>
                <a:ea typeface="Montserrat"/>
                <a:cs typeface="Montserrat"/>
                <a:sym typeface="Montserrat"/>
              </a:rPr>
              <a:t>XGBOOST: BOOSTING EXAMPLE</a:t>
            </a:r>
            <a:endParaRPr/>
          </a:p>
        </p:txBody>
      </p:sp>
      <p:sp>
        <p:nvSpPr>
          <p:cNvPr id="353" name="Google Shape;353;p15"/>
          <p:cNvSpPr/>
          <p:nvPr/>
        </p:nvSpPr>
        <p:spPr>
          <a:xfrm>
            <a:off x="4329477" y="3151693"/>
            <a:ext cx="2982897" cy="2467992"/>
          </a:xfrm>
          <a:prstGeom prst="rect">
            <a:avLst/>
          </a:prstGeom>
          <a:noFill/>
          <a:ln cap="flat" cmpd="sng" w="381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54" name="Google Shape;354;p15"/>
          <p:cNvCxnSpPr/>
          <p:nvPr/>
        </p:nvCxnSpPr>
        <p:spPr>
          <a:xfrm>
            <a:off x="4896538" y="3147763"/>
            <a:ext cx="0" cy="2467992"/>
          </a:xfrm>
          <a:prstGeom prst="straightConnector1">
            <a:avLst/>
          </a:prstGeom>
          <a:noFill/>
          <a:ln cap="flat" cmpd="sng" w="38100">
            <a:solidFill>
              <a:srgbClr val="002060"/>
            </a:solidFill>
            <a:prstDash val="solid"/>
            <a:miter lim="800000"/>
            <a:headEnd len="sm" w="sm" type="none"/>
            <a:tailEnd len="sm" w="sm" type="none"/>
          </a:ln>
        </p:spPr>
      </p:cxnSp>
      <p:sp>
        <p:nvSpPr>
          <p:cNvPr id="355" name="Google Shape;355;p15"/>
          <p:cNvSpPr/>
          <p:nvPr/>
        </p:nvSpPr>
        <p:spPr>
          <a:xfrm>
            <a:off x="4323933" y="4000020"/>
            <a:ext cx="381732" cy="381739"/>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6" name="Google Shape;356;p15"/>
          <p:cNvSpPr/>
          <p:nvPr/>
        </p:nvSpPr>
        <p:spPr>
          <a:xfrm>
            <a:off x="4512034" y="4723549"/>
            <a:ext cx="381732" cy="381739"/>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7" name="Google Shape;357;p15"/>
          <p:cNvSpPr/>
          <p:nvPr/>
        </p:nvSpPr>
        <p:spPr>
          <a:xfrm>
            <a:off x="5463600" y="3157658"/>
            <a:ext cx="381732" cy="381739"/>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8" name="Google Shape;358;p15"/>
          <p:cNvSpPr/>
          <p:nvPr/>
        </p:nvSpPr>
        <p:spPr>
          <a:xfrm>
            <a:off x="5004737" y="3476920"/>
            <a:ext cx="381732" cy="381739"/>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9" name="Google Shape;359;p15"/>
          <p:cNvSpPr/>
          <p:nvPr/>
        </p:nvSpPr>
        <p:spPr>
          <a:xfrm>
            <a:off x="5929124" y="3534371"/>
            <a:ext cx="381732" cy="381739"/>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0" name="Google Shape;360;p15"/>
          <p:cNvSpPr/>
          <p:nvPr/>
        </p:nvSpPr>
        <p:spPr>
          <a:xfrm>
            <a:off x="6779153" y="3300560"/>
            <a:ext cx="439081" cy="233811"/>
          </a:xfrm>
          <a:prstGeom prst="mathMinus">
            <a:avLst>
              <a:gd fmla="val 23520" name="adj1"/>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1" name="Google Shape;361;p15"/>
          <p:cNvSpPr/>
          <p:nvPr/>
        </p:nvSpPr>
        <p:spPr>
          <a:xfrm>
            <a:off x="5024519" y="4045679"/>
            <a:ext cx="439081" cy="233811"/>
          </a:xfrm>
          <a:prstGeom prst="mathMinus">
            <a:avLst>
              <a:gd fmla="val 23520" name="adj1"/>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2" name="Google Shape;362;p15"/>
          <p:cNvSpPr/>
          <p:nvPr/>
        </p:nvSpPr>
        <p:spPr>
          <a:xfrm>
            <a:off x="5654466" y="4330878"/>
            <a:ext cx="439081" cy="233811"/>
          </a:xfrm>
          <a:prstGeom prst="mathMinus">
            <a:avLst>
              <a:gd fmla="val 23520" name="adj1"/>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3" name="Google Shape;363;p15"/>
          <p:cNvSpPr/>
          <p:nvPr/>
        </p:nvSpPr>
        <p:spPr>
          <a:xfrm>
            <a:off x="6782109" y="4914418"/>
            <a:ext cx="439081" cy="233811"/>
          </a:xfrm>
          <a:prstGeom prst="mathMinus">
            <a:avLst>
              <a:gd fmla="val 23520" name="adj1"/>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4" name="Google Shape;364;p15"/>
          <p:cNvSpPr/>
          <p:nvPr/>
        </p:nvSpPr>
        <p:spPr>
          <a:xfrm>
            <a:off x="5015922" y="5330173"/>
            <a:ext cx="439081" cy="233811"/>
          </a:xfrm>
          <a:prstGeom prst="mathMinus">
            <a:avLst>
              <a:gd fmla="val 23520" name="adj1"/>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5" name="Google Shape;365;p15"/>
          <p:cNvSpPr/>
          <p:nvPr/>
        </p:nvSpPr>
        <p:spPr>
          <a:xfrm>
            <a:off x="4321583" y="3143833"/>
            <a:ext cx="567328" cy="2454693"/>
          </a:xfrm>
          <a:prstGeom prst="rect">
            <a:avLst/>
          </a:prstGeom>
          <a:solidFill>
            <a:srgbClr val="8DA9DB">
              <a:alpha val="54117"/>
            </a:srgbClr>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6" name="Google Shape;366;p15"/>
          <p:cNvSpPr/>
          <p:nvPr/>
        </p:nvSpPr>
        <p:spPr>
          <a:xfrm rot="5400000">
            <a:off x="5129438" y="2381487"/>
            <a:ext cx="746668" cy="2322578"/>
          </a:xfrm>
          <a:prstGeom prst="rect">
            <a:avLst/>
          </a:prstGeom>
          <a:solidFill>
            <a:srgbClr val="8DA9DB">
              <a:alpha val="54117"/>
            </a:srgbClr>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67" name="Google Shape;367;p15"/>
          <p:cNvCxnSpPr/>
          <p:nvPr/>
        </p:nvCxnSpPr>
        <p:spPr>
          <a:xfrm flipH="1" rot="10800000">
            <a:off x="4321583" y="3900588"/>
            <a:ext cx="2998326" cy="1282"/>
          </a:xfrm>
          <a:prstGeom prst="straightConnector1">
            <a:avLst/>
          </a:prstGeom>
          <a:noFill/>
          <a:ln cap="flat" cmpd="sng" w="38100">
            <a:solidFill>
              <a:srgbClr val="002060"/>
            </a:solidFill>
            <a:prstDash val="solid"/>
            <a:miter lim="800000"/>
            <a:headEnd len="sm" w="sm" type="none"/>
            <a:tailEnd len="sm" w="sm" type="none"/>
          </a:ln>
        </p:spPr>
      </p:cxnSp>
      <p:cxnSp>
        <p:nvCxnSpPr>
          <p:cNvPr id="368" name="Google Shape;368;p15"/>
          <p:cNvCxnSpPr/>
          <p:nvPr/>
        </p:nvCxnSpPr>
        <p:spPr>
          <a:xfrm>
            <a:off x="6666613" y="3169442"/>
            <a:ext cx="8597" cy="2394542"/>
          </a:xfrm>
          <a:prstGeom prst="straightConnector1">
            <a:avLst/>
          </a:prstGeom>
          <a:noFill/>
          <a:ln cap="flat" cmpd="sng" w="38100">
            <a:solidFill>
              <a:srgbClr val="002060"/>
            </a:solidFill>
            <a:prstDash val="solid"/>
            <a:miter lim="800000"/>
            <a:headEnd len="sm" w="sm" type="none"/>
            <a:tailEnd len="sm" w="sm" type="none"/>
          </a:ln>
        </p:spPr>
      </p:cxnSp>
      <p:sp>
        <p:nvSpPr>
          <p:cNvPr id="369" name="Google Shape;369;p15"/>
          <p:cNvSpPr txBox="1"/>
          <p:nvPr/>
        </p:nvSpPr>
        <p:spPr>
          <a:xfrm>
            <a:off x="437191" y="1272652"/>
            <a:ext cx="9783769" cy="4525963"/>
          </a:xfrm>
          <a:prstGeom prst="rect">
            <a:avLst/>
          </a:prstGeom>
          <a:noFill/>
          <a:ln>
            <a:noFill/>
          </a:ln>
        </p:spPr>
        <p:txBody>
          <a:bodyPr anchorCtr="0" anchor="t" bIns="45700" lIns="91425" spcFirstLastPara="1" rIns="91425" wrap="square" tIns="45700">
            <a:normAutofit/>
          </a:bodyPr>
          <a:lstStyle/>
          <a:p>
            <a:pPr indent="-285750" lvl="0" marL="285750" marR="0" rtl="0" algn="l">
              <a:lnSpc>
                <a:spcPct val="90000"/>
              </a:lnSpc>
              <a:spcBef>
                <a:spcPts val="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Model #4 combines all the mistakes from all these weak models to build a much stronger model that correctly classifies all data points. </a:t>
            </a:r>
            <a:endParaRPr sz="1800">
              <a:solidFill>
                <a:schemeClr val="dk1"/>
              </a:solidFill>
              <a:latin typeface="Calibri"/>
              <a:ea typeface="Calibri"/>
              <a:cs typeface="Calibri"/>
              <a:sym typeface="Calibri"/>
            </a:endParaRPr>
          </a:p>
        </p:txBody>
      </p:sp>
      <p:sp>
        <p:nvSpPr>
          <p:cNvPr id="370" name="Google Shape;370;p15"/>
          <p:cNvSpPr/>
          <p:nvPr/>
        </p:nvSpPr>
        <p:spPr>
          <a:xfrm>
            <a:off x="4888222" y="3887383"/>
            <a:ext cx="2415555" cy="1754086"/>
          </a:xfrm>
          <a:prstGeom prst="rect">
            <a:avLst/>
          </a:prstGeom>
          <a:solidFill>
            <a:srgbClr val="F7CAAC">
              <a:alpha val="40000"/>
            </a:srgbClr>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1" name="Google Shape;371;p15"/>
          <p:cNvSpPr/>
          <p:nvPr/>
        </p:nvSpPr>
        <p:spPr>
          <a:xfrm>
            <a:off x="6673246" y="3173729"/>
            <a:ext cx="630532" cy="693581"/>
          </a:xfrm>
          <a:prstGeom prst="rect">
            <a:avLst/>
          </a:prstGeom>
          <a:solidFill>
            <a:srgbClr val="F7CAAC">
              <a:alpha val="40000"/>
            </a:srgbClr>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pic>
        <p:nvPicPr>
          <p:cNvPr id="376" name="Google Shape;376;p16"/>
          <p:cNvPicPr preferRelativeResize="0"/>
          <p:nvPr/>
        </p:nvPicPr>
        <p:blipFill rotWithShape="1">
          <a:blip r:embed="rId3">
            <a:alphaModFix/>
          </a:blip>
          <a:srcRect b="0" l="0" r="0" t="0"/>
          <a:stretch/>
        </p:blipFill>
        <p:spPr>
          <a:xfrm>
            <a:off x="0" y="0"/>
            <a:ext cx="12257636" cy="6858000"/>
          </a:xfrm>
          <a:prstGeom prst="rect">
            <a:avLst/>
          </a:prstGeom>
          <a:noFill/>
          <a:ln>
            <a:noFill/>
          </a:ln>
        </p:spPr>
      </p:pic>
      <p:sp>
        <p:nvSpPr>
          <p:cNvPr id="377" name="Google Shape;377;p16"/>
          <p:cNvSpPr txBox="1"/>
          <p:nvPr/>
        </p:nvSpPr>
        <p:spPr>
          <a:xfrm>
            <a:off x="349997" y="1981200"/>
            <a:ext cx="5740923" cy="102752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4400"/>
              <a:buFont typeface="Arial"/>
              <a:buNone/>
            </a:pPr>
            <a:r>
              <a:rPr b="1" lang="en-CA" sz="4400">
                <a:solidFill>
                  <a:schemeClr val="lt1"/>
                </a:solidFill>
                <a:latin typeface="Montserrat"/>
                <a:ea typeface="Montserrat"/>
                <a:cs typeface="Montserrat"/>
                <a:sym typeface="Montserrat"/>
              </a:rPr>
              <a:t>XG-BOOST ALGORITHM: ENSEMBLE LEARNING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pic>
        <p:nvPicPr>
          <p:cNvPr id="382" name="Google Shape;382;p17"/>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383" name="Google Shape;383;p17"/>
          <p:cNvSpPr txBox="1"/>
          <p:nvPr/>
        </p:nvSpPr>
        <p:spPr>
          <a:xfrm>
            <a:off x="280486" y="187686"/>
            <a:ext cx="10783865" cy="121772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CA" sz="3600">
                <a:solidFill>
                  <a:schemeClr val="lt1"/>
                </a:solidFill>
                <a:latin typeface="Montserrat"/>
                <a:ea typeface="Montserrat"/>
                <a:cs typeface="Montserrat"/>
                <a:sym typeface="Montserrat"/>
              </a:rPr>
              <a:t>XGBOOST: WHAT IS ENSEMBLE LEARNING?</a:t>
            </a:r>
            <a:endParaRPr/>
          </a:p>
        </p:txBody>
      </p:sp>
      <p:sp>
        <p:nvSpPr>
          <p:cNvPr id="384" name="Google Shape;384;p17"/>
          <p:cNvSpPr txBox="1"/>
          <p:nvPr/>
        </p:nvSpPr>
        <p:spPr>
          <a:xfrm>
            <a:off x="304201" y="1295400"/>
            <a:ext cx="6802341" cy="4516769"/>
          </a:xfrm>
          <a:prstGeom prst="rect">
            <a:avLst/>
          </a:prstGeom>
          <a:noFill/>
          <a:ln>
            <a:noFill/>
          </a:ln>
        </p:spPr>
        <p:txBody>
          <a:bodyPr anchorCtr="0" anchor="t" bIns="45700" lIns="91425" spcFirstLastPara="1" rIns="91425" wrap="square" tIns="45700">
            <a:normAutofit/>
          </a:bodyPr>
          <a:lstStyle/>
          <a:p>
            <a:pPr indent="-285750" lvl="0" marL="285750" marR="0" rtl="0" algn="l">
              <a:lnSpc>
                <a:spcPct val="90000"/>
              </a:lnSpc>
              <a:spcBef>
                <a:spcPts val="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XGBoost is an example of ensemble learning. </a:t>
            </a:r>
            <a:endParaRPr/>
          </a:p>
          <a:p>
            <a:pPr indent="-285750" lvl="0" marL="285750" marR="0" rtl="0" algn="l">
              <a:lnSpc>
                <a:spcPct val="90000"/>
              </a:lnSpc>
              <a:spcBef>
                <a:spcPts val="100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Ensemble techniques such as bagging and boosting can offer an extremely powerful algorithm by combining a group of relatively weak/average ones. </a:t>
            </a:r>
            <a:endParaRPr/>
          </a:p>
          <a:p>
            <a:pPr indent="-285750" lvl="0" marL="285750" marR="0" rtl="0" algn="l">
              <a:lnSpc>
                <a:spcPct val="90000"/>
              </a:lnSpc>
              <a:spcBef>
                <a:spcPts val="100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For example, you can combine several decision trees to create a powerful random forest algorithm.</a:t>
            </a:r>
            <a:endParaRPr/>
          </a:p>
          <a:p>
            <a:pPr indent="-285750" lvl="0" marL="285750" marR="0" rtl="0" algn="l">
              <a:lnSpc>
                <a:spcPct val="90000"/>
              </a:lnSpc>
              <a:spcBef>
                <a:spcPts val="100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By Combining votes from a pool of experts, each will bring their own experience and background to solve the problem resulting in a better outcome.</a:t>
            </a:r>
            <a:endParaRPr/>
          </a:p>
          <a:p>
            <a:pPr indent="-285750" lvl="0" marL="285750" marR="0" rtl="0" algn="l">
              <a:lnSpc>
                <a:spcPct val="90000"/>
              </a:lnSpc>
              <a:spcBef>
                <a:spcPts val="100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Boosting can reduce variance and overfitting and increase the model robustness. </a:t>
            </a:r>
            <a:endParaRPr/>
          </a:p>
          <a:p>
            <a:pPr indent="-285750" lvl="0" marL="285750" marR="0" rtl="0" algn="l">
              <a:lnSpc>
                <a:spcPct val="90000"/>
              </a:lnSpc>
              <a:spcBef>
                <a:spcPts val="100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Example: Blind men and the elephant</a:t>
            </a:r>
            <a:endParaRPr/>
          </a:p>
          <a:p>
            <a:pPr indent="-171450" lvl="0" marL="285750" marR="0" rtl="0" algn="l">
              <a:lnSpc>
                <a:spcPct val="90000"/>
              </a:lnSpc>
              <a:spcBef>
                <a:spcPts val="1000"/>
              </a:spcBef>
              <a:spcAft>
                <a:spcPts val="0"/>
              </a:spcAft>
              <a:buClr>
                <a:schemeClr val="dk1"/>
              </a:buClr>
              <a:buSzPts val="1800"/>
              <a:buFont typeface="Arial"/>
              <a:buNone/>
            </a:pPr>
            <a:r>
              <a:t/>
            </a:r>
            <a:endParaRPr sz="1800">
              <a:solidFill>
                <a:schemeClr val="dk1"/>
              </a:solidFill>
              <a:latin typeface="Montserrat"/>
              <a:ea typeface="Montserrat"/>
              <a:cs typeface="Montserrat"/>
              <a:sym typeface="Montserrat"/>
            </a:endParaRPr>
          </a:p>
        </p:txBody>
      </p:sp>
      <p:sp>
        <p:nvSpPr>
          <p:cNvPr id="385" name="Google Shape;385;p17"/>
          <p:cNvSpPr/>
          <p:nvPr/>
        </p:nvSpPr>
        <p:spPr>
          <a:xfrm>
            <a:off x="7556704" y="2518785"/>
            <a:ext cx="1208064" cy="762000"/>
          </a:xfrm>
          <a:prstGeom prst="roundRect">
            <a:avLst>
              <a:gd fmla="val 16667" name="adj"/>
            </a:avLst>
          </a:prstGeom>
          <a:solidFill>
            <a:srgbClr val="FF0000"/>
          </a:solidFill>
          <a:ln>
            <a:noFill/>
          </a:ln>
          <a:effectLst>
            <a:outerShdw blurRad="44450" algn="ctr" dir="5400000" dist="27940">
              <a:srgbClr val="000000">
                <a:alpha val="3215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CA" sz="1600">
                <a:solidFill>
                  <a:schemeClr val="lt1"/>
                </a:solidFill>
                <a:latin typeface="Calibri"/>
                <a:ea typeface="Calibri"/>
                <a:cs typeface="Calibri"/>
                <a:sym typeface="Calibri"/>
              </a:rPr>
              <a:t>Model #1</a:t>
            </a:r>
            <a:endParaRPr/>
          </a:p>
        </p:txBody>
      </p:sp>
      <p:sp>
        <p:nvSpPr>
          <p:cNvPr id="386" name="Google Shape;386;p17"/>
          <p:cNvSpPr/>
          <p:nvPr/>
        </p:nvSpPr>
        <p:spPr>
          <a:xfrm>
            <a:off x="8906908" y="2518785"/>
            <a:ext cx="1208064" cy="762000"/>
          </a:xfrm>
          <a:prstGeom prst="roundRect">
            <a:avLst>
              <a:gd fmla="val 16667" name="adj"/>
            </a:avLst>
          </a:prstGeom>
          <a:solidFill>
            <a:srgbClr val="FF0000"/>
          </a:solidFill>
          <a:ln>
            <a:noFill/>
          </a:ln>
          <a:effectLst>
            <a:outerShdw blurRad="44450" algn="ctr" dir="5400000" dist="27940">
              <a:srgbClr val="000000">
                <a:alpha val="3215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CA" sz="1600">
                <a:solidFill>
                  <a:schemeClr val="lt1"/>
                </a:solidFill>
                <a:latin typeface="Calibri"/>
                <a:ea typeface="Calibri"/>
                <a:cs typeface="Calibri"/>
                <a:sym typeface="Calibri"/>
              </a:rPr>
              <a:t>Model #2</a:t>
            </a:r>
            <a:endParaRPr/>
          </a:p>
        </p:txBody>
      </p:sp>
      <p:sp>
        <p:nvSpPr>
          <p:cNvPr id="387" name="Google Shape;387;p17"/>
          <p:cNvSpPr/>
          <p:nvPr/>
        </p:nvSpPr>
        <p:spPr>
          <a:xfrm>
            <a:off x="10221208" y="2518785"/>
            <a:ext cx="1208064" cy="762000"/>
          </a:xfrm>
          <a:prstGeom prst="roundRect">
            <a:avLst>
              <a:gd fmla="val 16667" name="adj"/>
            </a:avLst>
          </a:prstGeom>
          <a:solidFill>
            <a:srgbClr val="FF0000"/>
          </a:solidFill>
          <a:ln>
            <a:noFill/>
          </a:ln>
          <a:effectLst>
            <a:outerShdw blurRad="44450" algn="ctr" dir="5400000" dist="27940">
              <a:srgbClr val="000000">
                <a:alpha val="3215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CA" sz="1600">
                <a:solidFill>
                  <a:schemeClr val="lt1"/>
                </a:solidFill>
                <a:latin typeface="Calibri"/>
                <a:ea typeface="Calibri"/>
                <a:cs typeface="Calibri"/>
                <a:sym typeface="Calibri"/>
              </a:rPr>
              <a:t>Model #3</a:t>
            </a:r>
            <a:endParaRPr/>
          </a:p>
        </p:txBody>
      </p:sp>
      <p:sp>
        <p:nvSpPr>
          <p:cNvPr id="388" name="Google Shape;388;p17"/>
          <p:cNvSpPr/>
          <p:nvPr/>
        </p:nvSpPr>
        <p:spPr>
          <a:xfrm rot="-1904063">
            <a:off x="8419244" y="3311014"/>
            <a:ext cx="301584" cy="1246105"/>
          </a:xfrm>
          <a:prstGeom prst="downArrow">
            <a:avLst>
              <a:gd fmla="val 50000" name="adj1"/>
              <a:gd fmla="val 50000" name="adj2"/>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389" name="Google Shape;389;p17"/>
          <p:cNvSpPr/>
          <p:nvPr/>
        </p:nvSpPr>
        <p:spPr>
          <a:xfrm rot="1367472">
            <a:off x="10336715" y="3287993"/>
            <a:ext cx="301584" cy="1311644"/>
          </a:xfrm>
          <a:prstGeom prst="downArrow">
            <a:avLst>
              <a:gd fmla="val 50000" name="adj1"/>
              <a:gd fmla="val 50000" name="adj2"/>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390" name="Google Shape;390;p17"/>
          <p:cNvSpPr/>
          <p:nvPr/>
        </p:nvSpPr>
        <p:spPr>
          <a:xfrm>
            <a:off x="9360148" y="3324849"/>
            <a:ext cx="301584" cy="1015620"/>
          </a:xfrm>
          <a:prstGeom prst="downArrow">
            <a:avLst>
              <a:gd fmla="val 50000" name="adj1"/>
              <a:gd fmla="val 50000" name="adj2"/>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391" name="Google Shape;391;p17"/>
          <p:cNvSpPr/>
          <p:nvPr/>
        </p:nvSpPr>
        <p:spPr>
          <a:xfrm>
            <a:off x="8764768" y="4340469"/>
            <a:ext cx="1506048" cy="762000"/>
          </a:xfrm>
          <a:prstGeom prst="ellipse">
            <a:avLst/>
          </a:prstGeom>
          <a:solidFill>
            <a:srgbClr val="FF0000"/>
          </a:solidFill>
          <a:ln>
            <a:noFill/>
          </a:ln>
          <a:effectLst>
            <a:outerShdw blurRad="44450" algn="ctr" dir="5400000" dist="27940">
              <a:srgbClr val="000000">
                <a:alpha val="3215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CA" sz="1800">
                <a:solidFill>
                  <a:schemeClr val="lt1"/>
                </a:solidFill>
                <a:latin typeface="Calibri"/>
                <a:ea typeface="Calibri"/>
                <a:cs typeface="Calibri"/>
                <a:sym typeface="Calibri"/>
              </a:rPr>
              <a:t>VOTING</a:t>
            </a:r>
            <a:endParaRPr/>
          </a:p>
        </p:txBody>
      </p:sp>
      <p:sp>
        <p:nvSpPr>
          <p:cNvPr id="392" name="Google Shape;392;p17"/>
          <p:cNvSpPr/>
          <p:nvPr/>
        </p:nvSpPr>
        <p:spPr>
          <a:xfrm>
            <a:off x="9360148" y="5108433"/>
            <a:ext cx="301584" cy="560498"/>
          </a:xfrm>
          <a:prstGeom prst="downArrow">
            <a:avLst>
              <a:gd fmla="val 50000" name="adj1"/>
              <a:gd fmla="val 50000" name="adj2"/>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pic>
        <p:nvPicPr>
          <p:cNvPr descr="File:Blind men and elephant.png" id="393" name="Google Shape;393;p17"/>
          <p:cNvPicPr preferRelativeResize="0"/>
          <p:nvPr/>
        </p:nvPicPr>
        <p:blipFill rotWithShape="1">
          <a:blip r:embed="rId4">
            <a:alphaModFix/>
          </a:blip>
          <a:srcRect b="0" l="0" r="0" t="0"/>
          <a:stretch/>
        </p:blipFill>
        <p:spPr>
          <a:xfrm>
            <a:off x="8807212" y="1202600"/>
            <a:ext cx="1340363" cy="1237258"/>
          </a:xfrm>
          <a:prstGeom prst="rect">
            <a:avLst/>
          </a:prstGeom>
          <a:noFill/>
          <a:ln>
            <a:noFill/>
          </a:ln>
        </p:spPr>
      </p:pic>
      <p:sp>
        <p:nvSpPr>
          <p:cNvPr id="394" name="Google Shape;394;p17"/>
          <p:cNvSpPr/>
          <p:nvPr/>
        </p:nvSpPr>
        <p:spPr>
          <a:xfrm>
            <a:off x="408798" y="5948921"/>
            <a:ext cx="714790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400" u="sng">
                <a:solidFill>
                  <a:srgbClr val="002060"/>
                </a:solidFill>
                <a:latin typeface="Calibri"/>
                <a:ea typeface="Calibri"/>
                <a:cs typeface="Calibri"/>
                <a:sym typeface="Calibri"/>
                <a:hlinkClick r:id="rId5">
                  <a:extLst>
                    <a:ext uri="{A12FA001-AC4F-418D-AE19-62706E023703}">
                      <ahyp:hlinkClr val="tx"/>
                    </a:ext>
                  </a:extLst>
                </a:hlinkClick>
              </a:rPr>
              <a:t>Photo Credit: https://commons.wikimedia.org/wiki/File:Blind_men_and_elephant.png</a:t>
            </a:r>
            <a:endParaRPr sz="1400">
              <a:solidFill>
                <a:srgbClr val="00206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pic>
        <p:nvPicPr>
          <p:cNvPr id="399" name="Google Shape;399;p18"/>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400" name="Google Shape;400;p18"/>
          <p:cNvSpPr/>
          <p:nvPr/>
        </p:nvSpPr>
        <p:spPr>
          <a:xfrm>
            <a:off x="216278" y="260454"/>
            <a:ext cx="10985122" cy="121772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CA" sz="3600">
                <a:solidFill>
                  <a:schemeClr val="lt1"/>
                </a:solidFill>
                <a:latin typeface="Montserrat"/>
                <a:ea typeface="Montserrat"/>
                <a:cs typeface="Montserrat"/>
                <a:sym typeface="Montserrat"/>
              </a:rPr>
              <a:t>XGBOOST: DECISION TREES ENSEMBLES</a:t>
            </a:r>
            <a:endParaRPr/>
          </a:p>
        </p:txBody>
      </p:sp>
      <p:sp>
        <p:nvSpPr>
          <p:cNvPr id="401" name="Google Shape;401;p18"/>
          <p:cNvSpPr txBox="1"/>
          <p:nvPr>
            <p:ph idx="1" type="body"/>
          </p:nvPr>
        </p:nvSpPr>
        <p:spPr>
          <a:xfrm>
            <a:off x="140398" y="1072732"/>
            <a:ext cx="11508997" cy="3061718"/>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rgbClr val="000000"/>
              </a:buClr>
              <a:buSzPts val="1800"/>
              <a:buChar char="•"/>
            </a:pPr>
            <a:r>
              <a:rPr lang="en-CA" sz="1800">
                <a:solidFill>
                  <a:srgbClr val="000000"/>
                </a:solidFill>
                <a:latin typeface="Montserrat"/>
                <a:ea typeface="Montserrat"/>
                <a:cs typeface="Montserrat"/>
                <a:sym typeface="Montserrat"/>
              </a:rPr>
              <a:t>Decision Trees are supervised Machine Learning technique where data is split according to a certain condition/parameter. </a:t>
            </a:r>
            <a:endParaRPr/>
          </a:p>
          <a:p>
            <a:pPr indent="-285750" lvl="0" marL="285750" rtl="0" algn="l">
              <a:lnSpc>
                <a:spcPct val="90000"/>
              </a:lnSpc>
              <a:spcBef>
                <a:spcPts val="1000"/>
              </a:spcBef>
              <a:spcAft>
                <a:spcPts val="0"/>
              </a:spcAft>
              <a:buClr>
                <a:srgbClr val="000000"/>
              </a:buClr>
              <a:buSzPts val="1800"/>
              <a:buChar char="•"/>
            </a:pPr>
            <a:r>
              <a:rPr lang="en-CA" sz="1800">
                <a:solidFill>
                  <a:srgbClr val="000000"/>
                </a:solidFill>
                <a:latin typeface="Montserrat"/>
                <a:ea typeface="Montserrat"/>
                <a:cs typeface="Montserrat"/>
                <a:sym typeface="Montserrat"/>
              </a:rPr>
              <a:t>The tree consists of decision nodes and leaves. </a:t>
            </a:r>
            <a:endParaRPr/>
          </a:p>
          <a:p>
            <a:pPr indent="-285750" lvl="1" marL="971550" rtl="0" algn="l">
              <a:lnSpc>
                <a:spcPct val="90000"/>
              </a:lnSpc>
              <a:spcBef>
                <a:spcPts val="500"/>
              </a:spcBef>
              <a:spcAft>
                <a:spcPts val="0"/>
              </a:spcAft>
              <a:buClr>
                <a:srgbClr val="000000"/>
              </a:buClr>
              <a:buSzPts val="1800"/>
              <a:buFont typeface="Courier New"/>
              <a:buChar char="o"/>
            </a:pPr>
            <a:r>
              <a:rPr lang="en-CA" sz="1800">
                <a:solidFill>
                  <a:srgbClr val="000000"/>
                </a:solidFill>
                <a:latin typeface="Montserrat"/>
                <a:ea typeface="Montserrat"/>
                <a:cs typeface="Montserrat"/>
                <a:sym typeface="Montserrat"/>
              </a:rPr>
              <a:t>Leaves are the decisions or the final outcomes.</a:t>
            </a:r>
            <a:endParaRPr/>
          </a:p>
          <a:p>
            <a:pPr indent="-285750" lvl="1" marL="971550" rtl="0" algn="l">
              <a:lnSpc>
                <a:spcPct val="90000"/>
              </a:lnSpc>
              <a:spcBef>
                <a:spcPts val="500"/>
              </a:spcBef>
              <a:spcAft>
                <a:spcPts val="0"/>
              </a:spcAft>
              <a:buClr>
                <a:srgbClr val="000000"/>
              </a:buClr>
              <a:buSzPts val="1800"/>
              <a:buFont typeface="Courier New"/>
              <a:buChar char="o"/>
            </a:pPr>
            <a:r>
              <a:rPr lang="en-CA" sz="1800">
                <a:solidFill>
                  <a:srgbClr val="000000"/>
                </a:solidFill>
                <a:latin typeface="Montserrat"/>
                <a:ea typeface="Montserrat"/>
                <a:cs typeface="Montserrat"/>
                <a:sym typeface="Montserrat"/>
              </a:rPr>
              <a:t>Decision nodes are where the data is split based on a certain attribute.</a:t>
            </a:r>
            <a:endParaRPr/>
          </a:p>
          <a:p>
            <a:pPr indent="-285750" lvl="0" marL="285750" rtl="0" algn="l">
              <a:lnSpc>
                <a:spcPct val="90000"/>
              </a:lnSpc>
              <a:spcBef>
                <a:spcPts val="1000"/>
              </a:spcBef>
              <a:spcAft>
                <a:spcPts val="0"/>
              </a:spcAft>
              <a:buClr>
                <a:srgbClr val="000000"/>
              </a:buClr>
              <a:buSzPts val="1800"/>
              <a:buChar char="•"/>
            </a:pPr>
            <a:r>
              <a:rPr lang="en-CA" sz="1800">
                <a:solidFill>
                  <a:srgbClr val="000000"/>
                </a:solidFill>
                <a:latin typeface="Montserrat"/>
                <a:ea typeface="Montserrat"/>
                <a:cs typeface="Montserrat"/>
                <a:sym typeface="Montserrat"/>
              </a:rPr>
              <a:t>The tree ensemble model consists of a set of classification and regression trees (CART). </a:t>
            </a:r>
            <a:endParaRPr/>
          </a:p>
          <a:p>
            <a:pPr indent="-285750" lvl="0" marL="285750" rtl="0" algn="l">
              <a:lnSpc>
                <a:spcPct val="90000"/>
              </a:lnSpc>
              <a:spcBef>
                <a:spcPts val="1000"/>
              </a:spcBef>
              <a:spcAft>
                <a:spcPts val="0"/>
              </a:spcAft>
              <a:buClr>
                <a:srgbClr val="000000"/>
              </a:buClr>
              <a:buSzPts val="1800"/>
              <a:buChar char="•"/>
            </a:pPr>
            <a:r>
              <a:rPr lang="en-CA" sz="1800">
                <a:solidFill>
                  <a:srgbClr val="000000"/>
                </a:solidFill>
                <a:latin typeface="Montserrat"/>
                <a:ea typeface="Montserrat"/>
                <a:cs typeface="Montserrat"/>
                <a:sym typeface="Montserrat"/>
              </a:rPr>
              <a:t>A CART that classifies whether an individual will like a computer game X or not is shown below.</a:t>
            </a:r>
            <a:endParaRPr/>
          </a:p>
          <a:p>
            <a:pPr indent="-285750" lvl="0" marL="285750" rtl="0" algn="l">
              <a:lnSpc>
                <a:spcPct val="90000"/>
              </a:lnSpc>
              <a:spcBef>
                <a:spcPts val="1000"/>
              </a:spcBef>
              <a:spcAft>
                <a:spcPts val="0"/>
              </a:spcAft>
              <a:buClr>
                <a:srgbClr val="000000"/>
              </a:buClr>
              <a:buSzPts val="1800"/>
              <a:buChar char="•"/>
            </a:pPr>
            <a:r>
              <a:rPr lang="en-CA" sz="1800">
                <a:solidFill>
                  <a:srgbClr val="000000"/>
                </a:solidFill>
                <a:latin typeface="Montserrat"/>
                <a:ea typeface="Montserrat"/>
                <a:cs typeface="Montserrat"/>
                <a:sym typeface="Montserrat"/>
              </a:rPr>
              <a:t>Members of the family are divided into leaves and a score is assigned to each leaf. </a:t>
            </a:r>
            <a:endParaRPr/>
          </a:p>
        </p:txBody>
      </p:sp>
      <p:pic>
        <p:nvPicPr>
          <p:cNvPr descr="a toy example for CART" id="402" name="Google Shape;402;p18"/>
          <p:cNvPicPr preferRelativeResize="0"/>
          <p:nvPr/>
        </p:nvPicPr>
        <p:blipFill rotWithShape="1">
          <a:blip r:embed="rId4">
            <a:alphaModFix/>
          </a:blip>
          <a:srcRect b="0" l="0" r="0" t="0"/>
          <a:stretch/>
        </p:blipFill>
        <p:spPr>
          <a:xfrm>
            <a:off x="1295400" y="3861322"/>
            <a:ext cx="5335095" cy="2403524"/>
          </a:xfrm>
          <a:prstGeom prst="rect">
            <a:avLst/>
          </a:prstGeom>
          <a:noFill/>
          <a:ln>
            <a:noFill/>
          </a:ln>
        </p:spPr>
      </p:pic>
      <p:sp>
        <p:nvSpPr>
          <p:cNvPr id="403" name="Google Shape;403;p18"/>
          <p:cNvSpPr/>
          <p:nvPr/>
        </p:nvSpPr>
        <p:spPr>
          <a:xfrm>
            <a:off x="643662" y="6360909"/>
            <a:ext cx="68379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u="sng">
                <a:solidFill>
                  <a:schemeClr val="dk1"/>
                </a:solidFill>
                <a:latin typeface="Calibri"/>
                <a:ea typeface="Calibri"/>
                <a:cs typeface="Calibri"/>
                <a:sym typeface="Calibri"/>
                <a:hlinkClick r:id="rId5">
                  <a:extLst>
                    <a:ext uri="{A12FA001-AC4F-418D-AE19-62706E023703}">
                      <ahyp:hlinkClr val="tx"/>
                    </a:ext>
                  </a:extLst>
                </a:hlinkClick>
              </a:rPr>
              <a:t>Source: https://xgboost.readthedocs.io/en/latest/tutorials/model.html</a:t>
            </a:r>
            <a:endParaRPr sz="1800">
              <a:solidFill>
                <a:schemeClr val="dk1"/>
              </a:solidFill>
              <a:latin typeface="Calibri"/>
              <a:ea typeface="Calibri"/>
              <a:cs typeface="Calibri"/>
              <a:sym typeface="Calibri"/>
            </a:endParaRPr>
          </a:p>
        </p:txBody>
      </p:sp>
      <p:sp>
        <p:nvSpPr>
          <p:cNvPr id="404" name="Google Shape;404;p18"/>
          <p:cNvSpPr txBox="1"/>
          <p:nvPr/>
        </p:nvSpPr>
        <p:spPr>
          <a:xfrm>
            <a:off x="7261086" y="4928810"/>
            <a:ext cx="187820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1800">
                <a:solidFill>
                  <a:srgbClr val="002060"/>
                </a:solidFill>
                <a:latin typeface="Calibri"/>
                <a:ea typeface="Calibri"/>
                <a:cs typeface="Calibri"/>
                <a:sym typeface="Calibri"/>
              </a:rPr>
              <a:t>DECISION NODES</a:t>
            </a:r>
            <a:endParaRPr/>
          </a:p>
        </p:txBody>
      </p:sp>
      <p:cxnSp>
        <p:nvCxnSpPr>
          <p:cNvPr id="405" name="Google Shape;405;p18"/>
          <p:cNvCxnSpPr/>
          <p:nvPr/>
        </p:nvCxnSpPr>
        <p:spPr>
          <a:xfrm>
            <a:off x="5897129" y="4419201"/>
            <a:ext cx="1423500" cy="712500"/>
          </a:xfrm>
          <a:prstGeom prst="curvedConnector3">
            <a:avLst>
              <a:gd fmla="val 50000" name="adj1"/>
            </a:avLst>
          </a:prstGeom>
          <a:noFill/>
          <a:ln cap="flat" cmpd="sng" w="57150">
            <a:solidFill>
              <a:schemeClr val="dk1"/>
            </a:solidFill>
            <a:prstDash val="solid"/>
            <a:miter lim="800000"/>
            <a:headEnd len="sm" w="sm" type="none"/>
            <a:tailEnd len="med" w="med" type="triangle"/>
          </a:ln>
        </p:spPr>
      </p:cxnSp>
      <p:cxnSp>
        <p:nvCxnSpPr>
          <p:cNvPr id="406" name="Google Shape;406;p18"/>
          <p:cNvCxnSpPr/>
          <p:nvPr/>
        </p:nvCxnSpPr>
        <p:spPr>
          <a:xfrm>
            <a:off x="6540765" y="5590342"/>
            <a:ext cx="1000200" cy="674400"/>
          </a:xfrm>
          <a:prstGeom prst="curvedConnector3">
            <a:avLst>
              <a:gd fmla="val 50000" name="adj1"/>
            </a:avLst>
          </a:prstGeom>
          <a:noFill/>
          <a:ln cap="flat" cmpd="sng" w="57150">
            <a:solidFill>
              <a:schemeClr val="dk1"/>
            </a:solidFill>
            <a:prstDash val="solid"/>
            <a:miter lim="800000"/>
            <a:headEnd len="sm" w="sm" type="none"/>
            <a:tailEnd len="med" w="med" type="triangle"/>
          </a:ln>
        </p:spPr>
      </p:cxnSp>
      <p:sp>
        <p:nvSpPr>
          <p:cNvPr id="407" name="Google Shape;407;p18"/>
          <p:cNvSpPr txBox="1"/>
          <p:nvPr/>
        </p:nvSpPr>
        <p:spPr>
          <a:xfrm>
            <a:off x="7541025" y="6228351"/>
            <a:ext cx="8746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1800">
                <a:solidFill>
                  <a:srgbClr val="002060"/>
                </a:solidFill>
                <a:latin typeface="Calibri"/>
                <a:ea typeface="Calibri"/>
                <a:cs typeface="Calibri"/>
                <a:sym typeface="Calibri"/>
              </a:rPr>
              <a:t>LEAVES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pic>
        <p:nvPicPr>
          <p:cNvPr id="412" name="Google Shape;412;p19"/>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413" name="Google Shape;413;p19"/>
          <p:cNvSpPr/>
          <p:nvPr/>
        </p:nvSpPr>
        <p:spPr>
          <a:xfrm>
            <a:off x="216278" y="260454"/>
            <a:ext cx="10680322" cy="121772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CA" sz="3600">
                <a:solidFill>
                  <a:schemeClr val="lt1"/>
                </a:solidFill>
                <a:latin typeface="Montserrat"/>
                <a:ea typeface="Montserrat"/>
                <a:cs typeface="Montserrat"/>
                <a:sym typeface="Montserrat"/>
              </a:rPr>
              <a:t>XGBOOST: DECISION TREES ENSEMBLES</a:t>
            </a:r>
            <a:endParaRPr/>
          </a:p>
        </p:txBody>
      </p:sp>
      <p:sp>
        <p:nvSpPr>
          <p:cNvPr id="414" name="Google Shape;414;p19"/>
          <p:cNvSpPr txBox="1"/>
          <p:nvPr>
            <p:ph idx="1" type="body"/>
          </p:nvPr>
        </p:nvSpPr>
        <p:spPr>
          <a:xfrm>
            <a:off x="216278" y="1336016"/>
            <a:ext cx="10390762" cy="4351338"/>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rgbClr val="000000"/>
              </a:buClr>
              <a:buSzPts val="1800"/>
              <a:buChar char="•"/>
            </a:pPr>
            <a:r>
              <a:rPr lang="en-CA" sz="1800">
                <a:solidFill>
                  <a:srgbClr val="000000"/>
                </a:solidFill>
                <a:latin typeface="Montserrat"/>
                <a:ea typeface="Montserrat"/>
                <a:cs typeface="Montserrat"/>
                <a:sym typeface="Montserrat"/>
              </a:rPr>
              <a:t>Ensemble models that combines the predictions from all trees is built as shown below.</a:t>
            </a:r>
            <a:endParaRPr/>
          </a:p>
          <a:p>
            <a:pPr indent="-285750" lvl="0" marL="285750" rtl="0" algn="l">
              <a:lnSpc>
                <a:spcPct val="90000"/>
              </a:lnSpc>
              <a:spcBef>
                <a:spcPts val="1000"/>
              </a:spcBef>
              <a:spcAft>
                <a:spcPts val="0"/>
              </a:spcAft>
              <a:buClr>
                <a:srgbClr val="000000"/>
              </a:buClr>
              <a:buSzPts val="1800"/>
              <a:buChar char="•"/>
            </a:pPr>
            <a:r>
              <a:rPr lang="en-CA" sz="1800">
                <a:solidFill>
                  <a:srgbClr val="000000"/>
                </a:solidFill>
                <a:latin typeface="Montserrat"/>
                <a:ea typeface="Montserrat"/>
                <a:cs typeface="Montserrat"/>
                <a:sym typeface="Montserrat"/>
              </a:rPr>
              <a:t>The prediction scores of each individual tree are summed up to get the final score. </a:t>
            </a:r>
            <a:endParaRPr/>
          </a:p>
        </p:txBody>
      </p:sp>
      <p:sp>
        <p:nvSpPr>
          <p:cNvPr id="415" name="Google Shape;415;p19"/>
          <p:cNvSpPr/>
          <p:nvPr/>
        </p:nvSpPr>
        <p:spPr>
          <a:xfrm>
            <a:off x="641430" y="6108896"/>
            <a:ext cx="68379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u="sng">
                <a:solidFill>
                  <a:schemeClr val="dk1"/>
                </a:solidFill>
                <a:latin typeface="Calibri"/>
                <a:ea typeface="Calibri"/>
                <a:cs typeface="Calibri"/>
                <a:sym typeface="Calibri"/>
                <a:hlinkClick r:id="rId4">
                  <a:extLst>
                    <a:ext uri="{A12FA001-AC4F-418D-AE19-62706E023703}">
                      <ahyp:hlinkClr val="tx"/>
                    </a:ext>
                  </a:extLst>
                </a:hlinkClick>
              </a:rPr>
              <a:t>Source: https://xgboost.readthedocs.io/en/latest/tutorials/model.html</a:t>
            </a:r>
            <a:endParaRPr sz="1800">
              <a:solidFill>
                <a:schemeClr val="dk1"/>
              </a:solidFill>
              <a:latin typeface="Calibri"/>
              <a:ea typeface="Calibri"/>
              <a:cs typeface="Calibri"/>
              <a:sym typeface="Calibri"/>
            </a:endParaRPr>
          </a:p>
        </p:txBody>
      </p:sp>
      <p:pic>
        <p:nvPicPr>
          <p:cNvPr id="416" name="Google Shape;416;p19"/>
          <p:cNvPicPr preferRelativeResize="0"/>
          <p:nvPr/>
        </p:nvPicPr>
        <p:blipFill rotWithShape="1">
          <a:blip r:embed="rId5">
            <a:alphaModFix/>
          </a:blip>
          <a:srcRect b="0" l="0" r="0" t="0"/>
          <a:stretch/>
        </p:blipFill>
        <p:spPr>
          <a:xfrm>
            <a:off x="1166244" y="2094247"/>
            <a:ext cx="7124700" cy="342773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pic>
        <p:nvPicPr>
          <p:cNvPr id="421" name="Google Shape;421;p20"/>
          <p:cNvPicPr preferRelativeResize="0"/>
          <p:nvPr/>
        </p:nvPicPr>
        <p:blipFill rotWithShape="1">
          <a:blip r:embed="rId3">
            <a:alphaModFix/>
          </a:blip>
          <a:srcRect b="0" l="0" r="0" t="0"/>
          <a:stretch/>
        </p:blipFill>
        <p:spPr>
          <a:xfrm>
            <a:off x="0" y="0"/>
            <a:ext cx="12257636" cy="6858000"/>
          </a:xfrm>
          <a:prstGeom prst="rect">
            <a:avLst/>
          </a:prstGeom>
          <a:noFill/>
          <a:ln>
            <a:noFill/>
          </a:ln>
        </p:spPr>
      </p:pic>
      <p:sp>
        <p:nvSpPr>
          <p:cNvPr id="422" name="Google Shape;422;p20"/>
          <p:cNvSpPr txBox="1"/>
          <p:nvPr/>
        </p:nvSpPr>
        <p:spPr>
          <a:xfrm>
            <a:off x="349997" y="1981200"/>
            <a:ext cx="5212603" cy="102752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4400"/>
              <a:buFont typeface="Arial"/>
              <a:buNone/>
            </a:pPr>
            <a:r>
              <a:rPr b="1" lang="en-CA" sz="4400">
                <a:solidFill>
                  <a:schemeClr val="lt1"/>
                </a:solidFill>
                <a:latin typeface="Montserrat"/>
                <a:ea typeface="Montserrat"/>
                <a:cs typeface="Montserrat"/>
                <a:sym typeface="Montserrat"/>
              </a:rPr>
              <a:t>XG-BOOST ALGORITHM: DEEP DIVE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pic>
        <p:nvPicPr>
          <p:cNvPr id="427" name="Google Shape;427;p21"/>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428" name="Google Shape;428;p21"/>
          <p:cNvSpPr/>
          <p:nvPr/>
        </p:nvSpPr>
        <p:spPr>
          <a:xfrm>
            <a:off x="216278" y="260454"/>
            <a:ext cx="7585714" cy="5232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CA" sz="3600">
                <a:solidFill>
                  <a:schemeClr val="lt1"/>
                </a:solidFill>
                <a:latin typeface="Montserrat"/>
                <a:ea typeface="Montserrat"/>
                <a:cs typeface="Montserrat"/>
                <a:sym typeface="Montserrat"/>
              </a:rPr>
              <a:t>XGBOOST: STEPS</a:t>
            </a:r>
            <a:endParaRPr/>
          </a:p>
        </p:txBody>
      </p:sp>
      <p:sp>
        <p:nvSpPr>
          <p:cNvPr id="429" name="Google Shape;429;p21"/>
          <p:cNvSpPr txBox="1"/>
          <p:nvPr/>
        </p:nvSpPr>
        <p:spPr>
          <a:xfrm>
            <a:off x="392767" y="1262562"/>
            <a:ext cx="11406466" cy="4525963"/>
          </a:xfrm>
          <a:prstGeom prst="rect">
            <a:avLst/>
          </a:prstGeom>
          <a:noFill/>
          <a:ln>
            <a:noFill/>
          </a:ln>
        </p:spPr>
        <p:txBody>
          <a:bodyPr anchorCtr="0" anchor="t" bIns="45700" lIns="91425" spcFirstLastPara="1" rIns="91425" wrap="square" tIns="45700">
            <a:normAutofit/>
          </a:bodyPr>
          <a:lstStyle/>
          <a:p>
            <a:pPr indent="-171450" lvl="0" marL="285750" marR="0" rtl="0" algn="l">
              <a:lnSpc>
                <a:spcPct val="90000"/>
              </a:lnSpc>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
        <p:nvSpPr>
          <p:cNvPr id="430" name="Google Shape;430;p21"/>
          <p:cNvSpPr/>
          <p:nvPr/>
        </p:nvSpPr>
        <p:spPr>
          <a:xfrm>
            <a:off x="353384" y="4509043"/>
            <a:ext cx="1914532" cy="1066800"/>
          </a:xfrm>
          <a:prstGeom prst="roundRect">
            <a:avLst>
              <a:gd fmla="val 16667" name="adj"/>
            </a:avLst>
          </a:prstGeom>
          <a:solidFill>
            <a:schemeClr val="accent3"/>
          </a:solidFill>
          <a:ln>
            <a:noFill/>
          </a:ln>
          <a:effectLst>
            <a:outerShdw blurRad="44450" algn="ctr" dir="5400000" dist="27940">
              <a:srgbClr val="000000">
                <a:alpha val="3215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dk1"/>
                </a:solidFill>
                <a:latin typeface="Calibri"/>
                <a:ea typeface="Calibri"/>
                <a:cs typeface="Calibri"/>
                <a:sym typeface="Calibri"/>
              </a:rPr>
              <a:t>INITIAL MODEL (STARTING POINT)</a:t>
            </a:r>
            <a:endParaRPr sz="1600">
              <a:solidFill>
                <a:schemeClr val="dk1"/>
              </a:solidFill>
              <a:latin typeface="Calibri"/>
              <a:ea typeface="Calibri"/>
              <a:cs typeface="Calibri"/>
              <a:sym typeface="Calibri"/>
            </a:endParaRPr>
          </a:p>
        </p:txBody>
      </p:sp>
      <p:sp>
        <p:nvSpPr>
          <p:cNvPr id="431" name="Google Shape;431;p21"/>
          <p:cNvSpPr/>
          <p:nvPr/>
        </p:nvSpPr>
        <p:spPr>
          <a:xfrm>
            <a:off x="2309534" y="4843073"/>
            <a:ext cx="645814" cy="361950"/>
          </a:xfrm>
          <a:prstGeom prst="rightArrow">
            <a:avLst>
              <a:gd fmla="val 50000" name="adj1"/>
              <a:gd fmla="val 50000" name="adj2"/>
            </a:avLst>
          </a:prstGeom>
          <a:solidFill>
            <a:schemeClr val="accent3"/>
          </a:solidFill>
          <a:ln>
            <a:noFill/>
          </a:ln>
          <a:effectLst>
            <a:outerShdw blurRad="44450" algn="ctr" dir="5400000" dist="27940">
              <a:srgbClr val="000000">
                <a:alpha val="3215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2" name="Google Shape;432;p21"/>
          <p:cNvSpPr/>
          <p:nvPr/>
        </p:nvSpPr>
        <p:spPr>
          <a:xfrm>
            <a:off x="2997470" y="4509043"/>
            <a:ext cx="2094175" cy="1066800"/>
          </a:xfrm>
          <a:prstGeom prst="roundRect">
            <a:avLst>
              <a:gd fmla="val 16667" name="adj"/>
            </a:avLst>
          </a:prstGeom>
          <a:solidFill>
            <a:schemeClr val="accent3"/>
          </a:solidFill>
          <a:ln>
            <a:noFill/>
          </a:ln>
          <a:effectLst>
            <a:outerShdw blurRad="44450" algn="ctr" dir="5400000" dist="27940">
              <a:srgbClr val="000000">
                <a:alpha val="3215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dk1"/>
                </a:solidFill>
                <a:latin typeface="Calibri"/>
                <a:ea typeface="Calibri"/>
                <a:cs typeface="Calibri"/>
                <a:sym typeface="Calibri"/>
              </a:rPr>
              <a:t>CALCULATE THE ERRORS BASED ON THE PREVIOUS MODEL (RESIDUALS)</a:t>
            </a:r>
            <a:endParaRPr sz="1600">
              <a:solidFill>
                <a:schemeClr val="dk1"/>
              </a:solidFill>
              <a:latin typeface="Calibri"/>
              <a:ea typeface="Calibri"/>
              <a:cs typeface="Calibri"/>
              <a:sym typeface="Calibri"/>
            </a:endParaRPr>
          </a:p>
        </p:txBody>
      </p:sp>
      <p:sp>
        <p:nvSpPr>
          <p:cNvPr id="433" name="Google Shape;433;p21"/>
          <p:cNvSpPr/>
          <p:nvPr/>
        </p:nvSpPr>
        <p:spPr>
          <a:xfrm rot="-2797421">
            <a:off x="4977256" y="3929937"/>
            <a:ext cx="1103161" cy="392010"/>
          </a:xfrm>
          <a:prstGeom prst="rightArrow">
            <a:avLst>
              <a:gd fmla="val 50000" name="adj1"/>
              <a:gd fmla="val 50000" name="adj2"/>
            </a:avLst>
          </a:prstGeom>
          <a:solidFill>
            <a:schemeClr val="accent3"/>
          </a:solidFill>
          <a:ln>
            <a:noFill/>
          </a:ln>
          <a:effectLst>
            <a:outerShdw blurRad="44450" algn="ctr" dir="5400000" dist="27940">
              <a:srgbClr val="000000">
                <a:alpha val="3215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4" name="Google Shape;434;p21"/>
          <p:cNvSpPr/>
          <p:nvPr/>
        </p:nvSpPr>
        <p:spPr>
          <a:xfrm>
            <a:off x="5935624" y="3434576"/>
            <a:ext cx="2886075" cy="1066800"/>
          </a:xfrm>
          <a:prstGeom prst="roundRect">
            <a:avLst>
              <a:gd fmla="val 16667" name="adj"/>
            </a:avLst>
          </a:prstGeom>
          <a:solidFill>
            <a:schemeClr val="accent3"/>
          </a:solidFill>
          <a:ln>
            <a:noFill/>
          </a:ln>
          <a:effectLst>
            <a:outerShdw blurRad="44450" algn="ctr" dir="5400000" dist="27940">
              <a:srgbClr val="000000">
                <a:alpha val="3215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dk1"/>
                </a:solidFill>
                <a:latin typeface="Calibri"/>
                <a:ea typeface="Calibri"/>
                <a:cs typeface="Calibri"/>
                <a:sym typeface="Calibri"/>
              </a:rPr>
              <a:t>BUILD A MODEL TO PREDICT THOSE ERRORS</a:t>
            </a:r>
            <a:endParaRPr sz="1600">
              <a:solidFill>
                <a:schemeClr val="dk1"/>
              </a:solidFill>
              <a:latin typeface="Calibri"/>
              <a:ea typeface="Calibri"/>
              <a:cs typeface="Calibri"/>
              <a:sym typeface="Calibri"/>
            </a:endParaRPr>
          </a:p>
        </p:txBody>
      </p:sp>
      <p:sp>
        <p:nvSpPr>
          <p:cNvPr id="435" name="Google Shape;435;p21"/>
          <p:cNvSpPr/>
          <p:nvPr/>
        </p:nvSpPr>
        <p:spPr>
          <a:xfrm>
            <a:off x="5935623" y="5596731"/>
            <a:ext cx="2886075" cy="1066800"/>
          </a:xfrm>
          <a:prstGeom prst="roundRect">
            <a:avLst>
              <a:gd fmla="val 16667" name="adj"/>
            </a:avLst>
          </a:prstGeom>
          <a:solidFill>
            <a:schemeClr val="accent3"/>
          </a:solidFill>
          <a:ln>
            <a:noFill/>
          </a:ln>
          <a:effectLst>
            <a:outerShdw blurRad="44450" algn="ctr" dir="5400000" dist="27940">
              <a:srgbClr val="000000">
                <a:alpha val="3215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dk1"/>
                </a:solidFill>
                <a:latin typeface="Calibri"/>
                <a:ea typeface="Calibri"/>
                <a:cs typeface="Calibri"/>
                <a:sym typeface="Calibri"/>
              </a:rPr>
              <a:t>ADD LAST MODEL TO THE ENSEMBLE</a:t>
            </a:r>
            <a:endParaRPr sz="1600">
              <a:solidFill>
                <a:schemeClr val="dk1"/>
              </a:solidFill>
              <a:latin typeface="Calibri"/>
              <a:ea typeface="Calibri"/>
              <a:cs typeface="Calibri"/>
              <a:sym typeface="Calibri"/>
            </a:endParaRPr>
          </a:p>
        </p:txBody>
      </p:sp>
      <p:sp>
        <p:nvSpPr>
          <p:cNvPr id="436" name="Google Shape;436;p21"/>
          <p:cNvSpPr/>
          <p:nvPr/>
        </p:nvSpPr>
        <p:spPr>
          <a:xfrm rot="-8670720">
            <a:off x="4821139" y="5821871"/>
            <a:ext cx="1103161" cy="392010"/>
          </a:xfrm>
          <a:prstGeom prst="rightArrow">
            <a:avLst>
              <a:gd fmla="val 50000" name="adj1"/>
              <a:gd fmla="val 50000" name="adj2"/>
            </a:avLst>
          </a:prstGeom>
          <a:solidFill>
            <a:schemeClr val="accent3"/>
          </a:solidFill>
          <a:ln>
            <a:noFill/>
          </a:ln>
          <a:effectLst>
            <a:outerShdw blurRad="44450" algn="ctr" dir="5400000" dist="27940">
              <a:srgbClr val="000000">
                <a:alpha val="3215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21"/>
          <p:cNvSpPr/>
          <p:nvPr/>
        </p:nvSpPr>
        <p:spPr>
          <a:xfrm>
            <a:off x="8904934" y="3726583"/>
            <a:ext cx="1042573" cy="2600325"/>
          </a:xfrm>
          <a:prstGeom prst="curvedLeftArrow">
            <a:avLst>
              <a:gd fmla="val 25000" name="adj1"/>
              <a:gd fmla="val 50000" name="adj2"/>
              <a:gd fmla="val 25000" name="adj3"/>
            </a:avLst>
          </a:prstGeom>
          <a:solidFill>
            <a:schemeClr val="accent3"/>
          </a:solidFill>
          <a:ln>
            <a:noFill/>
          </a:ln>
          <a:effectLst>
            <a:outerShdw blurRad="44450" algn="ctr" dir="5400000" dist="27940">
              <a:srgbClr val="000000">
                <a:alpha val="3215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21"/>
          <p:cNvSpPr txBox="1"/>
          <p:nvPr/>
        </p:nvSpPr>
        <p:spPr>
          <a:xfrm>
            <a:off x="113672" y="1079618"/>
            <a:ext cx="11865667" cy="2697863"/>
          </a:xfrm>
          <a:prstGeom prst="rect">
            <a:avLst/>
          </a:prstGeom>
          <a:noFill/>
          <a:ln>
            <a:noFill/>
          </a:ln>
        </p:spPr>
        <p:txBody>
          <a:bodyPr anchorCtr="0" anchor="t" bIns="45700" lIns="91425" spcFirstLastPara="1" rIns="91425" wrap="square" tIns="45700">
            <a:normAutofit/>
          </a:bodyPr>
          <a:lstStyle/>
          <a:p>
            <a:pPr indent="-285750" lvl="0" marL="285750" marR="0" rtl="0" algn="l">
              <a:lnSpc>
                <a:spcPct val="90000"/>
              </a:lnSpc>
              <a:spcBef>
                <a:spcPts val="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XGBoost repeatedly builds new models and combine them into an ensemble model </a:t>
            </a:r>
            <a:endParaRPr/>
          </a:p>
          <a:p>
            <a:pPr indent="-285750" lvl="0" marL="285750" marR="0" rtl="0" algn="l">
              <a:lnSpc>
                <a:spcPct val="90000"/>
              </a:lnSpc>
              <a:spcBef>
                <a:spcPts val="100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Initially build the first model and calculate the error for each observation in the dataset </a:t>
            </a:r>
            <a:endParaRPr/>
          </a:p>
          <a:p>
            <a:pPr indent="-285750" lvl="0" marL="285750" marR="0" rtl="0" algn="l">
              <a:lnSpc>
                <a:spcPct val="90000"/>
              </a:lnSpc>
              <a:spcBef>
                <a:spcPts val="100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Then you build a new model to predict those residuals (errors)</a:t>
            </a:r>
            <a:endParaRPr/>
          </a:p>
          <a:p>
            <a:pPr indent="-285750" lvl="0" marL="285750" marR="0" rtl="0" algn="l">
              <a:lnSpc>
                <a:spcPct val="90000"/>
              </a:lnSpc>
              <a:spcBef>
                <a:spcPts val="100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Then you add prediction from this model to the ensemble of models</a:t>
            </a:r>
            <a:endParaRPr/>
          </a:p>
          <a:p>
            <a:pPr indent="-285750" lvl="0" marL="285750" marR="0" rtl="0" algn="l">
              <a:lnSpc>
                <a:spcPct val="90000"/>
              </a:lnSpc>
              <a:spcBef>
                <a:spcPts val="100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 XGboost is superior compared to gradient boosting algorithm since it offers a good balance between bias and variance (Gradient boosting only optimized for the variance so tend to overfit training data while XGboost offers regularization terms that can improve model generalization). </a:t>
            </a:r>
            <a:endParaRPr/>
          </a:p>
          <a:p>
            <a:pPr indent="-171450" lvl="0" marL="285750" marR="0" rtl="0" algn="l">
              <a:lnSpc>
                <a:spcPct val="90000"/>
              </a:lnSpc>
              <a:spcBef>
                <a:spcPts val="1000"/>
              </a:spcBef>
              <a:spcAft>
                <a:spcPts val="0"/>
              </a:spcAft>
              <a:buClr>
                <a:schemeClr val="dk1"/>
              </a:buClr>
              <a:buSzPts val="1800"/>
              <a:buFont typeface="Arial"/>
              <a:buNone/>
            </a:pPr>
            <a:r>
              <a:t/>
            </a:r>
            <a:endParaRPr sz="1800">
              <a:solidFill>
                <a:schemeClr val="dk1"/>
              </a:solidFill>
              <a:latin typeface="Montserrat"/>
              <a:ea typeface="Montserrat"/>
              <a:cs typeface="Montserrat"/>
              <a:sym typeface="Montserrat"/>
            </a:endParaRPr>
          </a:p>
          <a:p>
            <a:pPr indent="-171450" lvl="0" marL="285750" marR="0" rtl="0" algn="l">
              <a:lnSpc>
                <a:spcPct val="90000"/>
              </a:lnSpc>
              <a:spcBef>
                <a:spcPts val="1000"/>
              </a:spcBef>
              <a:spcAft>
                <a:spcPts val="0"/>
              </a:spcAft>
              <a:buClr>
                <a:schemeClr val="dk1"/>
              </a:buClr>
              <a:buSzPts val="1800"/>
              <a:buFont typeface="Arial"/>
              <a:buNone/>
            </a:pPr>
            <a:r>
              <a:t/>
            </a:r>
            <a:endParaRPr sz="1800">
              <a:solidFill>
                <a:schemeClr val="dk1"/>
              </a:solidFill>
              <a:latin typeface="Montserrat"/>
              <a:ea typeface="Montserrat"/>
              <a:cs typeface="Montserrat"/>
              <a:sym typeface="Montserrat"/>
            </a:endParaRPr>
          </a:p>
          <a:p>
            <a:pPr indent="-171450" lvl="0" marL="285750" marR="0" rtl="0" algn="l">
              <a:lnSpc>
                <a:spcPct val="90000"/>
              </a:lnSpc>
              <a:spcBef>
                <a:spcPts val="100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pic>
        <p:nvPicPr>
          <p:cNvPr id="443" name="Google Shape;443;p22"/>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444" name="Google Shape;444;p22"/>
          <p:cNvSpPr/>
          <p:nvPr/>
        </p:nvSpPr>
        <p:spPr>
          <a:xfrm>
            <a:off x="175329" y="266456"/>
            <a:ext cx="11632822" cy="121772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CA" sz="3600">
                <a:solidFill>
                  <a:schemeClr val="lt1"/>
                </a:solidFill>
                <a:latin typeface="Montserrat"/>
                <a:ea typeface="Montserrat"/>
                <a:cs typeface="Montserrat"/>
                <a:sym typeface="Montserrat"/>
              </a:rPr>
              <a:t>XGBOOST: GRADIENT BOOSTING ALGORITHM</a:t>
            </a:r>
            <a:endParaRPr/>
          </a:p>
        </p:txBody>
      </p:sp>
      <p:sp>
        <p:nvSpPr>
          <p:cNvPr id="445" name="Google Shape;445;p22"/>
          <p:cNvSpPr/>
          <p:nvPr/>
        </p:nvSpPr>
        <p:spPr>
          <a:xfrm>
            <a:off x="5038027" y="1234491"/>
            <a:ext cx="1059786" cy="349195"/>
          </a:xfrm>
          <a:prstGeom prst="roundRect">
            <a:avLst>
              <a:gd fmla="val 16667" name="adj"/>
            </a:avLst>
          </a:prstGeom>
          <a:solidFill>
            <a:schemeClr val="accent4"/>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cxnSp>
        <p:nvCxnSpPr>
          <p:cNvPr id="446" name="Google Shape;446;p22"/>
          <p:cNvCxnSpPr>
            <a:stCxn id="445" idx="2"/>
            <a:endCxn id="447" idx="0"/>
          </p:cNvCxnSpPr>
          <p:nvPr/>
        </p:nvCxnSpPr>
        <p:spPr>
          <a:xfrm flipH="1">
            <a:off x="4878520" y="1583686"/>
            <a:ext cx="689400" cy="341700"/>
          </a:xfrm>
          <a:prstGeom prst="straightConnector1">
            <a:avLst/>
          </a:prstGeom>
          <a:noFill/>
          <a:ln cap="flat" cmpd="sng" w="9525">
            <a:solidFill>
              <a:schemeClr val="accent1"/>
            </a:solidFill>
            <a:prstDash val="solid"/>
            <a:miter lim="800000"/>
            <a:headEnd len="sm" w="sm" type="none"/>
            <a:tailEnd len="med" w="med" type="triangle"/>
          </a:ln>
        </p:spPr>
      </p:cxnSp>
      <p:cxnSp>
        <p:nvCxnSpPr>
          <p:cNvPr id="448" name="Google Shape;448;p22"/>
          <p:cNvCxnSpPr>
            <a:stCxn id="445" idx="2"/>
            <a:endCxn id="449" idx="0"/>
          </p:cNvCxnSpPr>
          <p:nvPr/>
        </p:nvCxnSpPr>
        <p:spPr>
          <a:xfrm>
            <a:off x="5567920" y="1583686"/>
            <a:ext cx="763800" cy="341700"/>
          </a:xfrm>
          <a:prstGeom prst="straightConnector1">
            <a:avLst/>
          </a:prstGeom>
          <a:noFill/>
          <a:ln cap="flat" cmpd="sng" w="9525">
            <a:solidFill>
              <a:schemeClr val="accent1"/>
            </a:solidFill>
            <a:prstDash val="solid"/>
            <a:miter lim="800000"/>
            <a:headEnd len="sm" w="sm" type="none"/>
            <a:tailEnd len="med" w="med" type="triangle"/>
          </a:ln>
        </p:spPr>
      </p:cxnSp>
      <p:sp>
        <p:nvSpPr>
          <p:cNvPr id="447" name="Google Shape;447;p22"/>
          <p:cNvSpPr/>
          <p:nvPr/>
        </p:nvSpPr>
        <p:spPr>
          <a:xfrm>
            <a:off x="4255311" y="1925287"/>
            <a:ext cx="1246266" cy="343431"/>
          </a:xfrm>
          <a:prstGeom prst="roundRect">
            <a:avLst>
              <a:gd fmla="val 16667" name="adj"/>
            </a:avLst>
          </a:prstGeom>
          <a:solidFill>
            <a:srgbClr val="FF00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449" name="Google Shape;449;p22"/>
          <p:cNvSpPr/>
          <p:nvPr/>
        </p:nvSpPr>
        <p:spPr>
          <a:xfrm>
            <a:off x="5738624" y="1925287"/>
            <a:ext cx="1186273" cy="343431"/>
          </a:xfrm>
          <a:prstGeom prst="roundRect">
            <a:avLst>
              <a:gd fmla="val 16667" name="adj"/>
            </a:avLst>
          </a:prstGeom>
          <a:solidFill>
            <a:srgbClr val="FF00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cxnSp>
        <p:nvCxnSpPr>
          <p:cNvPr id="450" name="Google Shape;450;p22"/>
          <p:cNvCxnSpPr/>
          <p:nvPr/>
        </p:nvCxnSpPr>
        <p:spPr>
          <a:xfrm flipH="1">
            <a:off x="5926106" y="2276966"/>
            <a:ext cx="424530" cy="341602"/>
          </a:xfrm>
          <a:prstGeom prst="straightConnector1">
            <a:avLst/>
          </a:prstGeom>
          <a:noFill/>
          <a:ln cap="flat" cmpd="sng" w="9525">
            <a:solidFill>
              <a:schemeClr val="accent1"/>
            </a:solidFill>
            <a:prstDash val="solid"/>
            <a:miter lim="800000"/>
            <a:headEnd len="sm" w="sm" type="none"/>
            <a:tailEnd len="med" w="med" type="triangle"/>
          </a:ln>
        </p:spPr>
      </p:cxnSp>
      <p:cxnSp>
        <p:nvCxnSpPr>
          <p:cNvPr id="451" name="Google Shape;451;p22"/>
          <p:cNvCxnSpPr/>
          <p:nvPr/>
        </p:nvCxnSpPr>
        <p:spPr>
          <a:xfrm>
            <a:off x="6350636" y="2276966"/>
            <a:ext cx="528892" cy="341602"/>
          </a:xfrm>
          <a:prstGeom prst="straightConnector1">
            <a:avLst/>
          </a:prstGeom>
          <a:noFill/>
          <a:ln cap="flat" cmpd="sng" w="9525">
            <a:solidFill>
              <a:schemeClr val="accent1"/>
            </a:solidFill>
            <a:prstDash val="solid"/>
            <a:miter lim="800000"/>
            <a:headEnd len="sm" w="sm" type="none"/>
            <a:tailEnd len="med" w="med" type="triangle"/>
          </a:ln>
        </p:spPr>
      </p:cxnSp>
      <p:cxnSp>
        <p:nvCxnSpPr>
          <p:cNvPr id="452" name="Google Shape;452;p22"/>
          <p:cNvCxnSpPr>
            <a:endCxn id="453" idx="0"/>
          </p:cNvCxnSpPr>
          <p:nvPr/>
        </p:nvCxnSpPr>
        <p:spPr>
          <a:xfrm flipH="1">
            <a:off x="4193841" y="2276868"/>
            <a:ext cx="424500" cy="341700"/>
          </a:xfrm>
          <a:prstGeom prst="straightConnector1">
            <a:avLst/>
          </a:prstGeom>
          <a:noFill/>
          <a:ln cap="flat" cmpd="sng" w="9525">
            <a:solidFill>
              <a:schemeClr val="accent1"/>
            </a:solidFill>
            <a:prstDash val="solid"/>
            <a:miter lim="800000"/>
            <a:headEnd len="sm" w="sm" type="none"/>
            <a:tailEnd len="med" w="med" type="triangle"/>
          </a:ln>
        </p:spPr>
      </p:cxnSp>
      <p:cxnSp>
        <p:nvCxnSpPr>
          <p:cNvPr id="454" name="Google Shape;454;p22"/>
          <p:cNvCxnSpPr>
            <a:endCxn id="455" idx="0"/>
          </p:cNvCxnSpPr>
          <p:nvPr/>
        </p:nvCxnSpPr>
        <p:spPr>
          <a:xfrm>
            <a:off x="4618363" y="2276868"/>
            <a:ext cx="528900" cy="341700"/>
          </a:xfrm>
          <a:prstGeom prst="straightConnector1">
            <a:avLst/>
          </a:prstGeom>
          <a:noFill/>
          <a:ln cap="flat" cmpd="sng" w="9525">
            <a:solidFill>
              <a:schemeClr val="accent1"/>
            </a:solidFill>
            <a:prstDash val="solid"/>
            <a:miter lim="800000"/>
            <a:headEnd len="sm" w="sm" type="none"/>
            <a:tailEnd len="med" w="med" type="triangle"/>
          </a:ln>
        </p:spPr>
      </p:cxnSp>
      <p:sp>
        <p:nvSpPr>
          <p:cNvPr id="453" name="Google Shape;453;p22"/>
          <p:cNvSpPr/>
          <p:nvPr/>
        </p:nvSpPr>
        <p:spPr>
          <a:xfrm>
            <a:off x="3835654" y="2618568"/>
            <a:ext cx="716373"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FF0000"/>
              </a:solidFill>
              <a:latin typeface="Calibri"/>
              <a:ea typeface="Calibri"/>
              <a:cs typeface="Calibri"/>
              <a:sym typeface="Calibri"/>
            </a:endParaRPr>
          </a:p>
        </p:txBody>
      </p:sp>
      <p:sp>
        <p:nvSpPr>
          <p:cNvPr id="455" name="Google Shape;455;p22"/>
          <p:cNvSpPr/>
          <p:nvPr/>
        </p:nvSpPr>
        <p:spPr>
          <a:xfrm>
            <a:off x="4789076" y="2618568"/>
            <a:ext cx="716374"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Calibri"/>
              <a:ea typeface="Calibri"/>
              <a:cs typeface="Calibri"/>
              <a:sym typeface="Calibri"/>
            </a:endParaRPr>
          </a:p>
        </p:txBody>
      </p:sp>
      <p:sp>
        <p:nvSpPr>
          <p:cNvPr id="456" name="Google Shape;456;p22"/>
          <p:cNvSpPr/>
          <p:nvPr/>
        </p:nvSpPr>
        <p:spPr>
          <a:xfrm>
            <a:off x="5567919" y="2637731"/>
            <a:ext cx="716373"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FF0000"/>
              </a:solidFill>
              <a:latin typeface="Calibri"/>
              <a:ea typeface="Calibri"/>
              <a:cs typeface="Calibri"/>
              <a:sym typeface="Calibri"/>
            </a:endParaRPr>
          </a:p>
        </p:txBody>
      </p:sp>
      <p:sp>
        <p:nvSpPr>
          <p:cNvPr id="457" name="Google Shape;457;p22"/>
          <p:cNvSpPr/>
          <p:nvPr/>
        </p:nvSpPr>
        <p:spPr>
          <a:xfrm>
            <a:off x="6521341" y="2637731"/>
            <a:ext cx="716374"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Calibri"/>
              <a:ea typeface="Calibri"/>
              <a:cs typeface="Calibri"/>
              <a:sym typeface="Calibri"/>
            </a:endParaRPr>
          </a:p>
        </p:txBody>
      </p:sp>
      <p:sp>
        <p:nvSpPr>
          <p:cNvPr id="458" name="Google Shape;458;p22"/>
          <p:cNvSpPr txBox="1"/>
          <p:nvPr/>
        </p:nvSpPr>
        <p:spPr>
          <a:xfrm>
            <a:off x="4101124" y="2258977"/>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459" name="Google Shape;459;p22"/>
          <p:cNvSpPr txBox="1"/>
          <p:nvPr/>
        </p:nvSpPr>
        <p:spPr>
          <a:xfrm>
            <a:off x="4894773" y="1555667"/>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460" name="Google Shape;460;p22"/>
          <p:cNvSpPr txBox="1"/>
          <p:nvPr/>
        </p:nvSpPr>
        <p:spPr>
          <a:xfrm>
            <a:off x="6007305" y="1555667"/>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461" name="Google Shape;461;p22"/>
          <p:cNvSpPr txBox="1"/>
          <p:nvPr/>
        </p:nvSpPr>
        <p:spPr>
          <a:xfrm>
            <a:off x="6720450" y="2249236"/>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462" name="Google Shape;462;p22"/>
          <p:cNvSpPr txBox="1"/>
          <p:nvPr/>
        </p:nvSpPr>
        <p:spPr>
          <a:xfrm>
            <a:off x="4936942" y="2231518"/>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463" name="Google Shape;463;p22"/>
          <p:cNvSpPr txBox="1"/>
          <p:nvPr/>
        </p:nvSpPr>
        <p:spPr>
          <a:xfrm>
            <a:off x="5886332" y="2230576"/>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464" name="Google Shape;464;p22"/>
          <p:cNvSpPr/>
          <p:nvPr/>
        </p:nvSpPr>
        <p:spPr>
          <a:xfrm>
            <a:off x="1390105" y="1380119"/>
            <a:ext cx="1049256" cy="1016222"/>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5" name="Google Shape;465;p22"/>
          <p:cNvSpPr/>
          <p:nvPr/>
        </p:nvSpPr>
        <p:spPr>
          <a:xfrm>
            <a:off x="175329" y="1661209"/>
            <a:ext cx="1059786" cy="517992"/>
          </a:xfrm>
          <a:prstGeom prst="roundRect">
            <a:avLst>
              <a:gd fmla="val 16667" name="adj"/>
            </a:avLst>
          </a:prstGeom>
          <a:solidFill>
            <a:schemeClr val="accent4"/>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100">
                <a:solidFill>
                  <a:srgbClr val="FF0000"/>
                </a:solidFill>
                <a:latin typeface="Calibri"/>
                <a:ea typeface="Calibri"/>
                <a:cs typeface="Calibri"/>
                <a:sym typeface="Calibri"/>
              </a:rPr>
              <a:t>INITIAL GUESS (AVERAGE)</a:t>
            </a:r>
            <a:endParaRPr sz="1100">
              <a:solidFill>
                <a:srgbClr val="FF0000"/>
              </a:solidFill>
              <a:latin typeface="Calibri"/>
              <a:ea typeface="Calibri"/>
              <a:cs typeface="Calibri"/>
              <a:sym typeface="Calibri"/>
            </a:endParaRPr>
          </a:p>
        </p:txBody>
      </p:sp>
      <p:sp>
        <p:nvSpPr>
          <p:cNvPr id="466" name="Google Shape;466;p22"/>
          <p:cNvSpPr txBox="1"/>
          <p:nvPr/>
        </p:nvSpPr>
        <p:spPr>
          <a:xfrm>
            <a:off x="2085720" y="1702705"/>
            <a:ext cx="1881233"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CA" sz="1800">
                <a:solidFill>
                  <a:schemeClr val="dk1"/>
                </a:solidFill>
                <a:latin typeface="Calibri"/>
                <a:ea typeface="Calibri"/>
                <a:cs typeface="Calibri"/>
                <a:sym typeface="Calibri"/>
              </a:rPr>
              <a:t>Learning Rate</a:t>
            </a:r>
            <a:endParaRPr b="1" sz="1800">
              <a:solidFill>
                <a:schemeClr val="dk1"/>
              </a:solidFill>
              <a:latin typeface="Calibri"/>
              <a:ea typeface="Calibri"/>
              <a:cs typeface="Calibri"/>
              <a:sym typeface="Calibri"/>
            </a:endParaRPr>
          </a:p>
        </p:txBody>
      </p:sp>
      <p:sp>
        <p:nvSpPr>
          <p:cNvPr id="467" name="Google Shape;467;p22"/>
          <p:cNvSpPr/>
          <p:nvPr/>
        </p:nvSpPr>
        <p:spPr>
          <a:xfrm>
            <a:off x="3428950" y="1430229"/>
            <a:ext cx="877224" cy="860124"/>
          </a:xfrm>
          <a:prstGeom prst="mathMultiply">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8" name="Google Shape;468;p22"/>
          <p:cNvSpPr/>
          <p:nvPr/>
        </p:nvSpPr>
        <p:spPr>
          <a:xfrm>
            <a:off x="7004564" y="3043004"/>
            <a:ext cx="1059786" cy="349195"/>
          </a:xfrm>
          <a:prstGeom prst="roundRect">
            <a:avLst>
              <a:gd fmla="val 16667" name="adj"/>
            </a:avLst>
          </a:prstGeom>
          <a:solidFill>
            <a:schemeClr val="accent4"/>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cxnSp>
        <p:nvCxnSpPr>
          <p:cNvPr id="469" name="Google Shape;469;p22"/>
          <p:cNvCxnSpPr>
            <a:stCxn id="468" idx="2"/>
            <a:endCxn id="470" idx="0"/>
          </p:cNvCxnSpPr>
          <p:nvPr/>
        </p:nvCxnSpPr>
        <p:spPr>
          <a:xfrm flipH="1">
            <a:off x="6845057" y="3392199"/>
            <a:ext cx="689400" cy="341700"/>
          </a:xfrm>
          <a:prstGeom prst="straightConnector1">
            <a:avLst/>
          </a:prstGeom>
          <a:noFill/>
          <a:ln cap="flat" cmpd="sng" w="9525">
            <a:solidFill>
              <a:schemeClr val="accent1"/>
            </a:solidFill>
            <a:prstDash val="solid"/>
            <a:miter lim="800000"/>
            <a:headEnd len="sm" w="sm" type="none"/>
            <a:tailEnd len="med" w="med" type="triangle"/>
          </a:ln>
        </p:spPr>
      </p:cxnSp>
      <p:cxnSp>
        <p:nvCxnSpPr>
          <p:cNvPr id="471" name="Google Shape;471;p22"/>
          <p:cNvCxnSpPr>
            <a:stCxn id="468" idx="2"/>
            <a:endCxn id="472" idx="0"/>
          </p:cNvCxnSpPr>
          <p:nvPr/>
        </p:nvCxnSpPr>
        <p:spPr>
          <a:xfrm>
            <a:off x="7534457" y="3392199"/>
            <a:ext cx="763800" cy="341700"/>
          </a:xfrm>
          <a:prstGeom prst="straightConnector1">
            <a:avLst/>
          </a:prstGeom>
          <a:noFill/>
          <a:ln cap="flat" cmpd="sng" w="9525">
            <a:solidFill>
              <a:schemeClr val="accent1"/>
            </a:solidFill>
            <a:prstDash val="solid"/>
            <a:miter lim="800000"/>
            <a:headEnd len="sm" w="sm" type="none"/>
            <a:tailEnd len="med" w="med" type="triangle"/>
          </a:ln>
        </p:spPr>
      </p:cxnSp>
      <p:sp>
        <p:nvSpPr>
          <p:cNvPr id="470" name="Google Shape;470;p22"/>
          <p:cNvSpPr/>
          <p:nvPr/>
        </p:nvSpPr>
        <p:spPr>
          <a:xfrm>
            <a:off x="6221848" y="3733800"/>
            <a:ext cx="1246266" cy="343431"/>
          </a:xfrm>
          <a:prstGeom prst="roundRect">
            <a:avLst>
              <a:gd fmla="val 16667" name="adj"/>
            </a:avLst>
          </a:prstGeom>
          <a:solidFill>
            <a:srgbClr val="FF00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472" name="Google Shape;472;p22"/>
          <p:cNvSpPr/>
          <p:nvPr/>
        </p:nvSpPr>
        <p:spPr>
          <a:xfrm>
            <a:off x="7705161" y="3733800"/>
            <a:ext cx="1186273" cy="343431"/>
          </a:xfrm>
          <a:prstGeom prst="roundRect">
            <a:avLst>
              <a:gd fmla="val 16667" name="adj"/>
            </a:avLst>
          </a:prstGeom>
          <a:solidFill>
            <a:srgbClr val="FF00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cxnSp>
        <p:nvCxnSpPr>
          <p:cNvPr id="473" name="Google Shape;473;p22"/>
          <p:cNvCxnSpPr/>
          <p:nvPr/>
        </p:nvCxnSpPr>
        <p:spPr>
          <a:xfrm flipH="1">
            <a:off x="7892643" y="4085479"/>
            <a:ext cx="424530" cy="341602"/>
          </a:xfrm>
          <a:prstGeom prst="straightConnector1">
            <a:avLst/>
          </a:prstGeom>
          <a:noFill/>
          <a:ln cap="flat" cmpd="sng" w="9525">
            <a:solidFill>
              <a:schemeClr val="accent1"/>
            </a:solidFill>
            <a:prstDash val="solid"/>
            <a:miter lim="800000"/>
            <a:headEnd len="sm" w="sm" type="none"/>
            <a:tailEnd len="med" w="med" type="triangle"/>
          </a:ln>
        </p:spPr>
      </p:cxnSp>
      <p:cxnSp>
        <p:nvCxnSpPr>
          <p:cNvPr id="474" name="Google Shape;474;p22"/>
          <p:cNvCxnSpPr/>
          <p:nvPr/>
        </p:nvCxnSpPr>
        <p:spPr>
          <a:xfrm>
            <a:off x="8317173" y="4085479"/>
            <a:ext cx="528892" cy="341602"/>
          </a:xfrm>
          <a:prstGeom prst="straightConnector1">
            <a:avLst/>
          </a:prstGeom>
          <a:noFill/>
          <a:ln cap="flat" cmpd="sng" w="9525">
            <a:solidFill>
              <a:schemeClr val="accent1"/>
            </a:solidFill>
            <a:prstDash val="solid"/>
            <a:miter lim="800000"/>
            <a:headEnd len="sm" w="sm" type="none"/>
            <a:tailEnd len="med" w="med" type="triangle"/>
          </a:ln>
        </p:spPr>
      </p:cxnSp>
      <p:cxnSp>
        <p:nvCxnSpPr>
          <p:cNvPr id="475" name="Google Shape;475;p22"/>
          <p:cNvCxnSpPr>
            <a:endCxn id="476" idx="0"/>
          </p:cNvCxnSpPr>
          <p:nvPr/>
        </p:nvCxnSpPr>
        <p:spPr>
          <a:xfrm flipH="1">
            <a:off x="6160377" y="4085381"/>
            <a:ext cx="424500" cy="341700"/>
          </a:xfrm>
          <a:prstGeom prst="straightConnector1">
            <a:avLst/>
          </a:prstGeom>
          <a:noFill/>
          <a:ln cap="flat" cmpd="sng" w="9525">
            <a:solidFill>
              <a:schemeClr val="accent1"/>
            </a:solidFill>
            <a:prstDash val="solid"/>
            <a:miter lim="800000"/>
            <a:headEnd len="sm" w="sm" type="none"/>
            <a:tailEnd len="med" w="med" type="triangle"/>
          </a:ln>
        </p:spPr>
      </p:cxnSp>
      <p:cxnSp>
        <p:nvCxnSpPr>
          <p:cNvPr id="477" name="Google Shape;477;p22"/>
          <p:cNvCxnSpPr>
            <a:endCxn id="478" idx="0"/>
          </p:cNvCxnSpPr>
          <p:nvPr/>
        </p:nvCxnSpPr>
        <p:spPr>
          <a:xfrm>
            <a:off x="6584900" y="4085381"/>
            <a:ext cx="528900" cy="341700"/>
          </a:xfrm>
          <a:prstGeom prst="straightConnector1">
            <a:avLst/>
          </a:prstGeom>
          <a:noFill/>
          <a:ln cap="flat" cmpd="sng" w="9525">
            <a:solidFill>
              <a:schemeClr val="accent1"/>
            </a:solidFill>
            <a:prstDash val="solid"/>
            <a:miter lim="800000"/>
            <a:headEnd len="sm" w="sm" type="none"/>
            <a:tailEnd len="med" w="med" type="triangle"/>
          </a:ln>
        </p:spPr>
      </p:cxnSp>
      <p:sp>
        <p:nvSpPr>
          <p:cNvPr id="476" name="Google Shape;476;p22"/>
          <p:cNvSpPr/>
          <p:nvPr/>
        </p:nvSpPr>
        <p:spPr>
          <a:xfrm>
            <a:off x="5802191" y="4427081"/>
            <a:ext cx="716373"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FF0000"/>
              </a:solidFill>
              <a:latin typeface="Calibri"/>
              <a:ea typeface="Calibri"/>
              <a:cs typeface="Calibri"/>
              <a:sym typeface="Calibri"/>
            </a:endParaRPr>
          </a:p>
        </p:txBody>
      </p:sp>
      <p:sp>
        <p:nvSpPr>
          <p:cNvPr id="478" name="Google Shape;478;p22"/>
          <p:cNvSpPr/>
          <p:nvPr/>
        </p:nvSpPr>
        <p:spPr>
          <a:xfrm>
            <a:off x="6755613" y="4427081"/>
            <a:ext cx="716374"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Calibri"/>
              <a:ea typeface="Calibri"/>
              <a:cs typeface="Calibri"/>
              <a:sym typeface="Calibri"/>
            </a:endParaRPr>
          </a:p>
        </p:txBody>
      </p:sp>
      <p:sp>
        <p:nvSpPr>
          <p:cNvPr id="479" name="Google Shape;479;p22"/>
          <p:cNvSpPr/>
          <p:nvPr/>
        </p:nvSpPr>
        <p:spPr>
          <a:xfrm>
            <a:off x="7534456" y="4446244"/>
            <a:ext cx="716373"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FF0000"/>
              </a:solidFill>
              <a:latin typeface="Calibri"/>
              <a:ea typeface="Calibri"/>
              <a:cs typeface="Calibri"/>
              <a:sym typeface="Calibri"/>
            </a:endParaRPr>
          </a:p>
        </p:txBody>
      </p:sp>
      <p:sp>
        <p:nvSpPr>
          <p:cNvPr id="480" name="Google Shape;480;p22"/>
          <p:cNvSpPr/>
          <p:nvPr/>
        </p:nvSpPr>
        <p:spPr>
          <a:xfrm>
            <a:off x="8487878" y="4446244"/>
            <a:ext cx="716374"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Calibri"/>
              <a:ea typeface="Calibri"/>
              <a:cs typeface="Calibri"/>
              <a:sym typeface="Calibri"/>
            </a:endParaRPr>
          </a:p>
        </p:txBody>
      </p:sp>
      <p:sp>
        <p:nvSpPr>
          <p:cNvPr id="481" name="Google Shape;481;p22"/>
          <p:cNvSpPr txBox="1"/>
          <p:nvPr/>
        </p:nvSpPr>
        <p:spPr>
          <a:xfrm>
            <a:off x="6067661" y="4067490"/>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482" name="Google Shape;482;p22"/>
          <p:cNvSpPr txBox="1"/>
          <p:nvPr/>
        </p:nvSpPr>
        <p:spPr>
          <a:xfrm>
            <a:off x="6861310" y="3364180"/>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483" name="Google Shape;483;p22"/>
          <p:cNvSpPr txBox="1"/>
          <p:nvPr/>
        </p:nvSpPr>
        <p:spPr>
          <a:xfrm>
            <a:off x="7973842" y="3364180"/>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484" name="Google Shape;484;p22"/>
          <p:cNvSpPr txBox="1"/>
          <p:nvPr/>
        </p:nvSpPr>
        <p:spPr>
          <a:xfrm>
            <a:off x="8686987" y="4057749"/>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485" name="Google Shape;485;p22"/>
          <p:cNvSpPr txBox="1"/>
          <p:nvPr/>
        </p:nvSpPr>
        <p:spPr>
          <a:xfrm>
            <a:off x="6903479" y="4040031"/>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486" name="Google Shape;486;p22"/>
          <p:cNvSpPr txBox="1"/>
          <p:nvPr/>
        </p:nvSpPr>
        <p:spPr>
          <a:xfrm>
            <a:off x="7852869" y="4039089"/>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487" name="Google Shape;487;p22"/>
          <p:cNvSpPr txBox="1"/>
          <p:nvPr/>
        </p:nvSpPr>
        <p:spPr>
          <a:xfrm>
            <a:off x="3428734" y="3614113"/>
            <a:ext cx="1881233"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CA" sz="1400">
                <a:solidFill>
                  <a:schemeClr val="dk1"/>
                </a:solidFill>
                <a:latin typeface="Calibri"/>
                <a:ea typeface="Calibri"/>
                <a:cs typeface="Calibri"/>
                <a:sym typeface="Calibri"/>
              </a:rPr>
              <a:t>LEARNING RATE</a:t>
            </a:r>
            <a:endParaRPr b="1" sz="1400">
              <a:solidFill>
                <a:schemeClr val="dk1"/>
              </a:solidFill>
              <a:latin typeface="Calibri"/>
              <a:ea typeface="Calibri"/>
              <a:cs typeface="Calibri"/>
              <a:sym typeface="Calibri"/>
            </a:endParaRPr>
          </a:p>
        </p:txBody>
      </p:sp>
      <p:sp>
        <p:nvSpPr>
          <p:cNvPr id="488" name="Google Shape;488;p22"/>
          <p:cNvSpPr/>
          <p:nvPr/>
        </p:nvSpPr>
        <p:spPr>
          <a:xfrm>
            <a:off x="4953390" y="3353328"/>
            <a:ext cx="877224" cy="860124"/>
          </a:xfrm>
          <a:prstGeom prst="mathMultiply">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9" name="Google Shape;489;p22"/>
          <p:cNvSpPr/>
          <p:nvPr/>
        </p:nvSpPr>
        <p:spPr>
          <a:xfrm>
            <a:off x="7848750" y="4917396"/>
            <a:ext cx="1059786" cy="349195"/>
          </a:xfrm>
          <a:prstGeom prst="roundRect">
            <a:avLst>
              <a:gd fmla="val 16667" name="adj"/>
            </a:avLst>
          </a:prstGeom>
          <a:solidFill>
            <a:schemeClr val="accent4"/>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cxnSp>
        <p:nvCxnSpPr>
          <p:cNvPr id="490" name="Google Shape;490;p22"/>
          <p:cNvCxnSpPr>
            <a:stCxn id="489" idx="2"/>
            <a:endCxn id="491" idx="0"/>
          </p:cNvCxnSpPr>
          <p:nvPr/>
        </p:nvCxnSpPr>
        <p:spPr>
          <a:xfrm flipH="1">
            <a:off x="7689243" y="5266591"/>
            <a:ext cx="689400" cy="341700"/>
          </a:xfrm>
          <a:prstGeom prst="straightConnector1">
            <a:avLst/>
          </a:prstGeom>
          <a:noFill/>
          <a:ln cap="flat" cmpd="sng" w="9525">
            <a:solidFill>
              <a:schemeClr val="accent1"/>
            </a:solidFill>
            <a:prstDash val="solid"/>
            <a:miter lim="800000"/>
            <a:headEnd len="sm" w="sm" type="none"/>
            <a:tailEnd len="med" w="med" type="triangle"/>
          </a:ln>
        </p:spPr>
      </p:cxnSp>
      <p:cxnSp>
        <p:nvCxnSpPr>
          <p:cNvPr id="492" name="Google Shape;492;p22"/>
          <p:cNvCxnSpPr>
            <a:stCxn id="489" idx="2"/>
            <a:endCxn id="493" idx="0"/>
          </p:cNvCxnSpPr>
          <p:nvPr/>
        </p:nvCxnSpPr>
        <p:spPr>
          <a:xfrm>
            <a:off x="8378643" y="5266591"/>
            <a:ext cx="763800" cy="341700"/>
          </a:xfrm>
          <a:prstGeom prst="straightConnector1">
            <a:avLst/>
          </a:prstGeom>
          <a:noFill/>
          <a:ln cap="flat" cmpd="sng" w="9525">
            <a:solidFill>
              <a:schemeClr val="accent1"/>
            </a:solidFill>
            <a:prstDash val="solid"/>
            <a:miter lim="800000"/>
            <a:headEnd len="sm" w="sm" type="none"/>
            <a:tailEnd len="med" w="med" type="triangle"/>
          </a:ln>
        </p:spPr>
      </p:cxnSp>
      <p:sp>
        <p:nvSpPr>
          <p:cNvPr id="491" name="Google Shape;491;p22"/>
          <p:cNvSpPr/>
          <p:nvPr/>
        </p:nvSpPr>
        <p:spPr>
          <a:xfrm>
            <a:off x="7066034" y="5608192"/>
            <a:ext cx="1246266" cy="343431"/>
          </a:xfrm>
          <a:prstGeom prst="roundRect">
            <a:avLst>
              <a:gd fmla="val 16667" name="adj"/>
            </a:avLst>
          </a:prstGeom>
          <a:solidFill>
            <a:srgbClr val="FF00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493" name="Google Shape;493;p22"/>
          <p:cNvSpPr/>
          <p:nvPr/>
        </p:nvSpPr>
        <p:spPr>
          <a:xfrm>
            <a:off x="8549347" y="5608192"/>
            <a:ext cx="1186273" cy="343431"/>
          </a:xfrm>
          <a:prstGeom prst="roundRect">
            <a:avLst>
              <a:gd fmla="val 16667" name="adj"/>
            </a:avLst>
          </a:prstGeom>
          <a:solidFill>
            <a:srgbClr val="FF00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cxnSp>
        <p:nvCxnSpPr>
          <p:cNvPr id="494" name="Google Shape;494;p22"/>
          <p:cNvCxnSpPr/>
          <p:nvPr/>
        </p:nvCxnSpPr>
        <p:spPr>
          <a:xfrm flipH="1">
            <a:off x="8736829" y="5959871"/>
            <a:ext cx="424530" cy="341602"/>
          </a:xfrm>
          <a:prstGeom prst="straightConnector1">
            <a:avLst/>
          </a:prstGeom>
          <a:noFill/>
          <a:ln cap="flat" cmpd="sng" w="9525">
            <a:solidFill>
              <a:schemeClr val="accent1"/>
            </a:solidFill>
            <a:prstDash val="solid"/>
            <a:miter lim="800000"/>
            <a:headEnd len="sm" w="sm" type="none"/>
            <a:tailEnd len="med" w="med" type="triangle"/>
          </a:ln>
        </p:spPr>
      </p:cxnSp>
      <p:cxnSp>
        <p:nvCxnSpPr>
          <p:cNvPr id="495" name="Google Shape;495;p22"/>
          <p:cNvCxnSpPr/>
          <p:nvPr/>
        </p:nvCxnSpPr>
        <p:spPr>
          <a:xfrm>
            <a:off x="9161359" y="5959871"/>
            <a:ext cx="528892" cy="341602"/>
          </a:xfrm>
          <a:prstGeom prst="straightConnector1">
            <a:avLst/>
          </a:prstGeom>
          <a:noFill/>
          <a:ln cap="flat" cmpd="sng" w="9525">
            <a:solidFill>
              <a:schemeClr val="accent1"/>
            </a:solidFill>
            <a:prstDash val="solid"/>
            <a:miter lim="800000"/>
            <a:headEnd len="sm" w="sm" type="none"/>
            <a:tailEnd len="med" w="med" type="triangle"/>
          </a:ln>
        </p:spPr>
      </p:cxnSp>
      <p:cxnSp>
        <p:nvCxnSpPr>
          <p:cNvPr id="496" name="Google Shape;496;p22"/>
          <p:cNvCxnSpPr>
            <a:endCxn id="497" idx="0"/>
          </p:cNvCxnSpPr>
          <p:nvPr/>
        </p:nvCxnSpPr>
        <p:spPr>
          <a:xfrm flipH="1">
            <a:off x="7004563" y="5959773"/>
            <a:ext cx="424500" cy="341700"/>
          </a:xfrm>
          <a:prstGeom prst="straightConnector1">
            <a:avLst/>
          </a:prstGeom>
          <a:noFill/>
          <a:ln cap="flat" cmpd="sng" w="9525">
            <a:solidFill>
              <a:schemeClr val="accent1"/>
            </a:solidFill>
            <a:prstDash val="solid"/>
            <a:miter lim="800000"/>
            <a:headEnd len="sm" w="sm" type="none"/>
            <a:tailEnd len="med" w="med" type="triangle"/>
          </a:ln>
        </p:spPr>
      </p:cxnSp>
      <p:cxnSp>
        <p:nvCxnSpPr>
          <p:cNvPr id="498" name="Google Shape;498;p22"/>
          <p:cNvCxnSpPr>
            <a:endCxn id="499" idx="0"/>
          </p:cNvCxnSpPr>
          <p:nvPr/>
        </p:nvCxnSpPr>
        <p:spPr>
          <a:xfrm>
            <a:off x="7429086" y="5959773"/>
            <a:ext cx="528900" cy="341700"/>
          </a:xfrm>
          <a:prstGeom prst="straightConnector1">
            <a:avLst/>
          </a:prstGeom>
          <a:noFill/>
          <a:ln cap="flat" cmpd="sng" w="9525">
            <a:solidFill>
              <a:schemeClr val="accent1"/>
            </a:solidFill>
            <a:prstDash val="solid"/>
            <a:miter lim="800000"/>
            <a:headEnd len="sm" w="sm" type="none"/>
            <a:tailEnd len="med" w="med" type="triangle"/>
          </a:ln>
        </p:spPr>
      </p:cxnSp>
      <p:sp>
        <p:nvSpPr>
          <p:cNvPr id="497" name="Google Shape;497;p22"/>
          <p:cNvSpPr/>
          <p:nvPr/>
        </p:nvSpPr>
        <p:spPr>
          <a:xfrm>
            <a:off x="6646377" y="6301473"/>
            <a:ext cx="716373"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FF0000"/>
              </a:solidFill>
              <a:latin typeface="Calibri"/>
              <a:ea typeface="Calibri"/>
              <a:cs typeface="Calibri"/>
              <a:sym typeface="Calibri"/>
            </a:endParaRPr>
          </a:p>
        </p:txBody>
      </p:sp>
      <p:sp>
        <p:nvSpPr>
          <p:cNvPr id="499" name="Google Shape;499;p22"/>
          <p:cNvSpPr/>
          <p:nvPr/>
        </p:nvSpPr>
        <p:spPr>
          <a:xfrm>
            <a:off x="7599799" y="6301473"/>
            <a:ext cx="716374"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Calibri"/>
              <a:ea typeface="Calibri"/>
              <a:cs typeface="Calibri"/>
              <a:sym typeface="Calibri"/>
            </a:endParaRPr>
          </a:p>
        </p:txBody>
      </p:sp>
      <p:sp>
        <p:nvSpPr>
          <p:cNvPr id="500" name="Google Shape;500;p22"/>
          <p:cNvSpPr/>
          <p:nvPr/>
        </p:nvSpPr>
        <p:spPr>
          <a:xfrm>
            <a:off x="8378642" y="6320636"/>
            <a:ext cx="716373"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FF0000"/>
              </a:solidFill>
              <a:latin typeface="Calibri"/>
              <a:ea typeface="Calibri"/>
              <a:cs typeface="Calibri"/>
              <a:sym typeface="Calibri"/>
            </a:endParaRPr>
          </a:p>
        </p:txBody>
      </p:sp>
      <p:sp>
        <p:nvSpPr>
          <p:cNvPr id="501" name="Google Shape;501;p22"/>
          <p:cNvSpPr/>
          <p:nvPr/>
        </p:nvSpPr>
        <p:spPr>
          <a:xfrm>
            <a:off x="9332064" y="6320636"/>
            <a:ext cx="716374"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Calibri"/>
              <a:ea typeface="Calibri"/>
              <a:cs typeface="Calibri"/>
              <a:sym typeface="Calibri"/>
            </a:endParaRPr>
          </a:p>
        </p:txBody>
      </p:sp>
      <p:sp>
        <p:nvSpPr>
          <p:cNvPr id="502" name="Google Shape;502;p22"/>
          <p:cNvSpPr txBox="1"/>
          <p:nvPr/>
        </p:nvSpPr>
        <p:spPr>
          <a:xfrm>
            <a:off x="6911847" y="5941882"/>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503" name="Google Shape;503;p22"/>
          <p:cNvSpPr txBox="1"/>
          <p:nvPr/>
        </p:nvSpPr>
        <p:spPr>
          <a:xfrm>
            <a:off x="7705496" y="5238572"/>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504" name="Google Shape;504;p22"/>
          <p:cNvSpPr txBox="1"/>
          <p:nvPr/>
        </p:nvSpPr>
        <p:spPr>
          <a:xfrm>
            <a:off x="8818028" y="5238572"/>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505" name="Google Shape;505;p22"/>
          <p:cNvSpPr txBox="1"/>
          <p:nvPr/>
        </p:nvSpPr>
        <p:spPr>
          <a:xfrm>
            <a:off x="9531173" y="5932141"/>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506" name="Google Shape;506;p22"/>
          <p:cNvSpPr txBox="1"/>
          <p:nvPr/>
        </p:nvSpPr>
        <p:spPr>
          <a:xfrm>
            <a:off x="7747665" y="5914423"/>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507" name="Google Shape;507;p22"/>
          <p:cNvSpPr txBox="1"/>
          <p:nvPr/>
        </p:nvSpPr>
        <p:spPr>
          <a:xfrm>
            <a:off x="8697055" y="5913481"/>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508" name="Google Shape;508;p22"/>
          <p:cNvSpPr txBox="1"/>
          <p:nvPr/>
        </p:nvSpPr>
        <p:spPr>
          <a:xfrm>
            <a:off x="4294480" y="5516995"/>
            <a:ext cx="1881233"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CA" sz="1400">
                <a:solidFill>
                  <a:schemeClr val="dk1"/>
                </a:solidFill>
                <a:latin typeface="Calibri"/>
                <a:ea typeface="Calibri"/>
                <a:cs typeface="Calibri"/>
                <a:sym typeface="Calibri"/>
              </a:rPr>
              <a:t>LEARNING RATE</a:t>
            </a:r>
            <a:endParaRPr b="1" sz="1400">
              <a:solidFill>
                <a:schemeClr val="dk1"/>
              </a:solidFill>
              <a:latin typeface="Calibri"/>
              <a:ea typeface="Calibri"/>
              <a:cs typeface="Calibri"/>
              <a:sym typeface="Calibri"/>
            </a:endParaRPr>
          </a:p>
        </p:txBody>
      </p:sp>
      <p:sp>
        <p:nvSpPr>
          <p:cNvPr id="509" name="Google Shape;509;p22"/>
          <p:cNvSpPr/>
          <p:nvPr/>
        </p:nvSpPr>
        <p:spPr>
          <a:xfrm>
            <a:off x="5820425" y="5282606"/>
            <a:ext cx="877224" cy="860124"/>
          </a:xfrm>
          <a:prstGeom prst="mathMultiply">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0" name="Google Shape;510;p22"/>
          <p:cNvSpPr/>
          <p:nvPr/>
        </p:nvSpPr>
        <p:spPr>
          <a:xfrm>
            <a:off x="10510188" y="5924713"/>
            <a:ext cx="333746" cy="343431"/>
          </a:xfrm>
          <a:prstGeom prst="ellipse">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1" name="Google Shape;511;p22"/>
          <p:cNvSpPr/>
          <p:nvPr/>
        </p:nvSpPr>
        <p:spPr>
          <a:xfrm>
            <a:off x="11113306" y="5913481"/>
            <a:ext cx="333746" cy="343431"/>
          </a:xfrm>
          <a:prstGeom prst="ellipse">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2" name="Google Shape;512;p22"/>
          <p:cNvSpPr/>
          <p:nvPr/>
        </p:nvSpPr>
        <p:spPr>
          <a:xfrm>
            <a:off x="9956031" y="5913269"/>
            <a:ext cx="333746" cy="343431"/>
          </a:xfrm>
          <a:prstGeom prst="ellipse">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3" name="Google Shape;513;p22"/>
          <p:cNvSpPr/>
          <p:nvPr/>
        </p:nvSpPr>
        <p:spPr>
          <a:xfrm>
            <a:off x="11117743" y="5913269"/>
            <a:ext cx="333746" cy="343431"/>
          </a:xfrm>
          <a:prstGeom prst="ellipse">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4" name="Google Shape;514;p22"/>
          <p:cNvSpPr/>
          <p:nvPr/>
        </p:nvSpPr>
        <p:spPr>
          <a:xfrm>
            <a:off x="2656102" y="3235934"/>
            <a:ext cx="1049256" cy="1016222"/>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5" name="Google Shape;515;p22"/>
          <p:cNvSpPr/>
          <p:nvPr/>
        </p:nvSpPr>
        <p:spPr>
          <a:xfrm>
            <a:off x="3535858" y="5204557"/>
            <a:ext cx="1049256" cy="1016222"/>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516" name="Google Shape;516;p22"/>
          <p:cNvCxnSpPr/>
          <p:nvPr/>
        </p:nvCxnSpPr>
        <p:spPr>
          <a:xfrm flipH="1">
            <a:off x="2331141" y="3952666"/>
            <a:ext cx="1862700" cy="1040100"/>
          </a:xfrm>
          <a:prstGeom prst="curvedConnector3">
            <a:avLst>
              <a:gd fmla="val 50000" name="adj1"/>
            </a:avLst>
          </a:prstGeom>
          <a:noFill/>
          <a:ln cap="flat" cmpd="sng" w="57150">
            <a:solidFill>
              <a:srgbClr val="FF0000"/>
            </a:solidFill>
            <a:prstDash val="solid"/>
            <a:miter lim="800000"/>
            <a:headEnd len="sm" w="sm" type="none"/>
            <a:tailEnd len="med" w="med" type="triangle"/>
          </a:ln>
        </p:spPr>
      </p:cxnSp>
      <p:sp>
        <p:nvSpPr>
          <p:cNvPr id="517" name="Google Shape;517;p22"/>
          <p:cNvSpPr txBox="1"/>
          <p:nvPr/>
        </p:nvSpPr>
        <p:spPr>
          <a:xfrm>
            <a:off x="1390105" y="5010358"/>
            <a:ext cx="183499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1800">
                <a:solidFill>
                  <a:srgbClr val="FF0000"/>
                </a:solidFill>
                <a:latin typeface="Calibri"/>
                <a:ea typeface="Calibri"/>
                <a:cs typeface="Calibri"/>
                <a:sym typeface="Calibri"/>
              </a:rPr>
              <a:t>SCALING FACTOR</a:t>
            </a:r>
            <a:endParaRPr b="1" sz="1800">
              <a:solidFill>
                <a:srgbClr val="FF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gtEl>
                                        <p:attrNameLst>
                                          <p:attrName>style.visibility</p:attrName>
                                        </p:attrNameLst>
                                      </p:cBhvr>
                                      <p:to>
                                        <p:strVal val="visible"/>
                                      </p:to>
                                    </p:set>
                                    <p:animEffect filter="fade" transition="in">
                                      <p:cBhvr>
                                        <p:cTn dur="500"/>
                                        <p:tgtEl>
                                          <p:spTgt spid="445"/>
                                        </p:tgtEl>
                                      </p:cBhvr>
                                    </p:animEffect>
                                  </p:childTnLst>
                                </p:cTn>
                              </p:par>
                              <p:par>
                                <p:cTn fill="hold" nodeType="with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500"/>
                                        <p:tgtEl>
                                          <p:spTgt spid="446"/>
                                        </p:tgtEl>
                                      </p:cBhvr>
                                    </p:animEffect>
                                  </p:childTnLst>
                                </p:cTn>
                              </p:par>
                              <p:par>
                                <p:cTn fill="hold" nodeType="withEffect" presetClass="entr" presetID="10" presetSubtype="0">
                                  <p:stCondLst>
                                    <p:cond delay="0"/>
                                  </p:stCondLst>
                                  <p:childTnLst>
                                    <p:set>
                                      <p:cBhvr>
                                        <p:cTn dur="1" fill="hold">
                                          <p:stCondLst>
                                            <p:cond delay="0"/>
                                          </p:stCondLst>
                                        </p:cTn>
                                        <p:tgtEl>
                                          <p:spTgt spid="448"/>
                                        </p:tgtEl>
                                        <p:attrNameLst>
                                          <p:attrName>style.visibility</p:attrName>
                                        </p:attrNameLst>
                                      </p:cBhvr>
                                      <p:to>
                                        <p:strVal val="visible"/>
                                      </p:to>
                                    </p:set>
                                    <p:animEffect filter="fade" transition="in">
                                      <p:cBhvr>
                                        <p:cTn dur="500"/>
                                        <p:tgtEl>
                                          <p:spTgt spid="448"/>
                                        </p:tgtEl>
                                      </p:cBhvr>
                                    </p:animEffect>
                                  </p:childTnLst>
                                </p:cTn>
                              </p:par>
                              <p:par>
                                <p:cTn fill="hold" nodeType="with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500"/>
                                        <p:tgtEl>
                                          <p:spTgt spid="447"/>
                                        </p:tgtEl>
                                      </p:cBhvr>
                                    </p:animEffect>
                                  </p:childTnLst>
                                </p:cTn>
                              </p:par>
                              <p:par>
                                <p:cTn fill="hold" nodeType="withEffect" presetClass="entr" presetID="10" presetSubtype="0">
                                  <p:stCondLst>
                                    <p:cond delay="0"/>
                                  </p:stCondLst>
                                  <p:childTnLst>
                                    <p:set>
                                      <p:cBhvr>
                                        <p:cTn dur="1" fill="hold">
                                          <p:stCondLst>
                                            <p:cond delay="0"/>
                                          </p:stCondLst>
                                        </p:cTn>
                                        <p:tgtEl>
                                          <p:spTgt spid="449"/>
                                        </p:tgtEl>
                                        <p:attrNameLst>
                                          <p:attrName>style.visibility</p:attrName>
                                        </p:attrNameLst>
                                      </p:cBhvr>
                                      <p:to>
                                        <p:strVal val="visible"/>
                                      </p:to>
                                    </p:set>
                                    <p:animEffect filter="fade" transition="in">
                                      <p:cBhvr>
                                        <p:cTn dur="500"/>
                                        <p:tgtEl>
                                          <p:spTgt spid="449"/>
                                        </p:tgtEl>
                                      </p:cBhvr>
                                    </p:animEffect>
                                  </p:childTnLst>
                                </p:cTn>
                              </p:par>
                              <p:par>
                                <p:cTn fill="hold" nodeType="withEffect" presetClass="entr" presetID="10" presetSubtype="0">
                                  <p:stCondLst>
                                    <p:cond delay="0"/>
                                  </p:stCondLst>
                                  <p:childTnLst>
                                    <p:set>
                                      <p:cBhvr>
                                        <p:cTn dur="1" fill="hold">
                                          <p:stCondLst>
                                            <p:cond delay="0"/>
                                          </p:stCondLst>
                                        </p:cTn>
                                        <p:tgtEl>
                                          <p:spTgt spid="450"/>
                                        </p:tgtEl>
                                        <p:attrNameLst>
                                          <p:attrName>style.visibility</p:attrName>
                                        </p:attrNameLst>
                                      </p:cBhvr>
                                      <p:to>
                                        <p:strVal val="visible"/>
                                      </p:to>
                                    </p:set>
                                    <p:animEffect filter="fade" transition="in">
                                      <p:cBhvr>
                                        <p:cTn dur="500"/>
                                        <p:tgtEl>
                                          <p:spTgt spid="450"/>
                                        </p:tgtEl>
                                      </p:cBhvr>
                                    </p:animEffect>
                                  </p:childTnLst>
                                </p:cTn>
                              </p:par>
                              <p:par>
                                <p:cTn fill="hold" nodeType="withEffect" presetClass="entr" presetID="10" presetSubtype="0">
                                  <p:stCondLst>
                                    <p:cond delay="0"/>
                                  </p:stCondLst>
                                  <p:childTnLst>
                                    <p:set>
                                      <p:cBhvr>
                                        <p:cTn dur="1" fill="hold">
                                          <p:stCondLst>
                                            <p:cond delay="0"/>
                                          </p:stCondLst>
                                        </p:cTn>
                                        <p:tgtEl>
                                          <p:spTgt spid="451"/>
                                        </p:tgtEl>
                                        <p:attrNameLst>
                                          <p:attrName>style.visibility</p:attrName>
                                        </p:attrNameLst>
                                      </p:cBhvr>
                                      <p:to>
                                        <p:strVal val="visible"/>
                                      </p:to>
                                    </p:set>
                                    <p:animEffect filter="fade" transition="in">
                                      <p:cBhvr>
                                        <p:cTn dur="500"/>
                                        <p:tgtEl>
                                          <p:spTgt spid="451"/>
                                        </p:tgtEl>
                                      </p:cBhvr>
                                    </p:animEffect>
                                  </p:childTnLst>
                                </p:cTn>
                              </p:par>
                              <p:par>
                                <p:cTn fill="hold" nodeType="withEffect" presetClass="entr" presetID="10" presetSubtype="0">
                                  <p:stCondLst>
                                    <p:cond delay="0"/>
                                  </p:stCondLst>
                                  <p:childTnLst>
                                    <p:set>
                                      <p:cBhvr>
                                        <p:cTn dur="1" fill="hold">
                                          <p:stCondLst>
                                            <p:cond delay="0"/>
                                          </p:stCondLst>
                                        </p:cTn>
                                        <p:tgtEl>
                                          <p:spTgt spid="452"/>
                                        </p:tgtEl>
                                        <p:attrNameLst>
                                          <p:attrName>style.visibility</p:attrName>
                                        </p:attrNameLst>
                                      </p:cBhvr>
                                      <p:to>
                                        <p:strVal val="visible"/>
                                      </p:to>
                                    </p:set>
                                    <p:animEffect filter="fade" transition="in">
                                      <p:cBhvr>
                                        <p:cTn dur="500"/>
                                        <p:tgtEl>
                                          <p:spTgt spid="452"/>
                                        </p:tgtEl>
                                      </p:cBhvr>
                                    </p:animEffect>
                                  </p:childTnLst>
                                </p:cTn>
                              </p:par>
                              <p:par>
                                <p:cTn fill="hold" nodeType="withEffect" presetClass="entr" presetID="10" presetSubtype="0">
                                  <p:stCondLst>
                                    <p:cond delay="0"/>
                                  </p:stCondLst>
                                  <p:childTnLst>
                                    <p:set>
                                      <p:cBhvr>
                                        <p:cTn dur="1" fill="hold">
                                          <p:stCondLst>
                                            <p:cond delay="0"/>
                                          </p:stCondLst>
                                        </p:cTn>
                                        <p:tgtEl>
                                          <p:spTgt spid="454"/>
                                        </p:tgtEl>
                                        <p:attrNameLst>
                                          <p:attrName>style.visibility</p:attrName>
                                        </p:attrNameLst>
                                      </p:cBhvr>
                                      <p:to>
                                        <p:strVal val="visible"/>
                                      </p:to>
                                    </p:set>
                                    <p:animEffect filter="fade" transition="in">
                                      <p:cBhvr>
                                        <p:cTn dur="500"/>
                                        <p:tgtEl>
                                          <p:spTgt spid="454"/>
                                        </p:tgtEl>
                                      </p:cBhvr>
                                    </p:animEffect>
                                  </p:childTnLst>
                                </p:cTn>
                              </p:par>
                              <p:par>
                                <p:cTn fill="hold" nodeType="withEffect" presetClass="entr" presetID="10" presetSubtype="0">
                                  <p:stCondLst>
                                    <p:cond delay="0"/>
                                  </p:stCondLst>
                                  <p:childTnLst>
                                    <p:set>
                                      <p:cBhvr>
                                        <p:cTn dur="1" fill="hold">
                                          <p:stCondLst>
                                            <p:cond delay="0"/>
                                          </p:stCondLst>
                                        </p:cTn>
                                        <p:tgtEl>
                                          <p:spTgt spid="453"/>
                                        </p:tgtEl>
                                        <p:attrNameLst>
                                          <p:attrName>style.visibility</p:attrName>
                                        </p:attrNameLst>
                                      </p:cBhvr>
                                      <p:to>
                                        <p:strVal val="visible"/>
                                      </p:to>
                                    </p:set>
                                    <p:animEffect filter="fade" transition="in">
                                      <p:cBhvr>
                                        <p:cTn dur="500"/>
                                        <p:tgtEl>
                                          <p:spTgt spid="453"/>
                                        </p:tgtEl>
                                      </p:cBhvr>
                                    </p:animEffect>
                                  </p:childTnLst>
                                </p:cTn>
                              </p:par>
                              <p:par>
                                <p:cTn fill="hold" nodeType="with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500"/>
                                        <p:tgtEl>
                                          <p:spTgt spid="455"/>
                                        </p:tgtEl>
                                      </p:cBhvr>
                                    </p:animEffect>
                                  </p:childTnLst>
                                </p:cTn>
                              </p:par>
                              <p:par>
                                <p:cTn fill="hold" nodeType="with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500"/>
                                        <p:tgtEl>
                                          <p:spTgt spid="456"/>
                                        </p:tgtEl>
                                      </p:cBhvr>
                                    </p:animEffect>
                                  </p:childTnLst>
                                </p:cTn>
                              </p:par>
                              <p:par>
                                <p:cTn fill="hold" nodeType="withEffect" presetClass="entr" presetID="10" presetSubtype="0">
                                  <p:stCondLst>
                                    <p:cond delay="0"/>
                                  </p:stCondLst>
                                  <p:childTnLst>
                                    <p:set>
                                      <p:cBhvr>
                                        <p:cTn dur="1" fill="hold">
                                          <p:stCondLst>
                                            <p:cond delay="0"/>
                                          </p:stCondLst>
                                        </p:cTn>
                                        <p:tgtEl>
                                          <p:spTgt spid="457"/>
                                        </p:tgtEl>
                                        <p:attrNameLst>
                                          <p:attrName>style.visibility</p:attrName>
                                        </p:attrNameLst>
                                      </p:cBhvr>
                                      <p:to>
                                        <p:strVal val="visible"/>
                                      </p:to>
                                    </p:set>
                                    <p:animEffect filter="fade" transition="in">
                                      <p:cBhvr>
                                        <p:cTn dur="500"/>
                                        <p:tgtEl>
                                          <p:spTgt spid="457"/>
                                        </p:tgtEl>
                                      </p:cBhvr>
                                    </p:animEffect>
                                  </p:childTnLst>
                                </p:cTn>
                              </p:par>
                              <p:par>
                                <p:cTn fill="hold" nodeType="withEffect" presetClass="entr" presetID="10" presetSubtype="0">
                                  <p:stCondLst>
                                    <p:cond delay="0"/>
                                  </p:stCondLst>
                                  <p:childTnLst>
                                    <p:set>
                                      <p:cBhvr>
                                        <p:cTn dur="1" fill="hold">
                                          <p:stCondLst>
                                            <p:cond delay="0"/>
                                          </p:stCondLst>
                                        </p:cTn>
                                        <p:tgtEl>
                                          <p:spTgt spid="458"/>
                                        </p:tgtEl>
                                        <p:attrNameLst>
                                          <p:attrName>style.visibility</p:attrName>
                                        </p:attrNameLst>
                                      </p:cBhvr>
                                      <p:to>
                                        <p:strVal val="visible"/>
                                      </p:to>
                                    </p:set>
                                    <p:animEffect filter="fade" transition="in">
                                      <p:cBhvr>
                                        <p:cTn dur="500"/>
                                        <p:tgtEl>
                                          <p:spTgt spid="458"/>
                                        </p:tgtEl>
                                      </p:cBhvr>
                                    </p:animEffect>
                                  </p:childTnLst>
                                </p:cTn>
                              </p:par>
                              <p:par>
                                <p:cTn fill="hold" nodeType="withEffect" presetClass="entr" presetID="10" presetSubtype="0">
                                  <p:stCondLst>
                                    <p:cond delay="0"/>
                                  </p:stCondLst>
                                  <p:childTnLst>
                                    <p:set>
                                      <p:cBhvr>
                                        <p:cTn dur="1" fill="hold">
                                          <p:stCondLst>
                                            <p:cond delay="0"/>
                                          </p:stCondLst>
                                        </p:cTn>
                                        <p:tgtEl>
                                          <p:spTgt spid="459"/>
                                        </p:tgtEl>
                                        <p:attrNameLst>
                                          <p:attrName>style.visibility</p:attrName>
                                        </p:attrNameLst>
                                      </p:cBhvr>
                                      <p:to>
                                        <p:strVal val="visible"/>
                                      </p:to>
                                    </p:set>
                                    <p:animEffect filter="fade" transition="in">
                                      <p:cBhvr>
                                        <p:cTn dur="500"/>
                                        <p:tgtEl>
                                          <p:spTgt spid="459"/>
                                        </p:tgtEl>
                                      </p:cBhvr>
                                    </p:animEffect>
                                  </p:childTnLst>
                                </p:cTn>
                              </p:par>
                              <p:par>
                                <p:cTn fill="hold" nodeType="withEffect" presetClass="entr" presetID="10" presetSubtype="0">
                                  <p:stCondLst>
                                    <p:cond delay="0"/>
                                  </p:stCondLst>
                                  <p:childTnLst>
                                    <p:set>
                                      <p:cBhvr>
                                        <p:cTn dur="1" fill="hold">
                                          <p:stCondLst>
                                            <p:cond delay="0"/>
                                          </p:stCondLst>
                                        </p:cTn>
                                        <p:tgtEl>
                                          <p:spTgt spid="460"/>
                                        </p:tgtEl>
                                        <p:attrNameLst>
                                          <p:attrName>style.visibility</p:attrName>
                                        </p:attrNameLst>
                                      </p:cBhvr>
                                      <p:to>
                                        <p:strVal val="visible"/>
                                      </p:to>
                                    </p:set>
                                    <p:animEffect filter="fade" transition="in">
                                      <p:cBhvr>
                                        <p:cTn dur="500"/>
                                        <p:tgtEl>
                                          <p:spTgt spid="460"/>
                                        </p:tgtEl>
                                      </p:cBhvr>
                                    </p:animEffect>
                                  </p:childTnLst>
                                </p:cTn>
                              </p:par>
                              <p:par>
                                <p:cTn fill="hold" nodeType="withEffect" presetClass="entr" presetID="10" presetSubtype="0">
                                  <p:stCondLst>
                                    <p:cond delay="0"/>
                                  </p:stCondLst>
                                  <p:childTnLst>
                                    <p:set>
                                      <p:cBhvr>
                                        <p:cTn dur="1" fill="hold">
                                          <p:stCondLst>
                                            <p:cond delay="0"/>
                                          </p:stCondLst>
                                        </p:cTn>
                                        <p:tgtEl>
                                          <p:spTgt spid="461"/>
                                        </p:tgtEl>
                                        <p:attrNameLst>
                                          <p:attrName>style.visibility</p:attrName>
                                        </p:attrNameLst>
                                      </p:cBhvr>
                                      <p:to>
                                        <p:strVal val="visible"/>
                                      </p:to>
                                    </p:set>
                                    <p:animEffect filter="fade" transition="in">
                                      <p:cBhvr>
                                        <p:cTn dur="500"/>
                                        <p:tgtEl>
                                          <p:spTgt spid="461"/>
                                        </p:tgtEl>
                                      </p:cBhvr>
                                    </p:animEffect>
                                  </p:childTnLst>
                                </p:cTn>
                              </p:par>
                              <p:par>
                                <p:cTn fill="hold" nodeType="withEffect" presetClass="entr" presetID="10" presetSubtype="0">
                                  <p:stCondLst>
                                    <p:cond delay="0"/>
                                  </p:stCondLst>
                                  <p:childTnLst>
                                    <p:set>
                                      <p:cBhvr>
                                        <p:cTn dur="1" fill="hold">
                                          <p:stCondLst>
                                            <p:cond delay="0"/>
                                          </p:stCondLst>
                                        </p:cTn>
                                        <p:tgtEl>
                                          <p:spTgt spid="462"/>
                                        </p:tgtEl>
                                        <p:attrNameLst>
                                          <p:attrName>style.visibility</p:attrName>
                                        </p:attrNameLst>
                                      </p:cBhvr>
                                      <p:to>
                                        <p:strVal val="visible"/>
                                      </p:to>
                                    </p:set>
                                    <p:animEffect filter="fade" transition="in">
                                      <p:cBhvr>
                                        <p:cTn dur="500"/>
                                        <p:tgtEl>
                                          <p:spTgt spid="462"/>
                                        </p:tgtEl>
                                      </p:cBhvr>
                                    </p:animEffect>
                                  </p:childTnLst>
                                </p:cTn>
                              </p:par>
                              <p:par>
                                <p:cTn fill="hold" nodeType="withEffect" presetClass="entr" presetID="10" presetSubtype="0">
                                  <p:stCondLst>
                                    <p:cond delay="0"/>
                                  </p:stCondLst>
                                  <p:childTnLst>
                                    <p:set>
                                      <p:cBhvr>
                                        <p:cTn dur="1" fill="hold">
                                          <p:stCondLst>
                                            <p:cond delay="0"/>
                                          </p:stCondLst>
                                        </p:cTn>
                                        <p:tgtEl>
                                          <p:spTgt spid="463"/>
                                        </p:tgtEl>
                                        <p:attrNameLst>
                                          <p:attrName>style.visibility</p:attrName>
                                        </p:attrNameLst>
                                      </p:cBhvr>
                                      <p:to>
                                        <p:strVal val="visible"/>
                                      </p:to>
                                    </p:set>
                                    <p:animEffect filter="fade" transition="in">
                                      <p:cBhvr>
                                        <p:cTn dur="500"/>
                                        <p:tgtEl>
                                          <p:spTgt spid="463"/>
                                        </p:tgtEl>
                                      </p:cBhvr>
                                    </p:animEffect>
                                  </p:childTnLst>
                                </p:cTn>
                              </p:par>
                              <p:par>
                                <p:cTn fill="hold" nodeType="withEffect" presetClass="entr" presetID="10" presetSubtype="0">
                                  <p:stCondLst>
                                    <p:cond delay="0"/>
                                  </p:stCondLst>
                                  <p:childTnLst>
                                    <p:set>
                                      <p:cBhvr>
                                        <p:cTn dur="1" fill="hold">
                                          <p:stCondLst>
                                            <p:cond delay="0"/>
                                          </p:stCondLst>
                                        </p:cTn>
                                        <p:tgtEl>
                                          <p:spTgt spid="466"/>
                                        </p:tgtEl>
                                        <p:attrNameLst>
                                          <p:attrName>style.visibility</p:attrName>
                                        </p:attrNameLst>
                                      </p:cBhvr>
                                      <p:to>
                                        <p:strVal val="visible"/>
                                      </p:to>
                                    </p:set>
                                    <p:animEffect filter="fade" transition="in">
                                      <p:cBhvr>
                                        <p:cTn dur="500"/>
                                        <p:tgtEl>
                                          <p:spTgt spid="466"/>
                                        </p:tgtEl>
                                      </p:cBhvr>
                                    </p:animEffect>
                                  </p:childTnLst>
                                </p:cTn>
                              </p:par>
                              <p:par>
                                <p:cTn fill="hold" nodeType="with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500"/>
                                        <p:tgtEl>
                                          <p:spTgt spid="467"/>
                                        </p:tgtEl>
                                      </p:cBhvr>
                                    </p:animEffect>
                                  </p:childTnLst>
                                </p:cTn>
                              </p:par>
                              <p:par>
                                <p:cTn fill="hold" nodeType="withEffect" presetClass="entr" presetID="10" presetSubtype="0">
                                  <p:stCondLst>
                                    <p:cond delay="0"/>
                                  </p:stCondLst>
                                  <p:childTnLst>
                                    <p:set>
                                      <p:cBhvr>
                                        <p:cTn dur="1" fill="hold">
                                          <p:stCondLst>
                                            <p:cond delay="0"/>
                                          </p:stCondLst>
                                        </p:cTn>
                                        <p:tgtEl>
                                          <p:spTgt spid="464"/>
                                        </p:tgtEl>
                                        <p:attrNameLst>
                                          <p:attrName>style.visibility</p:attrName>
                                        </p:attrNameLst>
                                      </p:cBhvr>
                                      <p:to>
                                        <p:strVal val="visible"/>
                                      </p:to>
                                    </p:set>
                                    <p:animEffect filter="fade" transition="in">
                                      <p:cBhvr>
                                        <p:cTn dur="500"/>
                                        <p:tgtEl>
                                          <p:spTgt spid="4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500"/>
                                        <p:tgtEl>
                                          <p:spTgt spid="468"/>
                                        </p:tgtEl>
                                      </p:cBhvr>
                                    </p:animEffect>
                                  </p:childTnLst>
                                </p:cTn>
                              </p:par>
                              <p:par>
                                <p:cTn fill="hold" nodeType="withEffect" presetClass="entr" presetID="10" presetSubtype="0">
                                  <p:stCondLst>
                                    <p:cond delay="0"/>
                                  </p:stCondLst>
                                  <p:childTnLst>
                                    <p:set>
                                      <p:cBhvr>
                                        <p:cTn dur="1" fill="hold">
                                          <p:stCondLst>
                                            <p:cond delay="0"/>
                                          </p:stCondLst>
                                        </p:cTn>
                                        <p:tgtEl>
                                          <p:spTgt spid="469"/>
                                        </p:tgtEl>
                                        <p:attrNameLst>
                                          <p:attrName>style.visibility</p:attrName>
                                        </p:attrNameLst>
                                      </p:cBhvr>
                                      <p:to>
                                        <p:strVal val="visible"/>
                                      </p:to>
                                    </p:set>
                                    <p:animEffect filter="fade" transition="in">
                                      <p:cBhvr>
                                        <p:cTn dur="500"/>
                                        <p:tgtEl>
                                          <p:spTgt spid="469"/>
                                        </p:tgtEl>
                                      </p:cBhvr>
                                    </p:animEffect>
                                  </p:childTnLst>
                                </p:cTn>
                              </p:par>
                              <p:par>
                                <p:cTn fill="hold" nodeType="withEffect" presetClass="entr" presetID="10" presetSubtype="0">
                                  <p:stCondLst>
                                    <p:cond delay="0"/>
                                  </p:stCondLst>
                                  <p:childTnLst>
                                    <p:set>
                                      <p:cBhvr>
                                        <p:cTn dur="1" fill="hold">
                                          <p:stCondLst>
                                            <p:cond delay="0"/>
                                          </p:stCondLst>
                                        </p:cTn>
                                        <p:tgtEl>
                                          <p:spTgt spid="471"/>
                                        </p:tgtEl>
                                        <p:attrNameLst>
                                          <p:attrName>style.visibility</p:attrName>
                                        </p:attrNameLst>
                                      </p:cBhvr>
                                      <p:to>
                                        <p:strVal val="visible"/>
                                      </p:to>
                                    </p:set>
                                    <p:animEffect filter="fade" transition="in">
                                      <p:cBhvr>
                                        <p:cTn dur="500"/>
                                        <p:tgtEl>
                                          <p:spTgt spid="471"/>
                                        </p:tgtEl>
                                      </p:cBhvr>
                                    </p:animEffect>
                                  </p:childTnLst>
                                </p:cTn>
                              </p:par>
                              <p:par>
                                <p:cTn fill="hold" nodeType="withEffect" presetClass="entr" presetID="10" presetSubtype="0">
                                  <p:stCondLst>
                                    <p:cond delay="0"/>
                                  </p:stCondLst>
                                  <p:childTnLst>
                                    <p:set>
                                      <p:cBhvr>
                                        <p:cTn dur="1" fill="hold">
                                          <p:stCondLst>
                                            <p:cond delay="0"/>
                                          </p:stCondLst>
                                        </p:cTn>
                                        <p:tgtEl>
                                          <p:spTgt spid="470"/>
                                        </p:tgtEl>
                                        <p:attrNameLst>
                                          <p:attrName>style.visibility</p:attrName>
                                        </p:attrNameLst>
                                      </p:cBhvr>
                                      <p:to>
                                        <p:strVal val="visible"/>
                                      </p:to>
                                    </p:set>
                                    <p:animEffect filter="fade" transition="in">
                                      <p:cBhvr>
                                        <p:cTn dur="500"/>
                                        <p:tgtEl>
                                          <p:spTgt spid="470"/>
                                        </p:tgtEl>
                                      </p:cBhvr>
                                    </p:animEffect>
                                  </p:childTnLst>
                                </p:cTn>
                              </p:par>
                              <p:par>
                                <p:cTn fill="hold" nodeType="withEffect" presetClass="entr" presetID="10" presetSubtype="0">
                                  <p:stCondLst>
                                    <p:cond delay="0"/>
                                  </p:stCondLst>
                                  <p:childTnLst>
                                    <p:set>
                                      <p:cBhvr>
                                        <p:cTn dur="1" fill="hold">
                                          <p:stCondLst>
                                            <p:cond delay="0"/>
                                          </p:stCondLst>
                                        </p:cTn>
                                        <p:tgtEl>
                                          <p:spTgt spid="472"/>
                                        </p:tgtEl>
                                        <p:attrNameLst>
                                          <p:attrName>style.visibility</p:attrName>
                                        </p:attrNameLst>
                                      </p:cBhvr>
                                      <p:to>
                                        <p:strVal val="visible"/>
                                      </p:to>
                                    </p:set>
                                    <p:animEffect filter="fade" transition="in">
                                      <p:cBhvr>
                                        <p:cTn dur="500"/>
                                        <p:tgtEl>
                                          <p:spTgt spid="472"/>
                                        </p:tgtEl>
                                      </p:cBhvr>
                                    </p:animEffect>
                                  </p:childTnLst>
                                </p:cTn>
                              </p:par>
                              <p:par>
                                <p:cTn fill="hold" nodeType="withEffect" presetClass="entr" presetID="10" presetSubtype="0">
                                  <p:stCondLst>
                                    <p:cond delay="0"/>
                                  </p:stCondLst>
                                  <p:childTnLst>
                                    <p:set>
                                      <p:cBhvr>
                                        <p:cTn dur="1" fill="hold">
                                          <p:stCondLst>
                                            <p:cond delay="0"/>
                                          </p:stCondLst>
                                        </p:cTn>
                                        <p:tgtEl>
                                          <p:spTgt spid="473"/>
                                        </p:tgtEl>
                                        <p:attrNameLst>
                                          <p:attrName>style.visibility</p:attrName>
                                        </p:attrNameLst>
                                      </p:cBhvr>
                                      <p:to>
                                        <p:strVal val="visible"/>
                                      </p:to>
                                    </p:set>
                                    <p:animEffect filter="fade" transition="in">
                                      <p:cBhvr>
                                        <p:cTn dur="500"/>
                                        <p:tgtEl>
                                          <p:spTgt spid="473"/>
                                        </p:tgtEl>
                                      </p:cBhvr>
                                    </p:animEffect>
                                  </p:childTnLst>
                                </p:cTn>
                              </p:par>
                              <p:par>
                                <p:cTn fill="hold" nodeType="withEffect" presetClass="entr" presetID="10" presetSubtype="0">
                                  <p:stCondLst>
                                    <p:cond delay="0"/>
                                  </p:stCondLst>
                                  <p:childTnLst>
                                    <p:set>
                                      <p:cBhvr>
                                        <p:cTn dur="1" fill="hold">
                                          <p:stCondLst>
                                            <p:cond delay="0"/>
                                          </p:stCondLst>
                                        </p:cTn>
                                        <p:tgtEl>
                                          <p:spTgt spid="474"/>
                                        </p:tgtEl>
                                        <p:attrNameLst>
                                          <p:attrName>style.visibility</p:attrName>
                                        </p:attrNameLst>
                                      </p:cBhvr>
                                      <p:to>
                                        <p:strVal val="visible"/>
                                      </p:to>
                                    </p:set>
                                    <p:animEffect filter="fade" transition="in">
                                      <p:cBhvr>
                                        <p:cTn dur="500"/>
                                        <p:tgtEl>
                                          <p:spTgt spid="474"/>
                                        </p:tgtEl>
                                      </p:cBhvr>
                                    </p:animEffect>
                                  </p:childTnLst>
                                </p:cTn>
                              </p:par>
                              <p:par>
                                <p:cTn fill="hold" nodeType="withEffect" presetClass="entr" presetID="10" presetSubtype="0">
                                  <p:stCondLst>
                                    <p:cond delay="0"/>
                                  </p:stCondLst>
                                  <p:childTnLst>
                                    <p:set>
                                      <p:cBhvr>
                                        <p:cTn dur="1" fill="hold">
                                          <p:stCondLst>
                                            <p:cond delay="0"/>
                                          </p:stCondLst>
                                        </p:cTn>
                                        <p:tgtEl>
                                          <p:spTgt spid="475"/>
                                        </p:tgtEl>
                                        <p:attrNameLst>
                                          <p:attrName>style.visibility</p:attrName>
                                        </p:attrNameLst>
                                      </p:cBhvr>
                                      <p:to>
                                        <p:strVal val="visible"/>
                                      </p:to>
                                    </p:set>
                                    <p:animEffect filter="fade" transition="in">
                                      <p:cBhvr>
                                        <p:cTn dur="500"/>
                                        <p:tgtEl>
                                          <p:spTgt spid="475"/>
                                        </p:tgtEl>
                                      </p:cBhvr>
                                    </p:animEffect>
                                  </p:childTnLst>
                                </p:cTn>
                              </p:par>
                              <p:par>
                                <p:cTn fill="hold" nodeType="with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500"/>
                                        <p:tgtEl>
                                          <p:spTgt spid="477"/>
                                        </p:tgtEl>
                                      </p:cBhvr>
                                    </p:animEffect>
                                  </p:childTnLst>
                                </p:cTn>
                              </p:par>
                              <p:par>
                                <p:cTn fill="hold" nodeType="withEffect" presetClass="entr" presetID="10" presetSubtype="0">
                                  <p:stCondLst>
                                    <p:cond delay="0"/>
                                  </p:stCondLst>
                                  <p:childTnLst>
                                    <p:set>
                                      <p:cBhvr>
                                        <p:cTn dur="1" fill="hold">
                                          <p:stCondLst>
                                            <p:cond delay="0"/>
                                          </p:stCondLst>
                                        </p:cTn>
                                        <p:tgtEl>
                                          <p:spTgt spid="476"/>
                                        </p:tgtEl>
                                        <p:attrNameLst>
                                          <p:attrName>style.visibility</p:attrName>
                                        </p:attrNameLst>
                                      </p:cBhvr>
                                      <p:to>
                                        <p:strVal val="visible"/>
                                      </p:to>
                                    </p:set>
                                    <p:animEffect filter="fade" transition="in">
                                      <p:cBhvr>
                                        <p:cTn dur="500"/>
                                        <p:tgtEl>
                                          <p:spTgt spid="476"/>
                                        </p:tgtEl>
                                      </p:cBhvr>
                                    </p:animEffect>
                                  </p:childTnLst>
                                </p:cTn>
                              </p:par>
                              <p:par>
                                <p:cTn fill="hold" nodeType="withEffect" presetClass="entr" presetID="10" presetSubtype="0">
                                  <p:stCondLst>
                                    <p:cond delay="0"/>
                                  </p:stCondLst>
                                  <p:childTnLst>
                                    <p:set>
                                      <p:cBhvr>
                                        <p:cTn dur="1" fill="hold">
                                          <p:stCondLst>
                                            <p:cond delay="0"/>
                                          </p:stCondLst>
                                        </p:cTn>
                                        <p:tgtEl>
                                          <p:spTgt spid="478"/>
                                        </p:tgtEl>
                                        <p:attrNameLst>
                                          <p:attrName>style.visibility</p:attrName>
                                        </p:attrNameLst>
                                      </p:cBhvr>
                                      <p:to>
                                        <p:strVal val="visible"/>
                                      </p:to>
                                    </p:set>
                                    <p:animEffect filter="fade" transition="in">
                                      <p:cBhvr>
                                        <p:cTn dur="500"/>
                                        <p:tgtEl>
                                          <p:spTgt spid="478"/>
                                        </p:tgtEl>
                                      </p:cBhvr>
                                    </p:animEffect>
                                  </p:childTnLst>
                                </p:cTn>
                              </p:par>
                              <p:par>
                                <p:cTn fill="hold" nodeType="withEffect" presetClass="entr" presetID="10" presetSubtype="0">
                                  <p:stCondLst>
                                    <p:cond delay="0"/>
                                  </p:stCondLst>
                                  <p:childTnLst>
                                    <p:set>
                                      <p:cBhvr>
                                        <p:cTn dur="1" fill="hold">
                                          <p:stCondLst>
                                            <p:cond delay="0"/>
                                          </p:stCondLst>
                                        </p:cTn>
                                        <p:tgtEl>
                                          <p:spTgt spid="479"/>
                                        </p:tgtEl>
                                        <p:attrNameLst>
                                          <p:attrName>style.visibility</p:attrName>
                                        </p:attrNameLst>
                                      </p:cBhvr>
                                      <p:to>
                                        <p:strVal val="visible"/>
                                      </p:to>
                                    </p:set>
                                    <p:animEffect filter="fade" transition="in">
                                      <p:cBhvr>
                                        <p:cTn dur="500"/>
                                        <p:tgtEl>
                                          <p:spTgt spid="479"/>
                                        </p:tgtEl>
                                      </p:cBhvr>
                                    </p:animEffect>
                                  </p:childTnLst>
                                </p:cTn>
                              </p:par>
                              <p:par>
                                <p:cTn fill="hold" nodeType="withEffect" presetClass="entr" presetID="10" presetSubtype="0">
                                  <p:stCondLst>
                                    <p:cond delay="0"/>
                                  </p:stCondLst>
                                  <p:childTnLst>
                                    <p:set>
                                      <p:cBhvr>
                                        <p:cTn dur="1" fill="hold">
                                          <p:stCondLst>
                                            <p:cond delay="0"/>
                                          </p:stCondLst>
                                        </p:cTn>
                                        <p:tgtEl>
                                          <p:spTgt spid="480"/>
                                        </p:tgtEl>
                                        <p:attrNameLst>
                                          <p:attrName>style.visibility</p:attrName>
                                        </p:attrNameLst>
                                      </p:cBhvr>
                                      <p:to>
                                        <p:strVal val="visible"/>
                                      </p:to>
                                    </p:set>
                                    <p:animEffect filter="fade" transition="in">
                                      <p:cBhvr>
                                        <p:cTn dur="500"/>
                                        <p:tgtEl>
                                          <p:spTgt spid="480"/>
                                        </p:tgtEl>
                                      </p:cBhvr>
                                    </p:animEffect>
                                  </p:childTnLst>
                                </p:cTn>
                              </p:par>
                              <p:par>
                                <p:cTn fill="hold" nodeType="withEffect" presetClass="entr" presetID="10" presetSubtype="0">
                                  <p:stCondLst>
                                    <p:cond delay="0"/>
                                  </p:stCondLst>
                                  <p:childTnLst>
                                    <p:set>
                                      <p:cBhvr>
                                        <p:cTn dur="1" fill="hold">
                                          <p:stCondLst>
                                            <p:cond delay="0"/>
                                          </p:stCondLst>
                                        </p:cTn>
                                        <p:tgtEl>
                                          <p:spTgt spid="481"/>
                                        </p:tgtEl>
                                        <p:attrNameLst>
                                          <p:attrName>style.visibility</p:attrName>
                                        </p:attrNameLst>
                                      </p:cBhvr>
                                      <p:to>
                                        <p:strVal val="visible"/>
                                      </p:to>
                                    </p:set>
                                    <p:animEffect filter="fade" transition="in">
                                      <p:cBhvr>
                                        <p:cTn dur="500"/>
                                        <p:tgtEl>
                                          <p:spTgt spid="481"/>
                                        </p:tgtEl>
                                      </p:cBhvr>
                                    </p:animEffect>
                                  </p:childTnLst>
                                </p:cTn>
                              </p:par>
                              <p:par>
                                <p:cTn fill="hold" nodeType="withEffect" presetClass="entr" presetID="10" presetSubtype="0">
                                  <p:stCondLst>
                                    <p:cond delay="0"/>
                                  </p:stCondLst>
                                  <p:childTnLst>
                                    <p:set>
                                      <p:cBhvr>
                                        <p:cTn dur="1" fill="hold">
                                          <p:stCondLst>
                                            <p:cond delay="0"/>
                                          </p:stCondLst>
                                        </p:cTn>
                                        <p:tgtEl>
                                          <p:spTgt spid="482"/>
                                        </p:tgtEl>
                                        <p:attrNameLst>
                                          <p:attrName>style.visibility</p:attrName>
                                        </p:attrNameLst>
                                      </p:cBhvr>
                                      <p:to>
                                        <p:strVal val="visible"/>
                                      </p:to>
                                    </p:set>
                                    <p:animEffect filter="fade" transition="in">
                                      <p:cBhvr>
                                        <p:cTn dur="500"/>
                                        <p:tgtEl>
                                          <p:spTgt spid="482"/>
                                        </p:tgtEl>
                                      </p:cBhvr>
                                    </p:animEffect>
                                  </p:childTnLst>
                                </p:cTn>
                              </p:par>
                              <p:par>
                                <p:cTn fill="hold" nodeType="withEffect" presetClass="entr" presetID="10" presetSubtype="0">
                                  <p:stCondLst>
                                    <p:cond delay="0"/>
                                  </p:stCondLst>
                                  <p:childTnLst>
                                    <p:set>
                                      <p:cBhvr>
                                        <p:cTn dur="1" fill="hold">
                                          <p:stCondLst>
                                            <p:cond delay="0"/>
                                          </p:stCondLst>
                                        </p:cTn>
                                        <p:tgtEl>
                                          <p:spTgt spid="483"/>
                                        </p:tgtEl>
                                        <p:attrNameLst>
                                          <p:attrName>style.visibility</p:attrName>
                                        </p:attrNameLst>
                                      </p:cBhvr>
                                      <p:to>
                                        <p:strVal val="visible"/>
                                      </p:to>
                                    </p:set>
                                    <p:animEffect filter="fade" transition="in">
                                      <p:cBhvr>
                                        <p:cTn dur="500"/>
                                        <p:tgtEl>
                                          <p:spTgt spid="483"/>
                                        </p:tgtEl>
                                      </p:cBhvr>
                                    </p:animEffect>
                                  </p:childTnLst>
                                </p:cTn>
                              </p:par>
                              <p:par>
                                <p:cTn fill="hold" nodeType="withEffect" presetClass="entr" presetID="10" presetSubtype="0">
                                  <p:stCondLst>
                                    <p:cond delay="0"/>
                                  </p:stCondLst>
                                  <p:childTnLst>
                                    <p:set>
                                      <p:cBhvr>
                                        <p:cTn dur="1" fill="hold">
                                          <p:stCondLst>
                                            <p:cond delay="0"/>
                                          </p:stCondLst>
                                        </p:cTn>
                                        <p:tgtEl>
                                          <p:spTgt spid="484"/>
                                        </p:tgtEl>
                                        <p:attrNameLst>
                                          <p:attrName>style.visibility</p:attrName>
                                        </p:attrNameLst>
                                      </p:cBhvr>
                                      <p:to>
                                        <p:strVal val="visible"/>
                                      </p:to>
                                    </p:set>
                                    <p:animEffect filter="fade" transition="in">
                                      <p:cBhvr>
                                        <p:cTn dur="500"/>
                                        <p:tgtEl>
                                          <p:spTgt spid="484"/>
                                        </p:tgtEl>
                                      </p:cBhvr>
                                    </p:animEffect>
                                  </p:childTnLst>
                                </p:cTn>
                              </p:par>
                              <p:par>
                                <p:cTn fill="hold" nodeType="with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500"/>
                                        <p:tgtEl>
                                          <p:spTgt spid="485"/>
                                        </p:tgtEl>
                                      </p:cBhvr>
                                    </p:animEffect>
                                  </p:childTnLst>
                                </p:cTn>
                              </p:par>
                              <p:par>
                                <p:cTn fill="hold" nodeType="withEffect" presetClass="entr" presetID="10" presetSubtype="0">
                                  <p:stCondLst>
                                    <p:cond delay="0"/>
                                  </p:stCondLst>
                                  <p:childTnLst>
                                    <p:set>
                                      <p:cBhvr>
                                        <p:cTn dur="1" fill="hold">
                                          <p:stCondLst>
                                            <p:cond delay="0"/>
                                          </p:stCondLst>
                                        </p:cTn>
                                        <p:tgtEl>
                                          <p:spTgt spid="486"/>
                                        </p:tgtEl>
                                        <p:attrNameLst>
                                          <p:attrName>style.visibility</p:attrName>
                                        </p:attrNameLst>
                                      </p:cBhvr>
                                      <p:to>
                                        <p:strVal val="visible"/>
                                      </p:to>
                                    </p:set>
                                    <p:animEffect filter="fade" transition="in">
                                      <p:cBhvr>
                                        <p:cTn dur="500"/>
                                        <p:tgtEl>
                                          <p:spTgt spid="486"/>
                                        </p:tgtEl>
                                      </p:cBhvr>
                                    </p:animEffect>
                                  </p:childTnLst>
                                </p:cTn>
                              </p:par>
                              <p:par>
                                <p:cTn fill="hold" nodeType="withEffect" presetClass="entr" presetID="10" presetSubtype="0">
                                  <p:stCondLst>
                                    <p:cond delay="0"/>
                                  </p:stCondLst>
                                  <p:childTnLst>
                                    <p:set>
                                      <p:cBhvr>
                                        <p:cTn dur="1" fill="hold">
                                          <p:stCondLst>
                                            <p:cond delay="0"/>
                                          </p:stCondLst>
                                        </p:cTn>
                                        <p:tgtEl>
                                          <p:spTgt spid="487"/>
                                        </p:tgtEl>
                                        <p:attrNameLst>
                                          <p:attrName>style.visibility</p:attrName>
                                        </p:attrNameLst>
                                      </p:cBhvr>
                                      <p:to>
                                        <p:strVal val="visible"/>
                                      </p:to>
                                    </p:set>
                                    <p:animEffect filter="fade" transition="in">
                                      <p:cBhvr>
                                        <p:cTn dur="500"/>
                                        <p:tgtEl>
                                          <p:spTgt spid="487"/>
                                        </p:tgtEl>
                                      </p:cBhvr>
                                    </p:animEffect>
                                  </p:childTnLst>
                                </p:cTn>
                              </p:par>
                              <p:par>
                                <p:cTn fill="hold" nodeType="with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500"/>
                                        <p:tgtEl>
                                          <p:spTgt spid="488"/>
                                        </p:tgtEl>
                                      </p:cBhvr>
                                    </p:animEffect>
                                  </p:childTnLst>
                                </p:cTn>
                              </p:par>
                              <p:par>
                                <p:cTn fill="hold" nodeType="withEffect" presetClass="entr" presetID="10" presetSubtype="0">
                                  <p:stCondLst>
                                    <p:cond delay="0"/>
                                  </p:stCondLst>
                                  <p:childTnLst>
                                    <p:set>
                                      <p:cBhvr>
                                        <p:cTn dur="1" fill="hold">
                                          <p:stCondLst>
                                            <p:cond delay="0"/>
                                          </p:stCondLst>
                                        </p:cTn>
                                        <p:tgtEl>
                                          <p:spTgt spid="514"/>
                                        </p:tgtEl>
                                        <p:attrNameLst>
                                          <p:attrName>style.visibility</p:attrName>
                                        </p:attrNameLst>
                                      </p:cBhvr>
                                      <p:to>
                                        <p:strVal val="visible"/>
                                      </p:to>
                                    </p:set>
                                    <p:animEffect filter="fade" transition="in">
                                      <p:cBhvr>
                                        <p:cTn dur="500"/>
                                        <p:tgtEl>
                                          <p:spTgt spid="514"/>
                                        </p:tgtEl>
                                      </p:cBhvr>
                                    </p:animEffect>
                                  </p:childTnLst>
                                </p:cTn>
                              </p:par>
                              <p:par>
                                <p:cTn fill="hold" nodeType="withEffect" presetClass="entr" presetID="10" presetSubtype="0">
                                  <p:stCondLst>
                                    <p:cond delay="0"/>
                                  </p:stCondLst>
                                  <p:childTnLst>
                                    <p:set>
                                      <p:cBhvr>
                                        <p:cTn dur="1" fill="hold">
                                          <p:stCondLst>
                                            <p:cond delay="0"/>
                                          </p:stCondLst>
                                        </p:cTn>
                                        <p:tgtEl>
                                          <p:spTgt spid="517"/>
                                        </p:tgtEl>
                                        <p:attrNameLst>
                                          <p:attrName>style.visibility</p:attrName>
                                        </p:attrNameLst>
                                      </p:cBhvr>
                                      <p:to>
                                        <p:strVal val="visible"/>
                                      </p:to>
                                    </p:set>
                                    <p:animEffect filter="fade" transition="in">
                                      <p:cBhvr>
                                        <p:cTn dur="500"/>
                                        <p:tgtEl>
                                          <p:spTgt spid="517"/>
                                        </p:tgtEl>
                                      </p:cBhvr>
                                    </p:animEffect>
                                  </p:childTnLst>
                                </p:cTn>
                              </p:par>
                              <p:par>
                                <p:cTn fill="hold" nodeType="withEffect" presetClass="entr" presetID="10" presetSubtype="0">
                                  <p:stCondLst>
                                    <p:cond delay="0"/>
                                  </p:stCondLst>
                                  <p:childTnLst>
                                    <p:set>
                                      <p:cBhvr>
                                        <p:cTn dur="1" fill="hold">
                                          <p:stCondLst>
                                            <p:cond delay="0"/>
                                          </p:stCondLst>
                                        </p:cTn>
                                        <p:tgtEl>
                                          <p:spTgt spid="516"/>
                                        </p:tgtEl>
                                        <p:attrNameLst>
                                          <p:attrName>style.visibility</p:attrName>
                                        </p:attrNameLst>
                                      </p:cBhvr>
                                      <p:to>
                                        <p:strVal val="visible"/>
                                      </p:to>
                                    </p:set>
                                    <p:animEffect filter="fade" transition="in">
                                      <p:cBhvr>
                                        <p:cTn dur="500"/>
                                        <p:tgtEl>
                                          <p:spTgt spid="5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gtEl>
                                        <p:attrNameLst>
                                          <p:attrName>style.visibility</p:attrName>
                                        </p:attrNameLst>
                                      </p:cBhvr>
                                      <p:to>
                                        <p:strVal val="visible"/>
                                      </p:to>
                                    </p:set>
                                    <p:animEffect filter="fade" transition="in">
                                      <p:cBhvr>
                                        <p:cTn dur="500"/>
                                        <p:tgtEl>
                                          <p:spTgt spid="489"/>
                                        </p:tgtEl>
                                      </p:cBhvr>
                                    </p:animEffect>
                                  </p:childTnLst>
                                </p:cTn>
                              </p:par>
                              <p:par>
                                <p:cTn fill="hold" nodeType="withEffect" presetClass="entr" presetID="10" presetSubtype="0">
                                  <p:stCondLst>
                                    <p:cond delay="0"/>
                                  </p:stCondLst>
                                  <p:childTnLst>
                                    <p:set>
                                      <p:cBhvr>
                                        <p:cTn dur="1" fill="hold">
                                          <p:stCondLst>
                                            <p:cond delay="0"/>
                                          </p:stCondLst>
                                        </p:cTn>
                                        <p:tgtEl>
                                          <p:spTgt spid="490"/>
                                        </p:tgtEl>
                                        <p:attrNameLst>
                                          <p:attrName>style.visibility</p:attrName>
                                        </p:attrNameLst>
                                      </p:cBhvr>
                                      <p:to>
                                        <p:strVal val="visible"/>
                                      </p:to>
                                    </p:set>
                                    <p:animEffect filter="fade" transition="in">
                                      <p:cBhvr>
                                        <p:cTn dur="500"/>
                                        <p:tgtEl>
                                          <p:spTgt spid="490"/>
                                        </p:tgtEl>
                                      </p:cBhvr>
                                    </p:animEffect>
                                  </p:childTnLst>
                                </p:cTn>
                              </p:par>
                              <p:par>
                                <p:cTn fill="hold" nodeType="withEffect" presetClass="entr" presetID="10" presetSubtype="0">
                                  <p:stCondLst>
                                    <p:cond delay="0"/>
                                  </p:stCondLst>
                                  <p:childTnLst>
                                    <p:set>
                                      <p:cBhvr>
                                        <p:cTn dur="1" fill="hold">
                                          <p:stCondLst>
                                            <p:cond delay="0"/>
                                          </p:stCondLst>
                                        </p:cTn>
                                        <p:tgtEl>
                                          <p:spTgt spid="492"/>
                                        </p:tgtEl>
                                        <p:attrNameLst>
                                          <p:attrName>style.visibility</p:attrName>
                                        </p:attrNameLst>
                                      </p:cBhvr>
                                      <p:to>
                                        <p:strVal val="visible"/>
                                      </p:to>
                                    </p:set>
                                    <p:animEffect filter="fade" transition="in">
                                      <p:cBhvr>
                                        <p:cTn dur="500"/>
                                        <p:tgtEl>
                                          <p:spTgt spid="492"/>
                                        </p:tgtEl>
                                      </p:cBhvr>
                                    </p:animEffect>
                                  </p:childTnLst>
                                </p:cTn>
                              </p:par>
                              <p:par>
                                <p:cTn fill="hold" nodeType="withEffect" presetClass="entr" presetID="10" presetSubtype="0">
                                  <p:stCondLst>
                                    <p:cond delay="0"/>
                                  </p:stCondLst>
                                  <p:childTnLst>
                                    <p:set>
                                      <p:cBhvr>
                                        <p:cTn dur="1" fill="hold">
                                          <p:stCondLst>
                                            <p:cond delay="0"/>
                                          </p:stCondLst>
                                        </p:cTn>
                                        <p:tgtEl>
                                          <p:spTgt spid="491"/>
                                        </p:tgtEl>
                                        <p:attrNameLst>
                                          <p:attrName>style.visibility</p:attrName>
                                        </p:attrNameLst>
                                      </p:cBhvr>
                                      <p:to>
                                        <p:strVal val="visible"/>
                                      </p:to>
                                    </p:set>
                                    <p:animEffect filter="fade" transition="in">
                                      <p:cBhvr>
                                        <p:cTn dur="500"/>
                                        <p:tgtEl>
                                          <p:spTgt spid="491"/>
                                        </p:tgtEl>
                                      </p:cBhvr>
                                    </p:animEffect>
                                  </p:childTnLst>
                                </p:cTn>
                              </p:par>
                              <p:par>
                                <p:cTn fill="hold" nodeType="withEffect" presetClass="entr" presetID="10" presetSubtype="0">
                                  <p:stCondLst>
                                    <p:cond delay="0"/>
                                  </p:stCondLst>
                                  <p:childTnLst>
                                    <p:set>
                                      <p:cBhvr>
                                        <p:cTn dur="1" fill="hold">
                                          <p:stCondLst>
                                            <p:cond delay="0"/>
                                          </p:stCondLst>
                                        </p:cTn>
                                        <p:tgtEl>
                                          <p:spTgt spid="493"/>
                                        </p:tgtEl>
                                        <p:attrNameLst>
                                          <p:attrName>style.visibility</p:attrName>
                                        </p:attrNameLst>
                                      </p:cBhvr>
                                      <p:to>
                                        <p:strVal val="visible"/>
                                      </p:to>
                                    </p:set>
                                    <p:animEffect filter="fade" transition="in">
                                      <p:cBhvr>
                                        <p:cTn dur="500"/>
                                        <p:tgtEl>
                                          <p:spTgt spid="493"/>
                                        </p:tgtEl>
                                      </p:cBhvr>
                                    </p:animEffect>
                                  </p:childTnLst>
                                </p:cTn>
                              </p:par>
                              <p:par>
                                <p:cTn fill="hold" nodeType="withEffect" presetClass="entr" presetID="10" presetSubtype="0">
                                  <p:stCondLst>
                                    <p:cond delay="0"/>
                                  </p:stCondLst>
                                  <p:childTnLst>
                                    <p:set>
                                      <p:cBhvr>
                                        <p:cTn dur="1" fill="hold">
                                          <p:stCondLst>
                                            <p:cond delay="0"/>
                                          </p:stCondLst>
                                        </p:cTn>
                                        <p:tgtEl>
                                          <p:spTgt spid="494"/>
                                        </p:tgtEl>
                                        <p:attrNameLst>
                                          <p:attrName>style.visibility</p:attrName>
                                        </p:attrNameLst>
                                      </p:cBhvr>
                                      <p:to>
                                        <p:strVal val="visible"/>
                                      </p:to>
                                    </p:set>
                                    <p:animEffect filter="fade" transition="in">
                                      <p:cBhvr>
                                        <p:cTn dur="500"/>
                                        <p:tgtEl>
                                          <p:spTgt spid="494"/>
                                        </p:tgtEl>
                                      </p:cBhvr>
                                    </p:animEffect>
                                  </p:childTnLst>
                                </p:cTn>
                              </p:par>
                              <p:par>
                                <p:cTn fill="hold" nodeType="withEffect" presetClass="entr" presetID="10" presetSubtype="0">
                                  <p:stCondLst>
                                    <p:cond delay="0"/>
                                  </p:stCondLst>
                                  <p:childTnLst>
                                    <p:set>
                                      <p:cBhvr>
                                        <p:cTn dur="1" fill="hold">
                                          <p:stCondLst>
                                            <p:cond delay="0"/>
                                          </p:stCondLst>
                                        </p:cTn>
                                        <p:tgtEl>
                                          <p:spTgt spid="495"/>
                                        </p:tgtEl>
                                        <p:attrNameLst>
                                          <p:attrName>style.visibility</p:attrName>
                                        </p:attrNameLst>
                                      </p:cBhvr>
                                      <p:to>
                                        <p:strVal val="visible"/>
                                      </p:to>
                                    </p:set>
                                    <p:animEffect filter="fade" transition="in">
                                      <p:cBhvr>
                                        <p:cTn dur="500"/>
                                        <p:tgtEl>
                                          <p:spTgt spid="495"/>
                                        </p:tgtEl>
                                      </p:cBhvr>
                                    </p:animEffect>
                                  </p:childTnLst>
                                </p:cTn>
                              </p:par>
                              <p:par>
                                <p:cTn fill="hold" nodeType="withEffect" presetClass="entr" presetID="10" presetSubtype="0">
                                  <p:stCondLst>
                                    <p:cond delay="0"/>
                                  </p:stCondLst>
                                  <p:childTnLst>
                                    <p:set>
                                      <p:cBhvr>
                                        <p:cTn dur="1" fill="hold">
                                          <p:stCondLst>
                                            <p:cond delay="0"/>
                                          </p:stCondLst>
                                        </p:cTn>
                                        <p:tgtEl>
                                          <p:spTgt spid="496"/>
                                        </p:tgtEl>
                                        <p:attrNameLst>
                                          <p:attrName>style.visibility</p:attrName>
                                        </p:attrNameLst>
                                      </p:cBhvr>
                                      <p:to>
                                        <p:strVal val="visible"/>
                                      </p:to>
                                    </p:set>
                                    <p:animEffect filter="fade" transition="in">
                                      <p:cBhvr>
                                        <p:cTn dur="500"/>
                                        <p:tgtEl>
                                          <p:spTgt spid="496"/>
                                        </p:tgtEl>
                                      </p:cBhvr>
                                    </p:animEffect>
                                  </p:childTnLst>
                                </p:cTn>
                              </p:par>
                              <p:par>
                                <p:cTn fill="hold" nodeType="withEffect" presetClass="entr" presetID="10" presetSubtype="0">
                                  <p:stCondLst>
                                    <p:cond delay="0"/>
                                  </p:stCondLst>
                                  <p:childTnLst>
                                    <p:set>
                                      <p:cBhvr>
                                        <p:cTn dur="1" fill="hold">
                                          <p:stCondLst>
                                            <p:cond delay="0"/>
                                          </p:stCondLst>
                                        </p:cTn>
                                        <p:tgtEl>
                                          <p:spTgt spid="498"/>
                                        </p:tgtEl>
                                        <p:attrNameLst>
                                          <p:attrName>style.visibility</p:attrName>
                                        </p:attrNameLst>
                                      </p:cBhvr>
                                      <p:to>
                                        <p:strVal val="visible"/>
                                      </p:to>
                                    </p:set>
                                    <p:animEffect filter="fade" transition="in">
                                      <p:cBhvr>
                                        <p:cTn dur="500"/>
                                        <p:tgtEl>
                                          <p:spTgt spid="498"/>
                                        </p:tgtEl>
                                      </p:cBhvr>
                                    </p:animEffect>
                                  </p:childTnLst>
                                </p:cTn>
                              </p:par>
                              <p:par>
                                <p:cTn fill="hold" nodeType="with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500"/>
                                        <p:tgtEl>
                                          <p:spTgt spid="497"/>
                                        </p:tgtEl>
                                      </p:cBhvr>
                                    </p:animEffect>
                                  </p:childTnLst>
                                </p:cTn>
                              </p:par>
                              <p:par>
                                <p:cTn fill="hold" nodeType="with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500"/>
                                        <p:tgtEl>
                                          <p:spTgt spid="499"/>
                                        </p:tgtEl>
                                      </p:cBhvr>
                                    </p:animEffect>
                                  </p:childTnLst>
                                </p:cTn>
                              </p:par>
                              <p:par>
                                <p:cTn fill="hold" nodeType="withEffect" presetClass="entr" presetID="10" presetSubtype="0">
                                  <p:stCondLst>
                                    <p:cond delay="0"/>
                                  </p:stCondLst>
                                  <p:childTnLst>
                                    <p:set>
                                      <p:cBhvr>
                                        <p:cTn dur="1" fill="hold">
                                          <p:stCondLst>
                                            <p:cond delay="0"/>
                                          </p:stCondLst>
                                        </p:cTn>
                                        <p:tgtEl>
                                          <p:spTgt spid="500"/>
                                        </p:tgtEl>
                                        <p:attrNameLst>
                                          <p:attrName>style.visibility</p:attrName>
                                        </p:attrNameLst>
                                      </p:cBhvr>
                                      <p:to>
                                        <p:strVal val="visible"/>
                                      </p:to>
                                    </p:set>
                                    <p:animEffect filter="fade" transition="in">
                                      <p:cBhvr>
                                        <p:cTn dur="500"/>
                                        <p:tgtEl>
                                          <p:spTgt spid="500"/>
                                        </p:tgtEl>
                                      </p:cBhvr>
                                    </p:animEffect>
                                  </p:childTnLst>
                                </p:cTn>
                              </p:par>
                              <p:par>
                                <p:cTn fill="hold" nodeType="withEffect" presetClass="entr" presetID="10" presetSubtype="0">
                                  <p:stCondLst>
                                    <p:cond delay="0"/>
                                  </p:stCondLst>
                                  <p:childTnLst>
                                    <p:set>
                                      <p:cBhvr>
                                        <p:cTn dur="1" fill="hold">
                                          <p:stCondLst>
                                            <p:cond delay="0"/>
                                          </p:stCondLst>
                                        </p:cTn>
                                        <p:tgtEl>
                                          <p:spTgt spid="501"/>
                                        </p:tgtEl>
                                        <p:attrNameLst>
                                          <p:attrName>style.visibility</p:attrName>
                                        </p:attrNameLst>
                                      </p:cBhvr>
                                      <p:to>
                                        <p:strVal val="visible"/>
                                      </p:to>
                                    </p:set>
                                    <p:animEffect filter="fade" transition="in">
                                      <p:cBhvr>
                                        <p:cTn dur="500"/>
                                        <p:tgtEl>
                                          <p:spTgt spid="501"/>
                                        </p:tgtEl>
                                      </p:cBhvr>
                                    </p:animEffect>
                                  </p:childTnLst>
                                </p:cTn>
                              </p:par>
                              <p:par>
                                <p:cTn fill="hold" nodeType="withEffect" presetClass="entr" presetID="10" presetSubtype="0">
                                  <p:stCondLst>
                                    <p:cond delay="0"/>
                                  </p:stCondLst>
                                  <p:childTnLst>
                                    <p:set>
                                      <p:cBhvr>
                                        <p:cTn dur="1" fill="hold">
                                          <p:stCondLst>
                                            <p:cond delay="0"/>
                                          </p:stCondLst>
                                        </p:cTn>
                                        <p:tgtEl>
                                          <p:spTgt spid="502"/>
                                        </p:tgtEl>
                                        <p:attrNameLst>
                                          <p:attrName>style.visibility</p:attrName>
                                        </p:attrNameLst>
                                      </p:cBhvr>
                                      <p:to>
                                        <p:strVal val="visible"/>
                                      </p:to>
                                    </p:set>
                                    <p:animEffect filter="fade" transition="in">
                                      <p:cBhvr>
                                        <p:cTn dur="500"/>
                                        <p:tgtEl>
                                          <p:spTgt spid="502"/>
                                        </p:tgtEl>
                                      </p:cBhvr>
                                    </p:animEffect>
                                  </p:childTnLst>
                                </p:cTn>
                              </p:par>
                              <p:par>
                                <p:cTn fill="hold" nodeType="withEffect" presetClass="entr" presetID="10" presetSubtype="0">
                                  <p:stCondLst>
                                    <p:cond delay="0"/>
                                  </p:stCondLst>
                                  <p:childTnLst>
                                    <p:set>
                                      <p:cBhvr>
                                        <p:cTn dur="1" fill="hold">
                                          <p:stCondLst>
                                            <p:cond delay="0"/>
                                          </p:stCondLst>
                                        </p:cTn>
                                        <p:tgtEl>
                                          <p:spTgt spid="503"/>
                                        </p:tgtEl>
                                        <p:attrNameLst>
                                          <p:attrName>style.visibility</p:attrName>
                                        </p:attrNameLst>
                                      </p:cBhvr>
                                      <p:to>
                                        <p:strVal val="visible"/>
                                      </p:to>
                                    </p:set>
                                    <p:animEffect filter="fade" transition="in">
                                      <p:cBhvr>
                                        <p:cTn dur="500"/>
                                        <p:tgtEl>
                                          <p:spTgt spid="503"/>
                                        </p:tgtEl>
                                      </p:cBhvr>
                                    </p:animEffect>
                                  </p:childTnLst>
                                </p:cTn>
                              </p:par>
                              <p:par>
                                <p:cTn fill="hold" nodeType="withEffect" presetClass="entr" presetID="10" presetSubtype="0">
                                  <p:stCondLst>
                                    <p:cond delay="0"/>
                                  </p:stCondLst>
                                  <p:childTnLst>
                                    <p:set>
                                      <p:cBhvr>
                                        <p:cTn dur="1" fill="hold">
                                          <p:stCondLst>
                                            <p:cond delay="0"/>
                                          </p:stCondLst>
                                        </p:cTn>
                                        <p:tgtEl>
                                          <p:spTgt spid="504"/>
                                        </p:tgtEl>
                                        <p:attrNameLst>
                                          <p:attrName>style.visibility</p:attrName>
                                        </p:attrNameLst>
                                      </p:cBhvr>
                                      <p:to>
                                        <p:strVal val="visible"/>
                                      </p:to>
                                    </p:set>
                                    <p:animEffect filter="fade" transition="in">
                                      <p:cBhvr>
                                        <p:cTn dur="500"/>
                                        <p:tgtEl>
                                          <p:spTgt spid="504"/>
                                        </p:tgtEl>
                                      </p:cBhvr>
                                    </p:animEffect>
                                  </p:childTnLst>
                                </p:cTn>
                              </p:par>
                              <p:par>
                                <p:cTn fill="hold" nodeType="with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500"/>
                                        <p:tgtEl>
                                          <p:spTgt spid="505"/>
                                        </p:tgtEl>
                                      </p:cBhvr>
                                    </p:animEffect>
                                  </p:childTnLst>
                                </p:cTn>
                              </p:par>
                              <p:par>
                                <p:cTn fill="hold" nodeType="withEffect" presetClass="entr" presetID="10" presetSubtype="0">
                                  <p:stCondLst>
                                    <p:cond delay="0"/>
                                  </p:stCondLst>
                                  <p:childTnLst>
                                    <p:set>
                                      <p:cBhvr>
                                        <p:cTn dur="1" fill="hold">
                                          <p:stCondLst>
                                            <p:cond delay="0"/>
                                          </p:stCondLst>
                                        </p:cTn>
                                        <p:tgtEl>
                                          <p:spTgt spid="506"/>
                                        </p:tgtEl>
                                        <p:attrNameLst>
                                          <p:attrName>style.visibility</p:attrName>
                                        </p:attrNameLst>
                                      </p:cBhvr>
                                      <p:to>
                                        <p:strVal val="visible"/>
                                      </p:to>
                                    </p:set>
                                    <p:animEffect filter="fade" transition="in">
                                      <p:cBhvr>
                                        <p:cTn dur="500"/>
                                        <p:tgtEl>
                                          <p:spTgt spid="506"/>
                                        </p:tgtEl>
                                      </p:cBhvr>
                                    </p:animEffect>
                                  </p:childTnLst>
                                </p:cTn>
                              </p:par>
                              <p:par>
                                <p:cTn fill="hold" nodeType="withEffect" presetClass="entr" presetID="10" presetSubtype="0">
                                  <p:stCondLst>
                                    <p:cond delay="0"/>
                                  </p:stCondLst>
                                  <p:childTnLst>
                                    <p:set>
                                      <p:cBhvr>
                                        <p:cTn dur="1" fill="hold">
                                          <p:stCondLst>
                                            <p:cond delay="0"/>
                                          </p:stCondLst>
                                        </p:cTn>
                                        <p:tgtEl>
                                          <p:spTgt spid="507"/>
                                        </p:tgtEl>
                                        <p:attrNameLst>
                                          <p:attrName>style.visibility</p:attrName>
                                        </p:attrNameLst>
                                      </p:cBhvr>
                                      <p:to>
                                        <p:strVal val="visible"/>
                                      </p:to>
                                    </p:set>
                                    <p:animEffect filter="fade" transition="in">
                                      <p:cBhvr>
                                        <p:cTn dur="500"/>
                                        <p:tgtEl>
                                          <p:spTgt spid="507"/>
                                        </p:tgtEl>
                                      </p:cBhvr>
                                    </p:animEffect>
                                  </p:childTnLst>
                                </p:cTn>
                              </p:par>
                              <p:par>
                                <p:cTn fill="hold" nodeType="withEffect" presetClass="entr" presetID="10" presetSubtype="0">
                                  <p:stCondLst>
                                    <p:cond delay="0"/>
                                  </p:stCondLst>
                                  <p:childTnLst>
                                    <p:set>
                                      <p:cBhvr>
                                        <p:cTn dur="1" fill="hold">
                                          <p:stCondLst>
                                            <p:cond delay="0"/>
                                          </p:stCondLst>
                                        </p:cTn>
                                        <p:tgtEl>
                                          <p:spTgt spid="508"/>
                                        </p:tgtEl>
                                        <p:attrNameLst>
                                          <p:attrName>style.visibility</p:attrName>
                                        </p:attrNameLst>
                                      </p:cBhvr>
                                      <p:to>
                                        <p:strVal val="visible"/>
                                      </p:to>
                                    </p:set>
                                    <p:animEffect filter="fade" transition="in">
                                      <p:cBhvr>
                                        <p:cTn dur="500"/>
                                        <p:tgtEl>
                                          <p:spTgt spid="508"/>
                                        </p:tgtEl>
                                      </p:cBhvr>
                                    </p:animEffect>
                                  </p:childTnLst>
                                </p:cTn>
                              </p:par>
                              <p:par>
                                <p:cTn fill="hold" nodeType="withEffect" presetClass="entr" presetID="10" presetSubtype="0">
                                  <p:stCondLst>
                                    <p:cond delay="0"/>
                                  </p:stCondLst>
                                  <p:childTnLst>
                                    <p:set>
                                      <p:cBhvr>
                                        <p:cTn dur="1" fill="hold">
                                          <p:stCondLst>
                                            <p:cond delay="0"/>
                                          </p:stCondLst>
                                        </p:cTn>
                                        <p:tgtEl>
                                          <p:spTgt spid="509"/>
                                        </p:tgtEl>
                                        <p:attrNameLst>
                                          <p:attrName>style.visibility</p:attrName>
                                        </p:attrNameLst>
                                      </p:cBhvr>
                                      <p:to>
                                        <p:strVal val="visible"/>
                                      </p:to>
                                    </p:set>
                                    <p:animEffect filter="fade" transition="in">
                                      <p:cBhvr>
                                        <p:cTn dur="500"/>
                                        <p:tgtEl>
                                          <p:spTgt spid="509"/>
                                        </p:tgtEl>
                                      </p:cBhvr>
                                    </p:animEffect>
                                  </p:childTnLst>
                                </p:cTn>
                              </p:par>
                              <p:par>
                                <p:cTn fill="hold" nodeType="withEffect" presetClass="entr" presetID="10" presetSubtype="0">
                                  <p:stCondLst>
                                    <p:cond delay="0"/>
                                  </p:stCondLst>
                                  <p:childTnLst>
                                    <p:set>
                                      <p:cBhvr>
                                        <p:cTn dur="1" fill="hold">
                                          <p:stCondLst>
                                            <p:cond delay="0"/>
                                          </p:stCondLst>
                                        </p:cTn>
                                        <p:tgtEl>
                                          <p:spTgt spid="510"/>
                                        </p:tgtEl>
                                        <p:attrNameLst>
                                          <p:attrName>style.visibility</p:attrName>
                                        </p:attrNameLst>
                                      </p:cBhvr>
                                      <p:to>
                                        <p:strVal val="visible"/>
                                      </p:to>
                                    </p:set>
                                    <p:animEffect filter="fade" transition="in">
                                      <p:cBhvr>
                                        <p:cTn dur="500"/>
                                        <p:tgtEl>
                                          <p:spTgt spid="510"/>
                                        </p:tgtEl>
                                      </p:cBhvr>
                                    </p:animEffect>
                                  </p:childTnLst>
                                </p:cTn>
                              </p:par>
                              <p:par>
                                <p:cTn fill="hold" nodeType="withEffect" presetClass="entr" presetID="10" presetSubtype="0">
                                  <p:stCondLst>
                                    <p:cond delay="0"/>
                                  </p:stCondLst>
                                  <p:childTnLst>
                                    <p:set>
                                      <p:cBhvr>
                                        <p:cTn dur="1" fill="hold">
                                          <p:stCondLst>
                                            <p:cond delay="0"/>
                                          </p:stCondLst>
                                        </p:cTn>
                                        <p:tgtEl>
                                          <p:spTgt spid="511"/>
                                        </p:tgtEl>
                                        <p:attrNameLst>
                                          <p:attrName>style.visibility</p:attrName>
                                        </p:attrNameLst>
                                      </p:cBhvr>
                                      <p:to>
                                        <p:strVal val="visible"/>
                                      </p:to>
                                    </p:set>
                                    <p:animEffect filter="fade" transition="in">
                                      <p:cBhvr>
                                        <p:cTn dur="500"/>
                                        <p:tgtEl>
                                          <p:spTgt spid="511"/>
                                        </p:tgtEl>
                                      </p:cBhvr>
                                    </p:animEffect>
                                  </p:childTnLst>
                                </p:cTn>
                              </p:par>
                              <p:par>
                                <p:cTn fill="hold" nodeType="withEffect" presetClass="entr" presetID="10" presetSubtype="0">
                                  <p:stCondLst>
                                    <p:cond delay="0"/>
                                  </p:stCondLst>
                                  <p:childTnLst>
                                    <p:set>
                                      <p:cBhvr>
                                        <p:cTn dur="1" fill="hold">
                                          <p:stCondLst>
                                            <p:cond delay="0"/>
                                          </p:stCondLst>
                                        </p:cTn>
                                        <p:tgtEl>
                                          <p:spTgt spid="512"/>
                                        </p:tgtEl>
                                        <p:attrNameLst>
                                          <p:attrName>style.visibility</p:attrName>
                                        </p:attrNameLst>
                                      </p:cBhvr>
                                      <p:to>
                                        <p:strVal val="visible"/>
                                      </p:to>
                                    </p:set>
                                    <p:animEffect filter="fade" transition="in">
                                      <p:cBhvr>
                                        <p:cTn dur="500"/>
                                        <p:tgtEl>
                                          <p:spTgt spid="512"/>
                                        </p:tgtEl>
                                      </p:cBhvr>
                                    </p:animEffect>
                                  </p:childTnLst>
                                </p:cTn>
                              </p:par>
                              <p:par>
                                <p:cTn fill="hold" nodeType="withEffect" presetClass="entr" presetID="10" presetSubtype="0">
                                  <p:stCondLst>
                                    <p:cond delay="0"/>
                                  </p:stCondLst>
                                  <p:childTnLst>
                                    <p:set>
                                      <p:cBhvr>
                                        <p:cTn dur="1" fill="hold">
                                          <p:stCondLst>
                                            <p:cond delay="0"/>
                                          </p:stCondLst>
                                        </p:cTn>
                                        <p:tgtEl>
                                          <p:spTgt spid="513"/>
                                        </p:tgtEl>
                                        <p:attrNameLst>
                                          <p:attrName>style.visibility</p:attrName>
                                        </p:attrNameLst>
                                      </p:cBhvr>
                                      <p:to>
                                        <p:strVal val="visible"/>
                                      </p:to>
                                    </p:set>
                                    <p:animEffect filter="fade" transition="in">
                                      <p:cBhvr>
                                        <p:cTn dur="500"/>
                                        <p:tgtEl>
                                          <p:spTgt spid="513"/>
                                        </p:tgtEl>
                                      </p:cBhvr>
                                    </p:animEffect>
                                  </p:childTnLst>
                                </p:cTn>
                              </p:par>
                              <p:par>
                                <p:cTn fill="hold" nodeType="withEffect" presetClass="entr" presetID="10" presetSubtype="0">
                                  <p:stCondLst>
                                    <p:cond delay="0"/>
                                  </p:stCondLst>
                                  <p:childTnLst>
                                    <p:set>
                                      <p:cBhvr>
                                        <p:cTn dur="1" fill="hold">
                                          <p:stCondLst>
                                            <p:cond delay="0"/>
                                          </p:stCondLst>
                                        </p:cTn>
                                        <p:tgtEl>
                                          <p:spTgt spid="515"/>
                                        </p:tgtEl>
                                        <p:attrNameLst>
                                          <p:attrName>style.visibility</p:attrName>
                                        </p:attrNameLst>
                                      </p:cBhvr>
                                      <p:to>
                                        <p:strVal val="visible"/>
                                      </p:to>
                                    </p:set>
                                    <p:animEffect filter="fade" transition="in">
                                      <p:cBhvr>
                                        <p:cTn dur="500"/>
                                        <p:tgtEl>
                                          <p:spTgt spid="5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pic>
        <p:nvPicPr>
          <p:cNvPr id="522" name="Google Shape;522;p23"/>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523" name="Google Shape;523;p23"/>
          <p:cNvSpPr/>
          <p:nvPr/>
        </p:nvSpPr>
        <p:spPr>
          <a:xfrm>
            <a:off x="154779" y="227277"/>
            <a:ext cx="13156822" cy="121772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CA" sz="3600">
                <a:solidFill>
                  <a:schemeClr val="lt1"/>
                </a:solidFill>
                <a:latin typeface="Montserrat"/>
                <a:ea typeface="Montserrat"/>
                <a:cs typeface="Montserrat"/>
                <a:sym typeface="Montserrat"/>
              </a:rPr>
              <a:t>XGBOOST: GRADIENT BOOSTING ALGORITHM</a:t>
            </a:r>
            <a:endParaRPr/>
          </a:p>
        </p:txBody>
      </p:sp>
      <p:graphicFrame>
        <p:nvGraphicFramePr>
          <p:cNvPr id="524" name="Google Shape;524;p23"/>
          <p:cNvGraphicFramePr/>
          <p:nvPr/>
        </p:nvGraphicFramePr>
        <p:xfrm>
          <a:off x="640334" y="2323691"/>
          <a:ext cx="3000000" cy="3000000"/>
        </p:xfrm>
        <a:graphic>
          <a:graphicData uri="http://schemas.openxmlformats.org/drawingml/2006/table">
            <a:tbl>
              <a:tblPr bandRow="1" firstRow="1">
                <a:noFill/>
                <a:tableStyleId>{C56017F4-4159-4531-9A6F-2EA572D870EB}</a:tableStyleId>
              </a:tblPr>
              <a:tblGrid>
                <a:gridCol w="1346200"/>
                <a:gridCol w="1346200"/>
                <a:gridCol w="1346200"/>
                <a:gridCol w="1346200"/>
              </a:tblGrid>
              <a:tr h="370850">
                <a:tc>
                  <a:txBody>
                    <a:bodyPr/>
                    <a:lstStyle/>
                    <a:p>
                      <a:pPr indent="0" lvl="0" marL="0" marR="0" rtl="0" algn="l">
                        <a:spcBef>
                          <a:spcPts val="0"/>
                        </a:spcBef>
                        <a:spcAft>
                          <a:spcPts val="0"/>
                        </a:spcAft>
                        <a:buNone/>
                      </a:pPr>
                      <a:r>
                        <a:rPr lang="en-CA" sz="1800" u="none" cap="none" strike="noStrike"/>
                        <a:t>Height</a:t>
                      </a:r>
                      <a:endParaRPr sz="1800"/>
                    </a:p>
                  </a:txBody>
                  <a:tcPr marT="45725" marB="45725" marR="91450" marL="91450"/>
                </a:tc>
                <a:tc>
                  <a:txBody>
                    <a:bodyPr/>
                    <a:lstStyle/>
                    <a:p>
                      <a:pPr indent="0" lvl="0" marL="0" marR="0" rtl="0" algn="l">
                        <a:spcBef>
                          <a:spcPts val="0"/>
                        </a:spcBef>
                        <a:spcAft>
                          <a:spcPts val="0"/>
                        </a:spcAft>
                        <a:buNone/>
                      </a:pPr>
                      <a:r>
                        <a:rPr lang="en-CA" sz="1800"/>
                        <a:t>Color</a:t>
                      </a:r>
                      <a:endParaRPr sz="1800"/>
                    </a:p>
                  </a:txBody>
                  <a:tcPr marT="45725" marB="45725" marR="91450" marL="91450"/>
                </a:tc>
                <a:tc>
                  <a:txBody>
                    <a:bodyPr/>
                    <a:lstStyle/>
                    <a:p>
                      <a:pPr indent="0" lvl="0" marL="0" marR="0" rtl="0" algn="l">
                        <a:spcBef>
                          <a:spcPts val="0"/>
                        </a:spcBef>
                        <a:spcAft>
                          <a:spcPts val="0"/>
                        </a:spcAft>
                        <a:buNone/>
                      </a:pPr>
                      <a:r>
                        <a:rPr lang="en-CA" sz="1800"/>
                        <a:t>Gender</a:t>
                      </a:r>
                      <a:endParaRPr sz="1800"/>
                    </a:p>
                  </a:txBody>
                  <a:tcPr marT="45725" marB="45725" marR="91450" marL="91450"/>
                </a:tc>
                <a:tc>
                  <a:txBody>
                    <a:bodyPr/>
                    <a:lstStyle/>
                    <a:p>
                      <a:pPr indent="0" lvl="0" marL="0" marR="0" rtl="0" algn="l">
                        <a:spcBef>
                          <a:spcPts val="0"/>
                        </a:spcBef>
                        <a:spcAft>
                          <a:spcPts val="0"/>
                        </a:spcAft>
                        <a:buNone/>
                      </a:pPr>
                      <a:r>
                        <a:rPr lang="en-CA" sz="1800"/>
                        <a:t>Weight (Kg)</a:t>
                      </a:r>
                      <a:endParaRPr sz="1800"/>
                    </a:p>
                  </a:txBody>
                  <a:tcPr marT="45725" marB="45725" marR="91450" marL="91450"/>
                </a:tc>
              </a:tr>
              <a:tr h="370850">
                <a:tc>
                  <a:txBody>
                    <a:bodyPr/>
                    <a:lstStyle/>
                    <a:p>
                      <a:pPr indent="0" lvl="0" marL="0" marR="0" rtl="0" algn="l">
                        <a:spcBef>
                          <a:spcPts val="0"/>
                        </a:spcBef>
                        <a:spcAft>
                          <a:spcPts val="0"/>
                        </a:spcAft>
                        <a:buNone/>
                      </a:pPr>
                      <a:r>
                        <a:rPr lang="en-CA" sz="1800"/>
                        <a:t>1.6</a:t>
                      </a:r>
                      <a:endParaRPr sz="1800"/>
                    </a:p>
                  </a:txBody>
                  <a:tcPr marT="45725" marB="45725" marR="91450" marL="91450"/>
                </a:tc>
                <a:tc>
                  <a:txBody>
                    <a:bodyPr/>
                    <a:lstStyle/>
                    <a:p>
                      <a:pPr indent="0" lvl="0" marL="0" marR="0" rtl="0" algn="l">
                        <a:spcBef>
                          <a:spcPts val="0"/>
                        </a:spcBef>
                        <a:spcAft>
                          <a:spcPts val="0"/>
                        </a:spcAft>
                        <a:buNone/>
                      </a:pPr>
                      <a:r>
                        <a:rPr lang="en-CA" sz="1800"/>
                        <a:t>Blue</a:t>
                      </a:r>
                      <a:endParaRPr sz="1800"/>
                    </a:p>
                  </a:txBody>
                  <a:tcPr marT="45725" marB="45725" marR="91450" marL="91450"/>
                </a:tc>
                <a:tc>
                  <a:txBody>
                    <a:bodyPr/>
                    <a:lstStyle/>
                    <a:p>
                      <a:pPr indent="0" lvl="0" marL="0" marR="0" rtl="0" algn="l">
                        <a:spcBef>
                          <a:spcPts val="0"/>
                        </a:spcBef>
                        <a:spcAft>
                          <a:spcPts val="0"/>
                        </a:spcAft>
                        <a:buNone/>
                      </a:pPr>
                      <a:r>
                        <a:rPr lang="en-CA" sz="1800"/>
                        <a:t>Male</a:t>
                      </a:r>
                      <a:endParaRPr sz="1800"/>
                    </a:p>
                  </a:txBody>
                  <a:tcPr marT="45725" marB="45725" marR="91450" marL="91450"/>
                </a:tc>
                <a:tc>
                  <a:txBody>
                    <a:bodyPr/>
                    <a:lstStyle/>
                    <a:p>
                      <a:pPr indent="0" lvl="0" marL="0" marR="0" rtl="0" algn="l">
                        <a:spcBef>
                          <a:spcPts val="0"/>
                        </a:spcBef>
                        <a:spcAft>
                          <a:spcPts val="0"/>
                        </a:spcAft>
                        <a:buNone/>
                      </a:pPr>
                      <a:r>
                        <a:rPr lang="en-CA" sz="1800"/>
                        <a:t>88</a:t>
                      </a:r>
                      <a:endParaRPr sz="1800"/>
                    </a:p>
                  </a:txBody>
                  <a:tcPr marT="45725" marB="45725" marR="91450" marL="91450"/>
                </a:tc>
              </a:tr>
              <a:tr h="370850">
                <a:tc>
                  <a:txBody>
                    <a:bodyPr/>
                    <a:lstStyle/>
                    <a:p>
                      <a:pPr indent="0" lvl="0" marL="0" marR="0" rtl="0" algn="l">
                        <a:spcBef>
                          <a:spcPts val="0"/>
                        </a:spcBef>
                        <a:spcAft>
                          <a:spcPts val="0"/>
                        </a:spcAft>
                        <a:buNone/>
                      </a:pPr>
                      <a:r>
                        <a:rPr lang="en-CA" sz="1800"/>
                        <a:t>1.6</a:t>
                      </a:r>
                      <a:endParaRPr sz="1800"/>
                    </a:p>
                  </a:txBody>
                  <a:tcPr marT="45725" marB="45725" marR="91450" marL="91450"/>
                </a:tc>
                <a:tc>
                  <a:txBody>
                    <a:bodyPr/>
                    <a:lstStyle/>
                    <a:p>
                      <a:pPr indent="0" lvl="0" marL="0" marR="0" rtl="0" algn="l">
                        <a:spcBef>
                          <a:spcPts val="0"/>
                        </a:spcBef>
                        <a:spcAft>
                          <a:spcPts val="0"/>
                        </a:spcAft>
                        <a:buNone/>
                      </a:pPr>
                      <a:r>
                        <a:rPr lang="en-CA" sz="1800"/>
                        <a:t>Green</a:t>
                      </a:r>
                      <a:endParaRPr sz="1800"/>
                    </a:p>
                  </a:txBody>
                  <a:tcPr marT="45725" marB="45725" marR="91450" marL="91450"/>
                </a:tc>
                <a:tc>
                  <a:txBody>
                    <a:bodyPr/>
                    <a:lstStyle/>
                    <a:p>
                      <a:pPr indent="0" lvl="0" marL="0" marR="0" rtl="0" algn="l">
                        <a:spcBef>
                          <a:spcPts val="0"/>
                        </a:spcBef>
                        <a:spcAft>
                          <a:spcPts val="0"/>
                        </a:spcAft>
                        <a:buNone/>
                      </a:pPr>
                      <a:r>
                        <a:rPr lang="en-CA" sz="1800"/>
                        <a:t>Female</a:t>
                      </a:r>
                      <a:endParaRPr sz="1800"/>
                    </a:p>
                  </a:txBody>
                  <a:tcPr marT="45725" marB="45725" marR="91450" marL="91450"/>
                </a:tc>
                <a:tc>
                  <a:txBody>
                    <a:bodyPr/>
                    <a:lstStyle/>
                    <a:p>
                      <a:pPr indent="0" lvl="0" marL="0" marR="0" rtl="0" algn="l">
                        <a:spcBef>
                          <a:spcPts val="0"/>
                        </a:spcBef>
                        <a:spcAft>
                          <a:spcPts val="0"/>
                        </a:spcAft>
                        <a:buNone/>
                      </a:pPr>
                      <a:r>
                        <a:rPr lang="en-CA" sz="1800"/>
                        <a:t>76</a:t>
                      </a:r>
                      <a:endParaRPr sz="1800"/>
                    </a:p>
                  </a:txBody>
                  <a:tcPr marT="45725" marB="45725" marR="91450" marL="91450"/>
                </a:tc>
              </a:tr>
              <a:tr h="370850">
                <a:tc>
                  <a:txBody>
                    <a:bodyPr/>
                    <a:lstStyle/>
                    <a:p>
                      <a:pPr indent="0" lvl="0" marL="0" marR="0" rtl="0" algn="l">
                        <a:spcBef>
                          <a:spcPts val="0"/>
                        </a:spcBef>
                        <a:spcAft>
                          <a:spcPts val="0"/>
                        </a:spcAft>
                        <a:buNone/>
                      </a:pPr>
                      <a:r>
                        <a:rPr lang="en-CA" sz="1800"/>
                        <a:t>1.5</a:t>
                      </a:r>
                      <a:endParaRPr sz="1800"/>
                    </a:p>
                  </a:txBody>
                  <a:tcPr marT="45725" marB="45725" marR="91450" marL="91450"/>
                </a:tc>
                <a:tc>
                  <a:txBody>
                    <a:bodyPr/>
                    <a:lstStyle/>
                    <a:p>
                      <a:pPr indent="0" lvl="0" marL="0" marR="0" rtl="0" algn="l">
                        <a:spcBef>
                          <a:spcPts val="0"/>
                        </a:spcBef>
                        <a:spcAft>
                          <a:spcPts val="0"/>
                        </a:spcAft>
                        <a:buNone/>
                      </a:pPr>
                      <a:r>
                        <a:rPr lang="en-CA" sz="1800"/>
                        <a:t>Blue</a:t>
                      </a:r>
                      <a:endParaRPr sz="1800"/>
                    </a:p>
                  </a:txBody>
                  <a:tcPr marT="45725" marB="45725" marR="91450" marL="91450"/>
                </a:tc>
                <a:tc>
                  <a:txBody>
                    <a:bodyPr/>
                    <a:lstStyle/>
                    <a:p>
                      <a:pPr indent="0" lvl="0" marL="0" marR="0" rtl="0" algn="l">
                        <a:spcBef>
                          <a:spcPts val="0"/>
                        </a:spcBef>
                        <a:spcAft>
                          <a:spcPts val="0"/>
                        </a:spcAft>
                        <a:buNone/>
                      </a:pPr>
                      <a:r>
                        <a:rPr lang="en-CA" sz="1800"/>
                        <a:t>Female</a:t>
                      </a:r>
                      <a:endParaRPr sz="1800"/>
                    </a:p>
                  </a:txBody>
                  <a:tcPr marT="45725" marB="45725" marR="91450" marL="91450"/>
                </a:tc>
                <a:tc>
                  <a:txBody>
                    <a:bodyPr/>
                    <a:lstStyle/>
                    <a:p>
                      <a:pPr indent="0" lvl="0" marL="0" marR="0" rtl="0" algn="l">
                        <a:spcBef>
                          <a:spcPts val="0"/>
                        </a:spcBef>
                        <a:spcAft>
                          <a:spcPts val="0"/>
                        </a:spcAft>
                        <a:buNone/>
                      </a:pPr>
                      <a:r>
                        <a:rPr lang="en-CA" sz="1800"/>
                        <a:t>56</a:t>
                      </a:r>
                      <a:endParaRPr sz="1800"/>
                    </a:p>
                  </a:txBody>
                  <a:tcPr marT="45725" marB="45725" marR="91450" marL="91450"/>
                </a:tc>
              </a:tr>
              <a:tr h="370850">
                <a:tc>
                  <a:txBody>
                    <a:bodyPr/>
                    <a:lstStyle/>
                    <a:p>
                      <a:pPr indent="0" lvl="0" marL="0" marR="0" rtl="0" algn="l">
                        <a:spcBef>
                          <a:spcPts val="0"/>
                        </a:spcBef>
                        <a:spcAft>
                          <a:spcPts val="0"/>
                        </a:spcAft>
                        <a:buNone/>
                      </a:pPr>
                      <a:r>
                        <a:rPr lang="en-CA" sz="1800"/>
                        <a:t>1.8</a:t>
                      </a:r>
                      <a:endParaRPr sz="1800"/>
                    </a:p>
                  </a:txBody>
                  <a:tcPr marT="45725" marB="45725" marR="91450" marL="91450"/>
                </a:tc>
                <a:tc>
                  <a:txBody>
                    <a:bodyPr/>
                    <a:lstStyle/>
                    <a:p>
                      <a:pPr indent="0" lvl="0" marL="0" marR="0" rtl="0" algn="l">
                        <a:spcBef>
                          <a:spcPts val="0"/>
                        </a:spcBef>
                        <a:spcAft>
                          <a:spcPts val="0"/>
                        </a:spcAft>
                        <a:buNone/>
                      </a:pPr>
                      <a:r>
                        <a:rPr lang="en-CA" sz="1800"/>
                        <a:t>Red</a:t>
                      </a:r>
                      <a:endParaRPr sz="1800"/>
                    </a:p>
                  </a:txBody>
                  <a:tcPr marT="45725" marB="45725" marR="91450" marL="91450"/>
                </a:tc>
                <a:tc>
                  <a:txBody>
                    <a:bodyPr/>
                    <a:lstStyle/>
                    <a:p>
                      <a:pPr indent="0" lvl="0" marL="0" marR="0" rtl="0" algn="l">
                        <a:spcBef>
                          <a:spcPts val="0"/>
                        </a:spcBef>
                        <a:spcAft>
                          <a:spcPts val="0"/>
                        </a:spcAft>
                        <a:buNone/>
                      </a:pPr>
                      <a:r>
                        <a:rPr lang="en-CA" sz="1800"/>
                        <a:t>Male</a:t>
                      </a:r>
                      <a:endParaRPr sz="1800"/>
                    </a:p>
                  </a:txBody>
                  <a:tcPr marT="45725" marB="45725" marR="91450" marL="91450"/>
                </a:tc>
                <a:tc>
                  <a:txBody>
                    <a:bodyPr/>
                    <a:lstStyle/>
                    <a:p>
                      <a:pPr indent="0" lvl="0" marL="0" marR="0" rtl="0" algn="l">
                        <a:spcBef>
                          <a:spcPts val="0"/>
                        </a:spcBef>
                        <a:spcAft>
                          <a:spcPts val="0"/>
                        </a:spcAft>
                        <a:buNone/>
                      </a:pPr>
                      <a:r>
                        <a:rPr lang="en-CA" sz="1800"/>
                        <a:t>73</a:t>
                      </a:r>
                      <a:endParaRPr sz="1800"/>
                    </a:p>
                  </a:txBody>
                  <a:tcPr marT="45725" marB="45725" marR="91450" marL="91450"/>
                </a:tc>
              </a:tr>
              <a:tr h="370850">
                <a:tc>
                  <a:txBody>
                    <a:bodyPr/>
                    <a:lstStyle/>
                    <a:p>
                      <a:pPr indent="0" lvl="0" marL="0" marR="0" rtl="0" algn="l">
                        <a:spcBef>
                          <a:spcPts val="0"/>
                        </a:spcBef>
                        <a:spcAft>
                          <a:spcPts val="0"/>
                        </a:spcAft>
                        <a:buNone/>
                      </a:pPr>
                      <a:r>
                        <a:rPr lang="en-CA" sz="1800"/>
                        <a:t>1.5</a:t>
                      </a:r>
                      <a:endParaRPr sz="1800"/>
                    </a:p>
                  </a:txBody>
                  <a:tcPr marT="45725" marB="45725" marR="91450" marL="91450"/>
                </a:tc>
                <a:tc>
                  <a:txBody>
                    <a:bodyPr/>
                    <a:lstStyle/>
                    <a:p>
                      <a:pPr indent="0" lvl="0" marL="0" marR="0" rtl="0" algn="l">
                        <a:spcBef>
                          <a:spcPts val="0"/>
                        </a:spcBef>
                        <a:spcAft>
                          <a:spcPts val="0"/>
                        </a:spcAft>
                        <a:buNone/>
                      </a:pPr>
                      <a:r>
                        <a:rPr lang="en-CA" sz="1800"/>
                        <a:t>Green</a:t>
                      </a:r>
                      <a:endParaRPr sz="1800"/>
                    </a:p>
                  </a:txBody>
                  <a:tcPr marT="45725" marB="45725" marR="91450" marL="91450"/>
                </a:tc>
                <a:tc>
                  <a:txBody>
                    <a:bodyPr/>
                    <a:lstStyle/>
                    <a:p>
                      <a:pPr indent="0" lvl="0" marL="0" marR="0" rtl="0" algn="l">
                        <a:spcBef>
                          <a:spcPts val="0"/>
                        </a:spcBef>
                        <a:spcAft>
                          <a:spcPts val="0"/>
                        </a:spcAft>
                        <a:buNone/>
                      </a:pPr>
                      <a:r>
                        <a:rPr lang="en-CA" sz="1800"/>
                        <a:t>Male</a:t>
                      </a:r>
                      <a:endParaRPr sz="1800"/>
                    </a:p>
                  </a:txBody>
                  <a:tcPr marT="45725" marB="45725" marR="91450" marL="91450"/>
                </a:tc>
                <a:tc>
                  <a:txBody>
                    <a:bodyPr/>
                    <a:lstStyle/>
                    <a:p>
                      <a:pPr indent="0" lvl="0" marL="0" marR="0" rtl="0" algn="l">
                        <a:spcBef>
                          <a:spcPts val="0"/>
                        </a:spcBef>
                        <a:spcAft>
                          <a:spcPts val="0"/>
                        </a:spcAft>
                        <a:buNone/>
                      </a:pPr>
                      <a:r>
                        <a:rPr lang="en-CA" sz="1800"/>
                        <a:t>77</a:t>
                      </a:r>
                      <a:endParaRPr sz="1800"/>
                    </a:p>
                  </a:txBody>
                  <a:tcPr marT="45725" marB="45725" marR="91450" marL="91450"/>
                </a:tc>
              </a:tr>
              <a:tr h="370850">
                <a:tc>
                  <a:txBody>
                    <a:bodyPr/>
                    <a:lstStyle/>
                    <a:p>
                      <a:pPr indent="0" lvl="0" marL="0" marR="0" rtl="0" algn="l">
                        <a:spcBef>
                          <a:spcPts val="0"/>
                        </a:spcBef>
                        <a:spcAft>
                          <a:spcPts val="0"/>
                        </a:spcAft>
                        <a:buNone/>
                      </a:pPr>
                      <a:r>
                        <a:rPr lang="en-CA" sz="1800"/>
                        <a:t>1.4</a:t>
                      </a:r>
                      <a:endParaRPr sz="1800"/>
                    </a:p>
                  </a:txBody>
                  <a:tcPr marT="45725" marB="45725" marR="91450" marL="91450"/>
                </a:tc>
                <a:tc>
                  <a:txBody>
                    <a:bodyPr/>
                    <a:lstStyle/>
                    <a:p>
                      <a:pPr indent="0" lvl="0" marL="0" marR="0" rtl="0" algn="l">
                        <a:spcBef>
                          <a:spcPts val="0"/>
                        </a:spcBef>
                        <a:spcAft>
                          <a:spcPts val="0"/>
                        </a:spcAft>
                        <a:buNone/>
                      </a:pPr>
                      <a:r>
                        <a:rPr lang="en-CA" sz="1800"/>
                        <a:t>Blue</a:t>
                      </a:r>
                      <a:endParaRPr sz="1800"/>
                    </a:p>
                  </a:txBody>
                  <a:tcPr marT="45725" marB="45725" marR="91450" marL="91450"/>
                </a:tc>
                <a:tc>
                  <a:txBody>
                    <a:bodyPr/>
                    <a:lstStyle/>
                    <a:p>
                      <a:pPr indent="0" lvl="0" marL="0" marR="0" rtl="0" algn="l">
                        <a:spcBef>
                          <a:spcPts val="0"/>
                        </a:spcBef>
                        <a:spcAft>
                          <a:spcPts val="0"/>
                        </a:spcAft>
                        <a:buNone/>
                      </a:pPr>
                      <a:r>
                        <a:rPr lang="en-CA" sz="1800"/>
                        <a:t>Female</a:t>
                      </a:r>
                      <a:endParaRPr sz="1800"/>
                    </a:p>
                  </a:txBody>
                  <a:tcPr marT="45725" marB="45725" marR="91450" marL="91450"/>
                </a:tc>
                <a:tc>
                  <a:txBody>
                    <a:bodyPr/>
                    <a:lstStyle/>
                    <a:p>
                      <a:pPr indent="0" lvl="0" marL="0" marR="0" rtl="0" algn="l">
                        <a:spcBef>
                          <a:spcPts val="0"/>
                        </a:spcBef>
                        <a:spcAft>
                          <a:spcPts val="0"/>
                        </a:spcAft>
                        <a:buNone/>
                      </a:pPr>
                      <a:r>
                        <a:rPr lang="en-CA" sz="1800"/>
                        <a:t>57</a:t>
                      </a:r>
                      <a:endParaRPr sz="1800"/>
                    </a:p>
                  </a:txBody>
                  <a:tcPr marT="45725" marB="45725" marR="91450" marL="91450"/>
                </a:tc>
              </a:tr>
            </a:tbl>
          </a:graphicData>
        </a:graphic>
      </p:graphicFrame>
      <p:sp>
        <p:nvSpPr>
          <p:cNvPr id="525" name="Google Shape;525;p23"/>
          <p:cNvSpPr/>
          <p:nvPr/>
        </p:nvSpPr>
        <p:spPr>
          <a:xfrm>
            <a:off x="9317116" y="2058901"/>
            <a:ext cx="1059786" cy="349195"/>
          </a:xfrm>
          <a:prstGeom prst="roundRect">
            <a:avLst>
              <a:gd fmla="val 16667" name="adj"/>
            </a:avLst>
          </a:prstGeom>
          <a:solidFill>
            <a:schemeClr val="accent4"/>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526" name="Google Shape;526;p23"/>
          <p:cNvCxnSpPr>
            <a:stCxn id="525" idx="2"/>
            <a:endCxn id="527" idx="0"/>
          </p:cNvCxnSpPr>
          <p:nvPr/>
        </p:nvCxnSpPr>
        <p:spPr>
          <a:xfrm flipH="1">
            <a:off x="9157609" y="2408096"/>
            <a:ext cx="689400" cy="341700"/>
          </a:xfrm>
          <a:prstGeom prst="straightConnector1">
            <a:avLst/>
          </a:prstGeom>
          <a:noFill/>
          <a:ln cap="flat" cmpd="sng" w="9525">
            <a:solidFill>
              <a:schemeClr val="accent1"/>
            </a:solidFill>
            <a:prstDash val="solid"/>
            <a:miter lim="800000"/>
            <a:headEnd len="sm" w="sm" type="none"/>
            <a:tailEnd len="med" w="med" type="triangle"/>
          </a:ln>
        </p:spPr>
      </p:cxnSp>
      <p:cxnSp>
        <p:nvCxnSpPr>
          <p:cNvPr id="528" name="Google Shape;528;p23"/>
          <p:cNvCxnSpPr>
            <a:stCxn id="525" idx="2"/>
            <a:endCxn id="529" idx="0"/>
          </p:cNvCxnSpPr>
          <p:nvPr/>
        </p:nvCxnSpPr>
        <p:spPr>
          <a:xfrm>
            <a:off x="9847009" y="2408096"/>
            <a:ext cx="763800" cy="341700"/>
          </a:xfrm>
          <a:prstGeom prst="straightConnector1">
            <a:avLst/>
          </a:prstGeom>
          <a:noFill/>
          <a:ln cap="flat" cmpd="sng" w="9525">
            <a:solidFill>
              <a:schemeClr val="accent1"/>
            </a:solidFill>
            <a:prstDash val="solid"/>
            <a:miter lim="800000"/>
            <a:headEnd len="sm" w="sm" type="none"/>
            <a:tailEnd len="med" w="med" type="triangle"/>
          </a:ln>
        </p:spPr>
      </p:cxnSp>
      <p:sp>
        <p:nvSpPr>
          <p:cNvPr id="530" name="Google Shape;530;p23"/>
          <p:cNvSpPr/>
          <p:nvPr/>
        </p:nvSpPr>
        <p:spPr>
          <a:xfrm>
            <a:off x="4697464" y="2323691"/>
            <a:ext cx="1312680" cy="2595880"/>
          </a:xfrm>
          <a:prstGeom prst="rect">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531" name="Google Shape;531;p23"/>
          <p:cNvCxnSpPr/>
          <p:nvPr/>
        </p:nvCxnSpPr>
        <p:spPr>
          <a:xfrm>
            <a:off x="5402001" y="4919571"/>
            <a:ext cx="1034700" cy="759900"/>
          </a:xfrm>
          <a:prstGeom prst="curvedConnector3">
            <a:avLst>
              <a:gd fmla="val 50000" name="adj1"/>
            </a:avLst>
          </a:prstGeom>
          <a:noFill/>
          <a:ln cap="flat" cmpd="sng" w="38100">
            <a:solidFill>
              <a:srgbClr val="FF0000"/>
            </a:solidFill>
            <a:prstDash val="solid"/>
            <a:miter lim="800000"/>
            <a:headEnd len="sm" w="sm" type="none"/>
            <a:tailEnd len="med" w="med" type="triangle"/>
          </a:ln>
        </p:spPr>
      </p:cxnSp>
      <p:sp>
        <p:nvSpPr>
          <p:cNvPr id="532" name="Google Shape;532;p23"/>
          <p:cNvSpPr txBox="1"/>
          <p:nvPr/>
        </p:nvSpPr>
        <p:spPr>
          <a:xfrm>
            <a:off x="6156975" y="5266758"/>
            <a:ext cx="186315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CA" sz="1800">
                <a:solidFill>
                  <a:srgbClr val="FF0000"/>
                </a:solidFill>
                <a:latin typeface="Calibri"/>
                <a:ea typeface="Calibri"/>
                <a:cs typeface="Calibri"/>
                <a:sym typeface="Calibri"/>
              </a:rPr>
              <a:t>VARIABLE TO BE PREDICTED</a:t>
            </a:r>
            <a:endParaRPr b="1" sz="1800">
              <a:solidFill>
                <a:srgbClr val="FF0000"/>
              </a:solidFill>
              <a:latin typeface="Calibri"/>
              <a:ea typeface="Calibri"/>
              <a:cs typeface="Calibri"/>
              <a:sym typeface="Calibri"/>
            </a:endParaRPr>
          </a:p>
        </p:txBody>
      </p:sp>
      <p:sp>
        <p:nvSpPr>
          <p:cNvPr id="533" name="Google Shape;533;p23"/>
          <p:cNvSpPr/>
          <p:nvPr/>
        </p:nvSpPr>
        <p:spPr>
          <a:xfrm>
            <a:off x="640334" y="2323691"/>
            <a:ext cx="4057130" cy="2595880"/>
          </a:xfrm>
          <a:prstGeom prst="rect">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534" name="Google Shape;534;p23"/>
          <p:cNvCxnSpPr/>
          <p:nvPr/>
        </p:nvCxnSpPr>
        <p:spPr>
          <a:xfrm>
            <a:off x="1661434" y="4932520"/>
            <a:ext cx="1124400" cy="705900"/>
          </a:xfrm>
          <a:prstGeom prst="curvedConnector3">
            <a:avLst>
              <a:gd fmla="val 50000" name="adj1"/>
            </a:avLst>
          </a:prstGeom>
          <a:noFill/>
          <a:ln cap="flat" cmpd="sng" w="38100">
            <a:solidFill>
              <a:srgbClr val="FF0000"/>
            </a:solidFill>
            <a:prstDash val="solid"/>
            <a:miter lim="800000"/>
            <a:headEnd len="sm" w="sm" type="none"/>
            <a:tailEnd len="med" w="med" type="triangle"/>
          </a:ln>
        </p:spPr>
      </p:cxnSp>
      <p:sp>
        <p:nvSpPr>
          <p:cNvPr id="535" name="Google Shape;535;p23"/>
          <p:cNvSpPr txBox="1"/>
          <p:nvPr/>
        </p:nvSpPr>
        <p:spPr>
          <a:xfrm>
            <a:off x="2718553" y="5415012"/>
            <a:ext cx="1863153"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CA" sz="1800">
                <a:solidFill>
                  <a:srgbClr val="FF0000"/>
                </a:solidFill>
                <a:latin typeface="Calibri"/>
                <a:ea typeface="Calibri"/>
                <a:cs typeface="Calibri"/>
                <a:sym typeface="Calibri"/>
              </a:rPr>
              <a:t>INPUT FEATURES </a:t>
            </a:r>
            <a:endParaRPr b="1" sz="1800">
              <a:solidFill>
                <a:srgbClr val="FF0000"/>
              </a:solidFill>
              <a:latin typeface="Calibri"/>
              <a:ea typeface="Calibri"/>
              <a:cs typeface="Calibri"/>
              <a:sym typeface="Calibri"/>
            </a:endParaRPr>
          </a:p>
        </p:txBody>
      </p:sp>
      <p:sp>
        <p:nvSpPr>
          <p:cNvPr id="527" name="Google Shape;527;p23"/>
          <p:cNvSpPr/>
          <p:nvPr/>
        </p:nvSpPr>
        <p:spPr>
          <a:xfrm>
            <a:off x="8534400" y="2749697"/>
            <a:ext cx="1246266" cy="343431"/>
          </a:xfrm>
          <a:prstGeom prst="roundRect">
            <a:avLst>
              <a:gd fmla="val 16667" name="adj"/>
            </a:avLst>
          </a:prstGeom>
          <a:solidFill>
            <a:srgbClr val="FF00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Calibri"/>
              <a:ea typeface="Calibri"/>
              <a:cs typeface="Calibri"/>
              <a:sym typeface="Calibri"/>
            </a:endParaRPr>
          </a:p>
        </p:txBody>
      </p:sp>
      <p:sp>
        <p:nvSpPr>
          <p:cNvPr id="529" name="Google Shape;529;p23"/>
          <p:cNvSpPr/>
          <p:nvPr/>
        </p:nvSpPr>
        <p:spPr>
          <a:xfrm>
            <a:off x="10017713" y="2749697"/>
            <a:ext cx="1186273" cy="343431"/>
          </a:xfrm>
          <a:prstGeom prst="roundRect">
            <a:avLst>
              <a:gd fmla="val 16667" name="adj"/>
            </a:avLst>
          </a:prstGeom>
          <a:solidFill>
            <a:srgbClr val="FF00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Calibri"/>
              <a:ea typeface="Calibri"/>
              <a:cs typeface="Calibri"/>
              <a:sym typeface="Calibri"/>
            </a:endParaRPr>
          </a:p>
        </p:txBody>
      </p:sp>
      <p:sp>
        <p:nvSpPr>
          <p:cNvPr id="536" name="Google Shape;536;p23"/>
          <p:cNvSpPr txBox="1"/>
          <p:nvPr/>
        </p:nvSpPr>
        <p:spPr>
          <a:xfrm>
            <a:off x="154779" y="1073808"/>
            <a:ext cx="12563841" cy="1628063"/>
          </a:xfrm>
          <a:prstGeom prst="rect">
            <a:avLst/>
          </a:prstGeom>
          <a:noFill/>
          <a:ln>
            <a:noFill/>
          </a:ln>
        </p:spPr>
        <p:txBody>
          <a:bodyPr anchorCtr="0" anchor="t" bIns="45700" lIns="91425" spcFirstLastPara="1" rIns="91425" wrap="square" tIns="45700">
            <a:normAutofit/>
          </a:bodyPr>
          <a:lstStyle/>
          <a:p>
            <a:pPr indent="-285750" lvl="0" marL="285750" marR="0" rtl="0" algn="l">
              <a:lnSpc>
                <a:spcPct val="90000"/>
              </a:lnSpc>
              <a:spcBef>
                <a:spcPts val="0"/>
              </a:spcBef>
              <a:spcAft>
                <a:spcPts val="0"/>
              </a:spcAft>
              <a:buClr>
                <a:schemeClr val="dk1"/>
              </a:buClr>
              <a:buSzPts val="1600"/>
              <a:buFont typeface="Arial"/>
              <a:buChar char="•"/>
            </a:pPr>
            <a:r>
              <a:rPr lang="en-CA" sz="1600">
                <a:solidFill>
                  <a:schemeClr val="dk1"/>
                </a:solidFill>
                <a:latin typeface="Montserrat"/>
                <a:ea typeface="Montserrat"/>
                <a:cs typeface="Montserrat"/>
                <a:sym typeface="Montserrat"/>
              </a:rPr>
              <a:t>Gradient boost works by building a tree based on the error (residuals) from the previous tree.</a:t>
            </a:r>
            <a:endParaRPr/>
          </a:p>
          <a:p>
            <a:pPr indent="-285750" lvl="0" marL="285750" marR="0" rtl="0" algn="l">
              <a:lnSpc>
                <a:spcPct val="90000"/>
              </a:lnSpc>
              <a:spcBef>
                <a:spcPts val="1000"/>
              </a:spcBef>
              <a:spcAft>
                <a:spcPts val="0"/>
              </a:spcAft>
              <a:buClr>
                <a:schemeClr val="dk1"/>
              </a:buClr>
              <a:buSzPts val="1600"/>
              <a:buFont typeface="Arial"/>
              <a:buChar char="•"/>
            </a:pPr>
            <a:r>
              <a:rPr lang="en-CA" sz="1600">
                <a:solidFill>
                  <a:schemeClr val="dk1"/>
                </a:solidFill>
                <a:latin typeface="Montserrat"/>
                <a:ea typeface="Montserrat"/>
                <a:cs typeface="Montserrat"/>
                <a:sym typeface="Montserrat"/>
              </a:rPr>
              <a:t>Gradient boost scales trees and then adds the predictions from the new tree to the predictions from previous trees.</a:t>
            </a:r>
            <a:endParaRPr/>
          </a:p>
          <a:p>
            <a:pPr indent="-285750" lvl="0" marL="285750" marR="0" rtl="0" algn="l">
              <a:lnSpc>
                <a:spcPct val="90000"/>
              </a:lnSpc>
              <a:spcBef>
                <a:spcPts val="1000"/>
              </a:spcBef>
              <a:spcAft>
                <a:spcPts val="0"/>
              </a:spcAft>
              <a:buClr>
                <a:schemeClr val="dk1"/>
              </a:buClr>
              <a:buSzPts val="1600"/>
              <a:buFont typeface="Arial"/>
              <a:buChar char="•"/>
            </a:pPr>
            <a:r>
              <a:rPr lang="en-CA" sz="1600" u="sng">
                <a:solidFill>
                  <a:schemeClr val="dk1"/>
                </a:solidFill>
                <a:latin typeface="Montserrat"/>
                <a:ea typeface="Montserrat"/>
                <a:cs typeface="Montserrat"/>
                <a:sym typeface="Montserrat"/>
                <a:hlinkClick r:id="rId4">
                  <a:extLst>
                    <a:ext uri="{A12FA001-AC4F-418D-AE19-62706E023703}">
                      <ahyp:hlinkClr val="tx"/>
                    </a:ext>
                  </a:extLst>
                </a:hlinkClick>
              </a:rPr>
              <a:t>Example adopted from the awesome StatQuest (by Josh Starmer): https://www.youtube.com/watch?v=3CC4N4z3GJc&amp;t=87s</a:t>
            </a:r>
            <a:endParaRPr sz="1600">
              <a:solidFill>
                <a:schemeClr val="dk1"/>
              </a:solidFill>
              <a:latin typeface="Montserrat"/>
              <a:ea typeface="Montserrat"/>
              <a:cs typeface="Montserrat"/>
              <a:sym typeface="Montserrat"/>
            </a:endParaRPr>
          </a:p>
          <a:p>
            <a:pPr indent="-184150" lvl="0" marL="285750" marR="0" rtl="0" algn="l">
              <a:lnSpc>
                <a:spcPct val="90000"/>
              </a:lnSpc>
              <a:spcBef>
                <a:spcPts val="1000"/>
              </a:spcBef>
              <a:spcAft>
                <a:spcPts val="0"/>
              </a:spcAft>
              <a:buClr>
                <a:schemeClr val="dk1"/>
              </a:buClr>
              <a:buSzPts val="1600"/>
              <a:buFont typeface="Arial"/>
              <a:buNone/>
            </a:pPr>
            <a:r>
              <a:t/>
            </a:r>
            <a:endParaRPr sz="1600">
              <a:solidFill>
                <a:schemeClr val="dk1"/>
              </a:solidFill>
              <a:latin typeface="Montserrat"/>
              <a:ea typeface="Montserrat"/>
              <a:cs typeface="Montserrat"/>
              <a:sym typeface="Montserrat"/>
            </a:endParaRPr>
          </a:p>
          <a:p>
            <a:pPr indent="-184150" lvl="0" marL="285750" marR="0" rtl="0" algn="l">
              <a:lnSpc>
                <a:spcPct val="90000"/>
              </a:lnSpc>
              <a:spcBef>
                <a:spcPts val="1000"/>
              </a:spcBef>
              <a:spcAft>
                <a:spcPts val="0"/>
              </a:spcAft>
              <a:buClr>
                <a:schemeClr val="dk1"/>
              </a:buClr>
              <a:buSzPts val="1600"/>
              <a:buFont typeface="Arial"/>
              <a:buNone/>
            </a:pPr>
            <a:r>
              <a:t/>
            </a:r>
            <a:endParaRPr sz="1600">
              <a:solidFill>
                <a:schemeClr val="dk1"/>
              </a:solidFill>
              <a:latin typeface="Montserrat"/>
              <a:ea typeface="Montserrat"/>
              <a:cs typeface="Montserrat"/>
              <a:sym typeface="Montserrat"/>
            </a:endParaRPr>
          </a:p>
        </p:txBody>
      </p:sp>
      <p:cxnSp>
        <p:nvCxnSpPr>
          <p:cNvPr id="537" name="Google Shape;537;p23"/>
          <p:cNvCxnSpPr>
            <a:endCxn id="538" idx="0"/>
          </p:cNvCxnSpPr>
          <p:nvPr/>
        </p:nvCxnSpPr>
        <p:spPr>
          <a:xfrm flipH="1">
            <a:off x="10205195" y="3101278"/>
            <a:ext cx="424500" cy="341700"/>
          </a:xfrm>
          <a:prstGeom prst="straightConnector1">
            <a:avLst/>
          </a:prstGeom>
          <a:noFill/>
          <a:ln cap="flat" cmpd="sng" w="9525">
            <a:solidFill>
              <a:schemeClr val="accent1"/>
            </a:solidFill>
            <a:prstDash val="solid"/>
            <a:miter lim="800000"/>
            <a:headEnd len="sm" w="sm" type="none"/>
            <a:tailEnd len="med" w="med" type="triangle"/>
          </a:ln>
        </p:spPr>
      </p:cxnSp>
      <p:cxnSp>
        <p:nvCxnSpPr>
          <p:cNvPr id="539" name="Google Shape;539;p23"/>
          <p:cNvCxnSpPr>
            <a:endCxn id="540" idx="0"/>
          </p:cNvCxnSpPr>
          <p:nvPr/>
        </p:nvCxnSpPr>
        <p:spPr>
          <a:xfrm>
            <a:off x="10629717" y="3101278"/>
            <a:ext cx="528900" cy="341700"/>
          </a:xfrm>
          <a:prstGeom prst="straightConnector1">
            <a:avLst/>
          </a:prstGeom>
          <a:noFill/>
          <a:ln cap="flat" cmpd="sng" w="9525">
            <a:solidFill>
              <a:schemeClr val="accent1"/>
            </a:solidFill>
            <a:prstDash val="solid"/>
            <a:miter lim="800000"/>
            <a:headEnd len="sm" w="sm" type="none"/>
            <a:tailEnd len="med" w="med" type="triangle"/>
          </a:ln>
        </p:spPr>
      </p:cxnSp>
      <p:sp>
        <p:nvSpPr>
          <p:cNvPr id="538" name="Google Shape;538;p23"/>
          <p:cNvSpPr/>
          <p:nvPr/>
        </p:nvSpPr>
        <p:spPr>
          <a:xfrm>
            <a:off x="9847008" y="3442978"/>
            <a:ext cx="716373"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Calibri"/>
              <a:ea typeface="Calibri"/>
              <a:cs typeface="Calibri"/>
              <a:sym typeface="Calibri"/>
            </a:endParaRPr>
          </a:p>
        </p:txBody>
      </p:sp>
      <p:sp>
        <p:nvSpPr>
          <p:cNvPr id="540" name="Google Shape;540;p23"/>
          <p:cNvSpPr/>
          <p:nvPr/>
        </p:nvSpPr>
        <p:spPr>
          <a:xfrm>
            <a:off x="10800430" y="3442978"/>
            <a:ext cx="716374"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Calibri"/>
              <a:ea typeface="Calibri"/>
              <a:cs typeface="Calibri"/>
              <a:sym typeface="Calibri"/>
            </a:endParaRPr>
          </a:p>
        </p:txBody>
      </p:sp>
      <p:cxnSp>
        <p:nvCxnSpPr>
          <p:cNvPr id="541" name="Google Shape;541;p23"/>
          <p:cNvCxnSpPr>
            <a:endCxn id="542" idx="0"/>
          </p:cNvCxnSpPr>
          <p:nvPr/>
        </p:nvCxnSpPr>
        <p:spPr>
          <a:xfrm flipH="1">
            <a:off x="8472930" y="3101278"/>
            <a:ext cx="424500" cy="341700"/>
          </a:xfrm>
          <a:prstGeom prst="straightConnector1">
            <a:avLst/>
          </a:prstGeom>
          <a:noFill/>
          <a:ln cap="flat" cmpd="sng" w="9525">
            <a:solidFill>
              <a:schemeClr val="accent1"/>
            </a:solidFill>
            <a:prstDash val="solid"/>
            <a:miter lim="800000"/>
            <a:headEnd len="sm" w="sm" type="none"/>
            <a:tailEnd len="med" w="med" type="triangle"/>
          </a:ln>
        </p:spPr>
      </p:cxnSp>
      <p:cxnSp>
        <p:nvCxnSpPr>
          <p:cNvPr id="543" name="Google Shape;543;p23"/>
          <p:cNvCxnSpPr>
            <a:endCxn id="544" idx="0"/>
          </p:cNvCxnSpPr>
          <p:nvPr/>
        </p:nvCxnSpPr>
        <p:spPr>
          <a:xfrm>
            <a:off x="8897452" y="3101278"/>
            <a:ext cx="528900" cy="341700"/>
          </a:xfrm>
          <a:prstGeom prst="straightConnector1">
            <a:avLst/>
          </a:prstGeom>
          <a:noFill/>
          <a:ln cap="flat" cmpd="sng" w="9525">
            <a:solidFill>
              <a:schemeClr val="accent1"/>
            </a:solidFill>
            <a:prstDash val="solid"/>
            <a:miter lim="800000"/>
            <a:headEnd len="sm" w="sm" type="none"/>
            <a:tailEnd len="med" w="med" type="triangle"/>
          </a:ln>
        </p:spPr>
      </p:cxnSp>
      <p:sp>
        <p:nvSpPr>
          <p:cNvPr id="542" name="Google Shape;542;p23"/>
          <p:cNvSpPr/>
          <p:nvPr/>
        </p:nvSpPr>
        <p:spPr>
          <a:xfrm>
            <a:off x="8114743" y="3442978"/>
            <a:ext cx="716373"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Calibri"/>
              <a:ea typeface="Calibri"/>
              <a:cs typeface="Calibri"/>
              <a:sym typeface="Calibri"/>
            </a:endParaRPr>
          </a:p>
        </p:txBody>
      </p:sp>
      <p:sp>
        <p:nvSpPr>
          <p:cNvPr id="544" name="Google Shape;544;p23"/>
          <p:cNvSpPr/>
          <p:nvPr/>
        </p:nvSpPr>
        <p:spPr>
          <a:xfrm>
            <a:off x="9068165" y="3442978"/>
            <a:ext cx="716374"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
                                        </p:tgtEl>
                                        <p:attrNameLst>
                                          <p:attrName>style.visibility</p:attrName>
                                        </p:attrNameLst>
                                      </p:cBhvr>
                                      <p:to>
                                        <p:strVal val="visible"/>
                                      </p:to>
                                    </p:set>
                                    <p:animEffect filter="fade" transition="in">
                                      <p:cBhvr>
                                        <p:cTn dur="500"/>
                                        <p:tgtEl>
                                          <p:spTgt spid="533"/>
                                        </p:tgtEl>
                                      </p:cBhvr>
                                    </p:animEffect>
                                  </p:childTnLst>
                                </p:cTn>
                              </p:par>
                              <p:par>
                                <p:cTn fill="hold" nodeType="withEffect" presetClass="entr" presetID="10" presetSubtype="0">
                                  <p:stCondLst>
                                    <p:cond delay="0"/>
                                  </p:stCondLst>
                                  <p:childTnLst>
                                    <p:set>
                                      <p:cBhvr>
                                        <p:cTn dur="1" fill="hold">
                                          <p:stCondLst>
                                            <p:cond delay="0"/>
                                          </p:stCondLst>
                                        </p:cTn>
                                        <p:tgtEl>
                                          <p:spTgt spid="534"/>
                                        </p:tgtEl>
                                        <p:attrNameLst>
                                          <p:attrName>style.visibility</p:attrName>
                                        </p:attrNameLst>
                                      </p:cBhvr>
                                      <p:to>
                                        <p:strVal val="visible"/>
                                      </p:to>
                                    </p:set>
                                    <p:animEffect filter="fade" transition="in">
                                      <p:cBhvr>
                                        <p:cTn dur="500"/>
                                        <p:tgtEl>
                                          <p:spTgt spid="534"/>
                                        </p:tgtEl>
                                      </p:cBhvr>
                                    </p:animEffect>
                                  </p:childTnLst>
                                </p:cTn>
                              </p:par>
                              <p:par>
                                <p:cTn fill="hold" nodeType="withEffect" presetClass="entr" presetID="10" presetSubtype="0">
                                  <p:stCondLst>
                                    <p:cond delay="0"/>
                                  </p:stCondLst>
                                  <p:childTnLst>
                                    <p:set>
                                      <p:cBhvr>
                                        <p:cTn dur="1" fill="hold">
                                          <p:stCondLst>
                                            <p:cond delay="0"/>
                                          </p:stCondLst>
                                        </p:cTn>
                                        <p:tgtEl>
                                          <p:spTgt spid="535"/>
                                        </p:tgtEl>
                                        <p:attrNameLst>
                                          <p:attrName>style.visibility</p:attrName>
                                        </p:attrNameLst>
                                      </p:cBhvr>
                                      <p:to>
                                        <p:strVal val="visible"/>
                                      </p:to>
                                    </p:set>
                                    <p:animEffect filter="fade" transition="in">
                                      <p:cBhvr>
                                        <p:cTn dur="500"/>
                                        <p:tgtEl>
                                          <p:spTgt spid="5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gtEl>
                                        <p:attrNameLst>
                                          <p:attrName>style.visibility</p:attrName>
                                        </p:attrNameLst>
                                      </p:cBhvr>
                                      <p:to>
                                        <p:strVal val="visible"/>
                                      </p:to>
                                    </p:set>
                                    <p:animEffect filter="fade" transition="in">
                                      <p:cBhvr>
                                        <p:cTn dur="500"/>
                                        <p:tgtEl>
                                          <p:spTgt spid="530"/>
                                        </p:tgtEl>
                                      </p:cBhvr>
                                    </p:animEffect>
                                  </p:childTnLst>
                                </p:cTn>
                              </p:par>
                              <p:par>
                                <p:cTn fill="hold" nodeType="withEffect" presetClass="entr" presetID="10" presetSubtype="0">
                                  <p:stCondLst>
                                    <p:cond delay="0"/>
                                  </p:stCondLst>
                                  <p:childTnLst>
                                    <p:set>
                                      <p:cBhvr>
                                        <p:cTn dur="1" fill="hold">
                                          <p:stCondLst>
                                            <p:cond delay="0"/>
                                          </p:stCondLst>
                                        </p:cTn>
                                        <p:tgtEl>
                                          <p:spTgt spid="532"/>
                                        </p:tgtEl>
                                        <p:attrNameLst>
                                          <p:attrName>style.visibility</p:attrName>
                                        </p:attrNameLst>
                                      </p:cBhvr>
                                      <p:to>
                                        <p:strVal val="visible"/>
                                      </p:to>
                                    </p:set>
                                    <p:animEffect filter="fade" transition="in">
                                      <p:cBhvr>
                                        <p:cTn dur="500"/>
                                        <p:tgtEl>
                                          <p:spTgt spid="532"/>
                                        </p:tgtEl>
                                      </p:cBhvr>
                                    </p:animEffect>
                                  </p:childTnLst>
                                </p:cTn>
                              </p:par>
                              <p:par>
                                <p:cTn fill="hold" nodeType="withEffect" presetClass="entr" presetID="10" presetSubtype="0">
                                  <p:stCondLst>
                                    <p:cond delay="0"/>
                                  </p:stCondLst>
                                  <p:childTnLst>
                                    <p:set>
                                      <p:cBhvr>
                                        <p:cTn dur="1" fill="hold">
                                          <p:stCondLst>
                                            <p:cond delay="0"/>
                                          </p:stCondLst>
                                        </p:cTn>
                                        <p:tgtEl>
                                          <p:spTgt spid="531"/>
                                        </p:tgtEl>
                                        <p:attrNameLst>
                                          <p:attrName>style.visibility</p:attrName>
                                        </p:attrNameLst>
                                      </p:cBhvr>
                                      <p:to>
                                        <p:strVal val="visible"/>
                                      </p:to>
                                    </p:set>
                                    <p:animEffect filter="fade" transition="in">
                                      <p:cBhvr>
                                        <p:cTn dur="500"/>
                                        <p:tgtEl>
                                          <p:spTgt spid="5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pic>
        <p:nvPicPr>
          <p:cNvPr id="549" name="Google Shape;549;p24"/>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550" name="Google Shape;550;p24"/>
          <p:cNvSpPr/>
          <p:nvPr/>
        </p:nvSpPr>
        <p:spPr>
          <a:xfrm>
            <a:off x="178178" y="253383"/>
            <a:ext cx="11672866" cy="121772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CA" sz="3600">
                <a:solidFill>
                  <a:schemeClr val="lt1"/>
                </a:solidFill>
                <a:latin typeface="Montserrat"/>
                <a:ea typeface="Montserrat"/>
                <a:cs typeface="Montserrat"/>
                <a:sym typeface="Montserrat"/>
              </a:rPr>
              <a:t>XGBOOST: GRADIENT BOOSTING ALGORITHM</a:t>
            </a:r>
            <a:endParaRPr/>
          </a:p>
        </p:txBody>
      </p:sp>
      <p:graphicFrame>
        <p:nvGraphicFramePr>
          <p:cNvPr id="551" name="Google Shape;551;p24"/>
          <p:cNvGraphicFramePr/>
          <p:nvPr/>
        </p:nvGraphicFramePr>
        <p:xfrm>
          <a:off x="284766" y="2610517"/>
          <a:ext cx="3000000" cy="3000000"/>
        </p:xfrm>
        <a:graphic>
          <a:graphicData uri="http://schemas.openxmlformats.org/drawingml/2006/table">
            <a:tbl>
              <a:tblPr bandRow="1" firstRow="1">
                <a:noFill/>
                <a:tableStyleId>{C56017F4-4159-4531-9A6F-2EA572D870EB}</a:tableStyleId>
              </a:tblPr>
              <a:tblGrid>
                <a:gridCol w="1346200"/>
                <a:gridCol w="1346200"/>
                <a:gridCol w="1346200"/>
                <a:gridCol w="1346200"/>
              </a:tblGrid>
              <a:tr h="370850">
                <a:tc>
                  <a:txBody>
                    <a:bodyPr/>
                    <a:lstStyle/>
                    <a:p>
                      <a:pPr indent="0" lvl="0" marL="0" marR="0" rtl="0" algn="l">
                        <a:spcBef>
                          <a:spcPts val="0"/>
                        </a:spcBef>
                        <a:spcAft>
                          <a:spcPts val="0"/>
                        </a:spcAft>
                        <a:buNone/>
                      </a:pPr>
                      <a:r>
                        <a:rPr lang="en-CA" sz="1800"/>
                        <a:t>Height</a:t>
                      </a:r>
                      <a:endParaRPr sz="1800"/>
                    </a:p>
                  </a:txBody>
                  <a:tcPr marT="45725" marB="45725" marR="91450" marL="91450"/>
                </a:tc>
                <a:tc>
                  <a:txBody>
                    <a:bodyPr/>
                    <a:lstStyle/>
                    <a:p>
                      <a:pPr indent="0" lvl="0" marL="0" marR="0" rtl="0" algn="l">
                        <a:spcBef>
                          <a:spcPts val="0"/>
                        </a:spcBef>
                        <a:spcAft>
                          <a:spcPts val="0"/>
                        </a:spcAft>
                        <a:buNone/>
                      </a:pPr>
                      <a:r>
                        <a:rPr lang="en-CA" sz="1800"/>
                        <a:t>Color</a:t>
                      </a:r>
                      <a:endParaRPr sz="1800"/>
                    </a:p>
                  </a:txBody>
                  <a:tcPr marT="45725" marB="45725" marR="91450" marL="91450"/>
                </a:tc>
                <a:tc>
                  <a:txBody>
                    <a:bodyPr/>
                    <a:lstStyle/>
                    <a:p>
                      <a:pPr indent="0" lvl="0" marL="0" marR="0" rtl="0" algn="l">
                        <a:spcBef>
                          <a:spcPts val="0"/>
                        </a:spcBef>
                        <a:spcAft>
                          <a:spcPts val="0"/>
                        </a:spcAft>
                        <a:buNone/>
                      </a:pPr>
                      <a:r>
                        <a:rPr lang="en-CA" sz="1800"/>
                        <a:t>Gender</a:t>
                      </a:r>
                      <a:endParaRPr sz="1800"/>
                    </a:p>
                  </a:txBody>
                  <a:tcPr marT="45725" marB="45725" marR="91450" marL="91450"/>
                </a:tc>
                <a:tc>
                  <a:txBody>
                    <a:bodyPr/>
                    <a:lstStyle/>
                    <a:p>
                      <a:pPr indent="0" lvl="0" marL="0" marR="0" rtl="0" algn="l">
                        <a:spcBef>
                          <a:spcPts val="0"/>
                        </a:spcBef>
                        <a:spcAft>
                          <a:spcPts val="0"/>
                        </a:spcAft>
                        <a:buNone/>
                      </a:pPr>
                      <a:r>
                        <a:rPr lang="en-CA" sz="1800"/>
                        <a:t>Weight (Kg)</a:t>
                      </a:r>
                      <a:endParaRPr sz="1800"/>
                    </a:p>
                  </a:txBody>
                  <a:tcPr marT="45725" marB="45725" marR="91450" marL="91450"/>
                </a:tc>
              </a:tr>
              <a:tr h="370850">
                <a:tc>
                  <a:txBody>
                    <a:bodyPr/>
                    <a:lstStyle/>
                    <a:p>
                      <a:pPr indent="0" lvl="0" marL="0" marR="0" rtl="0" algn="l">
                        <a:spcBef>
                          <a:spcPts val="0"/>
                        </a:spcBef>
                        <a:spcAft>
                          <a:spcPts val="0"/>
                        </a:spcAft>
                        <a:buNone/>
                      </a:pPr>
                      <a:r>
                        <a:rPr lang="en-CA" sz="1800"/>
                        <a:t>1.6</a:t>
                      </a:r>
                      <a:endParaRPr sz="1800"/>
                    </a:p>
                  </a:txBody>
                  <a:tcPr marT="45725" marB="45725" marR="91450" marL="91450"/>
                </a:tc>
                <a:tc>
                  <a:txBody>
                    <a:bodyPr/>
                    <a:lstStyle/>
                    <a:p>
                      <a:pPr indent="0" lvl="0" marL="0" marR="0" rtl="0" algn="l">
                        <a:spcBef>
                          <a:spcPts val="0"/>
                        </a:spcBef>
                        <a:spcAft>
                          <a:spcPts val="0"/>
                        </a:spcAft>
                        <a:buNone/>
                      </a:pPr>
                      <a:r>
                        <a:rPr lang="en-CA" sz="1800"/>
                        <a:t>Blue</a:t>
                      </a:r>
                      <a:endParaRPr sz="1800"/>
                    </a:p>
                  </a:txBody>
                  <a:tcPr marT="45725" marB="45725" marR="91450" marL="91450"/>
                </a:tc>
                <a:tc>
                  <a:txBody>
                    <a:bodyPr/>
                    <a:lstStyle/>
                    <a:p>
                      <a:pPr indent="0" lvl="0" marL="0" marR="0" rtl="0" algn="l">
                        <a:spcBef>
                          <a:spcPts val="0"/>
                        </a:spcBef>
                        <a:spcAft>
                          <a:spcPts val="0"/>
                        </a:spcAft>
                        <a:buNone/>
                      </a:pPr>
                      <a:r>
                        <a:rPr lang="en-CA" sz="1800"/>
                        <a:t>Male</a:t>
                      </a:r>
                      <a:endParaRPr sz="1800"/>
                    </a:p>
                  </a:txBody>
                  <a:tcPr marT="45725" marB="45725" marR="91450" marL="91450"/>
                </a:tc>
                <a:tc>
                  <a:txBody>
                    <a:bodyPr/>
                    <a:lstStyle/>
                    <a:p>
                      <a:pPr indent="0" lvl="0" marL="0" marR="0" rtl="0" algn="l">
                        <a:spcBef>
                          <a:spcPts val="0"/>
                        </a:spcBef>
                        <a:spcAft>
                          <a:spcPts val="0"/>
                        </a:spcAft>
                        <a:buNone/>
                      </a:pPr>
                      <a:r>
                        <a:rPr lang="en-CA" sz="1800"/>
                        <a:t>88</a:t>
                      </a:r>
                      <a:endParaRPr sz="1800"/>
                    </a:p>
                  </a:txBody>
                  <a:tcPr marT="45725" marB="45725" marR="91450" marL="91450"/>
                </a:tc>
              </a:tr>
              <a:tr h="370850">
                <a:tc>
                  <a:txBody>
                    <a:bodyPr/>
                    <a:lstStyle/>
                    <a:p>
                      <a:pPr indent="0" lvl="0" marL="0" marR="0" rtl="0" algn="l">
                        <a:spcBef>
                          <a:spcPts val="0"/>
                        </a:spcBef>
                        <a:spcAft>
                          <a:spcPts val="0"/>
                        </a:spcAft>
                        <a:buNone/>
                      </a:pPr>
                      <a:r>
                        <a:rPr lang="en-CA" sz="1800"/>
                        <a:t>1.6</a:t>
                      </a:r>
                      <a:endParaRPr sz="1800"/>
                    </a:p>
                  </a:txBody>
                  <a:tcPr marT="45725" marB="45725" marR="91450" marL="91450"/>
                </a:tc>
                <a:tc>
                  <a:txBody>
                    <a:bodyPr/>
                    <a:lstStyle/>
                    <a:p>
                      <a:pPr indent="0" lvl="0" marL="0" marR="0" rtl="0" algn="l">
                        <a:spcBef>
                          <a:spcPts val="0"/>
                        </a:spcBef>
                        <a:spcAft>
                          <a:spcPts val="0"/>
                        </a:spcAft>
                        <a:buNone/>
                      </a:pPr>
                      <a:r>
                        <a:rPr lang="en-CA" sz="1800"/>
                        <a:t>Green</a:t>
                      </a:r>
                      <a:endParaRPr sz="1800"/>
                    </a:p>
                  </a:txBody>
                  <a:tcPr marT="45725" marB="45725" marR="91450" marL="91450"/>
                </a:tc>
                <a:tc>
                  <a:txBody>
                    <a:bodyPr/>
                    <a:lstStyle/>
                    <a:p>
                      <a:pPr indent="0" lvl="0" marL="0" marR="0" rtl="0" algn="l">
                        <a:spcBef>
                          <a:spcPts val="0"/>
                        </a:spcBef>
                        <a:spcAft>
                          <a:spcPts val="0"/>
                        </a:spcAft>
                        <a:buNone/>
                      </a:pPr>
                      <a:r>
                        <a:rPr b="0" lang="en-CA" sz="1800"/>
                        <a:t>Female</a:t>
                      </a:r>
                      <a:endParaRPr b="0" sz="1800"/>
                    </a:p>
                  </a:txBody>
                  <a:tcPr marT="45725" marB="45725" marR="91450" marL="91450"/>
                </a:tc>
                <a:tc>
                  <a:txBody>
                    <a:bodyPr/>
                    <a:lstStyle/>
                    <a:p>
                      <a:pPr indent="0" lvl="0" marL="0" marR="0" rtl="0" algn="l">
                        <a:spcBef>
                          <a:spcPts val="0"/>
                        </a:spcBef>
                        <a:spcAft>
                          <a:spcPts val="0"/>
                        </a:spcAft>
                        <a:buNone/>
                      </a:pPr>
                      <a:r>
                        <a:rPr lang="en-CA" sz="1800"/>
                        <a:t>76</a:t>
                      </a:r>
                      <a:endParaRPr sz="1800"/>
                    </a:p>
                  </a:txBody>
                  <a:tcPr marT="45725" marB="45725" marR="91450" marL="91450"/>
                </a:tc>
              </a:tr>
              <a:tr h="370850">
                <a:tc>
                  <a:txBody>
                    <a:bodyPr/>
                    <a:lstStyle/>
                    <a:p>
                      <a:pPr indent="0" lvl="0" marL="0" marR="0" rtl="0" algn="l">
                        <a:spcBef>
                          <a:spcPts val="0"/>
                        </a:spcBef>
                        <a:spcAft>
                          <a:spcPts val="0"/>
                        </a:spcAft>
                        <a:buNone/>
                      </a:pPr>
                      <a:r>
                        <a:rPr lang="en-CA" sz="1800"/>
                        <a:t>1.5</a:t>
                      </a:r>
                      <a:endParaRPr sz="1800"/>
                    </a:p>
                  </a:txBody>
                  <a:tcPr marT="45725" marB="45725" marR="91450" marL="91450"/>
                </a:tc>
                <a:tc>
                  <a:txBody>
                    <a:bodyPr/>
                    <a:lstStyle/>
                    <a:p>
                      <a:pPr indent="0" lvl="0" marL="0" marR="0" rtl="0" algn="l">
                        <a:spcBef>
                          <a:spcPts val="0"/>
                        </a:spcBef>
                        <a:spcAft>
                          <a:spcPts val="0"/>
                        </a:spcAft>
                        <a:buNone/>
                      </a:pPr>
                      <a:r>
                        <a:rPr lang="en-CA" sz="1800"/>
                        <a:t>Blue</a:t>
                      </a:r>
                      <a:endParaRPr sz="1800"/>
                    </a:p>
                  </a:txBody>
                  <a:tcPr marT="45725" marB="45725" marR="91450" marL="91450"/>
                </a:tc>
                <a:tc>
                  <a:txBody>
                    <a:bodyPr/>
                    <a:lstStyle/>
                    <a:p>
                      <a:pPr indent="0" lvl="0" marL="0" marR="0" rtl="0" algn="l">
                        <a:spcBef>
                          <a:spcPts val="0"/>
                        </a:spcBef>
                        <a:spcAft>
                          <a:spcPts val="0"/>
                        </a:spcAft>
                        <a:buNone/>
                      </a:pPr>
                      <a:r>
                        <a:rPr b="0" lang="en-CA" sz="1800"/>
                        <a:t>Female</a:t>
                      </a:r>
                      <a:endParaRPr b="0" sz="1800"/>
                    </a:p>
                  </a:txBody>
                  <a:tcPr marT="45725" marB="45725" marR="91450" marL="91450"/>
                </a:tc>
                <a:tc>
                  <a:txBody>
                    <a:bodyPr/>
                    <a:lstStyle/>
                    <a:p>
                      <a:pPr indent="0" lvl="0" marL="0" marR="0" rtl="0" algn="l">
                        <a:spcBef>
                          <a:spcPts val="0"/>
                        </a:spcBef>
                        <a:spcAft>
                          <a:spcPts val="0"/>
                        </a:spcAft>
                        <a:buNone/>
                      </a:pPr>
                      <a:r>
                        <a:rPr lang="en-CA" sz="1800"/>
                        <a:t>56</a:t>
                      </a:r>
                      <a:endParaRPr sz="1800"/>
                    </a:p>
                  </a:txBody>
                  <a:tcPr marT="45725" marB="45725" marR="91450" marL="91450"/>
                </a:tc>
              </a:tr>
              <a:tr h="370850">
                <a:tc>
                  <a:txBody>
                    <a:bodyPr/>
                    <a:lstStyle/>
                    <a:p>
                      <a:pPr indent="0" lvl="0" marL="0" marR="0" rtl="0" algn="l">
                        <a:spcBef>
                          <a:spcPts val="0"/>
                        </a:spcBef>
                        <a:spcAft>
                          <a:spcPts val="0"/>
                        </a:spcAft>
                        <a:buNone/>
                      </a:pPr>
                      <a:r>
                        <a:rPr lang="en-CA" sz="1800"/>
                        <a:t>1.8</a:t>
                      </a:r>
                      <a:endParaRPr sz="1800"/>
                    </a:p>
                  </a:txBody>
                  <a:tcPr marT="45725" marB="45725" marR="91450" marL="91450"/>
                </a:tc>
                <a:tc>
                  <a:txBody>
                    <a:bodyPr/>
                    <a:lstStyle/>
                    <a:p>
                      <a:pPr indent="0" lvl="0" marL="0" marR="0" rtl="0" algn="l">
                        <a:spcBef>
                          <a:spcPts val="0"/>
                        </a:spcBef>
                        <a:spcAft>
                          <a:spcPts val="0"/>
                        </a:spcAft>
                        <a:buNone/>
                      </a:pPr>
                      <a:r>
                        <a:rPr lang="en-CA" sz="1800"/>
                        <a:t>Red</a:t>
                      </a:r>
                      <a:endParaRPr sz="1800"/>
                    </a:p>
                  </a:txBody>
                  <a:tcPr marT="45725" marB="45725" marR="91450" marL="91450"/>
                </a:tc>
                <a:tc>
                  <a:txBody>
                    <a:bodyPr/>
                    <a:lstStyle/>
                    <a:p>
                      <a:pPr indent="0" lvl="0" marL="0" marR="0" rtl="0" algn="l">
                        <a:spcBef>
                          <a:spcPts val="0"/>
                        </a:spcBef>
                        <a:spcAft>
                          <a:spcPts val="0"/>
                        </a:spcAft>
                        <a:buNone/>
                      </a:pPr>
                      <a:r>
                        <a:rPr lang="en-CA" sz="1800"/>
                        <a:t>Male</a:t>
                      </a:r>
                      <a:endParaRPr sz="1800"/>
                    </a:p>
                  </a:txBody>
                  <a:tcPr marT="45725" marB="45725" marR="91450" marL="91450"/>
                </a:tc>
                <a:tc>
                  <a:txBody>
                    <a:bodyPr/>
                    <a:lstStyle/>
                    <a:p>
                      <a:pPr indent="0" lvl="0" marL="0" marR="0" rtl="0" algn="l">
                        <a:spcBef>
                          <a:spcPts val="0"/>
                        </a:spcBef>
                        <a:spcAft>
                          <a:spcPts val="0"/>
                        </a:spcAft>
                        <a:buNone/>
                      </a:pPr>
                      <a:r>
                        <a:rPr lang="en-CA" sz="1800"/>
                        <a:t>73</a:t>
                      </a:r>
                      <a:endParaRPr sz="1800"/>
                    </a:p>
                  </a:txBody>
                  <a:tcPr marT="45725" marB="45725" marR="91450" marL="91450"/>
                </a:tc>
              </a:tr>
              <a:tr h="370850">
                <a:tc>
                  <a:txBody>
                    <a:bodyPr/>
                    <a:lstStyle/>
                    <a:p>
                      <a:pPr indent="0" lvl="0" marL="0" marR="0" rtl="0" algn="l">
                        <a:spcBef>
                          <a:spcPts val="0"/>
                        </a:spcBef>
                        <a:spcAft>
                          <a:spcPts val="0"/>
                        </a:spcAft>
                        <a:buNone/>
                      </a:pPr>
                      <a:r>
                        <a:rPr lang="en-CA" sz="1800"/>
                        <a:t>1.5</a:t>
                      </a:r>
                      <a:endParaRPr sz="1800"/>
                    </a:p>
                  </a:txBody>
                  <a:tcPr marT="45725" marB="45725" marR="91450" marL="91450"/>
                </a:tc>
                <a:tc>
                  <a:txBody>
                    <a:bodyPr/>
                    <a:lstStyle/>
                    <a:p>
                      <a:pPr indent="0" lvl="0" marL="0" marR="0" rtl="0" algn="l">
                        <a:spcBef>
                          <a:spcPts val="0"/>
                        </a:spcBef>
                        <a:spcAft>
                          <a:spcPts val="0"/>
                        </a:spcAft>
                        <a:buNone/>
                      </a:pPr>
                      <a:r>
                        <a:rPr lang="en-CA" sz="1800"/>
                        <a:t>Green</a:t>
                      </a:r>
                      <a:endParaRPr sz="1800"/>
                    </a:p>
                  </a:txBody>
                  <a:tcPr marT="45725" marB="45725" marR="91450" marL="91450"/>
                </a:tc>
                <a:tc>
                  <a:txBody>
                    <a:bodyPr/>
                    <a:lstStyle/>
                    <a:p>
                      <a:pPr indent="0" lvl="0" marL="0" marR="0" rtl="0" algn="l">
                        <a:spcBef>
                          <a:spcPts val="0"/>
                        </a:spcBef>
                        <a:spcAft>
                          <a:spcPts val="0"/>
                        </a:spcAft>
                        <a:buNone/>
                      </a:pPr>
                      <a:r>
                        <a:rPr lang="en-CA" sz="1800"/>
                        <a:t>Male</a:t>
                      </a:r>
                      <a:endParaRPr sz="1800"/>
                    </a:p>
                  </a:txBody>
                  <a:tcPr marT="45725" marB="45725" marR="91450" marL="91450"/>
                </a:tc>
                <a:tc>
                  <a:txBody>
                    <a:bodyPr/>
                    <a:lstStyle/>
                    <a:p>
                      <a:pPr indent="0" lvl="0" marL="0" marR="0" rtl="0" algn="l">
                        <a:spcBef>
                          <a:spcPts val="0"/>
                        </a:spcBef>
                        <a:spcAft>
                          <a:spcPts val="0"/>
                        </a:spcAft>
                        <a:buNone/>
                      </a:pPr>
                      <a:r>
                        <a:rPr lang="en-CA" sz="1800"/>
                        <a:t>77</a:t>
                      </a:r>
                      <a:endParaRPr sz="1800"/>
                    </a:p>
                  </a:txBody>
                  <a:tcPr marT="45725" marB="45725" marR="91450" marL="91450"/>
                </a:tc>
              </a:tr>
              <a:tr h="370850">
                <a:tc>
                  <a:txBody>
                    <a:bodyPr/>
                    <a:lstStyle/>
                    <a:p>
                      <a:pPr indent="0" lvl="0" marL="0" marR="0" rtl="0" algn="l">
                        <a:spcBef>
                          <a:spcPts val="0"/>
                        </a:spcBef>
                        <a:spcAft>
                          <a:spcPts val="0"/>
                        </a:spcAft>
                        <a:buNone/>
                      </a:pPr>
                      <a:r>
                        <a:rPr lang="en-CA" sz="1800"/>
                        <a:t>1.4</a:t>
                      </a:r>
                      <a:endParaRPr sz="1800"/>
                    </a:p>
                  </a:txBody>
                  <a:tcPr marT="45725" marB="45725" marR="91450" marL="91450"/>
                </a:tc>
                <a:tc>
                  <a:txBody>
                    <a:bodyPr/>
                    <a:lstStyle/>
                    <a:p>
                      <a:pPr indent="0" lvl="0" marL="0" marR="0" rtl="0" algn="l">
                        <a:spcBef>
                          <a:spcPts val="0"/>
                        </a:spcBef>
                        <a:spcAft>
                          <a:spcPts val="0"/>
                        </a:spcAft>
                        <a:buNone/>
                      </a:pPr>
                      <a:r>
                        <a:rPr lang="en-CA" sz="1800"/>
                        <a:t>Blue</a:t>
                      </a:r>
                      <a:endParaRPr sz="1800"/>
                    </a:p>
                  </a:txBody>
                  <a:tcPr marT="45725" marB="45725" marR="91450" marL="91450"/>
                </a:tc>
                <a:tc>
                  <a:txBody>
                    <a:bodyPr/>
                    <a:lstStyle/>
                    <a:p>
                      <a:pPr indent="0" lvl="0" marL="0" marR="0" rtl="0" algn="l">
                        <a:spcBef>
                          <a:spcPts val="0"/>
                        </a:spcBef>
                        <a:spcAft>
                          <a:spcPts val="0"/>
                        </a:spcAft>
                        <a:buNone/>
                      </a:pPr>
                      <a:r>
                        <a:rPr b="0" lang="en-CA" sz="1800"/>
                        <a:t>Female</a:t>
                      </a:r>
                      <a:endParaRPr b="0" sz="1800"/>
                    </a:p>
                  </a:txBody>
                  <a:tcPr marT="45725" marB="45725" marR="91450" marL="91450"/>
                </a:tc>
                <a:tc>
                  <a:txBody>
                    <a:bodyPr/>
                    <a:lstStyle/>
                    <a:p>
                      <a:pPr indent="0" lvl="0" marL="0" marR="0" rtl="0" algn="l">
                        <a:spcBef>
                          <a:spcPts val="0"/>
                        </a:spcBef>
                        <a:spcAft>
                          <a:spcPts val="0"/>
                        </a:spcAft>
                        <a:buNone/>
                      </a:pPr>
                      <a:r>
                        <a:rPr lang="en-CA" sz="1800"/>
                        <a:t>57</a:t>
                      </a:r>
                      <a:endParaRPr sz="1800"/>
                    </a:p>
                  </a:txBody>
                  <a:tcPr marT="45725" marB="45725" marR="91450" marL="91450"/>
                </a:tc>
              </a:tr>
            </a:tbl>
          </a:graphicData>
        </a:graphic>
      </p:graphicFrame>
      <p:sp>
        <p:nvSpPr>
          <p:cNvPr id="552" name="Google Shape;552;p24"/>
          <p:cNvSpPr/>
          <p:nvPr/>
        </p:nvSpPr>
        <p:spPr>
          <a:xfrm>
            <a:off x="9964174" y="3053139"/>
            <a:ext cx="1059786" cy="349195"/>
          </a:xfrm>
          <a:prstGeom prst="roundRect">
            <a:avLst>
              <a:gd fmla="val 16667" name="adj"/>
            </a:avLst>
          </a:prstGeom>
          <a:solidFill>
            <a:schemeClr val="accent4"/>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lt1"/>
                </a:solidFill>
                <a:latin typeface="Calibri"/>
                <a:ea typeface="Calibri"/>
                <a:cs typeface="Calibri"/>
                <a:sym typeface="Calibri"/>
              </a:rPr>
              <a:t>Is female?</a:t>
            </a:r>
            <a:endParaRPr sz="1600">
              <a:solidFill>
                <a:schemeClr val="lt1"/>
              </a:solidFill>
              <a:latin typeface="Calibri"/>
              <a:ea typeface="Calibri"/>
              <a:cs typeface="Calibri"/>
              <a:sym typeface="Calibri"/>
            </a:endParaRPr>
          </a:p>
        </p:txBody>
      </p:sp>
      <p:cxnSp>
        <p:nvCxnSpPr>
          <p:cNvPr id="553" name="Google Shape;553;p24"/>
          <p:cNvCxnSpPr>
            <a:stCxn id="552" idx="2"/>
            <a:endCxn id="554" idx="0"/>
          </p:cNvCxnSpPr>
          <p:nvPr/>
        </p:nvCxnSpPr>
        <p:spPr>
          <a:xfrm flipH="1">
            <a:off x="9804667" y="3402334"/>
            <a:ext cx="689400" cy="341700"/>
          </a:xfrm>
          <a:prstGeom prst="straightConnector1">
            <a:avLst/>
          </a:prstGeom>
          <a:noFill/>
          <a:ln cap="flat" cmpd="sng" w="9525">
            <a:solidFill>
              <a:schemeClr val="accent1"/>
            </a:solidFill>
            <a:prstDash val="solid"/>
            <a:miter lim="800000"/>
            <a:headEnd len="sm" w="sm" type="none"/>
            <a:tailEnd len="med" w="med" type="triangle"/>
          </a:ln>
        </p:spPr>
      </p:cxnSp>
      <p:cxnSp>
        <p:nvCxnSpPr>
          <p:cNvPr id="555" name="Google Shape;555;p24"/>
          <p:cNvCxnSpPr>
            <a:stCxn id="552" idx="2"/>
            <a:endCxn id="556" idx="0"/>
          </p:cNvCxnSpPr>
          <p:nvPr/>
        </p:nvCxnSpPr>
        <p:spPr>
          <a:xfrm>
            <a:off x="10494067" y="3402334"/>
            <a:ext cx="763800" cy="341700"/>
          </a:xfrm>
          <a:prstGeom prst="straightConnector1">
            <a:avLst/>
          </a:prstGeom>
          <a:noFill/>
          <a:ln cap="flat" cmpd="sng" w="9525">
            <a:solidFill>
              <a:schemeClr val="accent1"/>
            </a:solidFill>
            <a:prstDash val="solid"/>
            <a:miter lim="800000"/>
            <a:headEnd len="sm" w="sm" type="none"/>
            <a:tailEnd len="med" w="med" type="triangle"/>
          </a:ln>
        </p:spPr>
      </p:cxnSp>
      <p:cxnSp>
        <p:nvCxnSpPr>
          <p:cNvPr id="557" name="Google Shape;557;p24"/>
          <p:cNvCxnSpPr/>
          <p:nvPr/>
        </p:nvCxnSpPr>
        <p:spPr>
          <a:xfrm flipH="1">
            <a:off x="5635892" y="5242525"/>
            <a:ext cx="1434300" cy="705900"/>
          </a:xfrm>
          <a:prstGeom prst="curvedConnector3">
            <a:avLst>
              <a:gd fmla="val 50000" name="adj1"/>
            </a:avLst>
          </a:prstGeom>
          <a:noFill/>
          <a:ln cap="flat" cmpd="sng" w="38100">
            <a:solidFill>
              <a:srgbClr val="FF0000"/>
            </a:solidFill>
            <a:prstDash val="solid"/>
            <a:miter lim="800000"/>
            <a:headEnd len="sm" w="sm" type="none"/>
            <a:tailEnd len="med" w="med" type="triangle"/>
          </a:ln>
        </p:spPr>
      </p:cxnSp>
      <p:sp>
        <p:nvSpPr>
          <p:cNvPr id="558" name="Google Shape;558;p24"/>
          <p:cNvSpPr txBox="1"/>
          <p:nvPr/>
        </p:nvSpPr>
        <p:spPr>
          <a:xfrm>
            <a:off x="4171564" y="5625332"/>
            <a:ext cx="186315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CA" sz="1800">
                <a:solidFill>
                  <a:srgbClr val="FF0000"/>
                </a:solidFill>
                <a:latin typeface="Calibri"/>
                <a:ea typeface="Calibri"/>
                <a:cs typeface="Calibri"/>
                <a:sym typeface="Calibri"/>
              </a:rPr>
              <a:t>ERRORS (RESIDUALS)</a:t>
            </a:r>
            <a:endParaRPr b="1" sz="1800">
              <a:solidFill>
                <a:srgbClr val="FF0000"/>
              </a:solidFill>
              <a:latin typeface="Calibri"/>
              <a:ea typeface="Calibri"/>
              <a:cs typeface="Calibri"/>
              <a:sym typeface="Calibri"/>
            </a:endParaRPr>
          </a:p>
        </p:txBody>
      </p:sp>
      <p:sp>
        <p:nvSpPr>
          <p:cNvPr id="559" name="Google Shape;559;p24"/>
          <p:cNvSpPr/>
          <p:nvPr/>
        </p:nvSpPr>
        <p:spPr>
          <a:xfrm>
            <a:off x="284766" y="2610517"/>
            <a:ext cx="4057130" cy="2595880"/>
          </a:xfrm>
          <a:prstGeom prst="rect">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560" name="Google Shape;560;p24"/>
          <p:cNvCxnSpPr/>
          <p:nvPr/>
        </p:nvCxnSpPr>
        <p:spPr>
          <a:xfrm>
            <a:off x="1305866" y="5219346"/>
            <a:ext cx="1124400" cy="705900"/>
          </a:xfrm>
          <a:prstGeom prst="curvedConnector3">
            <a:avLst>
              <a:gd fmla="val 50000" name="adj1"/>
            </a:avLst>
          </a:prstGeom>
          <a:noFill/>
          <a:ln cap="flat" cmpd="sng" w="38100">
            <a:solidFill>
              <a:srgbClr val="FF0000"/>
            </a:solidFill>
            <a:prstDash val="solid"/>
            <a:miter lim="800000"/>
            <a:headEnd len="sm" w="sm" type="none"/>
            <a:tailEnd len="med" w="med" type="triangle"/>
          </a:ln>
        </p:spPr>
      </p:cxnSp>
      <p:sp>
        <p:nvSpPr>
          <p:cNvPr id="561" name="Google Shape;561;p24"/>
          <p:cNvSpPr txBox="1"/>
          <p:nvPr/>
        </p:nvSpPr>
        <p:spPr>
          <a:xfrm>
            <a:off x="2362985" y="5701838"/>
            <a:ext cx="1863153"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CA" sz="1800">
                <a:solidFill>
                  <a:srgbClr val="FF0000"/>
                </a:solidFill>
                <a:latin typeface="Calibri"/>
                <a:ea typeface="Calibri"/>
                <a:cs typeface="Calibri"/>
                <a:sym typeface="Calibri"/>
              </a:rPr>
              <a:t>INPUT FEATURES </a:t>
            </a:r>
            <a:endParaRPr b="1" sz="1800">
              <a:solidFill>
                <a:srgbClr val="FF0000"/>
              </a:solidFill>
              <a:latin typeface="Calibri"/>
              <a:ea typeface="Calibri"/>
              <a:cs typeface="Calibri"/>
              <a:sym typeface="Calibri"/>
            </a:endParaRPr>
          </a:p>
        </p:txBody>
      </p:sp>
      <p:sp>
        <p:nvSpPr>
          <p:cNvPr id="554" name="Google Shape;554;p24"/>
          <p:cNvSpPr/>
          <p:nvPr/>
        </p:nvSpPr>
        <p:spPr>
          <a:xfrm>
            <a:off x="9181458" y="3743935"/>
            <a:ext cx="1246266" cy="343431"/>
          </a:xfrm>
          <a:prstGeom prst="roundRect">
            <a:avLst>
              <a:gd fmla="val 16667" name="adj"/>
            </a:avLst>
          </a:prstGeom>
          <a:solidFill>
            <a:srgbClr val="FF00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lt1"/>
                </a:solidFill>
                <a:latin typeface="Calibri"/>
                <a:ea typeface="Calibri"/>
                <a:cs typeface="Calibri"/>
                <a:sym typeface="Calibri"/>
              </a:rPr>
              <a:t>Height &lt;1.6</a:t>
            </a:r>
            <a:endParaRPr sz="1600">
              <a:solidFill>
                <a:schemeClr val="lt1"/>
              </a:solidFill>
              <a:latin typeface="Calibri"/>
              <a:ea typeface="Calibri"/>
              <a:cs typeface="Calibri"/>
              <a:sym typeface="Calibri"/>
            </a:endParaRPr>
          </a:p>
        </p:txBody>
      </p:sp>
      <p:sp>
        <p:nvSpPr>
          <p:cNvPr id="556" name="Google Shape;556;p24"/>
          <p:cNvSpPr/>
          <p:nvPr/>
        </p:nvSpPr>
        <p:spPr>
          <a:xfrm>
            <a:off x="10664771" y="3743935"/>
            <a:ext cx="1186273" cy="343431"/>
          </a:xfrm>
          <a:prstGeom prst="roundRect">
            <a:avLst>
              <a:gd fmla="val 16667" name="adj"/>
            </a:avLst>
          </a:prstGeom>
          <a:solidFill>
            <a:srgbClr val="FF00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lt1"/>
                </a:solidFill>
                <a:latin typeface="Calibri"/>
                <a:ea typeface="Calibri"/>
                <a:cs typeface="Calibri"/>
                <a:sym typeface="Calibri"/>
              </a:rPr>
              <a:t>Is not Blue?</a:t>
            </a:r>
            <a:endParaRPr sz="1600">
              <a:solidFill>
                <a:schemeClr val="lt1"/>
              </a:solidFill>
              <a:latin typeface="Calibri"/>
              <a:ea typeface="Calibri"/>
              <a:cs typeface="Calibri"/>
              <a:sym typeface="Calibri"/>
            </a:endParaRPr>
          </a:p>
        </p:txBody>
      </p:sp>
      <p:cxnSp>
        <p:nvCxnSpPr>
          <p:cNvPr id="562" name="Google Shape;562;p24"/>
          <p:cNvCxnSpPr/>
          <p:nvPr/>
        </p:nvCxnSpPr>
        <p:spPr>
          <a:xfrm flipH="1">
            <a:off x="10852253" y="4095614"/>
            <a:ext cx="424530" cy="341602"/>
          </a:xfrm>
          <a:prstGeom prst="straightConnector1">
            <a:avLst/>
          </a:prstGeom>
          <a:noFill/>
          <a:ln cap="flat" cmpd="sng" w="9525">
            <a:solidFill>
              <a:schemeClr val="accent1"/>
            </a:solidFill>
            <a:prstDash val="solid"/>
            <a:miter lim="800000"/>
            <a:headEnd len="sm" w="sm" type="none"/>
            <a:tailEnd len="med" w="med" type="triangle"/>
          </a:ln>
        </p:spPr>
      </p:cxnSp>
      <p:cxnSp>
        <p:nvCxnSpPr>
          <p:cNvPr id="563" name="Google Shape;563;p24"/>
          <p:cNvCxnSpPr/>
          <p:nvPr/>
        </p:nvCxnSpPr>
        <p:spPr>
          <a:xfrm>
            <a:off x="11276783" y="4095614"/>
            <a:ext cx="528892" cy="341602"/>
          </a:xfrm>
          <a:prstGeom prst="straightConnector1">
            <a:avLst/>
          </a:prstGeom>
          <a:noFill/>
          <a:ln cap="flat" cmpd="sng" w="9525">
            <a:solidFill>
              <a:schemeClr val="accent1"/>
            </a:solidFill>
            <a:prstDash val="solid"/>
            <a:miter lim="800000"/>
            <a:headEnd len="sm" w="sm" type="none"/>
            <a:tailEnd len="med" w="med" type="triangle"/>
          </a:ln>
        </p:spPr>
      </p:cxnSp>
      <p:cxnSp>
        <p:nvCxnSpPr>
          <p:cNvPr id="564" name="Google Shape;564;p24"/>
          <p:cNvCxnSpPr>
            <a:endCxn id="565" idx="0"/>
          </p:cNvCxnSpPr>
          <p:nvPr/>
        </p:nvCxnSpPr>
        <p:spPr>
          <a:xfrm flipH="1">
            <a:off x="9119988" y="4095516"/>
            <a:ext cx="424500" cy="341700"/>
          </a:xfrm>
          <a:prstGeom prst="straightConnector1">
            <a:avLst/>
          </a:prstGeom>
          <a:noFill/>
          <a:ln cap="flat" cmpd="sng" w="9525">
            <a:solidFill>
              <a:schemeClr val="accent1"/>
            </a:solidFill>
            <a:prstDash val="solid"/>
            <a:miter lim="800000"/>
            <a:headEnd len="sm" w="sm" type="none"/>
            <a:tailEnd len="med" w="med" type="triangle"/>
          </a:ln>
        </p:spPr>
      </p:cxnSp>
      <p:cxnSp>
        <p:nvCxnSpPr>
          <p:cNvPr id="566" name="Google Shape;566;p24"/>
          <p:cNvCxnSpPr>
            <a:endCxn id="567" idx="0"/>
          </p:cNvCxnSpPr>
          <p:nvPr/>
        </p:nvCxnSpPr>
        <p:spPr>
          <a:xfrm>
            <a:off x="9544510" y="4095516"/>
            <a:ext cx="528900" cy="341700"/>
          </a:xfrm>
          <a:prstGeom prst="straightConnector1">
            <a:avLst/>
          </a:prstGeom>
          <a:noFill/>
          <a:ln cap="flat" cmpd="sng" w="9525">
            <a:solidFill>
              <a:schemeClr val="accent1"/>
            </a:solidFill>
            <a:prstDash val="solid"/>
            <a:miter lim="800000"/>
            <a:headEnd len="sm" w="sm" type="none"/>
            <a:tailEnd len="med" w="med" type="triangle"/>
          </a:ln>
        </p:spPr>
      </p:cxnSp>
      <p:sp>
        <p:nvSpPr>
          <p:cNvPr id="565" name="Google Shape;565;p24"/>
          <p:cNvSpPr/>
          <p:nvPr/>
        </p:nvSpPr>
        <p:spPr>
          <a:xfrm>
            <a:off x="8761801" y="4437216"/>
            <a:ext cx="716373"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200">
                <a:solidFill>
                  <a:srgbClr val="FF0000"/>
                </a:solidFill>
                <a:latin typeface="Calibri"/>
                <a:ea typeface="Calibri"/>
                <a:cs typeface="Calibri"/>
                <a:sym typeface="Calibri"/>
              </a:rPr>
              <a:t>-15.2, </a:t>
            </a:r>
            <a:endParaRPr/>
          </a:p>
          <a:p>
            <a:pPr indent="0" lvl="0" marL="0" marR="0" rtl="0" algn="ctr">
              <a:spcBef>
                <a:spcPts val="0"/>
              </a:spcBef>
              <a:spcAft>
                <a:spcPts val="0"/>
              </a:spcAft>
              <a:buNone/>
            </a:pPr>
            <a:r>
              <a:rPr lang="en-CA" sz="1200">
                <a:solidFill>
                  <a:srgbClr val="FF0000"/>
                </a:solidFill>
                <a:latin typeface="Calibri"/>
                <a:ea typeface="Calibri"/>
                <a:cs typeface="Calibri"/>
                <a:sym typeface="Calibri"/>
              </a:rPr>
              <a:t>-14.2 </a:t>
            </a:r>
            <a:endParaRPr sz="1200">
              <a:solidFill>
                <a:srgbClr val="FF0000"/>
              </a:solidFill>
              <a:latin typeface="Calibri"/>
              <a:ea typeface="Calibri"/>
              <a:cs typeface="Calibri"/>
              <a:sym typeface="Calibri"/>
            </a:endParaRPr>
          </a:p>
        </p:txBody>
      </p:sp>
      <p:sp>
        <p:nvSpPr>
          <p:cNvPr id="567" name="Google Shape;567;p24"/>
          <p:cNvSpPr/>
          <p:nvPr/>
        </p:nvSpPr>
        <p:spPr>
          <a:xfrm>
            <a:off x="9715223" y="4437216"/>
            <a:ext cx="716374"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800">
                <a:solidFill>
                  <a:srgbClr val="FF0000"/>
                </a:solidFill>
                <a:latin typeface="Calibri"/>
                <a:ea typeface="Calibri"/>
                <a:cs typeface="Calibri"/>
                <a:sym typeface="Calibri"/>
              </a:rPr>
              <a:t>4.8</a:t>
            </a:r>
            <a:endParaRPr sz="1800">
              <a:solidFill>
                <a:srgbClr val="FF0000"/>
              </a:solidFill>
              <a:latin typeface="Calibri"/>
              <a:ea typeface="Calibri"/>
              <a:cs typeface="Calibri"/>
              <a:sym typeface="Calibri"/>
            </a:endParaRPr>
          </a:p>
        </p:txBody>
      </p:sp>
      <p:sp>
        <p:nvSpPr>
          <p:cNvPr id="568" name="Google Shape;568;p24"/>
          <p:cNvSpPr txBox="1"/>
          <p:nvPr/>
        </p:nvSpPr>
        <p:spPr>
          <a:xfrm>
            <a:off x="201679" y="1076706"/>
            <a:ext cx="8560122" cy="1695849"/>
          </a:xfrm>
          <a:prstGeom prst="rect">
            <a:avLst/>
          </a:prstGeom>
          <a:noFill/>
          <a:ln>
            <a:noFill/>
          </a:ln>
        </p:spPr>
        <p:txBody>
          <a:bodyPr anchorCtr="0" anchor="t" bIns="45700" lIns="91425" spcFirstLastPara="1" rIns="91425" wrap="square" tIns="45700">
            <a:normAutofit/>
          </a:bodyPr>
          <a:lstStyle/>
          <a:p>
            <a:pPr indent="-285750" lvl="0" marL="285750" marR="0" rtl="0" algn="l">
              <a:lnSpc>
                <a:spcPct val="90000"/>
              </a:lnSpc>
              <a:spcBef>
                <a:spcPts val="0"/>
              </a:spcBef>
              <a:spcAft>
                <a:spcPts val="0"/>
              </a:spcAft>
              <a:buClr>
                <a:schemeClr val="dk1"/>
              </a:buClr>
              <a:buSzPts val="1600"/>
              <a:buFont typeface="Arial"/>
              <a:buChar char="•"/>
            </a:pPr>
            <a:r>
              <a:rPr lang="en-CA" sz="1600">
                <a:solidFill>
                  <a:schemeClr val="dk1"/>
                </a:solidFill>
                <a:latin typeface="Montserrat"/>
                <a:ea typeface="Montserrat"/>
                <a:cs typeface="Montserrat"/>
                <a:sym typeface="Montserrat"/>
              </a:rPr>
              <a:t>Let’s assume that the initial model predictions (starting point) is the average weight is 71.2</a:t>
            </a:r>
            <a:endParaRPr sz="1600">
              <a:solidFill>
                <a:schemeClr val="dk1"/>
              </a:solidFill>
              <a:latin typeface="Montserrat"/>
              <a:ea typeface="Montserrat"/>
              <a:cs typeface="Montserrat"/>
              <a:sym typeface="Montserrat"/>
            </a:endParaRPr>
          </a:p>
          <a:p>
            <a:pPr indent="-285750" lvl="0" marL="285750" marR="0" rtl="0" algn="l">
              <a:lnSpc>
                <a:spcPct val="90000"/>
              </a:lnSpc>
              <a:spcBef>
                <a:spcPts val="1000"/>
              </a:spcBef>
              <a:spcAft>
                <a:spcPts val="0"/>
              </a:spcAft>
              <a:buClr>
                <a:schemeClr val="dk1"/>
              </a:buClr>
              <a:buSzPts val="1600"/>
              <a:buFont typeface="Arial"/>
              <a:buChar char="•"/>
            </a:pPr>
            <a:r>
              <a:rPr lang="en-CA" sz="1600">
                <a:solidFill>
                  <a:schemeClr val="dk1"/>
                </a:solidFill>
                <a:latin typeface="Montserrat"/>
                <a:ea typeface="Montserrat"/>
                <a:cs typeface="Montserrat"/>
                <a:sym typeface="Montserrat"/>
              </a:rPr>
              <a:t>Gradient boost builds a tree based on the error from the first tree.</a:t>
            </a:r>
            <a:endParaRPr/>
          </a:p>
          <a:p>
            <a:pPr indent="-285750" lvl="0" marL="285750" marR="0" rtl="0" algn="l">
              <a:lnSpc>
                <a:spcPct val="90000"/>
              </a:lnSpc>
              <a:spcBef>
                <a:spcPts val="1000"/>
              </a:spcBef>
              <a:spcAft>
                <a:spcPts val="0"/>
              </a:spcAft>
              <a:buClr>
                <a:schemeClr val="dk1"/>
              </a:buClr>
              <a:buSzPts val="1600"/>
              <a:buFont typeface="Arial"/>
              <a:buChar char="•"/>
            </a:pPr>
            <a:r>
              <a:rPr lang="en-CA" sz="1600">
                <a:solidFill>
                  <a:schemeClr val="dk1"/>
                </a:solidFill>
                <a:latin typeface="Montserrat"/>
                <a:ea typeface="Montserrat"/>
                <a:cs typeface="Montserrat"/>
                <a:sym typeface="Montserrat"/>
              </a:rPr>
              <a:t>The tree is built by assuming that the features (heights, color, and gender) predicts the residuals (new column that we have just created).</a:t>
            </a:r>
            <a:endParaRPr/>
          </a:p>
          <a:p>
            <a:pPr indent="-184150" lvl="0" marL="285750" marR="0" rtl="0" algn="l">
              <a:lnSpc>
                <a:spcPct val="90000"/>
              </a:lnSpc>
              <a:spcBef>
                <a:spcPts val="1000"/>
              </a:spcBef>
              <a:spcAft>
                <a:spcPts val="0"/>
              </a:spcAft>
              <a:buClr>
                <a:schemeClr val="dk1"/>
              </a:buClr>
              <a:buSzPts val="1600"/>
              <a:buFont typeface="Arial"/>
              <a:buNone/>
            </a:pPr>
            <a:r>
              <a:t/>
            </a:r>
            <a:endParaRPr sz="1600">
              <a:solidFill>
                <a:schemeClr val="dk1"/>
              </a:solidFill>
              <a:latin typeface="Montserrat"/>
              <a:ea typeface="Montserrat"/>
              <a:cs typeface="Montserrat"/>
              <a:sym typeface="Montserrat"/>
            </a:endParaRPr>
          </a:p>
        </p:txBody>
      </p:sp>
      <p:graphicFrame>
        <p:nvGraphicFramePr>
          <p:cNvPr id="569" name="Google Shape;569;p24"/>
          <p:cNvGraphicFramePr/>
          <p:nvPr/>
        </p:nvGraphicFramePr>
        <p:xfrm>
          <a:off x="6034717" y="2589861"/>
          <a:ext cx="3000000" cy="3000000"/>
        </p:xfrm>
        <a:graphic>
          <a:graphicData uri="http://schemas.openxmlformats.org/drawingml/2006/table">
            <a:tbl>
              <a:tblPr bandRow="1" firstRow="1">
                <a:noFill/>
                <a:tableStyleId>{C56017F4-4159-4531-9A6F-2EA572D870EB}</a:tableStyleId>
              </a:tblPr>
              <a:tblGrid>
                <a:gridCol w="2479275"/>
              </a:tblGrid>
              <a:tr h="421975">
                <a:tc>
                  <a:txBody>
                    <a:bodyPr/>
                    <a:lstStyle/>
                    <a:p>
                      <a:pPr indent="0" lvl="0" marL="0" marR="0" rtl="0" algn="l">
                        <a:spcBef>
                          <a:spcPts val="0"/>
                        </a:spcBef>
                        <a:spcAft>
                          <a:spcPts val="0"/>
                        </a:spcAft>
                        <a:buNone/>
                      </a:pPr>
                      <a:r>
                        <a:rPr lang="en-CA" sz="1800"/>
                        <a:t>Error = True – predicted</a:t>
                      </a:r>
                      <a:endParaRPr sz="1800"/>
                    </a:p>
                  </a:txBody>
                  <a:tcPr marT="45725" marB="45725" marR="91450" marL="91450"/>
                </a:tc>
              </a:tr>
              <a:tr h="343125">
                <a:tc>
                  <a:txBody>
                    <a:bodyPr/>
                    <a:lstStyle/>
                    <a:p>
                      <a:pPr indent="0" lvl="0" marL="0" marR="0" rtl="0" algn="l">
                        <a:spcBef>
                          <a:spcPts val="0"/>
                        </a:spcBef>
                        <a:spcAft>
                          <a:spcPts val="0"/>
                        </a:spcAft>
                        <a:buNone/>
                      </a:pPr>
                      <a:r>
                        <a:rPr lang="en-CA" sz="1800"/>
                        <a:t>88-71.2=16.8</a:t>
                      </a:r>
                      <a:endParaRPr sz="1800"/>
                    </a:p>
                  </a:txBody>
                  <a:tcPr marT="45725" marB="45725" marR="91450" marL="91450"/>
                </a:tc>
              </a:tr>
              <a:tr h="343125">
                <a:tc>
                  <a:txBody>
                    <a:bodyPr/>
                    <a:lstStyle/>
                    <a:p>
                      <a:pPr indent="0" lvl="0" marL="0" marR="0" rtl="0" algn="l">
                        <a:spcBef>
                          <a:spcPts val="0"/>
                        </a:spcBef>
                        <a:spcAft>
                          <a:spcPts val="0"/>
                        </a:spcAft>
                        <a:buNone/>
                      </a:pPr>
                      <a:r>
                        <a:rPr lang="en-CA" sz="1800"/>
                        <a:t>76-71.2=4.8</a:t>
                      </a:r>
                      <a:endParaRPr sz="1800"/>
                    </a:p>
                  </a:txBody>
                  <a:tcPr marT="45725" marB="45725" marR="91450" marL="91450"/>
                </a:tc>
              </a:tr>
              <a:tr h="343125">
                <a:tc>
                  <a:txBody>
                    <a:bodyPr/>
                    <a:lstStyle/>
                    <a:p>
                      <a:pPr indent="0" lvl="0" marL="0" marR="0" rtl="0" algn="l">
                        <a:spcBef>
                          <a:spcPts val="0"/>
                        </a:spcBef>
                        <a:spcAft>
                          <a:spcPts val="0"/>
                        </a:spcAft>
                        <a:buNone/>
                      </a:pPr>
                      <a:r>
                        <a:rPr lang="en-CA" sz="1800"/>
                        <a:t>56-71.2=-15.2</a:t>
                      </a:r>
                      <a:endParaRPr sz="1800"/>
                    </a:p>
                  </a:txBody>
                  <a:tcPr marT="45725" marB="45725" marR="91450" marL="91450"/>
                </a:tc>
              </a:tr>
              <a:tr h="343125">
                <a:tc>
                  <a:txBody>
                    <a:bodyPr/>
                    <a:lstStyle/>
                    <a:p>
                      <a:pPr indent="0" lvl="0" marL="0" marR="0" rtl="0" algn="l">
                        <a:spcBef>
                          <a:spcPts val="0"/>
                        </a:spcBef>
                        <a:spcAft>
                          <a:spcPts val="0"/>
                        </a:spcAft>
                        <a:buNone/>
                      </a:pPr>
                      <a:r>
                        <a:rPr lang="en-CA" sz="1800"/>
                        <a:t>73-71.2=1.8</a:t>
                      </a:r>
                      <a:endParaRPr sz="1800"/>
                    </a:p>
                  </a:txBody>
                  <a:tcPr marT="45725" marB="45725" marR="91450" marL="91450"/>
                </a:tc>
              </a:tr>
              <a:tr h="343125">
                <a:tc>
                  <a:txBody>
                    <a:bodyPr/>
                    <a:lstStyle/>
                    <a:p>
                      <a:pPr indent="0" lvl="0" marL="0" marR="0" rtl="0" algn="l">
                        <a:spcBef>
                          <a:spcPts val="0"/>
                        </a:spcBef>
                        <a:spcAft>
                          <a:spcPts val="0"/>
                        </a:spcAft>
                        <a:buNone/>
                      </a:pPr>
                      <a:r>
                        <a:rPr lang="en-CA" sz="1800"/>
                        <a:t>77-71.2=5.8</a:t>
                      </a:r>
                      <a:endParaRPr sz="1800"/>
                    </a:p>
                  </a:txBody>
                  <a:tcPr marT="45725" marB="45725" marR="91450" marL="91450"/>
                </a:tc>
              </a:tr>
              <a:tr h="343125">
                <a:tc>
                  <a:txBody>
                    <a:bodyPr/>
                    <a:lstStyle/>
                    <a:p>
                      <a:pPr indent="0" lvl="0" marL="0" marR="0" rtl="0" algn="l">
                        <a:spcBef>
                          <a:spcPts val="0"/>
                        </a:spcBef>
                        <a:spcAft>
                          <a:spcPts val="0"/>
                        </a:spcAft>
                        <a:buNone/>
                      </a:pPr>
                      <a:r>
                        <a:rPr lang="en-CA" sz="1800"/>
                        <a:t>57-71.2=-14.2</a:t>
                      </a:r>
                      <a:endParaRPr sz="1800"/>
                    </a:p>
                  </a:txBody>
                  <a:tcPr marT="45725" marB="45725" marR="91450" marL="91450"/>
                </a:tc>
              </a:tr>
            </a:tbl>
          </a:graphicData>
        </a:graphic>
      </p:graphicFrame>
      <p:sp>
        <p:nvSpPr>
          <p:cNvPr id="570" name="Google Shape;570;p24"/>
          <p:cNvSpPr/>
          <p:nvPr/>
        </p:nvSpPr>
        <p:spPr>
          <a:xfrm>
            <a:off x="10494066" y="4456379"/>
            <a:ext cx="716373"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200">
                <a:solidFill>
                  <a:srgbClr val="FF0000"/>
                </a:solidFill>
                <a:latin typeface="Calibri"/>
                <a:ea typeface="Calibri"/>
                <a:cs typeface="Calibri"/>
                <a:sym typeface="Calibri"/>
              </a:rPr>
              <a:t>1.8, 5.8</a:t>
            </a:r>
            <a:endParaRPr sz="1200">
              <a:solidFill>
                <a:srgbClr val="FF0000"/>
              </a:solidFill>
              <a:latin typeface="Calibri"/>
              <a:ea typeface="Calibri"/>
              <a:cs typeface="Calibri"/>
              <a:sym typeface="Calibri"/>
            </a:endParaRPr>
          </a:p>
        </p:txBody>
      </p:sp>
      <p:sp>
        <p:nvSpPr>
          <p:cNvPr id="571" name="Google Shape;571;p24"/>
          <p:cNvSpPr/>
          <p:nvPr/>
        </p:nvSpPr>
        <p:spPr>
          <a:xfrm>
            <a:off x="11447488" y="4456379"/>
            <a:ext cx="716374"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800">
                <a:solidFill>
                  <a:srgbClr val="FF0000"/>
                </a:solidFill>
                <a:latin typeface="Calibri"/>
                <a:ea typeface="Calibri"/>
                <a:cs typeface="Calibri"/>
                <a:sym typeface="Calibri"/>
              </a:rPr>
              <a:t>16.8</a:t>
            </a:r>
            <a:endParaRPr sz="1800">
              <a:solidFill>
                <a:srgbClr val="FF0000"/>
              </a:solidFill>
              <a:latin typeface="Calibri"/>
              <a:ea typeface="Calibri"/>
              <a:cs typeface="Calibri"/>
              <a:sym typeface="Calibri"/>
            </a:endParaRPr>
          </a:p>
        </p:txBody>
      </p:sp>
      <p:sp>
        <p:nvSpPr>
          <p:cNvPr id="572" name="Google Shape;572;p24"/>
          <p:cNvSpPr txBox="1"/>
          <p:nvPr/>
        </p:nvSpPr>
        <p:spPr>
          <a:xfrm>
            <a:off x="9027271" y="4077625"/>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573" name="Google Shape;573;p24"/>
          <p:cNvSpPr txBox="1"/>
          <p:nvPr/>
        </p:nvSpPr>
        <p:spPr>
          <a:xfrm>
            <a:off x="9820920" y="3374315"/>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574" name="Google Shape;574;p24"/>
          <p:cNvSpPr txBox="1"/>
          <p:nvPr/>
        </p:nvSpPr>
        <p:spPr>
          <a:xfrm>
            <a:off x="10933452" y="3374315"/>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575" name="Google Shape;575;p24"/>
          <p:cNvSpPr txBox="1"/>
          <p:nvPr/>
        </p:nvSpPr>
        <p:spPr>
          <a:xfrm>
            <a:off x="11646597" y="4067884"/>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576" name="Google Shape;576;p24"/>
          <p:cNvSpPr txBox="1"/>
          <p:nvPr/>
        </p:nvSpPr>
        <p:spPr>
          <a:xfrm>
            <a:off x="9863089" y="4050166"/>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577" name="Google Shape;577;p24"/>
          <p:cNvSpPr txBox="1"/>
          <p:nvPr/>
        </p:nvSpPr>
        <p:spPr>
          <a:xfrm>
            <a:off x="10812479" y="4049224"/>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578" name="Google Shape;578;p24"/>
          <p:cNvSpPr/>
          <p:nvPr/>
        </p:nvSpPr>
        <p:spPr>
          <a:xfrm>
            <a:off x="914400" y="6305001"/>
            <a:ext cx="5855443" cy="430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050" u="sng">
                <a:solidFill>
                  <a:schemeClr val="dk1"/>
                </a:solidFill>
                <a:latin typeface="Calibri"/>
                <a:ea typeface="Calibri"/>
                <a:cs typeface="Calibri"/>
                <a:sym typeface="Calibri"/>
                <a:hlinkClick r:id="rId4">
                  <a:extLst>
                    <a:ext uri="{A12FA001-AC4F-418D-AE19-62706E023703}">
                      <ahyp:hlinkClr val="tx"/>
                    </a:ext>
                  </a:extLst>
                </a:hlinkClick>
              </a:rPr>
              <a:t>Example adopted from the awesome StatQuest (by Josh Starmer): https://www.youtube.com/watch?v=3CC4N4z3GJc&amp;t=87s</a:t>
            </a:r>
            <a:endParaRPr sz="1050">
              <a:solidFill>
                <a:schemeClr val="dk1"/>
              </a:solidFill>
              <a:latin typeface="Calibri"/>
              <a:ea typeface="Calibri"/>
              <a:cs typeface="Calibri"/>
              <a:sym typeface="Calibri"/>
            </a:endParaRPr>
          </a:p>
        </p:txBody>
      </p:sp>
      <p:sp>
        <p:nvSpPr>
          <p:cNvPr id="579" name="Google Shape;579;p24"/>
          <p:cNvSpPr/>
          <p:nvPr/>
        </p:nvSpPr>
        <p:spPr>
          <a:xfrm>
            <a:off x="6042794" y="2610517"/>
            <a:ext cx="2471193" cy="2595880"/>
          </a:xfrm>
          <a:prstGeom prst="rect">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0" name="Google Shape;580;p24"/>
          <p:cNvSpPr/>
          <p:nvPr/>
        </p:nvSpPr>
        <p:spPr>
          <a:xfrm>
            <a:off x="9183394" y="1143533"/>
            <a:ext cx="1561559" cy="735504"/>
          </a:xfrm>
          <a:prstGeom prst="roundRect">
            <a:avLst>
              <a:gd fmla="val 16667" name="adj"/>
            </a:avLst>
          </a:prstGeom>
          <a:solidFill>
            <a:schemeClr val="accent4"/>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A" sz="2800">
                <a:solidFill>
                  <a:schemeClr val="dk1"/>
                </a:solidFill>
                <a:latin typeface="Calibri"/>
                <a:ea typeface="Calibri"/>
                <a:cs typeface="Calibri"/>
                <a:sym typeface="Calibri"/>
              </a:rPr>
              <a:t>71.2</a:t>
            </a:r>
            <a:endParaRPr b="1" sz="2800">
              <a:solidFill>
                <a:schemeClr val="dk1"/>
              </a:solidFill>
              <a:latin typeface="Calibri"/>
              <a:ea typeface="Calibri"/>
              <a:cs typeface="Calibri"/>
              <a:sym typeface="Calibri"/>
            </a:endParaRPr>
          </a:p>
        </p:txBody>
      </p:sp>
      <p:sp>
        <p:nvSpPr>
          <p:cNvPr id="581" name="Google Shape;581;p24"/>
          <p:cNvSpPr txBox="1"/>
          <p:nvPr/>
        </p:nvSpPr>
        <p:spPr>
          <a:xfrm>
            <a:off x="8786348" y="1907056"/>
            <a:ext cx="2343899"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CA" sz="1800">
                <a:solidFill>
                  <a:srgbClr val="FF0000"/>
                </a:solidFill>
                <a:latin typeface="Calibri"/>
                <a:ea typeface="Calibri"/>
                <a:cs typeface="Calibri"/>
                <a:sym typeface="Calibri"/>
              </a:rPr>
              <a:t>INITIAL STARTING POINT (PREDICTIONS)</a:t>
            </a:r>
            <a:endParaRPr b="1" sz="1800">
              <a:solidFill>
                <a:srgbClr val="FF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80"/>
                                        </p:tgtEl>
                                        <p:attrNameLst>
                                          <p:attrName>style.visibility</p:attrName>
                                        </p:attrNameLst>
                                      </p:cBhvr>
                                      <p:to>
                                        <p:strVal val="visible"/>
                                      </p:to>
                                    </p:set>
                                    <p:animEffect filter="fade" transition="in">
                                      <p:cBhvr>
                                        <p:cTn dur="500"/>
                                        <p:tgtEl>
                                          <p:spTgt spid="580"/>
                                        </p:tgtEl>
                                      </p:cBhvr>
                                    </p:animEffect>
                                  </p:childTnLst>
                                </p:cTn>
                              </p:par>
                              <p:par>
                                <p:cTn fill="hold" nodeType="withEffect" presetClass="entr" presetID="10" presetSubtype="0">
                                  <p:stCondLst>
                                    <p:cond delay="0"/>
                                  </p:stCondLst>
                                  <p:childTnLst>
                                    <p:set>
                                      <p:cBhvr>
                                        <p:cTn dur="1" fill="hold">
                                          <p:stCondLst>
                                            <p:cond delay="0"/>
                                          </p:stCondLst>
                                        </p:cTn>
                                        <p:tgtEl>
                                          <p:spTgt spid="581"/>
                                        </p:tgtEl>
                                        <p:attrNameLst>
                                          <p:attrName>style.visibility</p:attrName>
                                        </p:attrNameLst>
                                      </p:cBhvr>
                                      <p:to>
                                        <p:strVal val="visible"/>
                                      </p:to>
                                    </p:set>
                                    <p:animEffect filter="fade" transition="in">
                                      <p:cBhvr>
                                        <p:cTn dur="500"/>
                                        <p:tgtEl>
                                          <p:spTgt spid="5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51"/>
                                        </p:tgtEl>
                                        <p:attrNameLst>
                                          <p:attrName>style.visibility</p:attrName>
                                        </p:attrNameLst>
                                      </p:cBhvr>
                                      <p:to>
                                        <p:strVal val="visible"/>
                                      </p:to>
                                    </p:set>
                                    <p:anim calcmode="lin" valueType="num">
                                      <p:cBhvr additive="base">
                                        <p:cTn dur="500"/>
                                        <p:tgtEl>
                                          <p:spTgt spid="55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60"/>
                                        </p:tgtEl>
                                        <p:attrNameLst>
                                          <p:attrName>style.visibility</p:attrName>
                                        </p:attrNameLst>
                                      </p:cBhvr>
                                      <p:to>
                                        <p:strVal val="visible"/>
                                      </p:to>
                                    </p:set>
                                    <p:anim calcmode="lin" valueType="num">
                                      <p:cBhvr additive="base">
                                        <p:cTn dur="500"/>
                                        <p:tgtEl>
                                          <p:spTgt spid="56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61"/>
                                        </p:tgtEl>
                                        <p:attrNameLst>
                                          <p:attrName>style.visibility</p:attrName>
                                        </p:attrNameLst>
                                      </p:cBhvr>
                                      <p:to>
                                        <p:strVal val="visible"/>
                                      </p:to>
                                    </p:set>
                                    <p:anim calcmode="lin" valueType="num">
                                      <p:cBhvr additive="base">
                                        <p:cTn dur="500"/>
                                        <p:tgtEl>
                                          <p:spTgt spid="56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59"/>
                                        </p:tgtEl>
                                        <p:attrNameLst>
                                          <p:attrName>style.visibility</p:attrName>
                                        </p:attrNameLst>
                                      </p:cBhvr>
                                      <p:to>
                                        <p:strVal val="visible"/>
                                      </p:to>
                                    </p:set>
                                    <p:anim calcmode="lin" valueType="num">
                                      <p:cBhvr additive="base">
                                        <p:cTn dur="500"/>
                                        <p:tgtEl>
                                          <p:spTgt spid="55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9"/>
                                        </p:tgtEl>
                                        <p:attrNameLst>
                                          <p:attrName>style.visibility</p:attrName>
                                        </p:attrNameLst>
                                      </p:cBhvr>
                                      <p:to>
                                        <p:strVal val="visible"/>
                                      </p:to>
                                    </p:set>
                                    <p:animEffect filter="fade" transition="in">
                                      <p:cBhvr>
                                        <p:cTn dur="500"/>
                                        <p:tgtEl>
                                          <p:spTgt spid="579"/>
                                        </p:tgtEl>
                                      </p:cBhvr>
                                    </p:animEffect>
                                  </p:childTnLst>
                                </p:cTn>
                              </p:par>
                              <p:par>
                                <p:cTn fill="hold" nodeType="withEffect" presetClass="entr" presetID="2" presetSubtype="4">
                                  <p:stCondLst>
                                    <p:cond delay="0"/>
                                  </p:stCondLst>
                                  <p:childTnLst>
                                    <p:set>
                                      <p:cBhvr>
                                        <p:cTn dur="1" fill="hold">
                                          <p:stCondLst>
                                            <p:cond delay="0"/>
                                          </p:stCondLst>
                                        </p:cTn>
                                        <p:tgtEl>
                                          <p:spTgt spid="569"/>
                                        </p:tgtEl>
                                        <p:attrNameLst>
                                          <p:attrName>style.visibility</p:attrName>
                                        </p:attrNameLst>
                                      </p:cBhvr>
                                      <p:to>
                                        <p:strVal val="visible"/>
                                      </p:to>
                                    </p:set>
                                    <p:anim calcmode="lin" valueType="num">
                                      <p:cBhvr additive="base">
                                        <p:cTn dur="500"/>
                                        <p:tgtEl>
                                          <p:spTgt spid="56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58"/>
                                        </p:tgtEl>
                                        <p:attrNameLst>
                                          <p:attrName>style.visibility</p:attrName>
                                        </p:attrNameLst>
                                      </p:cBhvr>
                                      <p:to>
                                        <p:strVal val="visible"/>
                                      </p:to>
                                    </p:set>
                                    <p:anim calcmode="lin" valueType="num">
                                      <p:cBhvr additive="base">
                                        <p:cTn dur="500"/>
                                        <p:tgtEl>
                                          <p:spTgt spid="55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57"/>
                                        </p:tgtEl>
                                        <p:attrNameLst>
                                          <p:attrName>style.visibility</p:attrName>
                                        </p:attrNameLst>
                                      </p:cBhvr>
                                      <p:to>
                                        <p:strVal val="visible"/>
                                      </p:to>
                                    </p:set>
                                    <p:anim calcmode="lin" valueType="num">
                                      <p:cBhvr additive="base">
                                        <p:cTn dur="500"/>
                                        <p:tgtEl>
                                          <p:spTgt spid="55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52"/>
                                        </p:tgtEl>
                                        <p:attrNameLst>
                                          <p:attrName>style.visibility</p:attrName>
                                        </p:attrNameLst>
                                      </p:cBhvr>
                                      <p:to>
                                        <p:strVal val="visible"/>
                                      </p:to>
                                    </p:set>
                                    <p:anim calcmode="lin" valueType="num">
                                      <p:cBhvr additive="base">
                                        <p:cTn dur="500"/>
                                        <p:tgtEl>
                                          <p:spTgt spid="55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53"/>
                                        </p:tgtEl>
                                        <p:attrNameLst>
                                          <p:attrName>style.visibility</p:attrName>
                                        </p:attrNameLst>
                                      </p:cBhvr>
                                      <p:to>
                                        <p:strVal val="visible"/>
                                      </p:to>
                                    </p:set>
                                    <p:anim calcmode="lin" valueType="num">
                                      <p:cBhvr additive="base">
                                        <p:cTn dur="500"/>
                                        <p:tgtEl>
                                          <p:spTgt spid="55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55"/>
                                        </p:tgtEl>
                                        <p:attrNameLst>
                                          <p:attrName>style.visibility</p:attrName>
                                        </p:attrNameLst>
                                      </p:cBhvr>
                                      <p:to>
                                        <p:strVal val="visible"/>
                                      </p:to>
                                    </p:set>
                                    <p:anim calcmode="lin" valueType="num">
                                      <p:cBhvr additive="base">
                                        <p:cTn dur="500"/>
                                        <p:tgtEl>
                                          <p:spTgt spid="55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54"/>
                                        </p:tgtEl>
                                        <p:attrNameLst>
                                          <p:attrName>style.visibility</p:attrName>
                                        </p:attrNameLst>
                                      </p:cBhvr>
                                      <p:to>
                                        <p:strVal val="visible"/>
                                      </p:to>
                                    </p:set>
                                    <p:anim calcmode="lin" valueType="num">
                                      <p:cBhvr additive="base">
                                        <p:cTn dur="500"/>
                                        <p:tgtEl>
                                          <p:spTgt spid="55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56"/>
                                        </p:tgtEl>
                                        <p:attrNameLst>
                                          <p:attrName>style.visibility</p:attrName>
                                        </p:attrNameLst>
                                      </p:cBhvr>
                                      <p:to>
                                        <p:strVal val="visible"/>
                                      </p:to>
                                    </p:set>
                                    <p:anim calcmode="lin" valueType="num">
                                      <p:cBhvr additive="base">
                                        <p:cTn dur="500"/>
                                        <p:tgtEl>
                                          <p:spTgt spid="55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62"/>
                                        </p:tgtEl>
                                        <p:attrNameLst>
                                          <p:attrName>style.visibility</p:attrName>
                                        </p:attrNameLst>
                                      </p:cBhvr>
                                      <p:to>
                                        <p:strVal val="visible"/>
                                      </p:to>
                                    </p:set>
                                    <p:anim calcmode="lin" valueType="num">
                                      <p:cBhvr additive="base">
                                        <p:cTn dur="500"/>
                                        <p:tgtEl>
                                          <p:spTgt spid="56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63"/>
                                        </p:tgtEl>
                                        <p:attrNameLst>
                                          <p:attrName>style.visibility</p:attrName>
                                        </p:attrNameLst>
                                      </p:cBhvr>
                                      <p:to>
                                        <p:strVal val="visible"/>
                                      </p:to>
                                    </p:set>
                                    <p:anim calcmode="lin" valueType="num">
                                      <p:cBhvr additive="base">
                                        <p:cTn dur="500"/>
                                        <p:tgtEl>
                                          <p:spTgt spid="56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64"/>
                                        </p:tgtEl>
                                        <p:attrNameLst>
                                          <p:attrName>style.visibility</p:attrName>
                                        </p:attrNameLst>
                                      </p:cBhvr>
                                      <p:to>
                                        <p:strVal val="visible"/>
                                      </p:to>
                                    </p:set>
                                    <p:anim calcmode="lin" valueType="num">
                                      <p:cBhvr additive="base">
                                        <p:cTn dur="500"/>
                                        <p:tgtEl>
                                          <p:spTgt spid="56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66"/>
                                        </p:tgtEl>
                                        <p:attrNameLst>
                                          <p:attrName>style.visibility</p:attrName>
                                        </p:attrNameLst>
                                      </p:cBhvr>
                                      <p:to>
                                        <p:strVal val="visible"/>
                                      </p:to>
                                    </p:set>
                                    <p:anim calcmode="lin" valueType="num">
                                      <p:cBhvr additive="base">
                                        <p:cTn dur="500"/>
                                        <p:tgtEl>
                                          <p:spTgt spid="56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65"/>
                                        </p:tgtEl>
                                        <p:attrNameLst>
                                          <p:attrName>style.visibility</p:attrName>
                                        </p:attrNameLst>
                                      </p:cBhvr>
                                      <p:to>
                                        <p:strVal val="visible"/>
                                      </p:to>
                                    </p:set>
                                    <p:anim calcmode="lin" valueType="num">
                                      <p:cBhvr additive="base">
                                        <p:cTn dur="500"/>
                                        <p:tgtEl>
                                          <p:spTgt spid="56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67"/>
                                        </p:tgtEl>
                                        <p:attrNameLst>
                                          <p:attrName>style.visibility</p:attrName>
                                        </p:attrNameLst>
                                      </p:cBhvr>
                                      <p:to>
                                        <p:strVal val="visible"/>
                                      </p:to>
                                    </p:set>
                                    <p:anim calcmode="lin" valueType="num">
                                      <p:cBhvr additive="base">
                                        <p:cTn dur="500"/>
                                        <p:tgtEl>
                                          <p:spTgt spid="56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70"/>
                                        </p:tgtEl>
                                        <p:attrNameLst>
                                          <p:attrName>style.visibility</p:attrName>
                                        </p:attrNameLst>
                                      </p:cBhvr>
                                      <p:to>
                                        <p:strVal val="visible"/>
                                      </p:to>
                                    </p:set>
                                    <p:anim calcmode="lin" valueType="num">
                                      <p:cBhvr additive="base">
                                        <p:cTn dur="500"/>
                                        <p:tgtEl>
                                          <p:spTgt spid="57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71"/>
                                        </p:tgtEl>
                                        <p:attrNameLst>
                                          <p:attrName>style.visibility</p:attrName>
                                        </p:attrNameLst>
                                      </p:cBhvr>
                                      <p:to>
                                        <p:strVal val="visible"/>
                                      </p:to>
                                    </p:set>
                                    <p:anim calcmode="lin" valueType="num">
                                      <p:cBhvr additive="base">
                                        <p:cTn dur="500"/>
                                        <p:tgtEl>
                                          <p:spTgt spid="57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72"/>
                                        </p:tgtEl>
                                        <p:attrNameLst>
                                          <p:attrName>style.visibility</p:attrName>
                                        </p:attrNameLst>
                                      </p:cBhvr>
                                      <p:to>
                                        <p:strVal val="visible"/>
                                      </p:to>
                                    </p:set>
                                    <p:anim calcmode="lin" valueType="num">
                                      <p:cBhvr additive="base">
                                        <p:cTn dur="500"/>
                                        <p:tgtEl>
                                          <p:spTgt spid="57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73"/>
                                        </p:tgtEl>
                                        <p:attrNameLst>
                                          <p:attrName>style.visibility</p:attrName>
                                        </p:attrNameLst>
                                      </p:cBhvr>
                                      <p:to>
                                        <p:strVal val="visible"/>
                                      </p:to>
                                    </p:set>
                                    <p:anim calcmode="lin" valueType="num">
                                      <p:cBhvr additive="base">
                                        <p:cTn dur="500"/>
                                        <p:tgtEl>
                                          <p:spTgt spid="57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74"/>
                                        </p:tgtEl>
                                        <p:attrNameLst>
                                          <p:attrName>style.visibility</p:attrName>
                                        </p:attrNameLst>
                                      </p:cBhvr>
                                      <p:to>
                                        <p:strVal val="visible"/>
                                      </p:to>
                                    </p:set>
                                    <p:anim calcmode="lin" valueType="num">
                                      <p:cBhvr additive="base">
                                        <p:cTn dur="500"/>
                                        <p:tgtEl>
                                          <p:spTgt spid="57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75"/>
                                        </p:tgtEl>
                                        <p:attrNameLst>
                                          <p:attrName>style.visibility</p:attrName>
                                        </p:attrNameLst>
                                      </p:cBhvr>
                                      <p:to>
                                        <p:strVal val="visible"/>
                                      </p:to>
                                    </p:set>
                                    <p:anim calcmode="lin" valueType="num">
                                      <p:cBhvr additive="base">
                                        <p:cTn dur="500"/>
                                        <p:tgtEl>
                                          <p:spTgt spid="57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76"/>
                                        </p:tgtEl>
                                        <p:attrNameLst>
                                          <p:attrName>style.visibility</p:attrName>
                                        </p:attrNameLst>
                                      </p:cBhvr>
                                      <p:to>
                                        <p:strVal val="visible"/>
                                      </p:to>
                                    </p:set>
                                    <p:anim calcmode="lin" valueType="num">
                                      <p:cBhvr additive="base">
                                        <p:cTn dur="500"/>
                                        <p:tgtEl>
                                          <p:spTgt spid="57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77"/>
                                        </p:tgtEl>
                                        <p:attrNameLst>
                                          <p:attrName>style.visibility</p:attrName>
                                        </p:attrNameLst>
                                      </p:cBhvr>
                                      <p:to>
                                        <p:strVal val="visible"/>
                                      </p:to>
                                    </p:set>
                                    <p:anim calcmode="lin" valueType="num">
                                      <p:cBhvr additive="base">
                                        <p:cTn dur="500"/>
                                        <p:tgtEl>
                                          <p:spTgt spid="57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pic>
        <p:nvPicPr>
          <p:cNvPr id="586" name="Google Shape;586;p25"/>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587" name="Google Shape;587;p25"/>
          <p:cNvSpPr/>
          <p:nvPr/>
        </p:nvSpPr>
        <p:spPr>
          <a:xfrm>
            <a:off x="145539" y="257380"/>
            <a:ext cx="12013823" cy="121772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CA" sz="3600">
                <a:solidFill>
                  <a:schemeClr val="lt1"/>
                </a:solidFill>
                <a:latin typeface="Montserrat"/>
                <a:ea typeface="Montserrat"/>
                <a:cs typeface="Montserrat"/>
                <a:sym typeface="Montserrat"/>
              </a:rPr>
              <a:t>XGBOOST: GRADIENT BOOSTING ALGORITHM</a:t>
            </a:r>
            <a:endParaRPr/>
          </a:p>
        </p:txBody>
      </p:sp>
      <p:sp>
        <p:nvSpPr>
          <p:cNvPr id="588" name="Google Shape;588;p25"/>
          <p:cNvSpPr/>
          <p:nvPr/>
        </p:nvSpPr>
        <p:spPr>
          <a:xfrm>
            <a:off x="1922702" y="2383196"/>
            <a:ext cx="1059786" cy="349195"/>
          </a:xfrm>
          <a:prstGeom prst="roundRect">
            <a:avLst>
              <a:gd fmla="val 16667" name="adj"/>
            </a:avLst>
          </a:prstGeom>
          <a:solidFill>
            <a:schemeClr val="accent4"/>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lt1"/>
                </a:solidFill>
                <a:latin typeface="Calibri"/>
                <a:ea typeface="Calibri"/>
                <a:cs typeface="Calibri"/>
                <a:sym typeface="Calibri"/>
              </a:rPr>
              <a:t>Is female?</a:t>
            </a:r>
            <a:endParaRPr sz="1600">
              <a:solidFill>
                <a:schemeClr val="lt1"/>
              </a:solidFill>
              <a:latin typeface="Calibri"/>
              <a:ea typeface="Calibri"/>
              <a:cs typeface="Calibri"/>
              <a:sym typeface="Calibri"/>
            </a:endParaRPr>
          </a:p>
        </p:txBody>
      </p:sp>
      <p:cxnSp>
        <p:nvCxnSpPr>
          <p:cNvPr id="589" name="Google Shape;589;p25"/>
          <p:cNvCxnSpPr>
            <a:stCxn id="588" idx="2"/>
            <a:endCxn id="590" idx="0"/>
          </p:cNvCxnSpPr>
          <p:nvPr/>
        </p:nvCxnSpPr>
        <p:spPr>
          <a:xfrm flipH="1">
            <a:off x="1763195" y="2732391"/>
            <a:ext cx="689400" cy="341700"/>
          </a:xfrm>
          <a:prstGeom prst="straightConnector1">
            <a:avLst/>
          </a:prstGeom>
          <a:noFill/>
          <a:ln cap="flat" cmpd="sng" w="9525">
            <a:solidFill>
              <a:schemeClr val="accent1"/>
            </a:solidFill>
            <a:prstDash val="solid"/>
            <a:miter lim="800000"/>
            <a:headEnd len="sm" w="sm" type="none"/>
            <a:tailEnd len="med" w="med" type="triangle"/>
          </a:ln>
        </p:spPr>
      </p:cxnSp>
      <p:cxnSp>
        <p:nvCxnSpPr>
          <p:cNvPr id="591" name="Google Shape;591;p25"/>
          <p:cNvCxnSpPr>
            <a:stCxn id="588" idx="2"/>
            <a:endCxn id="592" idx="0"/>
          </p:cNvCxnSpPr>
          <p:nvPr/>
        </p:nvCxnSpPr>
        <p:spPr>
          <a:xfrm>
            <a:off x="2452595" y="2732391"/>
            <a:ext cx="763800" cy="341700"/>
          </a:xfrm>
          <a:prstGeom prst="straightConnector1">
            <a:avLst/>
          </a:prstGeom>
          <a:noFill/>
          <a:ln cap="flat" cmpd="sng" w="9525">
            <a:solidFill>
              <a:schemeClr val="accent1"/>
            </a:solidFill>
            <a:prstDash val="solid"/>
            <a:miter lim="800000"/>
            <a:headEnd len="sm" w="sm" type="none"/>
            <a:tailEnd len="med" w="med" type="triangle"/>
          </a:ln>
        </p:spPr>
      </p:cxnSp>
      <p:sp>
        <p:nvSpPr>
          <p:cNvPr id="590" name="Google Shape;590;p25"/>
          <p:cNvSpPr/>
          <p:nvPr/>
        </p:nvSpPr>
        <p:spPr>
          <a:xfrm>
            <a:off x="1139986" y="3073992"/>
            <a:ext cx="1246266" cy="343431"/>
          </a:xfrm>
          <a:prstGeom prst="roundRect">
            <a:avLst>
              <a:gd fmla="val 16667" name="adj"/>
            </a:avLst>
          </a:prstGeom>
          <a:solidFill>
            <a:srgbClr val="FF00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lt1"/>
                </a:solidFill>
                <a:latin typeface="Calibri"/>
                <a:ea typeface="Calibri"/>
                <a:cs typeface="Calibri"/>
                <a:sym typeface="Calibri"/>
              </a:rPr>
              <a:t>Height &lt;1.6</a:t>
            </a:r>
            <a:endParaRPr sz="1600">
              <a:solidFill>
                <a:schemeClr val="lt1"/>
              </a:solidFill>
              <a:latin typeface="Calibri"/>
              <a:ea typeface="Calibri"/>
              <a:cs typeface="Calibri"/>
              <a:sym typeface="Calibri"/>
            </a:endParaRPr>
          </a:p>
        </p:txBody>
      </p:sp>
      <p:sp>
        <p:nvSpPr>
          <p:cNvPr id="592" name="Google Shape;592;p25"/>
          <p:cNvSpPr/>
          <p:nvPr/>
        </p:nvSpPr>
        <p:spPr>
          <a:xfrm>
            <a:off x="2623299" y="3073992"/>
            <a:ext cx="1186273" cy="343431"/>
          </a:xfrm>
          <a:prstGeom prst="roundRect">
            <a:avLst>
              <a:gd fmla="val 16667" name="adj"/>
            </a:avLst>
          </a:prstGeom>
          <a:solidFill>
            <a:srgbClr val="FF00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lt1"/>
                </a:solidFill>
                <a:latin typeface="Calibri"/>
                <a:ea typeface="Calibri"/>
                <a:cs typeface="Calibri"/>
                <a:sym typeface="Calibri"/>
              </a:rPr>
              <a:t>Is not Blue?</a:t>
            </a:r>
            <a:endParaRPr sz="1600">
              <a:solidFill>
                <a:schemeClr val="lt1"/>
              </a:solidFill>
              <a:latin typeface="Calibri"/>
              <a:ea typeface="Calibri"/>
              <a:cs typeface="Calibri"/>
              <a:sym typeface="Calibri"/>
            </a:endParaRPr>
          </a:p>
        </p:txBody>
      </p:sp>
      <p:cxnSp>
        <p:nvCxnSpPr>
          <p:cNvPr id="593" name="Google Shape;593;p25"/>
          <p:cNvCxnSpPr/>
          <p:nvPr/>
        </p:nvCxnSpPr>
        <p:spPr>
          <a:xfrm flipH="1">
            <a:off x="2810781" y="3425671"/>
            <a:ext cx="424530" cy="341602"/>
          </a:xfrm>
          <a:prstGeom prst="straightConnector1">
            <a:avLst/>
          </a:prstGeom>
          <a:noFill/>
          <a:ln cap="flat" cmpd="sng" w="9525">
            <a:solidFill>
              <a:schemeClr val="accent1"/>
            </a:solidFill>
            <a:prstDash val="solid"/>
            <a:miter lim="800000"/>
            <a:headEnd len="sm" w="sm" type="none"/>
            <a:tailEnd len="med" w="med" type="triangle"/>
          </a:ln>
        </p:spPr>
      </p:cxnSp>
      <p:cxnSp>
        <p:nvCxnSpPr>
          <p:cNvPr id="594" name="Google Shape;594;p25"/>
          <p:cNvCxnSpPr/>
          <p:nvPr/>
        </p:nvCxnSpPr>
        <p:spPr>
          <a:xfrm>
            <a:off x="3235311" y="3425671"/>
            <a:ext cx="528892" cy="341602"/>
          </a:xfrm>
          <a:prstGeom prst="straightConnector1">
            <a:avLst/>
          </a:prstGeom>
          <a:noFill/>
          <a:ln cap="flat" cmpd="sng" w="9525">
            <a:solidFill>
              <a:schemeClr val="accent1"/>
            </a:solidFill>
            <a:prstDash val="solid"/>
            <a:miter lim="800000"/>
            <a:headEnd len="sm" w="sm" type="none"/>
            <a:tailEnd len="med" w="med" type="triangle"/>
          </a:ln>
        </p:spPr>
      </p:cxnSp>
      <p:cxnSp>
        <p:nvCxnSpPr>
          <p:cNvPr id="595" name="Google Shape;595;p25"/>
          <p:cNvCxnSpPr>
            <a:endCxn id="596" idx="0"/>
          </p:cNvCxnSpPr>
          <p:nvPr/>
        </p:nvCxnSpPr>
        <p:spPr>
          <a:xfrm flipH="1">
            <a:off x="1078516" y="3425573"/>
            <a:ext cx="424500" cy="341700"/>
          </a:xfrm>
          <a:prstGeom prst="straightConnector1">
            <a:avLst/>
          </a:prstGeom>
          <a:noFill/>
          <a:ln cap="flat" cmpd="sng" w="9525">
            <a:solidFill>
              <a:schemeClr val="accent1"/>
            </a:solidFill>
            <a:prstDash val="solid"/>
            <a:miter lim="800000"/>
            <a:headEnd len="sm" w="sm" type="none"/>
            <a:tailEnd len="med" w="med" type="triangle"/>
          </a:ln>
        </p:spPr>
      </p:cxnSp>
      <p:cxnSp>
        <p:nvCxnSpPr>
          <p:cNvPr id="597" name="Google Shape;597;p25"/>
          <p:cNvCxnSpPr>
            <a:endCxn id="598" idx="0"/>
          </p:cNvCxnSpPr>
          <p:nvPr/>
        </p:nvCxnSpPr>
        <p:spPr>
          <a:xfrm>
            <a:off x="1503038" y="3425573"/>
            <a:ext cx="528900" cy="341700"/>
          </a:xfrm>
          <a:prstGeom prst="straightConnector1">
            <a:avLst/>
          </a:prstGeom>
          <a:noFill/>
          <a:ln cap="flat" cmpd="sng" w="9525">
            <a:solidFill>
              <a:schemeClr val="accent1"/>
            </a:solidFill>
            <a:prstDash val="solid"/>
            <a:miter lim="800000"/>
            <a:headEnd len="sm" w="sm" type="none"/>
            <a:tailEnd len="med" w="med" type="triangle"/>
          </a:ln>
        </p:spPr>
      </p:cxnSp>
      <p:sp>
        <p:nvSpPr>
          <p:cNvPr id="596" name="Google Shape;596;p25"/>
          <p:cNvSpPr/>
          <p:nvPr/>
        </p:nvSpPr>
        <p:spPr>
          <a:xfrm>
            <a:off x="720329" y="3767273"/>
            <a:ext cx="716373"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200">
                <a:solidFill>
                  <a:srgbClr val="FF0000"/>
                </a:solidFill>
                <a:latin typeface="Calibri"/>
                <a:ea typeface="Calibri"/>
                <a:cs typeface="Calibri"/>
                <a:sym typeface="Calibri"/>
              </a:rPr>
              <a:t>-15.2, </a:t>
            </a:r>
            <a:endParaRPr/>
          </a:p>
          <a:p>
            <a:pPr indent="0" lvl="0" marL="0" marR="0" rtl="0" algn="ctr">
              <a:spcBef>
                <a:spcPts val="0"/>
              </a:spcBef>
              <a:spcAft>
                <a:spcPts val="0"/>
              </a:spcAft>
              <a:buNone/>
            </a:pPr>
            <a:r>
              <a:rPr lang="en-CA" sz="1200">
                <a:solidFill>
                  <a:srgbClr val="FF0000"/>
                </a:solidFill>
                <a:latin typeface="Calibri"/>
                <a:ea typeface="Calibri"/>
                <a:cs typeface="Calibri"/>
                <a:sym typeface="Calibri"/>
              </a:rPr>
              <a:t>-14.2 </a:t>
            </a:r>
            <a:endParaRPr sz="1200">
              <a:solidFill>
                <a:srgbClr val="FF0000"/>
              </a:solidFill>
              <a:latin typeface="Calibri"/>
              <a:ea typeface="Calibri"/>
              <a:cs typeface="Calibri"/>
              <a:sym typeface="Calibri"/>
            </a:endParaRPr>
          </a:p>
        </p:txBody>
      </p:sp>
      <p:sp>
        <p:nvSpPr>
          <p:cNvPr id="598" name="Google Shape;598;p25"/>
          <p:cNvSpPr/>
          <p:nvPr/>
        </p:nvSpPr>
        <p:spPr>
          <a:xfrm>
            <a:off x="1673751" y="3767273"/>
            <a:ext cx="716374"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800">
                <a:solidFill>
                  <a:srgbClr val="FF0000"/>
                </a:solidFill>
                <a:latin typeface="Calibri"/>
                <a:ea typeface="Calibri"/>
                <a:cs typeface="Calibri"/>
                <a:sym typeface="Calibri"/>
              </a:rPr>
              <a:t>4.8</a:t>
            </a:r>
            <a:endParaRPr sz="1800">
              <a:solidFill>
                <a:srgbClr val="FF0000"/>
              </a:solidFill>
              <a:latin typeface="Calibri"/>
              <a:ea typeface="Calibri"/>
              <a:cs typeface="Calibri"/>
              <a:sym typeface="Calibri"/>
            </a:endParaRPr>
          </a:p>
        </p:txBody>
      </p:sp>
      <p:sp>
        <p:nvSpPr>
          <p:cNvPr id="599" name="Google Shape;599;p25"/>
          <p:cNvSpPr txBox="1"/>
          <p:nvPr/>
        </p:nvSpPr>
        <p:spPr>
          <a:xfrm>
            <a:off x="178178" y="1123718"/>
            <a:ext cx="11153448" cy="930511"/>
          </a:xfrm>
          <a:prstGeom prst="rect">
            <a:avLst/>
          </a:prstGeom>
          <a:noFill/>
          <a:ln>
            <a:noFill/>
          </a:ln>
        </p:spPr>
        <p:txBody>
          <a:bodyPr anchorCtr="0" anchor="t" bIns="45700" lIns="91425" spcFirstLastPara="1" rIns="91425" wrap="square" tIns="45700">
            <a:normAutofit/>
          </a:bodyPr>
          <a:lstStyle/>
          <a:p>
            <a:pPr indent="-285750" lvl="0" marL="285750" marR="0" rtl="0" algn="l">
              <a:lnSpc>
                <a:spcPct val="90000"/>
              </a:lnSpc>
              <a:spcBef>
                <a:spcPts val="0"/>
              </a:spcBef>
              <a:spcAft>
                <a:spcPts val="0"/>
              </a:spcAft>
              <a:buClr>
                <a:schemeClr val="dk1"/>
              </a:buClr>
              <a:buSzPts val="1600"/>
              <a:buFont typeface="Arial"/>
              <a:buChar char="•"/>
            </a:pPr>
            <a:r>
              <a:rPr lang="en-CA" sz="1600">
                <a:solidFill>
                  <a:schemeClr val="dk1"/>
                </a:solidFill>
                <a:latin typeface="Montserrat"/>
                <a:ea typeface="Montserrat"/>
                <a:cs typeface="Montserrat"/>
                <a:sym typeface="Montserrat"/>
              </a:rPr>
              <a:t>Note that the number of leaves is restricted to 4 in this example for the sake of simplicity. </a:t>
            </a:r>
            <a:endParaRPr/>
          </a:p>
          <a:p>
            <a:pPr indent="-285750" lvl="0" marL="285750" marR="0" rtl="0" algn="l">
              <a:lnSpc>
                <a:spcPct val="90000"/>
              </a:lnSpc>
              <a:spcBef>
                <a:spcPts val="1000"/>
              </a:spcBef>
              <a:spcAft>
                <a:spcPts val="0"/>
              </a:spcAft>
              <a:buClr>
                <a:schemeClr val="dk1"/>
              </a:buClr>
              <a:buSzPts val="1600"/>
              <a:buFont typeface="Arial"/>
              <a:buChar char="•"/>
            </a:pPr>
            <a:r>
              <a:rPr lang="en-CA" sz="1600">
                <a:solidFill>
                  <a:schemeClr val="dk1"/>
                </a:solidFill>
                <a:latin typeface="Montserrat"/>
                <a:ea typeface="Montserrat"/>
                <a:cs typeface="Montserrat"/>
                <a:sym typeface="Montserrat"/>
              </a:rPr>
              <a:t>Let’s replace the values with the average a shown below.</a:t>
            </a:r>
            <a:endParaRPr sz="1600">
              <a:solidFill>
                <a:schemeClr val="dk1"/>
              </a:solidFill>
              <a:latin typeface="Montserrat"/>
              <a:ea typeface="Montserrat"/>
              <a:cs typeface="Montserrat"/>
              <a:sym typeface="Montserrat"/>
            </a:endParaRPr>
          </a:p>
          <a:p>
            <a:pPr indent="-184150" lvl="0" marL="285750" marR="0" rtl="0" algn="l">
              <a:lnSpc>
                <a:spcPct val="90000"/>
              </a:lnSpc>
              <a:spcBef>
                <a:spcPts val="1000"/>
              </a:spcBef>
              <a:spcAft>
                <a:spcPts val="0"/>
              </a:spcAft>
              <a:buClr>
                <a:schemeClr val="dk1"/>
              </a:buClr>
              <a:buSzPts val="1600"/>
              <a:buFont typeface="Arial"/>
              <a:buNone/>
            </a:pPr>
            <a:r>
              <a:t/>
            </a:r>
            <a:endParaRPr sz="1600">
              <a:solidFill>
                <a:schemeClr val="dk1"/>
              </a:solidFill>
              <a:latin typeface="Montserrat"/>
              <a:ea typeface="Montserrat"/>
              <a:cs typeface="Montserrat"/>
              <a:sym typeface="Montserrat"/>
            </a:endParaRPr>
          </a:p>
        </p:txBody>
      </p:sp>
      <p:sp>
        <p:nvSpPr>
          <p:cNvPr id="600" name="Google Shape;600;p25"/>
          <p:cNvSpPr/>
          <p:nvPr/>
        </p:nvSpPr>
        <p:spPr>
          <a:xfrm>
            <a:off x="2452594" y="3786436"/>
            <a:ext cx="716373"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200">
                <a:solidFill>
                  <a:srgbClr val="FF0000"/>
                </a:solidFill>
                <a:latin typeface="Calibri"/>
                <a:ea typeface="Calibri"/>
                <a:cs typeface="Calibri"/>
                <a:sym typeface="Calibri"/>
              </a:rPr>
              <a:t>1.8, 5.8</a:t>
            </a:r>
            <a:endParaRPr sz="1200">
              <a:solidFill>
                <a:srgbClr val="FF0000"/>
              </a:solidFill>
              <a:latin typeface="Calibri"/>
              <a:ea typeface="Calibri"/>
              <a:cs typeface="Calibri"/>
              <a:sym typeface="Calibri"/>
            </a:endParaRPr>
          </a:p>
        </p:txBody>
      </p:sp>
      <p:sp>
        <p:nvSpPr>
          <p:cNvPr id="601" name="Google Shape;601;p25"/>
          <p:cNvSpPr/>
          <p:nvPr/>
        </p:nvSpPr>
        <p:spPr>
          <a:xfrm>
            <a:off x="3406016" y="3786436"/>
            <a:ext cx="716374"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800">
                <a:solidFill>
                  <a:srgbClr val="FF0000"/>
                </a:solidFill>
                <a:latin typeface="Calibri"/>
                <a:ea typeface="Calibri"/>
                <a:cs typeface="Calibri"/>
                <a:sym typeface="Calibri"/>
              </a:rPr>
              <a:t>16.8</a:t>
            </a:r>
            <a:endParaRPr sz="1800">
              <a:solidFill>
                <a:srgbClr val="FF0000"/>
              </a:solidFill>
              <a:latin typeface="Calibri"/>
              <a:ea typeface="Calibri"/>
              <a:cs typeface="Calibri"/>
              <a:sym typeface="Calibri"/>
            </a:endParaRPr>
          </a:p>
        </p:txBody>
      </p:sp>
      <p:sp>
        <p:nvSpPr>
          <p:cNvPr id="602" name="Google Shape;602;p25"/>
          <p:cNvSpPr txBox="1"/>
          <p:nvPr/>
        </p:nvSpPr>
        <p:spPr>
          <a:xfrm>
            <a:off x="985799" y="3407682"/>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603" name="Google Shape;603;p25"/>
          <p:cNvSpPr txBox="1"/>
          <p:nvPr/>
        </p:nvSpPr>
        <p:spPr>
          <a:xfrm>
            <a:off x="1779448" y="2704372"/>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604" name="Google Shape;604;p25"/>
          <p:cNvSpPr txBox="1"/>
          <p:nvPr/>
        </p:nvSpPr>
        <p:spPr>
          <a:xfrm>
            <a:off x="2891980" y="2704372"/>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605" name="Google Shape;605;p25"/>
          <p:cNvSpPr txBox="1"/>
          <p:nvPr/>
        </p:nvSpPr>
        <p:spPr>
          <a:xfrm>
            <a:off x="3605125" y="3397941"/>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606" name="Google Shape;606;p25"/>
          <p:cNvSpPr txBox="1"/>
          <p:nvPr/>
        </p:nvSpPr>
        <p:spPr>
          <a:xfrm>
            <a:off x="1821617" y="3380223"/>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607" name="Google Shape;607;p25"/>
          <p:cNvSpPr txBox="1"/>
          <p:nvPr/>
        </p:nvSpPr>
        <p:spPr>
          <a:xfrm>
            <a:off x="2771007" y="3379281"/>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608" name="Google Shape;608;p25"/>
          <p:cNvSpPr/>
          <p:nvPr/>
        </p:nvSpPr>
        <p:spPr>
          <a:xfrm>
            <a:off x="4479374" y="2801846"/>
            <a:ext cx="1640115" cy="638629"/>
          </a:xfrm>
          <a:prstGeom prst="rightArrow">
            <a:avLst>
              <a:gd fmla="val 50000" name="adj1"/>
              <a:gd fmla="val 50000" name="adj2"/>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9" name="Google Shape;609;p25"/>
          <p:cNvSpPr/>
          <p:nvPr/>
        </p:nvSpPr>
        <p:spPr>
          <a:xfrm>
            <a:off x="7991664" y="2383196"/>
            <a:ext cx="1059786" cy="349195"/>
          </a:xfrm>
          <a:prstGeom prst="roundRect">
            <a:avLst>
              <a:gd fmla="val 16667" name="adj"/>
            </a:avLst>
          </a:prstGeom>
          <a:solidFill>
            <a:schemeClr val="accent4"/>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lt1"/>
                </a:solidFill>
                <a:latin typeface="Calibri"/>
                <a:ea typeface="Calibri"/>
                <a:cs typeface="Calibri"/>
                <a:sym typeface="Calibri"/>
              </a:rPr>
              <a:t>Is female?</a:t>
            </a:r>
            <a:endParaRPr sz="1600">
              <a:solidFill>
                <a:schemeClr val="lt1"/>
              </a:solidFill>
              <a:latin typeface="Calibri"/>
              <a:ea typeface="Calibri"/>
              <a:cs typeface="Calibri"/>
              <a:sym typeface="Calibri"/>
            </a:endParaRPr>
          </a:p>
        </p:txBody>
      </p:sp>
      <p:cxnSp>
        <p:nvCxnSpPr>
          <p:cNvPr id="610" name="Google Shape;610;p25"/>
          <p:cNvCxnSpPr>
            <a:stCxn id="609" idx="2"/>
            <a:endCxn id="611" idx="0"/>
          </p:cNvCxnSpPr>
          <p:nvPr/>
        </p:nvCxnSpPr>
        <p:spPr>
          <a:xfrm flipH="1">
            <a:off x="7832157" y="2732391"/>
            <a:ext cx="689400" cy="341700"/>
          </a:xfrm>
          <a:prstGeom prst="straightConnector1">
            <a:avLst/>
          </a:prstGeom>
          <a:noFill/>
          <a:ln cap="flat" cmpd="sng" w="9525">
            <a:solidFill>
              <a:schemeClr val="accent1"/>
            </a:solidFill>
            <a:prstDash val="solid"/>
            <a:miter lim="800000"/>
            <a:headEnd len="sm" w="sm" type="none"/>
            <a:tailEnd len="med" w="med" type="triangle"/>
          </a:ln>
        </p:spPr>
      </p:cxnSp>
      <p:cxnSp>
        <p:nvCxnSpPr>
          <p:cNvPr id="612" name="Google Shape;612;p25"/>
          <p:cNvCxnSpPr>
            <a:stCxn id="609" idx="2"/>
            <a:endCxn id="613" idx="0"/>
          </p:cNvCxnSpPr>
          <p:nvPr/>
        </p:nvCxnSpPr>
        <p:spPr>
          <a:xfrm>
            <a:off x="8521557" y="2732391"/>
            <a:ext cx="763800" cy="341700"/>
          </a:xfrm>
          <a:prstGeom prst="straightConnector1">
            <a:avLst/>
          </a:prstGeom>
          <a:noFill/>
          <a:ln cap="flat" cmpd="sng" w="9525">
            <a:solidFill>
              <a:schemeClr val="accent1"/>
            </a:solidFill>
            <a:prstDash val="solid"/>
            <a:miter lim="800000"/>
            <a:headEnd len="sm" w="sm" type="none"/>
            <a:tailEnd len="med" w="med" type="triangle"/>
          </a:ln>
        </p:spPr>
      </p:cxnSp>
      <p:sp>
        <p:nvSpPr>
          <p:cNvPr id="611" name="Google Shape;611;p25"/>
          <p:cNvSpPr/>
          <p:nvPr/>
        </p:nvSpPr>
        <p:spPr>
          <a:xfrm>
            <a:off x="7208948" y="3073992"/>
            <a:ext cx="1246266" cy="343431"/>
          </a:xfrm>
          <a:prstGeom prst="roundRect">
            <a:avLst>
              <a:gd fmla="val 16667" name="adj"/>
            </a:avLst>
          </a:prstGeom>
          <a:solidFill>
            <a:srgbClr val="FF00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lt1"/>
                </a:solidFill>
                <a:latin typeface="Calibri"/>
                <a:ea typeface="Calibri"/>
                <a:cs typeface="Calibri"/>
                <a:sym typeface="Calibri"/>
              </a:rPr>
              <a:t>Height &lt;1.6</a:t>
            </a:r>
            <a:endParaRPr sz="1600">
              <a:solidFill>
                <a:schemeClr val="lt1"/>
              </a:solidFill>
              <a:latin typeface="Calibri"/>
              <a:ea typeface="Calibri"/>
              <a:cs typeface="Calibri"/>
              <a:sym typeface="Calibri"/>
            </a:endParaRPr>
          </a:p>
        </p:txBody>
      </p:sp>
      <p:sp>
        <p:nvSpPr>
          <p:cNvPr id="613" name="Google Shape;613;p25"/>
          <p:cNvSpPr/>
          <p:nvPr/>
        </p:nvSpPr>
        <p:spPr>
          <a:xfrm>
            <a:off x="8692261" y="3073992"/>
            <a:ext cx="1186273" cy="343431"/>
          </a:xfrm>
          <a:prstGeom prst="roundRect">
            <a:avLst>
              <a:gd fmla="val 16667" name="adj"/>
            </a:avLst>
          </a:prstGeom>
          <a:solidFill>
            <a:srgbClr val="FF00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lt1"/>
                </a:solidFill>
                <a:latin typeface="Calibri"/>
                <a:ea typeface="Calibri"/>
                <a:cs typeface="Calibri"/>
                <a:sym typeface="Calibri"/>
              </a:rPr>
              <a:t>Is not Blue?</a:t>
            </a:r>
            <a:endParaRPr sz="1600">
              <a:solidFill>
                <a:schemeClr val="lt1"/>
              </a:solidFill>
              <a:latin typeface="Calibri"/>
              <a:ea typeface="Calibri"/>
              <a:cs typeface="Calibri"/>
              <a:sym typeface="Calibri"/>
            </a:endParaRPr>
          </a:p>
        </p:txBody>
      </p:sp>
      <p:cxnSp>
        <p:nvCxnSpPr>
          <p:cNvPr id="614" name="Google Shape;614;p25"/>
          <p:cNvCxnSpPr/>
          <p:nvPr/>
        </p:nvCxnSpPr>
        <p:spPr>
          <a:xfrm flipH="1">
            <a:off x="8879743" y="3425671"/>
            <a:ext cx="424530" cy="341602"/>
          </a:xfrm>
          <a:prstGeom prst="straightConnector1">
            <a:avLst/>
          </a:prstGeom>
          <a:noFill/>
          <a:ln cap="flat" cmpd="sng" w="9525">
            <a:solidFill>
              <a:schemeClr val="accent1"/>
            </a:solidFill>
            <a:prstDash val="solid"/>
            <a:miter lim="800000"/>
            <a:headEnd len="sm" w="sm" type="none"/>
            <a:tailEnd len="med" w="med" type="triangle"/>
          </a:ln>
        </p:spPr>
      </p:cxnSp>
      <p:cxnSp>
        <p:nvCxnSpPr>
          <p:cNvPr id="615" name="Google Shape;615;p25"/>
          <p:cNvCxnSpPr/>
          <p:nvPr/>
        </p:nvCxnSpPr>
        <p:spPr>
          <a:xfrm>
            <a:off x="9304273" y="3425671"/>
            <a:ext cx="528892" cy="341602"/>
          </a:xfrm>
          <a:prstGeom prst="straightConnector1">
            <a:avLst/>
          </a:prstGeom>
          <a:noFill/>
          <a:ln cap="flat" cmpd="sng" w="9525">
            <a:solidFill>
              <a:schemeClr val="accent1"/>
            </a:solidFill>
            <a:prstDash val="solid"/>
            <a:miter lim="800000"/>
            <a:headEnd len="sm" w="sm" type="none"/>
            <a:tailEnd len="med" w="med" type="triangle"/>
          </a:ln>
        </p:spPr>
      </p:cxnSp>
      <p:cxnSp>
        <p:nvCxnSpPr>
          <p:cNvPr id="616" name="Google Shape;616;p25"/>
          <p:cNvCxnSpPr>
            <a:endCxn id="617" idx="0"/>
          </p:cNvCxnSpPr>
          <p:nvPr/>
        </p:nvCxnSpPr>
        <p:spPr>
          <a:xfrm flipH="1">
            <a:off x="7147477" y="3425573"/>
            <a:ext cx="424500" cy="341700"/>
          </a:xfrm>
          <a:prstGeom prst="straightConnector1">
            <a:avLst/>
          </a:prstGeom>
          <a:noFill/>
          <a:ln cap="flat" cmpd="sng" w="9525">
            <a:solidFill>
              <a:schemeClr val="accent1"/>
            </a:solidFill>
            <a:prstDash val="solid"/>
            <a:miter lim="800000"/>
            <a:headEnd len="sm" w="sm" type="none"/>
            <a:tailEnd len="med" w="med" type="triangle"/>
          </a:ln>
        </p:spPr>
      </p:cxnSp>
      <p:cxnSp>
        <p:nvCxnSpPr>
          <p:cNvPr id="618" name="Google Shape;618;p25"/>
          <p:cNvCxnSpPr>
            <a:endCxn id="619" idx="0"/>
          </p:cNvCxnSpPr>
          <p:nvPr/>
        </p:nvCxnSpPr>
        <p:spPr>
          <a:xfrm>
            <a:off x="7572000" y="3425573"/>
            <a:ext cx="528900" cy="341700"/>
          </a:xfrm>
          <a:prstGeom prst="straightConnector1">
            <a:avLst/>
          </a:prstGeom>
          <a:noFill/>
          <a:ln cap="flat" cmpd="sng" w="9525">
            <a:solidFill>
              <a:schemeClr val="accent1"/>
            </a:solidFill>
            <a:prstDash val="solid"/>
            <a:miter lim="800000"/>
            <a:headEnd len="sm" w="sm" type="none"/>
            <a:tailEnd len="med" w="med" type="triangle"/>
          </a:ln>
        </p:spPr>
      </p:cxnSp>
      <p:sp>
        <p:nvSpPr>
          <p:cNvPr id="617" name="Google Shape;617;p25"/>
          <p:cNvSpPr/>
          <p:nvPr/>
        </p:nvSpPr>
        <p:spPr>
          <a:xfrm>
            <a:off x="6789291" y="3767273"/>
            <a:ext cx="716373"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400">
                <a:solidFill>
                  <a:srgbClr val="FF0000"/>
                </a:solidFill>
                <a:latin typeface="Calibri"/>
                <a:ea typeface="Calibri"/>
                <a:cs typeface="Calibri"/>
                <a:sym typeface="Calibri"/>
              </a:rPr>
              <a:t>-14.7</a:t>
            </a:r>
            <a:endParaRPr sz="1400">
              <a:solidFill>
                <a:srgbClr val="FF0000"/>
              </a:solidFill>
              <a:latin typeface="Calibri"/>
              <a:ea typeface="Calibri"/>
              <a:cs typeface="Calibri"/>
              <a:sym typeface="Calibri"/>
            </a:endParaRPr>
          </a:p>
        </p:txBody>
      </p:sp>
      <p:sp>
        <p:nvSpPr>
          <p:cNvPr id="619" name="Google Shape;619;p25"/>
          <p:cNvSpPr/>
          <p:nvPr/>
        </p:nvSpPr>
        <p:spPr>
          <a:xfrm>
            <a:off x="7742713" y="3767273"/>
            <a:ext cx="716374"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400">
                <a:solidFill>
                  <a:srgbClr val="FF0000"/>
                </a:solidFill>
                <a:latin typeface="Calibri"/>
                <a:ea typeface="Calibri"/>
                <a:cs typeface="Calibri"/>
                <a:sym typeface="Calibri"/>
              </a:rPr>
              <a:t>4.8</a:t>
            </a:r>
            <a:endParaRPr sz="1400">
              <a:solidFill>
                <a:srgbClr val="FF0000"/>
              </a:solidFill>
              <a:latin typeface="Calibri"/>
              <a:ea typeface="Calibri"/>
              <a:cs typeface="Calibri"/>
              <a:sym typeface="Calibri"/>
            </a:endParaRPr>
          </a:p>
        </p:txBody>
      </p:sp>
      <p:sp>
        <p:nvSpPr>
          <p:cNvPr id="620" name="Google Shape;620;p25"/>
          <p:cNvSpPr/>
          <p:nvPr/>
        </p:nvSpPr>
        <p:spPr>
          <a:xfrm>
            <a:off x="8521556" y="3786436"/>
            <a:ext cx="716373"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400">
                <a:solidFill>
                  <a:srgbClr val="FF0000"/>
                </a:solidFill>
                <a:latin typeface="Calibri"/>
                <a:ea typeface="Calibri"/>
                <a:cs typeface="Calibri"/>
                <a:sym typeface="Calibri"/>
              </a:rPr>
              <a:t>3.8</a:t>
            </a:r>
            <a:endParaRPr sz="1400">
              <a:solidFill>
                <a:srgbClr val="FF0000"/>
              </a:solidFill>
              <a:latin typeface="Calibri"/>
              <a:ea typeface="Calibri"/>
              <a:cs typeface="Calibri"/>
              <a:sym typeface="Calibri"/>
            </a:endParaRPr>
          </a:p>
        </p:txBody>
      </p:sp>
      <p:sp>
        <p:nvSpPr>
          <p:cNvPr id="621" name="Google Shape;621;p25"/>
          <p:cNvSpPr/>
          <p:nvPr/>
        </p:nvSpPr>
        <p:spPr>
          <a:xfrm>
            <a:off x="9474978" y="3786436"/>
            <a:ext cx="716374"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400">
                <a:solidFill>
                  <a:srgbClr val="FF0000"/>
                </a:solidFill>
                <a:latin typeface="Calibri"/>
                <a:ea typeface="Calibri"/>
                <a:cs typeface="Calibri"/>
                <a:sym typeface="Calibri"/>
              </a:rPr>
              <a:t>16.8</a:t>
            </a:r>
            <a:endParaRPr sz="1400">
              <a:solidFill>
                <a:srgbClr val="FF0000"/>
              </a:solidFill>
              <a:latin typeface="Calibri"/>
              <a:ea typeface="Calibri"/>
              <a:cs typeface="Calibri"/>
              <a:sym typeface="Calibri"/>
            </a:endParaRPr>
          </a:p>
        </p:txBody>
      </p:sp>
      <p:sp>
        <p:nvSpPr>
          <p:cNvPr id="622" name="Google Shape;622;p25"/>
          <p:cNvSpPr txBox="1"/>
          <p:nvPr/>
        </p:nvSpPr>
        <p:spPr>
          <a:xfrm>
            <a:off x="7054761" y="3407682"/>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623" name="Google Shape;623;p25"/>
          <p:cNvSpPr txBox="1"/>
          <p:nvPr/>
        </p:nvSpPr>
        <p:spPr>
          <a:xfrm>
            <a:off x="7848410" y="2704372"/>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624" name="Google Shape;624;p25"/>
          <p:cNvSpPr txBox="1"/>
          <p:nvPr/>
        </p:nvSpPr>
        <p:spPr>
          <a:xfrm>
            <a:off x="8960942" y="2704372"/>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625" name="Google Shape;625;p25"/>
          <p:cNvSpPr txBox="1"/>
          <p:nvPr/>
        </p:nvSpPr>
        <p:spPr>
          <a:xfrm>
            <a:off x="9674087" y="3397941"/>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626" name="Google Shape;626;p25"/>
          <p:cNvSpPr txBox="1"/>
          <p:nvPr/>
        </p:nvSpPr>
        <p:spPr>
          <a:xfrm>
            <a:off x="7890579" y="3380223"/>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627" name="Google Shape;627;p25"/>
          <p:cNvSpPr txBox="1"/>
          <p:nvPr/>
        </p:nvSpPr>
        <p:spPr>
          <a:xfrm>
            <a:off x="8839969" y="3379281"/>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628" name="Google Shape;628;p25"/>
          <p:cNvSpPr/>
          <p:nvPr/>
        </p:nvSpPr>
        <p:spPr>
          <a:xfrm>
            <a:off x="5235626" y="4247825"/>
            <a:ext cx="6096000" cy="1200329"/>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CA" sz="1800">
                <a:latin typeface="Calibri"/>
                <a:ea typeface="Calibri"/>
                <a:cs typeface="Calibri"/>
                <a:sym typeface="Calibri"/>
              </a:rPr>
              <a:t> </a:t>
            </a:r>
            <a:endParaRPr/>
          </a:p>
        </p:txBody>
      </p:sp>
      <p:sp>
        <p:nvSpPr>
          <p:cNvPr id="629" name="Google Shape;629;p25"/>
          <p:cNvSpPr/>
          <p:nvPr/>
        </p:nvSpPr>
        <p:spPr>
          <a:xfrm>
            <a:off x="803915" y="5875948"/>
            <a:ext cx="570165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400" u="sng">
                <a:solidFill>
                  <a:schemeClr val="dk1"/>
                </a:solidFill>
                <a:latin typeface="Calibri"/>
                <a:ea typeface="Calibri"/>
                <a:cs typeface="Calibri"/>
                <a:sym typeface="Calibri"/>
                <a:hlinkClick r:id="rId5">
                  <a:extLst>
                    <a:ext uri="{A12FA001-AC4F-418D-AE19-62706E023703}">
                      <ahyp:hlinkClr val="tx"/>
                    </a:ext>
                  </a:extLst>
                </a:hlinkClick>
              </a:rPr>
              <a:t>Example adopted from the awesome StatQuest (by Josh Starmer): https://www.youtube.com/watch?v=3CC4N4z3GJc&amp;t=87s</a:t>
            </a:r>
            <a:endParaRPr sz="1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8"/>
                                        </p:tgtEl>
                                        <p:attrNameLst>
                                          <p:attrName>style.visibility</p:attrName>
                                        </p:attrNameLst>
                                      </p:cBhvr>
                                      <p:to>
                                        <p:strVal val="visible"/>
                                      </p:to>
                                    </p:set>
                                    <p:animEffect filter="fade" transition="in">
                                      <p:cBhvr>
                                        <p:cTn dur="500"/>
                                        <p:tgtEl>
                                          <p:spTgt spid="588"/>
                                        </p:tgtEl>
                                      </p:cBhvr>
                                    </p:animEffect>
                                  </p:childTnLst>
                                </p:cTn>
                              </p:par>
                              <p:par>
                                <p:cTn fill="hold" nodeType="withEffect" presetClass="entr" presetID="10" presetSubtype="0">
                                  <p:stCondLst>
                                    <p:cond delay="0"/>
                                  </p:stCondLst>
                                  <p:childTnLst>
                                    <p:set>
                                      <p:cBhvr>
                                        <p:cTn dur="1" fill="hold">
                                          <p:stCondLst>
                                            <p:cond delay="0"/>
                                          </p:stCondLst>
                                        </p:cTn>
                                        <p:tgtEl>
                                          <p:spTgt spid="589"/>
                                        </p:tgtEl>
                                        <p:attrNameLst>
                                          <p:attrName>style.visibility</p:attrName>
                                        </p:attrNameLst>
                                      </p:cBhvr>
                                      <p:to>
                                        <p:strVal val="visible"/>
                                      </p:to>
                                    </p:set>
                                    <p:animEffect filter="fade" transition="in">
                                      <p:cBhvr>
                                        <p:cTn dur="500"/>
                                        <p:tgtEl>
                                          <p:spTgt spid="589"/>
                                        </p:tgtEl>
                                      </p:cBhvr>
                                    </p:animEffect>
                                  </p:childTnLst>
                                </p:cTn>
                              </p:par>
                              <p:par>
                                <p:cTn fill="hold" nodeType="withEffect" presetClass="entr" presetID="10" presetSubtype="0">
                                  <p:stCondLst>
                                    <p:cond delay="0"/>
                                  </p:stCondLst>
                                  <p:childTnLst>
                                    <p:set>
                                      <p:cBhvr>
                                        <p:cTn dur="1" fill="hold">
                                          <p:stCondLst>
                                            <p:cond delay="0"/>
                                          </p:stCondLst>
                                        </p:cTn>
                                        <p:tgtEl>
                                          <p:spTgt spid="591"/>
                                        </p:tgtEl>
                                        <p:attrNameLst>
                                          <p:attrName>style.visibility</p:attrName>
                                        </p:attrNameLst>
                                      </p:cBhvr>
                                      <p:to>
                                        <p:strVal val="visible"/>
                                      </p:to>
                                    </p:set>
                                    <p:animEffect filter="fade" transition="in">
                                      <p:cBhvr>
                                        <p:cTn dur="500"/>
                                        <p:tgtEl>
                                          <p:spTgt spid="591"/>
                                        </p:tgtEl>
                                      </p:cBhvr>
                                    </p:animEffect>
                                  </p:childTnLst>
                                </p:cTn>
                              </p:par>
                              <p:par>
                                <p:cTn fill="hold" nodeType="withEffect" presetClass="entr" presetID="10" presetSubtype="0">
                                  <p:stCondLst>
                                    <p:cond delay="0"/>
                                  </p:stCondLst>
                                  <p:childTnLst>
                                    <p:set>
                                      <p:cBhvr>
                                        <p:cTn dur="1" fill="hold">
                                          <p:stCondLst>
                                            <p:cond delay="0"/>
                                          </p:stCondLst>
                                        </p:cTn>
                                        <p:tgtEl>
                                          <p:spTgt spid="590"/>
                                        </p:tgtEl>
                                        <p:attrNameLst>
                                          <p:attrName>style.visibility</p:attrName>
                                        </p:attrNameLst>
                                      </p:cBhvr>
                                      <p:to>
                                        <p:strVal val="visible"/>
                                      </p:to>
                                    </p:set>
                                    <p:animEffect filter="fade" transition="in">
                                      <p:cBhvr>
                                        <p:cTn dur="500"/>
                                        <p:tgtEl>
                                          <p:spTgt spid="590"/>
                                        </p:tgtEl>
                                      </p:cBhvr>
                                    </p:animEffect>
                                  </p:childTnLst>
                                </p:cTn>
                              </p:par>
                              <p:par>
                                <p:cTn fill="hold" nodeType="withEffect" presetClass="entr" presetID="10" presetSubtype="0">
                                  <p:stCondLst>
                                    <p:cond delay="0"/>
                                  </p:stCondLst>
                                  <p:childTnLst>
                                    <p:set>
                                      <p:cBhvr>
                                        <p:cTn dur="1" fill="hold">
                                          <p:stCondLst>
                                            <p:cond delay="0"/>
                                          </p:stCondLst>
                                        </p:cTn>
                                        <p:tgtEl>
                                          <p:spTgt spid="592"/>
                                        </p:tgtEl>
                                        <p:attrNameLst>
                                          <p:attrName>style.visibility</p:attrName>
                                        </p:attrNameLst>
                                      </p:cBhvr>
                                      <p:to>
                                        <p:strVal val="visible"/>
                                      </p:to>
                                    </p:set>
                                    <p:animEffect filter="fade" transition="in">
                                      <p:cBhvr>
                                        <p:cTn dur="500"/>
                                        <p:tgtEl>
                                          <p:spTgt spid="592"/>
                                        </p:tgtEl>
                                      </p:cBhvr>
                                    </p:animEffect>
                                  </p:childTnLst>
                                </p:cTn>
                              </p:par>
                              <p:par>
                                <p:cTn fill="hold" nodeType="withEffect" presetClass="entr" presetID="10" presetSubtype="0">
                                  <p:stCondLst>
                                    <p:cond delay="0"/>
                                  </p:stCondLst>
                                  <p:childTnLst>
                                    <p:set>
                                      <p:cBhvr>
                                        <p:cTn dur="1" fill="hold">
                                          <p:stCondLst>
                                            <p:cond delay="0"/>
                                          </p:stCondLst>
                                        </p:cTn>
                                        <p:tgtEl>
                                          <p:spTgt spid="593"/>
                                        </p:tgtEl>
                                        <p:attrNameLst>
                                          <p:attrName>style.visibility</p:attrName>
                                        </p:attrNameLst>
                                      </p:cBhvr>
                                      <p:to>
                                        <p:strVal val="visible"/>
                                      </p:to>
                                    </p:set>
                                    <p:animEffect filter="fade" transition="in">
                                      <p:cBhvr>
                                        <p:cTn dur="500"/>
                                        <p:tgtEl>
                                          <p:spTgt spid="593"/>
                                        </p:tgtEl>
                                      </p:cBhvr>
                                    </p:animEffect>
                                  </p:childTnLst>
                                </p:cTn>
                              </p:par>
                              <p:par>
                                <p:cTn fill="hold" nodeType="withEffect" presetClass="entr" presetID="10" presetSubtype="0">
                                  <p:stCondLst>
                                    <p:cond delay="0"/>
                                  </p:stCondLst>
                                  <p:childTnLst>
                                    <p:set>
                                      <p:cBhvr>
                                        <p:cTn dur="1" fill="hold">
                                          <p:stCondLst>
                                            <p:cond delay="0"/>
                                          </p:stCondLst>
                                        </p:cTn>
                                        <p:tgtEl>
                                          <p:spTgt spid="594"/>
                                        </p:tgtEl>
                                        <p:attrNameLst>
                                          <p:attrName>style.visibility</p:attrName>
                                        </p:attrNameLst>
                                      </p:cBhvr>
                                      <p:to>
                                        <p:strVal val="visible"/>
                                      </p:to>
                                    </p:set>
                                    <p:animEffect filter="fade" transition="in">
                                      <p:cBhvr>
                                        <p:cTn dur="500"/>
                                        <p:tgtEl>
                                          <p:spTgt spid="594"/>
                                        </p:tgtEl>
                                      </p:cBhvr>
                                    </p:animEffect>
                                  </p:childTnLst>
                                </p:cTn>
                              </p:par>
                              <p:par>
                                <p:cTn fill="hold" nodeType="withEffect" presetClass="entr" presetID="10" presetSubtype="0">
                                  <p:stCondLst>
                                    <p:cond delay="0"/>
                                  </p:stCondLst>
                                  <p:childTnLst>
                                    <p:set>
                                      <p:cBhvr>
                                        <p:cTn dur="1" fill="hold">
                                          <p:stCondLst>
                                            <p:cond delay="0"/>
                                          </p:stCondLst>
                                        </p:cTn>
                                        <p:tgtEl>
                                          <p:spTgt spid="595"/>
                                        </p:tgtEl>
                                        <p:attrNameLst>
                                          <p:attrName>style.visibility</p:attrName>
                                        </p:attrNameLst>
                                      </p:cBhvr>
                                      <p:to>
                                        <p:strVal val="visible"/>
                                      </p:to>
                                    </p:set>
                                    <p:animEffect filter="fade" transition="in">
                                      <p:cBhvr>
                                        <p:cTn dur="500"/>
                                        <p:tgtEl>
                                          <p:spTgt spid="595"/>
                                        </p:tgtEl>
                                      </p:cBhvr>
                                    </p:animEffect>
                                  </p:childTnLst>
                                </p:cTn>
                              </p:par>
                              <p:par>
                                <p:cTn fill="hold" nodeType="withEffect" presetClass="entr" presetID="10" presetSubtype="0">
                                  <p:stCondLst>
                                    <p:cond delay="0"/>
                                  </p:stCondLst>
                                  <p:childTnLst>
                                    <p:set>
                                      <p:cBhvr>
                                        <p:cTn dur="1" fill="hold">
                                          <p:stCondLst>
                                            <p:cond delay="0"/>
                                          </p:stCondLst>
                                        </p:cTn>
                                        <p:tgtEl>
                                          <p:spTgt spid="597"/>
                                        </p:tgtEl>
                                        <p:attrNameLst>
                                          <p:attrName>style.visibility</p:attrName>
                                        </p:attrNameLst>
                                      </p:cBhvr>
                                      <p:to>
                                        <p:strVal val="visible"/>
                                      </p:to>
                                    </p:set>
                                    <p:animEffect filter="fade" transition="in">
                                      <p:cBhvr>
                                        <p:cTn dur="500"/>
                                        <p:tgtEl>
                                          <p:spTgt spid="597"/>
                                        </p:tgtEl>
                                      </p:cBhvr>
                                    </p:animEffect>
                                  </p:childTnLst>
                                </p:cTn>
                              </p:par>
                              <p:par>
                                <p:cTn fill="hold" nodeType="withEffect" presetClass="entr" presetID="10" presetSubtype="0">
                                  <p:stCondLst>
                                    <p:cond delay="0"/>
                                  </p:stCondLst>
                                  <p:childTnLst>
                                    <p:set>
                                      <p:cBhvr>
                                        <p:cTn dur="1" fill="hold">
                                          <p:stCondLst>
                                            <p:cond delay="0"/>
                                          </p:stCondLst>
                                        </p:cTn>
                                        <p:tgtEl>
                                          <p:spTgt spid="596"/>
                                        </p:tgtEl>
                                        <p:attrNameLst>
                                          <p:attrName>style.visibility</p:attrName>
                                        </p:attrNameLst>
                                      </p:cBhvr>
                                      <p:to>
                                        <p:strVal val="visible"/>
                                      </p:to>
                                    </p:set>
                                    <p:animEffect filter="fade" transition="in">
                                      <p:cBhvr>
                                        <p:cTn dur="500"/>
                                        <p:tgtEl>
                                          <p:spTgt spid="596"/>
                                        </p:tgtEl>
                                      </p:cBhvr>
                                    </p:animEffect>
                                  </p:childTnLst>
                                </p:cTn>
                              </p:par>
                              <p:par>
                                <p:cTn fill="hold" nodeType="withEffect" presetClass="entr" presetID="10" presetSubtype="0">
                                  <p:stCondLst>
                                    <p:cond delay="0"/>
                                  </p:stCondLst>
                                  <p:childTnLst>
                                    <p:set>
                                      <p:cBhvr>
                                        <p:cTn dur="1" fill="hold">
                                          <p:stCondLst>
                                            <p:cond delay="0"/>
                                          </p:stCondLst>
                                        </p:cTn>
                                        <p:tgtEl>
                                          <p:spTgt spid="598"/>
                                        </p:tgtEl>
                                        <p:attrNameLst>
                                          <p:attrName>style.visibility</p:attrName>
                                        </p:attrNameLst>
                                      </p:cBhvr>
                                      <p:to>
                                        <p:strVal val="visible"/>
                                      </p:to>
                                    </p:set>
                                    <p:animEffect filter="fade" transition="in">
                                      <p:cBhvr>
                                        <p:cTn dur="500"/>
                                        <p:tgtEl>
                                          <p:spTgt spid="598"/>
                                        </p:tgtEl>
                                      </p:cBhvr>
                                    </p:animEffect>
                                  </p:childTnLst>
                                </p:cTn>
                              </p:par>
                              <p:par>
                                <p:cTn fill="hold" nodeType="withEffect" presetClass="entr" presetID="10" presetSubtype="0">
                                  <p:stCondLst>
                                    <p:cond delay="0"/>
                                  </p:stCondLst>
                                  <p:childTnLst>
                                    <p:set>
                                      <p:cBhvr>
                                        <p:cTn dur="1" fill="hold">
                                          <p:stCondLst>
                                            <p:cond delay="0"/>
                                          </p:stCondLst>
                                        </p:cTn>
                                        <p:tgtEl>
                                          <p:spTgt spid="600"/>
                                        </p:tgtEl>
                                        <p:attrNameLst>
                                          <p:attrName>style.visibility</p:attrName>
                                        </p:attrNameLst>
                                      </p:cBhvr>
                                      <p:to>
                                        <p:strVal val="visible"/>
                                      </p:to>
                                    </p:set>
                                    <p:animEffect filter="fade" transition="in">
                                      <p:cBhvr>
                                        <p:cTn dur="500"/>
                                        <p:tgtEl>
                                          <p:spTgt spid="600"/>
                                        </p:tgtEl>
                                      </p:cBhvr>
                                    </p:animEffect>
                                  </p:childTnLst>
                                </p:cTn>
                              </p:par>
                              <p:par>
                                <p:cTn fill="hold" nodeType="withEffect" presetClass="entr" presetID="10" presetSubtype="0">
                                  <p:stCondLst>
                                    <p:cond delay="0"/>
                                  </p:stCondLst>
                                  <p:childTnLst>
                                    <p:set>
                                      <p:cBhvr>
                                        <p:cTn dur="1" fill="hold">
                                          <p:stCondLst>
                                            <p:cond delay="0"/>
                                          </p:stCondLst>
                                        </p:cTn>
                                        <p:tgtEl>
                                          <p:spTgt spid="601"/>
                                        </p:tgtEl>
                                        <p:attrNameLst>
                                          <p:attrName>style.visibility</p:attrName>
                                        </p:attrNameLst>
                                      </p:cBhvr>
                                      <p:to>
                                        <p:strVal val="visible"/>
                                      </p:to>
                                    </p:set>
                                    <p:animEffect filter="fade" transition="in">
                                      <p:cBhvr>
                                        <p:cTn dur="500"/>
                                        <p:tgtEl>
                                          <p:spTgt spid="601"/>
                                        </p:tgtEl>
                                      </p:cBhvr>
                                    </p:animEffect>
                                  </p:childTnLst>
                                </p:cTn>
                              </p:par>
                              <p:par>
                                <p:cTn fill="hold" nodeType="withEffect" presetClass="entr" presetID="10" presetSubtype="0">
                                  <p:stCondLst>
                                    <p:cond delay="0"/>
                                  </p:stCondLst>
                                  <p:childTnLst>
                                    <p:set>
                                      <p:cBhvr>
                                        <p:cTn dur="1" fill="hold">
                                          <p:stCondLst>
                                            <p:cond delay="0"/>
                                          </p:stCondLst>
                                        </p:cTn>
                                        <p:tgtEl>
                                          <p:spTgt spid="602"/>
                                        </p:tgtEl>
                                        <p:attrNameLst>
                                          <p:attrName>style.visibility</p:attrName>
                                        </p:attrNameLst>
                                      </p:cBhvr>
                                      <p:to>
                                        <p:strVal val="visible"/>
                                      </p:to>
                                    </p:set>
                                    <p:animEffect filter="fade" transition="in">
                                      <p:cBhvr>
                                        <p:cTn dur="500"/>
                                        <p:tgtEl>
                                          <p:spTgt spid="602"/>
                                        </p:tgtEl>
                                      </p:cBhvr>
                                    </p:animEffect>
                                  </p:childTnLst>
                                </p:cTn>
                              </p:par>
                              <p:par>
                                <p:cTn fill="hold" nodeType="withEffect" presetClass="entr" presetID="10" presetSubtype="0">
                                  <p:stCondLst>
                                    <p:cond delay="0"/>
                                  </p:stCondLst>
                                  <p:childTnLst>
                                    <p:set>
                                      <p:cBhvr>
                                        <p:cTn dur="1" fill="hold">
                                          <p:stCondLst>
                                            <p:cond delay="0"/>
                                          </p:stCondLst>
                                        </p:cTn>
                                        <p:tgtEl>
                                          <p:spTgt spid="603"/>
                                        </p:tgtEl>
                                        <p:attrNameLst>
                                          <p:attrName>style.visibility</p:attrName>
                                        </p:attrNameLst>
                                      </p:cBhvr>
                                      <p:to>
                                        <p:strVal val="visible"/>
                                      </p:to>
                                    </p:set>
                                    <p:animEffect filter="fade" transition="in">
                                      <p:cBhvr>
                                        <p:cTn dur="500"/>
                                        <p:tgtEl>
                                          <p:spTgt spid="603"/>
                                        </p:tgtEl>
                                      </p:cBhvr>
                                    </p:animEffect>
                                  </p:childTnLst>
                                </p:cTn>
                              </p:par>
                              <p:par>
                                <p:cTn fill="hold" nodeType="withEffect" presetClass="entr" presetID="10" presetSubtype="0">
                                  <p:stCondLst>
                                    <p:cond delay="0"/>
                                  </p:stCondLst>
                                  <p:childTnLst>
                                    <p:set>
                                      <p:cBhvr>
                                        <p:cTn dur="1" fill="hold">
                                          <p:stCondLst>
                                            <p:cond delay="0"/>
                                          </p:stCondLst>
                                        </p:cTn>
                                        <p:tgtEl>
                                          <p:spTgt spid="604"/>
                                        </p:tgtEl>
                                        <p:attrNameLst>
                                          <p:attrName>style.visibility</p:attrName>
                                        </p:attrNameLst>
                                      </p:cBhvr>
                                      <p:to>
                                        <p:strVal val="visible"/>
                                      </p:to>
                                    </p:set>
                                    <p:animEffect filter="fade" transition="in">
                                      <p:cBhvr>
                                        <p:cTn dur="500"/>
                                        <p:tgtEl>
                                          <p:spTgt spid="604"/>
                                        </p:tgtEl>
                                      </p:cBhvr>
                                    </p:animEffect>
                                  </p:childTnLst>
                                </p:cTn>
                              </p:par>
                              <p:par>
                                <p:cTn fill="hold" nodeType="withEffect" presetClass="entr" presetID="10" presetSubtype="0">
                                  <p:stCondLst>
                                    <p:cond delay="0"/>
                                  </p:stCondLst>
                                  <p:childTnLst>
                                    <p:set>
                                      <p:cBhvr>
                                        <p:cTn dur="1" fill="hold">
                                          <p:stCondLst>
                                            <p:cond delay="0"/>
                                          </p:stCondLst>
                                        </p:cTn>
                                        <p:tgtEl>
                                          <p:spTgt spid="605"/>
                                        </p:tgtEl>
                                        <p:attrNameLst>
                                          <p:attrName>style.visibility</p:attrName>
                                        </p:attrNameLst>
                                      </p:cBhvr>
                                      <p:to>
                                        <p:strVal val="visible"/>
                                      </p:to>
                                    </p:set>
                                    <p:animEffect filter="fade" transition="in">
                                      <p:cBhvr>
                                        <p:cTn dur="500"/>
                                        <p:tgtEl>
                                          <p:spTgt spid="605"/>
                                        </p:tgtEl>
                                      </p:cBhvr>
                                    </p:animEffect>
                                  </p:childTnLst>
                                </p:cTn>
                              </p:par>
                              <p:par>
                                <p:cTn fill="hold" nodeType="withEffect" presetClass="entr" presetID="10" presetSubtype="0">
                                  <p:stCondLst>
                                    <p:cond delay="0"/>
                                  </p:stCondLst>
                                  <p:childTnLst>
                                    <p:set>
                                      <p:cBhvr>
                                        <p:cTn dur="1" fill="hold">
                                          <p:stCondLst>
                                            <p:cond delay="0"/>
                                          </p:stCondLst>
                                        </p:cTn>
                                        <p:tgtEl>
                                          <p:spTgt spid="606"/>
                                        </p:tgtEl>
                                        <p:attrNameLst>
                                          <p:attrName>style.visibility</p:attrName>
                                        </p:attrNameLst>
                                      </p:cBhvr>
                                      <p:to>
                                        <p:strVal val="visible"/>
                                      </p:to>
                                    </p:set>
                                    <p:animEffect filter="fade" transition="in">
                                      <p:cBhvr>
                                        <p:cTn dur="500"/>
                                        <p:tgtEl>
                                          <p:spTgt spid="606"/>
                                        </p:tgtEl>
                                      </p:cBhvr>
                                    </p:animEffect>
                                  </p:childTnLst>
                                </p:cTn>
                              </p:par>
                              <p:par>
                                <p:cTn fill="hold" nodeType="withEffect" presetClass="entr" presetID="10" presetSubtype="0">
                                  <p:stCondLst>
                                    <p:cond delay="0"/>
                                  </p:stCondLst>
                                  <p:childTnLst>
                                    <p:set>
                                      <p:cBhvr>
                                        <p:cTn dur="1" fill="hold">
                                          <p:stCondLst>
                                            <p:cond delay="0"/>
                                          </p:stCondLst>
                                        </p:cTn>
                                        <p:tgtEl>
                                          <p:spTgt spid="607"/>
                                        </p:tgtEl>
                                        <p:attrNameLst>
                                          <p:attrName>style.visibility</p:attrName>
                                        </p:attrNameLst>
                                      </p:cBhvr>
                                      <p:to>
                                        <p:strVal val="visible"/>
                                      </p:to>
                                    </p:set>
                                    <p:animEffect filter="fade" transition="in">
                                      <p:cBhvr>
                                        <p:cTn dur="500"/>
                                        <p:tgtEl>
                                          <p:spTgt spid="6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08"/>
                                        </p:tgtEl>
                                        <p:attrNameLst>
                                          <p:attrName>style.visibility</p:attrName>
                                        </p:attrNameLst>
                                      </p:cBhvr>
                                      <p:to>
                                        <p:strVal val="visible"/>
                                      </p:to>
                                    </p:set>
                                    <p:anim calcmode="lin" valueType="num">
                                      <p:cBhvr additive="base">
                                        <p:cTn dur="500"/>
                                        <p:tgtEl>
                                          <p:spTgt spid="60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09"/>
                                        </p:tgtEl>
                                        <p:attrNameLst>
                                          <p:attrName>style.visibility</p:attrName>
                                        </p:attrNameLst>
                                      </p:cBhvr>
                                      <p:to>
                                        <p:strVal val="visible"/>
                                      </p:to>
                                    </p:set>
                                    <p:anim calcmode="lin" valueType="num">
                                      <p:cBhvr additive="base">
                                        <p:cTn dur="500"/>
                                        <p:tgtEl>
                                          <p:spTgt spid="60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10"/>
                                        </p:tgtEl>
                                        <p:attrNameLst>
                                          <p:attrName>style.visibility</p:attrName>
                                        </p:attrNameLst>
                                      </p:cBhvr>
                                      <p:to>
                                        <p:strVal val="visible"/>
                                      </p:to>
                                    </p:set>
                                    <p:anim calcmode="lin" valueType="num">
                                      <p:cBhvr additive="base">
                                        <p:cTn dur="500"/>
                                        <p:tgtEl>
                                          <p:spTgt spid="61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12"/>
                                        </p:tgtEl>
                                        <p:attrNameLst>
                                          <p:attrName>style.visibility</p:attrName>
                                        </p:attrNameLst>
                                      </p:cBhvr>
                                      <p:to>
                                        <p:strVal val="visible"/>
                                      </p:to>
                                    </p:set>
                                    <p:anim calcmode="lin" valueType="num">
                                      <p:cBhvr additive="base">
                                        <p:cTn dur="500"/>
                                        <p:tgtEl>
                                          <p:spTgt spid="61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11"/>
                                        </p:tgtEl>
                                        <p:attrNameLst>
                                          <p:attrName>style.visibility</p:attrName>
                                        </p:attrNameLst>
                                      </p:cBhvr>
                                      <p:to>
                                        <p:strVal val="visible"/>
                                      </p:to>
                                    </p:set>
                                    <p:anim calcmode="lin" valueType="num">
                                      <p:cBhvr additive="base">
                                        <p:cTn dur="500"/>
                                        <p:tgtEl>
                                          <p:spTgt spid="61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13"/>
                                        </p:tgtEl>
                                        <p:attrNameLst>
                                          <p:attrName>style.visibility</p:attrName>
                                        </p:attrNameLst>
                                      </p:cBhvr>
                                      <p:to>
                                        <p:strVal val="visible"/>
                                      </p:to>
                                    </p:set>
                                    <p:anim calcmode="lin" valueType="num">
                                      <p:cBhvr additive="base">
                                        <p:cTn dur="500"/>
                                        <p:tgtEl>
                                          <p:spTgt spid="61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14"/>
                                        </p:tgtEl>
                                        <p:attrNameLst>
                                          <p:attrName>style.visibility</p:attrName>
                                        </p:attrNameLst>
                                      </p:cBhvr>
                                      <p:to>
                                        <p:strVal val="visible"/>
                                      </p:to>
                                    </p:set>
                                    <p:anim calcmode="lin" valueType="num">
                                      <p:cBhvr additive="base">
                                        <p:cTn dur="500"/>
                                        <p:tgtEl>
                                          <p:spTgt spid="61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15"/>
                                        </p:tgtEl>
                                        <p:attrNameLst>
                                          <p:attrName>style.visibility</p:attrName>
                                        </p:attrNameLst>
                                      </p:cBhvr>
                                      <p:to>
                                        <p:strVal val="visible"/>
                                      </p:to>
                                    </p:set>
                                    <p:anim calcmode="lin" valueType="num">
                                      <p:cBhvr additive="base">
                                        <p:cTn dur="500"/>
                                        <p:tgtEl>
                                          <p:spTgt spid="61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16"/>
                                        </p:tgtEl>
                                        <p:attrNameLst>
                                          <p:attrName>style.visibility</p:attrName>
                                        </p:attrNameLst>
                                      </p:cBhvr>
                                      <p:to>
                                        <p:strVal val="visible"/>
                                      </p:to>
                                    </p:set>
                                    <p:anim calcmode="lin" valueType="num">
                                      <p:cBhvr additive="base">
                                        <p:cTn dur="500"/>
                                        <p:tgtEl>
                                          <p:spTgt spid="61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18"/>
                                        </p:tgtEl>
                                        <p:attrNameLst>
                                          <p:attrName>style.visibility</p:attrName>
                                        </p:attrNameLst>
                                      </p:cBhvr>
                                      <p:to>
                                        <p:strVal val="visible"/>
                                      </p:to>
                                    </p:set>
                                    <p:anim calcmode="lin" valueType="num">
                                      <p:cBhvr additive="base">
                                        <p:cTn dur="500"/>
                                        <p:tgtEl>
                                          <p:spTgt spid="61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17"/>
                                        </p:tgtEl>
                                        <p:attrNameLst>
                                          <p:attrName>style.visibility</p:attrName>
                                        </p:attrNameLst>
                                      </p:cBhvr>
                                      <p:to>
                                        <p:strVal val="visible"/>
                                      </p:to>
                                    </p:set>
                                    <p:anim calcmode="lin" valueType="num">
                                      <p:cBhvr additive="base">
                                        <p:cTn dur="500"/>
                                        <p:tgtEl>
                                          <p:spTgt spid="61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19"/>
                                        </p:tgtEl>
                                        <p:attrNameLst>
                                          <p:attrName>style.visibility</p:attrName>
                                        </p:attrNameLst>
                                      </p:cBhvr>
                                      <p:to>
                                        <p:strVal val="visible"/>
                                      </p:to>
                                    </p:set>
                                    <p:anim calcmode="lin" valueType="num">
                                      <p:cBhvr additive="base">
                                        <p:cTn dur="500"/>
                                        <p:tgtEl>
                                          <p:spTgt spid="61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20"/>
                                        </p:tgtEl>
                                        <p:attrNameLst>
                                          <p:attrName>style.visibility</p:attrName>
                                        </p:attrNameLst>
                                      </p:cBhvr>
                                      <p:to>
                                        <p:strVal val="visible"/>
                                      </p:to>
                                    </p:set>
                                    <p:anim calcmode="lin" valueType="num">
                                      <p:cBhvr additive="base">
                                        <p:cTn dur="500"/>
                                        <p:tgtEl>
                                          <p:spTgt spid="62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21"/>
                                        </p:tgtEl>
                                        <p:attrNameLst>
                                          <p:attrName>style.visibility</p:attrName>
                                        </p:attrNameLst>
                                      </p:cBhvr>
                                      <p:to>
                                        <p:strVal val="visible"/>
                                      </p:to>
                                    </p:set>
                                    <p:anim calcmode="lin" valueType="num">
                                      <p:cBhvr additive="base">
                                        <p:cTn dur="500"/>
                                        <p:tgtEl>
                                          <p:spTgt spid="62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22"/>
                                        </p:tgtEl>
                                        <p:attrNameLst>
                                          <p:attrName>style.visibility</p:attrName>
                                        </p:attrNameLst>
                                      </p:cBhvr>
                                      <p:to>
                                        <p:strVal val="visible"/>
                                      </p:to>
                                    </p:set>
                                    <p:anim calcmode="lin" valueType="num">
                                      <p:cBhvr additive="base">
                                        <p:cTn dur="500"/>
                                        <p:tgtEl>
                                          <p:spTgt spid="62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23"/>
                                        </p:tgtEl>
                                        <p:attrNameLst>
                                          <p:attrName>style.visibility</p:attrName>
                                        </p:attrNameLst>
                                      </p:cBhvr>
                                      <p:to>
                                        <p:strVal val="visible"/>
                                      </p:to>
                                    </p:set>
                                    <p:anim calcmode="lin" valueType="num">
                                      <p:cBhvr additive="base">
                                        <p:cTn dur="500"/>
                                        <p:tgtEl>
                                          <p:spTgt spid="62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24"/>
                                        </p:tgtEl>
                                        <p:attrNameLst>
                                          <p:attrName>style.visibility</p:attrName>
                                        </p:attrNameLst>
                                      </p:cBhvr>
                                      <p:to>
                                        <p:strVal val="visible"/>
                                      </p:to>
                                    </p:set>
                                    <p:anim calcmode="lin" valueType="num">
                                      <p:cBhvr additive="base">
                                        <p:cTn dur="500"/>
                                        <p:tgtEl>
                                          <p:spTgt spid="62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25"/>
                                        </p:tgtEl>
                                        <p:attrNameLst>
                                          <p:attrName>style.visibility</p:attrName>
                                        </p:attrNameLst>
                                      </p:cBhvr>
                                      <p:to>
                                        <p:strVal val="visible"/>
                                      </p:to>
                                    </p:set>
                                    <p:anim calcmode="lin" valueType="num">
                                      <p:cBhvr additive="base">
                                        <p:cTn dur="500"/>
                                        <p:tgtEl>
                                          <p:spTgt spid="62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26"/>
                                        </p:tgtEl>
                                        <p:attrNameLst>
                                          <p:attrName>style.visibility</p:attrName>
                                        </p:attrNameLst>
                                      </p:cBhvr>
                                      <p:to>
                                        <p:strVal val="visible"/>
                                      </p:to>
                                    </p:set>
                                    <p:anim calcmode="lin" valueType="num">
                                      <p:cBhvr additive="base">
                                        <p:cTn dur="500"/>
                                        <p:tgtEl>
                                          <p:spTgt spid="62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27"/>
                                        </p:tgtEl>
                                        <p:attrNameLst>
                                          <p:attrName>style.visibility</p:attrName>
                                        </p:attrNameLst>
                                      </p:cBhvr>
                                      <p:to>
                                        <p:strVal val="visible"/>
                                      </p:to>
                                    </p:set>
                                    <p:anim calcmode="lin" valueType="num">
                                      <p:cBhvr additive="base">
                                        <p:cTn dur="500"/>
                                        <p:tgtEl>
                                          <p:spTgt spid="62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28"/>
                                        </p:tgtEl>
                                        <p:attrNameLst>
                                          <p:attrName>style.visibility</p:attrName>
                                        </p:attrNameLst>
                                      </p:cBhvr>
                                      <p:to>
                                        <p:strVal val="visible"/>
                                      </p:to>
                                    </p:set>
                                    <p:anim calcmode="lin" valueType="num">
                                      <p:cBhvr additive="base">
                                        <p:cTn dur="500"/>
                                        <p:tgtEl>
                                          <p:spTgt spid="62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pic>
        <p:nvPicPr>
          <p:cNvPr id="634" name="Google Shape;634;p26"/>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635" name="Google Shape;635;p26"/>
          <p:cNvSpPr/>
          <p:nvPr/>
        </p:nvSpPr>
        <p:spPr>
          <a:xfrm>
            <a:off x="198621" y="273115"/>
            <a:ext cx="11768754" cy="121772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CA" sz="3600">
                <a:solidFill>
                  <a:schemeClr val="lt1"/>
                </a:solidFill>
                <a:latin typeface="Montserrat"/>
                <a:ea typeface="Montserrat"/>
                <a:cs typeface="Montserrat"/>
                <a:sym typeface="Montserrat"/>
              </a:rPr>
              <a:t>XGBOOST: GRADIENT BOOSTING ALGORITHM</a:t>
            </a:r>
            <a:endParaRPr/>
          </a:p>
        </p:txBody>
      </p:sp>
      <p:sp>
        <p:nvSpPr>
          <p:cNvPr id="636" name="Google Shape;636;p26"/>
          <p:cNvSpPr txBox="1"/>
          <p:nvPr/>
        </p:nvSpPr>
        <p:spPr>
          <a:xfrm>
            <a:off x="190285" y="1106648"/>
            <a:ext cx="11756647" cy="802271"/>
          </a:xfrm>
          <a:prstGeom prst="rect">
            <a:avLst/>
          </a:prstGeom>
          <a:noFill/>
          <a:ln>
            <a:noFill/>
          </a:ln>
        </p:spPr>
        <p:txBody>
          <a:bodyPr anchorCtr="0" anchor="t" bIns="45700" lIns="91425" spcFirstLastPara="1" rIns="91425" wrap="square" tIns="45700">
            <a:normAutofit/>
          </a:bodyPr>
          <a:lstStyle/>
          <a:p>
            <a:pPr indent="-285750" lvl="0" marL="285750" marR="0" rtl="0" algn="l">
              <a:lnSpc>
                <a:spcPct val="90000"/>
              </a:lnSpc>
              <a:spcBef>
                <a:spcPts val="0"/>
              </a:spcBef>
              <a:spcAft>
                <a:spcPts val="0"/>
              </a:spcAft>
              <a:buClr>
                <a:schemeClr val="dk1"/>
              </a:buClr>
              <a:buSzPts val="1600"/>
              <a:buFont typeface="Arial"/>
              <a:buChar char="•"/>
            </a:pPr>
            <a:r>
              <a:rPr lang="en-CA" sz="1600">
                <a:solidFill>
                  <a:schemeClr val="dk1"/>
                </a:solidFill>
                <a:latin typeface="Montserrat"/>
                <a:ea typeface="Montserrat"/>
                <a:cs typeface="Montserrat"/>
                <a:sym typeface="Montserrat"/>
              </a:rPr>
              <a:t>Now that we have built a tree, let’s combine the previous predictions with the new tree to generate new predictions!</a:t>
            </a:r>
            <a:endParaRPr sz="1600">
              <a:solidFill>
                <a:schemeClr val="dk1"/>
              </a:solidFill>
              <a:latin typeface="Montserrat"/>
              <a:ea typeface="Montserrat"/>
              <a:cs typeface="Montserrat"/>
              <a:sym typeface="Montserrat"/>
            </a:endParaRPr>
          </a:p>
          <a:p>
            <a:pPr indent="-184150" lvl="0" marL="285750" marR="0" rtl="0" algn="l">
              <a:lnSpc>
                <a:spcPct val="90000"/>
              </a:lnSpc>
              <a:spcBef>
                <a:spcPts val="1000"/>
              </a:spcBef>
              <a:spcAft>
                <a:spcPts val="0"/>
              </a:spcAft>
              <a:buClr>
                <a:schemeClr val="dk1"/>
              </a:buClr>
              <a:buSzPts val="1600"/>
              <a:buFont typeface="Arial"/>
              <a:buNone/>
            </a:pPr>
            <a:r>
              <a:t/>
            </a:r>
            <a:endParaRPr sz="1600">
              <a:solidFill>
                <a:schemeClr val="dk1"/>
              </a:solidFill>
              <a:latin typeface="Montserrat"/>
              <a:ea typeface="Montserrat"/>
              <a:cs typeface="Montserrat"/>
              <a:sym typeface="Montserrat"/>
            </a:endParaRPr>
          </a:p>
        </p:txBody>
      </p:sp>
      <p:sp>
        <p:nvSpPr>
          <p:cNvPr id="637" name="Google Shape;637;p26"/>
          <p:cNvSpPr/>
          <p:nvPr/>
        </p:nvSpPr>
        <p:spPr>
          <a:xfrm>
            <a:off x="7359721" y="1513013"/>
            <a:ext cx="1059786" cy="349195"/>
          </a:xfrm>
          <a:prstGeom prst="roundRect">
            <a:avLst>
              <a:gd fmla="val 16667" name="adj"/>
            </a:avLst>
          </a:prstGeom>
          <a:solidFill>
            <a:schemeClr val="accent4"/>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lt1"/>
                </a:solidFill>
                <a:latin typeface="Calibri"/>
                <a:ea typeface="Calibri"/>
                <a:cs typeface="Calibri"/>
                <a:sym typeface="Calibri"/>
              </a:rPr>
              <a:t>Is female?</a:t>
            </a:r>
            <a:endParaRPr sz="1600">
              <a:solidFill>
                <a:schemeClr val="lt1"/>
              </a:solidFill>
              <a:latin typeface="Calibri"/>
              <a:ea typeface="Calibri"/>
              <a:cs typeface="Calibri"/>
              <a:sym typeface="Calibri"/>
            </a:endParaRPr>
          </a:p>
        </p:txBody>
      </p:sp>
      <p:cxnSp>
        <p:nvCxnSpPr>
          <p:cNvPr id="638" name="Google Shape;638;p26"/>
          <p:cNvCxnSpPr>
            <a:stCxn id="637" idx="2"/>
            <a:endCxn id="639" idx="0"/>
          </p:cNvCxnSpPr>
          <p:nvPr/>
        </p:nvCxnSpPr>
        <p:spPr>
          <a:xfrm flipH="1">
            <a:off x="7200214" y="1862208"/>
            <a:ext cx="689400" cy="341700"/>
          </a:xfrm>
          <a:prstGeom prst="straightConnector1">
            <a:avLst/>
          </a:prstGeom>
          <a:noFill/>
          <a:ln cap="flat" cmpd="sng" w="9525">
            <a:solidFill>
              <a:schemeClr val="accent1"/>
            </a:solidFill>
            <a:prstDash val="solid"/>
            <a:miter lim="800000"/>
            <a:headEnd len="sm" w="sm" type="none"/>
            <a:tailEnd len="med" w="med" type="triangle"/>
          </a:ln>
        </p:spPr>
      </p:cxnSp>
      <p:cxnSp>
        <p:nvCxnSpPr>
          <p:cNvPr id="640" name="Google Shape;640;p26"/>
          <p:cNvCxnSpPr>
            <a:stCxn id="637" idx="2"/>
            <a:endCxn id="641" idx="0"/>
          </p:cNvCxnSpPr>
          <p:nvPr/>
        </p:nvCxnSpPr>
        <p:spPr>
          <a:xfrm>
            <a:off x="7889614" y="1862208"/>
            <a:ext cx="763800" cy="341700"/>
          </a:xfrm>
          <a:prstGeom prst="straightConnector1">
            <a:avLst/>
          </a:prstGeom>
          <a:noFill/>
          <a:ln cap="flat" cmpd="sng" w="9525">
            <a:solidFill>
              <a:schemeClr val="accent1"/>
            </a:solidFill>
            <a:prstDash val="solid"/>
            <a:miter lim="800000"/>
            <a:headEnd len="sm" w="sm" type="none"/>
            <a:tailEnd len="med" w="med" type="triangle"/>
          </a:ln>
        </p:spPr>
      </p:cxnSp>
      <p:sp>
        <p:nvSpPr>
          <p:cNvPr id="639" name="Google Shape;639;p26"/>
          <p:cNvSpPr/>
          <p:nvPr/>
        </p:nvSpPr>
        <p:spPr>
          <a:xfrm>
            <a:off x="6577005" y="2203809"/>
            <a:ext cx="1246266" cy="343431"/>
          </a:xfrm>
          <a:prstGeom prst="roundRect">
            <a:avLst>
              <a:gd fmla="val 16667" name="adj"/>
            </a:avLst>
          </a:prstGeom>
          <a:solidFill>
            <a:srgbClr val="FF00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lt1"/>
                </a:solidFill>
                <a:latin typeface="Calibri"/>
                <a:ea typeface="Calibri"/>
                <a:cs typeface="Calibri"/>
                <a:sym typeface="Calibri"/>
              </a:rPr>
              <a:t>Height &lt;1.6</a:t>
            </a:r>
            <a:endParaRPr sz="1600">
              <a:solidFill>
                <a:schemeClr val="lt1"/>
              </a:solidFill>
              <a:latin typeface="Calibri"/>
              <a:ea typeface="Calibri"/>
              <a:cs typeface="Calibri"/>
              <a:sym typeface="Calibri"/>
            </a:endParaRPr>
          </a:p>
        </p:txBody>
      </p:sp>
      <p:sp>
        <p:nvSpPr>
          <p:cNvPr id="641" name="Google Shape;641;p26"/>
          <p:cNvSpPr/>
          <p:nvPr/>
        </p:nvSpPr>
        <p:spPr>
          <a:xfrm>
            <a:off x="8060318" y="2203809"/>
            <a:ext cx="1186273" cy="343431"/>
          </a:xfrm>
          <a:prstGeom prst="roundRect">
            <a:avLst>
              <a:gd fmla="val 16667" name="adj"/>
            </a:avLst>
          </a:prstGeom>
          <a:solidFill>
            <a:srgbClr val="FF00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lt1"/>
                </a:solidFill>
                <a:latin typeface="Calibri"/>
                <a:ea typeface="Calibri"/>
                <a:cs typeface="Calibri"/>
                <a:sym typeface="Calibri"/>
              </a:rPr>
              <a:t>Is not Blue?</a:t>
            </a:r>
            <a:endParaRPr sz="1600">
              <a:solidFill>
                <a:schemeClr val="lt1"/>
              </a:solidFill>
              <a:latin typeface="Calibri"/>
              <a:ea typeface="Calibri"/>
              <a:cs typeface="Calibri"/>
              <a:sym typeface="Calibri"/>
            </a:endParaRPr>
          </a:p>
        </p:txBody>
      </p:sp>
      <p:cxnSp>
        <p:nvCxnSpPr>
          <p:cNvPr id="642" name="Google Shape;642;p26"/>
          <p:cNvCxnSpPr/>
          <p:nvPr/>
        </p:nvCxnSpPr>
        <p:spPr>
          <a:xfrm flipH="1">
            <a:off x="8247800" y="2555488"/>
            <a:ext cx="424530" cy="341602"/>
          </a:xfrm>
          <a:prstGeom prst="straightConnector1">
            <a:avLst/>
          </a:prstGeom>
          <a:noFill/>
          <a:ln cap="flat" cmpd="sng" w="9525">
            <a:solidFill>
              <a:schemeClr val="accent1"/>
            </a:solidFill>
            <a:prstDash val="solid"/>
            <a:miter lim="800000"/>
            <a:headEnd len="sm" w="sm" type="none"/>
            <a:tailEnd len="med" w="med" type="triangle"/>
          </a:ln>
        </p:spPr>
      </p:cxnSp>
      <p:cxnSp>
        <p:nvCxnSpPr>
          <p:cNvPr id="643" name="Google Shape;643;p26"/>
          <p:cNvCxnSpPr/>
          <p:nvPr/>
        </p:nvCxnSpPr>
        <p:spPr>
          <a:xfrm>
            <a:off x="8672330" y="2555488"/>
            <a:ext cx="528892" cy="341602"/>
          </a:xfrm>
          <a:prstGeom prst="straightConnector1">
            <a:avLst/>
          </a:prstGeom>
          <a:noFill/>
          <a:ln cap="flat" cmpd="sng" w="9525">
            <a:solidFill>
              <a:schemeClr val="accent1"/>
            </a:solidFill>
            <a:prstDash val="solid"/>
            <a:miter lim="800000"/>
            <a:headEnd len="sm" w="sm" type="none"/>
            <a:tailEnd len="med" w="med" type="triangle"/>
          </a:ln>
        </p:spPr>
      </p:cxnSp>
      <p:cxnSp>
        <p:nvCxnSpPr>
          <p:cNvPr id="644" name="Google Shape;644;p26"/>
          <p:cNvCxnSpPr>
            <a:endCxn id="645" idx="0"/>
          </p:cNvCxnSpPr>
          <p:nvPr/>
        </p:nvCxnSpPr>
        <p:spPr>
          <a:xfrm flipH="1">
            <a:off x="6515535" y="2555390"/>
            <a:ext cx="424500" cy="341700"/>
          </a:xfrm>
          <a:prstGeom prst="straightConnector1">
            <a:avLst/>
          </a:prstGeom>
          <a:noFill/>
          <a:ln cap="flat" cmpd="sng" w="9525">
            <a:solidFill>
              <a:schemeClr val="accent1"/>
            </a:solidFill>
            <a:prstDash val="solid"/>
            <a:miter lim="800000"/>
            <a:headEnd len="sm" w="sm" type="none"/>
            <a:tailEnd len="med" w="med" type="triangle"/>
          </a:ln>
        </p:spPr>
      </p:cxnSp>
      <p:cxnSp>
        <p:nvCxnSpPr>
          <p:cNvPr id="646" name="Google Shape;646;p26"/>
          <p:cNvCxnSpPr>
            <a:endCxn id="647" idx="0"/>
          </p:cNvCxnSpPr>
          <p:nvPr/>
        </p:nvCxnSpPr>
        <p:spPr>
          <a:xfrm>
            <a:off x="6940057" y="2555390"/>
            <a:ext cx="528900" cy="341700"/>
          </a:xfrm>
          <a:prstGeom prst="straightConnector1">
            <a:avLst/>
          </a:prstGeom>
          <a:noFill/>
          <a:ln cap="flat" cmpd="sng" w="9525">
            <a:solidFill>
              <a:schemeClr val="accent1"/>
            </a:solidFill>
            <a:prstDash val="solid"/>
            <a:miter lim="800000"/>
            <a:headEnd len="sm" w="sm" type="none"/>
            <a:tailEnd len="med" w="med" type="triangle"/>
          </a:ln>
        </p:spPr>
      </p:cxnSp>
      <p:sp>
        <p:nvSpPr>
          <p:cNvPr id="645" name="Google Shape;645;p26"/>
          <p:cNvSpPr/>
          <p:nvPr/>
        </p:nvSpPr>
        <p:spPr>
          <a:xfrm>
            <a:off x="6157348" y="2897090"/>
            <a:ext cx="716373"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400">
                <a:solidFill>
                  <a:srgbClr val="FF0000"/>
                </a:solidFill>
                <a:latin typeface="Calibri"/>
                <a:ea typeface="Calibri"/>
                <a:cs typeface="Calibri"/>
                <a:sym typeface="Calibri"/>
              </a:rPr>
              <a:t>-14.7</a:t>
            </a:r>
            <a:endParaRPr sz="1400">
              <a:solidFill>
                <a:srgbClr val="FF0000"/>
              </a:solidFill>
              <a:latin typeface="Calibri"/>
              <a:ea typeface="Calibri"/>
              <a:cs typeface="Calibri"/>
              <a:sym typeface="Calibri"/>
            </a:endParaRPr>
          </a:p>
        </p:txBody>
      </p:sp>
      <p:sp>
        <p:nvSpPr>
          <p:cNvPr id="647" name="Google Shape;647;p26"/>
          <p:cNvSpPr/>
          <p:nvPr/>
        </p:nvSpPr>
        <p:spPr>
          <a:xfrm>
            <a:off x="7110770" y="2897090"/>
            <a:ext cx="716374"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800">
                <a:solidFill>
                  <a:srgbClr val="FF0000"/>
                </a:solidFill>
                <a:latin typeface="Calibri"/>
                <a:ea typeface="Calibri"/>
                <a:cs typeface="Calibri"/>
                <a:sym typeface="Calibri"/>
              </a:rPr>
              <a:t>4.8</a:t>
            </a:r>
            <a:endParaRPr sz="1800">
              <a:solidFill>
                <a:srgbClr val="FF0000"/>
              </a:solidFill>
              <a:latin typeface="Calibri"/>
              <a:ea typeface="Calibri"/>
              <a:cs typeface="Calibri"/>
              <a:sym typeface="Calibri"/>
            </a:endParaRPr>
          </a:p>
        </p:txBody>
      </p:sp>
      <p:sp>
        <p:nvSpPr>
          <p:cNvPr id="648" name="Google Shape;648;p26"/>
          <p:cNvSpPr/>
          <p:nvPr/>
        </p:nvSpPr>
        <p:spPr>
          <a:xfrm>
            <a:off x="7889613" y="2916253"/>
            <a:ext cx="716373"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200">
                <a:solidFill>
                  <a:srgbClr val="FF0000"/>
                </a:solidFill>
                <a:latin typeface="Calibri"/>
                <a:ea typeface="Calibri"/>
                <a:cs typeface="Calibri"/>
                <a:sym typeface="Calibri"/>
              </a:rPr>
              <a:t>1.8, 5.8</a:t>
            </a:r>
            <a:endParaRPr sz="1200">
              <a:solidFill>
                <a:srgbClr val="FF0000"/>
              </a:solidFill>
              <a:latin typeface="Calibri"/>
              <a:ea typeface="Calibri"/>
              <a:cs typeface="Calibri"/>
              <a:sym typeface="Calibri"/>
            </a:endParaRPr>
          </a:p>
        </p:txBody>
      </p:sp>
      <p:sp>
        <p:nvSpPr>
          <p:cNvPr id="649" name="Google Shape;649;p26"/>
          <p:cNvSpPr/>
          <p:nvPr/>
        </p:nvSpPr>
        <p:spPr>
          <a:xfrm>
            <a:off x="8843035" y="2916253"/>
            <a:ext cx="716374"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800">
                <a:solidFill>
                  <a:srgbClr val="FF0000"/>
                </a:solidFill>
                <a:latin typeface="Calibri"/>
                <a:ea typeface="Calibri"/>
                <a:cs typeface="Calibri"/>
                <a:sym typeface="Calibri"/>
              </a:rPr>
              <a:t>16.8</a:t>
            </a:r>
            <a:endParaRPr sz="1800">
              <a:solidFill>
                <a:srgbClr val="FF0000"/>
              </a:solidFill>
              <a:latin typeface="Calibri"/>
              <a:ea typeface="Calibri"/>
              <a:cs typeface="Calibri"/>
              <a:sym typeface="Calibri"/>
            </a:endParaRPr>
          </a:p>
        </p:txBody>
      </p:sp>
      <p:sp>
        <p:nvSpPr>
          <p:cNvPr id="650" name="Google Shape;650;p26"/>
          <p:cNvSpPr txBox="1"/>
          <p:nvPr/>
        </p:nvSpPr>
        <p:spPr>
          <a:xfrm>
            <a:off x="6422818" y="2537499"/>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651" name="Google Shape;651;p26"/>
          <p:cNvSpPr txBox="1"/>
          <p:nvPr/>
        </p:nvSpPr>
        <p:spPr>
          <a:xfrm>
            <a:off x="7216467" y="1834189"/>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652" name="Google Shape;652;p26"/>
          <p:cNvSpPr txBox="1"/>
          <p:nvPr/>
        </p:nvSpPr>
        <p:spPr>
          <a:xfrm>
            <a:off x="8328999" y="1834189"/>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653" name="Google Shape;653;p26"/>
          <p:cNvSpPr txBox="1"/>
          <p:nvPr/>
        </p:nvSpPr>
        <p:spPr>
          <a:xfrm>
            <a:off x="9042144" y="2527758"/>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654" name="Google Shape;654;p26"/>
          <p:cNvSpPr txBox="1"/>
          <p:nvPr/>
        </p:nvSpPr>
        <p:spPr>
          <a:xfrm>
            <a:off x="7258636" y="2510040"/>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655" name="Google Shape;655;p26"/>
          <p:cNvSpPr txBox="1"/>
          <p:nvPr/>
        </p:nvSpPr>
        <p:spPr>
          <a:xfrm>
            <a:off x="8208026" y="2509098"/>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656" name="Google Shape;656;p26"/>
          <p:cNvSpPr/>
          <p:nvPr/>
        </p:nvSpPr>
        <p:spPr>
          <a:xfrm>
            <a:off x="5087012" y="1713388"/>
            <a:ext cx="1049256" cy="1016222"/>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7" name="Google Shape;657;p26"/>
          <p:cNvSpPr/>
          <p:nvPr/>
        </p:nvSpPr>
        <p:spPr>
          <a:xfrm>
            <a:off x="3511339" y="2011055"/>
            <a:ext cx="1059786" cy="349195"/>
          </a:xfrm>
          <a:prstGeom prst="roundRect">
            <a:avLst>
              <a:gd fmla="val 16667" name="adj"/>
            </a:avLst>
          </a:prstGeom>
          <a:solidFill>
            <a:schemeClr val="accent4"/>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lt1"/>
                </a:solidFill>
                <a:latin typeface="Calibri"/>
                <a:ea typeface="Calibri"/>
                <a:cs typeface="Calibri"/>
                <a:sym typeface="Calibri"/>
              </a:rPr>
              <a:t>71.2</a:t>
            </a:r>
            <a:endParaRPr sz="1600">
              <a:solidFill>
                <a:schemeClr val="lt1"/>
              </a:solidFill>
              <a:latin typeface="Calibri"/>
              <a:ea typeface="Calibri"/>
              <a:cs typeface="Calibri"/>
              <a:sym typeface="Calibri"/>
            </a:endParaRPr>
          </a:p>
        </p:txBody>
      </p:sp>
      <p:sp>
        <p:nvSpPr>
          <p:cNvPr id="658" name="Google Shape;658;p26"/>
          <p:cNvSpPr txBox="1"/>
          <p:nvPr/>
        </p:nvSpPr>
        <p:spPr>
          <a:xfrm>
            <a:off x="2821392" y="2417494"/>
            <a:ext cx="2499457"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CA" sz="1800">
                <a:solidFill>
                  <a:srgbClr val="FF0000"/>
                </a:solidFill>
                <a:latin typeface="Calibri"/>
                <a:ea typeface="Calibri"/>
                <a:cs typeface="Calibri"/>
                <a:sym typeface="Calibri"/>
              </a:rPr>
              <a:t>AVERAGE WEIGHT (INITIAL GUESS FROM PREVIOUS STEP</a:t>
            </a:r>
            <a:endParaRPr sz="1800">
              <a:solidFill>
                <a:srgbClr val="FF0000"/>
              </a:solidFill>
              <a:latin typeface="Calibri"/>
              <a:ea typeface="Calibri"/>
              <a:cs typeface="Calibri"/>
              <a:sym typeface="Calibri"/>
            </a:endParaRPr>
          </a:p>
        </p:txBody>
      </p:sp>
      <p:graphicFrame>
        <p:nvGraphicFramePr>
          <p:cNvPr id="659" name="Google Shape;659;p26"/>
          <p:cNvGraphicFramePr/>
          <p:nvPr/>
        </p:nvGraphicFramePr>
        <p:xfrm>
          <a:off x="334018" y="3580203"/>
          <a:ext cx="3000000" cy="3000000"/>
        </p:xfrm>
        <a:graphic>
          <a:graphicData uri="http://schemas.openxmlformats.org/drawingml/2006/table">
            <a:tbl>
              <a:tblPr bandRow="1" firstRow="1">
                <a:noFill/>
                <a:tableStyleId>{C56017F4-4159-4531-9A6F-2EA572D870EB}</a:tableStyleId>
              </a:tblPr>
              <a:tblGrid>
                <a:gridCol w="1346200"/>
                <a:gridCol w="1346200"/>
                <a:gridCol w="1346200"/>
                <a:gridCol w="1346200"/>
              </a:tblGrid>
              <a:tr h="370850">
                <a:tc>
                  <a:txBody>
                    <a:bodyPr/>
                    <a:lstStyle/>
                    <a:p>
                      <a:pPr indent="0" lvl="0" marL="0" marR="0" rtl="0" algn="l">
                        <a:spcBef>
                          <a:spcPts val="0"/>
                        </a:spcBef>
                        <a:spcAft>
                          <a:spcPts val="0"/>
                        </a:spcAft>
                        <a:buNone/>
                      </a:pPr>
                      <a:r>
                        <a:rPr lang="en-CA" sz="1800"/>
                        <a:t>Height</a:t>
                      </a:r>
                      <a:endParaRPr sz="1800"/>
                    </a:p>
                  </a:txBody>
                  <a:tcPr marT="45725" marB="45725" marR="91450" marL="91450"/>
                </a:tc>
                <a:tc>
                  <a:txBody>
                    <a:bodyPr/>
                    <a:lstStyle/>
                    <a:p>
                      <a:pPr indent="0" lvl="0" marL="0" marR="0" rtl="0" algn="l">
                        <a:spcBef>
                          <a:spcPts val="0"/>
                        </a:spcBef>
                        <a:spcAft>
                          <a:spcPts val="0"/>
                        </a:spcAft>
                        <a:buNone/>
                      </a:pPr>
                      <a:r>
                        <a:rPr lang="en-CA" sz="1800"/>
                        <a:t>Color</a:t>
                      </a:r>
                      <a:endParaRPr sz="1800"/>
                    </a:p>
                  </a:txBody>
                  <a:tcPr marT="45725" marB="45725" marR="91450" marL="91450"/>
                </a:tc>
                <a:tc>
                  <a:txBody>
                    <a:bodyPr/>
                    <a:lstStyle/>
                    <a:p>
                      <a:pPr indent="0" lvl="0" marL="0" marR="0" rtl="0" algn="l">
                        <a:spcBef>
                          <a:spcPts val="0"/>
                        </a:spcBef>
                        <a:spcAft>
                          <a:spcPts val="0"/>
                        </a:spcAft>
                        <a:buNone/>
                      </a:pPr>
                      <a:r>
                        <a:rPr lang="en-CA" sz="1800"/>
                        <a:t>Gender</a:t>
                      </a:r>
                      <a:endParaRPr sz="1800"/>
                    </a:p>
                  </a:txBody>
                  <a:tcPr marT="45725" marB="45725" marR="91450" marL="91450"/>
                </a:tc>
                <a:tc>
                  <a:txBody>
                    <a:bodyPr/>
                    <a:lstStyle/>
                    <a:p>
                      <a:pPr indent="0" lvl="0" marL="0" marR="0" rtl="0" algn="l">
                        <a:spcBef>
                          <a:spcPts val="0"/>
                        </a:spcBef>
                        <a:spcAft>
                          <a:spcPts val="0"/>
                        </a:spcAft>
                        <a:buNone/>
                      </a:pPr>
                      <a:r>
                        <a:rPr lang="en-CA" sz="1800"/>
                        <a:t>Weight (Kg)</a:t>
                      </a:r>
                      <a:endParaRPr sz="1800"/>
                    </a:p>
                  </a:txBody>
                  <a:tcPr marT="45725" marB="45725" marR="91450" marL="91450"/>
                </a:tc>
              </a:tr>
              <a:tr h="370850">
                <a:tc>
                  <a:txBody>
                    <a:bodyPr/>
                    <a:lstStyle/>
                    <a:p>
                      <a:pPr indent="0" lvl="0" marL="0" marR="0" rtl="0" algn="l">
                        <a:spcBef>
                          <a:spcPts val="0"/>
                        </a:spcBef>
                        <a:spcAft>
                          <a:spcPts val="0"/>
                        </a:spcAft>
                        <a:buNone/>
                      </a:pPr>
                      <a:r>
                        <a:rPr lang="en-CA" sz="1800"/>
                        <a:t>1.6</a:t>
                      </a:r>
                      <a:endParaRPr sz="1800"/>
                    </a:p>
                  </a:txBody>
                  <a:tcPr marT="45725" marB="45725" marR="91450" marL="91450"/>
                </a:tc>
                <a:tc>
                  <a:txBody>
                    <a:bodyPr/>
                    <a:lstStyle/>
                    <a:p>
                      <a:pPr indent="0" lvl="0" marL="0" marR="0" rtl="0" algn="l">
                        <a:spcBef>
                          <a:spcPts val="0"/>
                        </a:spcBef>
                        <a:spcAft>
                          <a:spcPts val="0"/>
                        </a:spcAft>
                        <a:buNone/>
                      </a:pPr>
                      <a:r>
                        <a:rPr lang="en-CA" sz="1800"/>
                        <a:t>Blue</a:t>
                      </a:r>
                      <a:endParaRPr sz="1800"/>
                    </a:p>
                  </a:txBody>
                  <a:tcPr marT="45725" marB="45725" marR="91450" marL="91450"/>
                </a:tc>
                <a:tc>
                  <a:txBody>
                    <a:bodyPr/>
                    <a:lstStyle/>
                    <a:p>
                      <a:pPr indent="0" lvl="0" marL="0" marR="0" rtl="0" algn="l">
                        <a:spcBef>
                          <a:spcPts val="0"/>
                        </a:spcBef>
                        <a:spcAft>
                          <a:spcPts val="0"/>
                        </a:spcAft>
                        <a:buNone/>
                      </a:pPr>
                      <a:r>
                        <a:rPr lang="en-CA" sz="1800"/>
                        <a:t>Male</a:t>
                      </a:r>
                      <a:endParaRPr sz="1800"/>
                    </a:p>
                  </a:txBody>
                  <a:tcPr marT="45725" marB="45725" marR="91450" marL="91450"/>
                </a:tc>
                <a:tc>
                  <a:txBody>
                    <a:bodyPr/>
                    <a:lstStyle/>
                    <a:p>
                      <a:pPr indent="0" lvl="0" marL="0" marR="0" rtl="0" algn="l">
                        <a:spcBef>
                          <a:spcPts val="0"/>
                        </a:spcBef>
                        <a:spcAft>
                          <a:spcPts val="0"/>
                        </a:spcAft>
                        <a:buNone/>
                      </a:pPr>
                      <a:r>
                        <a:rPr lang="en-CA" sz="1800"/>
                        <a:t>88</a:t>
                      </a:r>
                      <a:endParaRPr sz="1800"/>
                    </a:p>
                  </a:txBody>
                  <a:tcPr marT="45725" marB="45725" marR="91450" marL="91450"/>
                </a:tc>
              </a:tr>
              <a:tr h="370850">
                <a:tc>
                  <a:txBody>
                    <a:bodyPr/>
                    <a:lstStyle/>
                    <a:p>
                      <a:pPr indent="0" lvl="0" marL="0" marR="0" rtl="0" algn="l">
                        <a:spcBef>
                          <a:spcPts val="0"/>
                        </a:spcBef>
                        <a:spcAft>
                          <a:spcPts val="0"/>
                        </a:spcAft>
                        <a:buNone/>
                      </a:pPr>
                      <a:r>
                        <a:rPr lang="en-CA" sz="1800"/>
                        <a:t>1.6</a:t>
                      </a:r>
                      <a:endParaRPr sz="1800"/>
                    </a:p>
                  </a:txBody>
                  <a:tcPr marT="45725" marB="45725" marR="91450" marL="91450"/>
                </a:tc>
                <a:tc>
                  <a:txBody>
                    <a:bodyPr/>
                    <a:lstStyle/>
                    <a:p>
                      <a:pPr indent="0" lvl="0" marL="0" marR="0" rtl="0" algn="l">
                        <a:spcBef>
                          <a:spcPts val="0"/>
                        </a:spcBef>
                        <a:spcAft>
                          <a:spcPts val="0"/>
                        </a:spcAft>
                        <a:buNone/>
                      </a:pPr>
                      <a:r>
                        <a:rPr lang="en-CA" sz="1800"/>
                        <a:t>Green</a:t>
                      </a:r>
                      <a:endParaRPr sz="1800"/>
                    </a:p>
                  </a:txBody>
                  <a:tcPr marT="45725" marB="45725" marR="91450" marL="91450"/>
                </a:tc>
                <a:tc>
                  <a:txBody>
                    <a:bodyPr/>
                    <a:lstStyle/>
                    <a:p>
                      <a:pPr indent="0" lvl="0" marL="0" marR="0" rtl="0" algn="l">
                        <a:spcBef>
                          <a:spcPts val="0"/>
                        </a:spcBef>
                        <a:spcAft>
                          <a:spcPts val="0"/>
                        </a:spcAft>
                        <a:buNone/>
                      </a:pPr>
                      <a:r>
                        <a:rPr b="0" lang="en-CA" sz="1800"/>
                        <a:t>Female</a:t>
                      </a:r>
                      <a:endParaRPr b="0" sz="1800"/>
                    </a:p>
                  </a:txBody>
                  <a:tcPr marT="45725" marB="45725" marR="91450" marL="91450"/>
                </a:tc>
                <a:tc>
                  <a:txBody>
                    <a:bodyPr/>
                    <a:lstStyle/>
                    <a:p>
                      <a:pPr indent="0" lvl="0" marL="0" marR="0" rtl="0" algn="l">
                        <a:spcBef>
                          <a:spcPts val="0"/>
                        </a:spcBef>
                        <a:spcAft>
                          <a:spcPts val="0"/>
                        </a:spcAft>
                        <a:buNone/>
                      </a:pPr>
                      <a:r>
                        <a:rPr lang="en-CA" sz="1800"/>
                        <a:t>76</a:t>
                      </a:r>
                      <a:endParaRPr sz="1800"/>
                    </a:p>
                  </a:txBody>
                  <a:tcPr marT="45725" marB="45725" marR="91450" marL="91450"/>
                </a:tc>
              </a:tr>
              <a:tr h="370850">
                <a:tc>
                  <a:txBody>
                    <a:bodyPr/>
                    <a:lstStyle/>
                    <a:p>
                      <a:pPr indent="0" lvl="0" marL="0" marR="0" rtl="0" algn="l">
                        <a:spcBef>
                          <a:spcPts val="0"/>
                        </a:spcBef>
                        <a:spcAft>
                          <a:spcPts val="0"/>
                        </a:spcAft>
                        <a:buNone/>
                      </a:pPr>
                      <a:r>
                        <a:rPr lang="en-CA" sz="1800"/>
                        <a:t>1.5</a:t>
                      </a:r>
                      <a:endParaRPr sz="1800"/>
                    </a:p>
                  </a:txBody>
                  <a:tcPr marT="45725" marB="45725" marR="91450" marL="91450"/>
                </a:tc>
                <a:tc>
                  <a:txBody>
                    <a:bodyPr/>
                    <a:lstStyle/>
                    <a:p>
                      <a:pPr indent="0" lvl="0" marL="0" marR="0" rtl="0" algn="l">
                        <a:spcBef>
                          <a:spcPts val="0"/>
                        </a:spcBef>
                        <a:spcAft>
                          <a:spcPts val="0"/>
                        </a:spcAft>
                        <a:buNone/>
                      </a:pPr>
                      <a:r>
                        <a:rPr lang="en-CA" sz="1800"/>
                        <a:t>Blue</a:t>
                      </a:r>
                      <a:endParaRPr sz="1800"/>
                    </a:p>
                  </a:txBody>
                  <a:tcPr marT="45725" marB="45725" marR="91450" marL="91450"/>
                </a:tc>
                <a:tc>
                  <a:txBody>
                    <a:bodyPr/>
                    <a:lstStyle/>
                    <a:p>
                      <a:pPr indent="0" lvl="0" marL="0" marR="0" rtl="0" algn="l">
                        <a:spcBef>
                          <a:spcPts val="0"/>
                        </a:spcBef>
                        <a:spcAft>
                          <a:spcPts val="0"/>
                        </a:spcAft>
                        <a:buNone/>
                      </a:pPr>
                      <a:r>
                        <a:rPr b="0" lang="en-CA" sz="1800"/>
                        <a:t>Female</a:t>
                      </a:r>
                      <a:endParaRPr b="0" sz="1800"/>
                    </a:p>
                  </a:txBody>
                  <a:tcPr marT="45725" marB="45725" marR="91450" marL="91450"/>
                </a:tc>
                <a:tc>
                  <a:txBody>
                    <a:bodyPr/>
                    <a:lstStyle/>
                    <a:p>
                      <a:pPr indent="0" lvl="0" marL="0" marR="0" rtl="0" algn="l">
                        <a:spcBef>
                          <a:spcPts val="0"/>
                        </a:spcBef>
                        <a:spcAft>
                          <a:spcPts val="0"/>
                        </a:spcAft>
                        <a:buNone/>
                      </a:pPr>
                      <a:r>
                        <a:rPr lang="en-CA" sz="1800"/>
                        <a:t>56</a:t>
                      </a:r>
                      <a:endParaRPr sz="1800"/>
                    </a:p>
                  </a:txBody>
                  <a:tcPr marT="45725" marB="45725" marR="91450" marL="91450"/>
                </a:tc>
              </a:tr>
              <a:tr h="370850">
                <a:tc>
                  <a:txBody>
                    <a:bodyPr/>
                    <a:lstStyle/>
                    <a:p>
                      <a:pPr indent="0" lvl="0" marL="0" marR="0" rtl="0" algn="l">
                        <a:spcBef>
                          <a:spcPts val="0"/>
                        </a:spcBef>
                        <a:spcAft>
                          <a:spcPts val="0"/>
                        </a:spcAft>
                        <a:buNone/>
                      </a:pPr>
                      <a:r>
                        <a:rPr lang="en-CA" sz="1800"/>
                        <a:t>1.8</a:t>
                      </a:r>
                      <a:endParaRPr sz="1800"/>
                    </a:p>
                  </a:txBody>
                  <a:tcPr marT="45725" marB="45725" marR="91450" marL="91450"/>
                </a:tc>
                <a:tc>
                  <a:txBody>
                    <a:bodyPr/>
                    <a:lstStyle/>
                    <a:p>
                      <a:pPr indent="0" lvl="0" marL="0" marR="0" rtl="0" algn="l">
                        <a:spcBef>
                          <a:spcPts val="0"/>
                        </a:spcBef>
                        <a:spcAft>
                          <a:spcPts val="0"/>
                        </a:spcAft>
                        <a:buNone/>
                      </a:pPr>
                      <a:r>
                        <a:rPr lang="en-CA" sz="1800"/>
                        <a:t>Red</a:t>
                      </a:r>
                      <a:endParaRPr sz="1800"/>
                    </a:p>
                  </a:txBody>
                  <a:tcPr marT="45725" marB="45725" marR="91450" marL="91450"/>
                </a:tc>
                <a:tc>
                  <a:txBody>
                    <a:bodyPr/>
                    <a:lstStyle/>
                    <a:p>
                      <a:pPr indent="0" lvl="0" marL="0" marR="0" rtl="0" algn="l">
                        <a:spcBef>
                          <a:spcPts val="0"/>
                        </a:spcBef>
                        <a:spcAft>
                          <a:spcPts val="0"/>
                        </a:spcAft>
                        <a:buNone/>
                      </a:pPr>
                      <a:r>
                        <a:rPr lang="en-CA" sz="1800"/>
                        <a:t>Male</a:t>
                      </a:r>
                      <a:endParaRPr sz="1800"/>
                    </a:p>
                  </a:txBody>
                  <a:tcPr marT="45725" marB="45725" marR="91450" marL="91450"/>
                </a:tc>
                <a:tc>
                  <a:txBody>
                    <a:bodyPr/>
                    <a:lstStyle/>
                    <a:p>
                      <a:pPr indent="0" lvl="0" marL="0" marR="0" rtl="0" algn="l">
                        <a:spcBef>
                          <a:spcPts val="0"/>
                        </a:spcBef>
                        <a:spcAft>
                          <a:spcPts val="0"/>
                        </a:spcAft>
                        <a:buNone/>
                      </a:pPr>
                      <a:r>
                        <a:rPr lang="en-CA" sz="1800"/>
                        <a:t>73</a:t>
                      </a:r>
                      <a:endParaRPr sz="1800"/>
                    </a:p>
                  </a:txBody>
                  <a:tcPr marT="45725" marB="45725" marR="91450" marL="91450"/>
                </a:tc>
              </a:tr>
              <a:tr h="370850">
                <a:tc>
                  <a:txBody>
                    <a:bodyPr/>
                    <a:lstStyle/>
                    <a:p>
                      <a:pPr indent="0" lvl="0" marL="0" marR="0" rtl="0" algn="l">
                        <a:spcBef>
                          <a:spcPts val="0"/>
                        </a:spcBef>
                        <a:spcAft>
                          <a:spcPts val="0"/>
                        </a:spcAft>
                        <a:buNone/>
                      </a:pPr>
                      <a:r>
                        <a:rPr lang="en-CA" sz="1800"/>
                        <a:t>1.5</a:t>
                      </a:r>
                      <a:endParaRPr sz="1800"/>
                    </a:p>
                  </a:txBody>
                  <a:tcPr marT="45725" marB="45725" marR="91450" marL="91450"/>
                </a:tc>
                <a:tc>
                  <a:txBody>
                    <a:bodyPr/>
                    <a:lstStyle/>
                    <a:p>
                      <a:pPr indent="0" lvl="0" marL="0" marR="0" rtl="0" algn="l">
                        <a:spcBef>
                          <a:spcPts val="0"/>
                        </a:spcBef>
                        <a:spcAft>
                          <a:spcPts val="0"/>
                        </a:spcAft>
                        <a:buNone/>
                      </a:pPr>
                      <a:r>
                        <a:rPr lang="en-CA" sz="1800"/>
                        <a:t>Green</a:t>
                      </a:r>
                      <a:endParaRPr sz="1800"/>
                    </a:p>
                  </a:txBody>
                  <a:tcPr marT="45725" marB="45725" marR="91450" marL="91450"/>
                </a:tc>
                <a:tc>
                  <a:txBody>
                    <a:bodyPr/>
                    <a:lstStyle/>
                    <a:p>
                      <a:pPr indent="0" lvl="0" marL="0" marR="0" rtl="0" algn="l">
                        <a:spcBef>
                          <a:spcPts val="0"/>
                        </a:spcBef>
                        <a:spcAft>
                          <a:spcPts val="0"/>
                        </a:spcAft>
                        <a:buNone/>
                      </a:pPr>
                      <a:r>
                        <a:rPr lang="en-CA" sz="1800"/>
                        <a:t>Male</a:t>
                      </a:r>
                      <a:endParaRPr sz="1800"/>
                    </a:p>
                  </a:txBody>
                  <a:tcPr marT="45725" marB="45725" marR="91450" marL="91450"/>
                </a:tc>
                <a:tc>
                  <a:txBody>
                    <a:bodyPr/>
                    <a:lstStyle/>
                    <a:p>
                      <a:pPr indent="0" lvl="0" marL="0" marR="0" rtl="0" algn="l">
                        <a:spcBef>
                          <a:spcPts val="0"/>
                        </a:spcBef>
                        <a:spcAft>
                          <a:spcPts val="0"/>
                        </a:spcAft>
                        <a:buNone/>
                      </a:pPr>
                      <a:r>
                        <a:rPr lang="en-CA" sz="1800"/>
                        <a:t>77</a:t>
                      </a:r>
                      <a:endParaRPr sz="1800"/>
                    </a:p>
                  </a:txBody>
                  <a:tcPr marT="45725" marB="45725" marR="91450" marL="91450"/>
                </a:tc>
              </a:tr>
              <a:tr h="370850">
                <a:tc>
                  <a:txBody>
                    <a:bodyPr/>
                    <a:lstStyle/>
                    <a:p>
                      <a:pPr indent="0" lvl="0" marL="0" marR="0" rtl="0" algn="l">
                        <a:spcBef>
                          <a:spcPts val="0"/>
                        </a:spcBef>
                        <a:spcAft>
                          <a:spcPts val="0"/>
                        </a:spcAft>
                        <a:buNone/>
                      </a:pPr>
                      <a:r>
                        <a:rPr lang="en-CA" sz="1800"/>
                        <a:t>1.4</a:t>
                      </a:r>
                      <a:endParaRPr sz="1800"/>
                    </a:p>
                  </a:txBody>
                  <a:tcPr marT="45725" marB="45725" marR="91450" marL="91450"/>
                </a:tc>
                <a:tc>
                  <a:txBody>
                    <a:bodyPr/>
                    <a:lstStyle/>
                    <a:p>
                      <a:pPr indent="0" lvl="0" marL="0" marR="0" rtl="0" algn="l">
                        <a:spcBef>
                          <a:spcPts val="0"/>
                        </a:spcBef>
                        <a:spcAft>
                          <a:spcPts val="0"/>
                        </a:spcAft>
                        <a:buNone/>
                      </a:pPr>
                      <a:r>
                        <a:rPr lang="en-CA" sz="1800"/>
                        <a:t>Blue</a:t>
                      </a:r>
                      <a:endParaRPr sz="1800"/>
                    </a:p>
                  </a:txBody>
                  <a:tcPr marT="45725" marB="45725" marR="91450" marL="91450"/>
                </a:tc>
                <a:tc>
                  <a:txBody>
                    <a:bodyPr/>
                    <a:lstStyle/>
                    <a:p>
                      <a:pPr indent="0" lvl="0" marL="0" marR="0" rtl="0" algn="l">
                        <a:spcBef>
                          <a:spcPts val="0"/>
                        </a:spcBef>
                        <a:spcAft>
                          <a:spcPts val="0"/>
                        </a:spcAft>
                        <a:buNone/>
                      </a:pPr>
                      <a:r>
                        <a:rPr b="0" lang="en-CA" sz="1800"/>
                        <a:t>Female</a:t>
                      </a:r>
                      <a:endParaRPr b="0" sz="1800"/>
                    </a:p>
                  </a:txBody>
                  <a:tcPr marT="45725" marB="45725" marR="91450" marL="91450"/>
                </a:tc>
                <a:tc>
                  <a:txBody>
                    <a:bodyPr/>
                    <a:lstStyle/>
                    <a:p>
                      <a:pPr indent="0" lvl="0" marL="0" marR="0" rtl="0" algn="l">
                        <a:spcBef>
                          <a:spcPts val="0"/>
                        </a:spcBef>
                        <a:spcAft>
                          <a:spcPts val="0"/>
                        </a:spcAft>
                        <a:buNone/>
                      </a:pPr>
                      <a:r>
                        <a:rPr lang="en-CA" sz="1800"/>
                        <a:t>57</a:t>
                      </a:r>
                      <a:endParaRPr sz="1800"/>
                    </a:p>
                  </a:txBody>
                  <a:tcPr marT="45725" marB="45725" marR="91450" marL="91450"/>
                </a:tc>
              </a:tr>
            </a:tbl>
          </a:graphicData>
        </a:graphic>
      </p:graphicFrame>
      <p:sp>
        <p:nvSpPr>
          <p:cNvPr id="660" name="Google Shape;660;p26"/>
          <p:cNvSpPr/>
          <p:nvPr/>
        </p:nvSpPr>
        <p:spPr>
          <a:xfrm>
            <a:off x="334018" y="3580203"/>
            <a:ext cx="4057130" cy="2595880"/>
          </a:xfrm>
          <a:prstGeom prst="rect">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aphicFrame>
        <p:nvGraphicFramePr>
          <p:cNvPr id="661" name="Google Shape;661;p26"/>
          <p:cNvGraphicFramePr/>
          <p:nvPr/>
        </p:nvGraphicFramePr>
        <p:xfrm>
          <a:off x="6585535" y="3571252"/>
          <a:ext cx="3000000" cy="3000000"/>
        </p:xfrm>
        <a:graphic>
          <a:graphicData uri="http://schemas.openxmlformats.org/drawingml/2006/table">
            <a:tbl>
              <a:tblPr bandRow="1" firstRow="1">
                <a:noFill/>
                <a:tableStyleId>{C56017F4-4159-4531-9A6F-2EA572D870EB}</a:tableStyleId>
              </a:tblPr>
              <a:tblGrid>
                <a:gridCol w="1743475"/>
              </a:tblGrid>
              <a:tr h="370850">
                <a:tc>
                  <a:txBody>
                    <a:bodyPr/>
                    <a:lstStyle/>
                    <a:p>
                      <a:pPr indent="0" lvl="0" marL="0" marR="0" rtl="0" algn="l">
                        <a:spcBef>
                          <a:spcPts val="0"/>
                        </a:spcBef>
                        <a:spcAft>
                          <a:spcPts val="0"/>
                        </a:spcAft>
                        <a:buNone/>
                      </a:pPr>
                      <a:r>
                        <a:rPr lang="en-CA" sz="1800"/>
                        <a:t>New predictions</a:t>
                      </a:r>
                      <a:endParaRPr sz="1800"/>
                    </a:p>
                  </a:txBody>
                  <a:tcPr marT="45725" marB="45725" marR="91450" marL="91450"/>
                </a:tc>
              </a:tr>
              <a:tr h="370850">
                <a:tc>
                  <a:txBody>
                    <a:bodyPr/>
                    <a:lstStyle/>
                    <a:p>
                      <a:pPr indent="0" lvl="0" marL="0" marR="0" rtl="0" algn="ctr">
                        <a:spcBef>
                          <a:spcPts val="0"/>
                        </a:spcBef>
                        <a:spcAft>
                          <a:spcPts val="0"/>
                        </a:spcAft>
                        <a:buNone/>
                      </a:pPr>
                      <a:r>
                        <a:rPr lang="en-CA" sz="1800"/>
                        <a:t>88</a:t>
                      </a:r>
                      <a:endParaRPr sz="1800"/>
                    </a:p>
                  </a:txBody>
                  <a:tcPr marT="45725" marB="45725" marR="91450" marL="91450"/>
                </a:tc>
              </a:tr>
              <a:tr h="370850">
                <a:tc>
                  <a:txBody>
                    <a:bodyPr/>
                    <a:lstStyle/>
                    <a:p>
                      <a:pPr indent="0" lvl="0" marL="0" marR="0" rtl="0" algn="ctr">
                        <a:spcBef>
                          <a:spcPts val="0"/>
                        </a:spcBef>
                        <a:spcAft>
                          <a:spcPts val="0"/>
                        </a:spcAft>
                        <a:buNone/>
                      </a:pPr>
                      <a:r>
                        <a:t/>
                      </a:r>
                      <a:endParaRPr sz="1800"/>
                    </a:p>
                  </a:txBody>
                  <a:tcPr marT="45725" marB="45725" marR="91450" marL="91450"/>
                </a:tc>
              </a:tr>
              <a:tr h="370850">
                <a:tc>
                  <a:txBody>
                    <a:bodyPr/>
                    <a:lstStyle/>
                    <a:p>
                      <a:pPr indent="0" lvl="0" marL="0" marR="0" rtl="0" algn="ctr">
                        <a:spcBef>
                          <a:spcPts val="0"/>
                        </a:spcBef>
                        <a:spcAft>
                          <a:spcPts val="0"/>
                        </a:spcAft>
                        <a:buNone/>
                      </a:pPr>
                      <a:r>
                        <a:t/>
                      </a:r>
                      <a:endParaRPr sz="1800"/>
                    </a:p>
                  </a:txBody>
                  <a:tcPr marT="45725" marB="45725" marR="91450" marL="91450"/>
                </a:tc>
              </a:tr>
              <a:tr h="370850">
                <a:tc>
                  <a:txBody>
                    <a:bodyPr/>
                    <a:lstStyle/>
                    <a:p>
                      <a:pPr indent="0" lvl="0" marL="0" marR="0" rtl="0" algn="ctr">
                        <a:spcBef>
                          <a:spcPts val="0"/>
                        </a:spcBef>
                        <a:spcAft>
                          <a:spcPts val="0"/>
                        </a:spcAft>
                        <a:buNone/>
                      </a:pPr>
                      <a:r>
                        <a:t/>
                      </a:r>
                      <a:endParaRPr sz="1800"/>
                    </a:p>
                  </a:txBody>
                  <a:tcPr marT="45725" marB="45725" marR="91450" marL="91450"/>
                </a:tc>
              </a:tr>
              <a:tr h="370850">
                <a:tc>
                  <a:txBody>
                    <a:bodyPr/>
                    <a:lstStyle/>
                    <a:p>
                      <a:pPr indent="0" lvl="0" marL="0" marR="0" rtl="0" algn="ctr">
                        <a:spcBef>
                          <a:spcPts val="0"/>
                        </a:spcBef>
                        <a:spcAft>
                          <a:spcPts val="0"/>
                        </a:spcAft>
                        <a:buNone/>
                      </a:pPr>
                      <a:r>
                        <a:t/>
                      </a:r>
                      <a:endParaRPr sz="1800"/>
                    </a:p>
                  </a:txBody>
                  <a:tcPr marT="45725" marB="45725" marR="91450" marL="91450"/>
                </a:tc>
              </a:tr>
              <a:tr h="370850">
                <a:tc>
                  <a:txBody>
                    <a:bodyPr/>
                    <a:lstStyle/>
                    <a:p>
                      <a:pPr indent="0" lvl="0" marL="0" marR="0" rtl="0" algn="ctr">
                        <a:spcBef>
                          <a:spcPts val="0"/>
                        </a:spcBef>
                        <a:spcAft>
                          <a:spcPts val="0"/>
                        </a:spcAft>
                        <a:buNone/>
                      </a:pPr>
                      <a:r>
                        <a:t/>
                      </a:r>
                      <a:endParaRPr sz="1800"/>
                    </a:p>
                  </a:txBody>
                  <a:tcPr marT="45725" marB="45725" marR="91450" marL="91450"/>
                </a:tc>
              </a:tr>
            </a:tbl>
          </a:graphicData>
        </a:graphic>
      </p:graphicFrame>
      <p:sp>
        <p:nvSpPr>
          <p:cNvPr id="662" name="Google Shape;662;p26"/>
          <p:cNvSpPr txBox="1"/>
          <p:nvPr/>
        </p:nvSpPr>
        <p:spPr>
          <a:xfrm>
            <a:off x="8947125" y="4502113"/>
            <a:ext cx="27629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1800">
                <a:solidFill>
                  <a:schemeClr val="dk1"/>
                </a:solidFill>
                <a:latin typeface="Calibri"/>
                <a:ea typeface="Calibri"/>
                <a:cs typeface="Calibri"/>
                <a:sym typeface="Calibri"/>
              </a:rPr>
              <a:t>Predictions = 71.2+16.8=88</a:t>
            </a:r>
            <a:endParaRPr b="1" sz="1800">
              <a:solidFill>
                <a:schemeClr val="dk1"/>
              </a:solidFill>
              <a:latin typeface="Calibri"/>
              <a:ea typeface="Calibri"/>
              <a:cs typeface="Calibri"/>
              <a:sym typeface="Calibri"/>
            </a:endParaRPr>
          </a:p>
        </p:txBody>
      </p:sp>
      <p:cxnSp>
        <p:nvCxnSpPr>
          <p:cNvPr id="663" name="Google Shape;663;p26"/>
          <p:cNvCxnSpPr/>
          <p:nvPr/>
        </p:nvCxnSpPr>
        <p:spPr>
          <a:xfrm>
            <a:off x="7809976" y="4223525"/>
            <a:ext cx="1145100" cy="426900"/>
          </a:xfrm>
          <a:prstGeom prst="curvedConnector3">
            <a:avLst>
              <a:gd fmla="val 50000" name="adj1"/>
            </a:avLst>
          </a:prstGeom>
          <a:noFill/>
          <a:ln cap="flat" cmpd="sng" w="57150">
            <a:solidFill>
              <a:srgbClr val="FF0000"/>
            </a:solidFill>
            <a:prstDash val="solid"/>
            <a:miter lim="800000"/>
            <a:headEnd len="sm" w="sm" type="none"/>
            <a:tailEnd len="med" w="med" type="triangle"/>
          </a:ln>
        </p:spPr>
      </p:cxnSp>
      <p:sp>
        <p:nvSpPr>
          <p:cNvPr id="664" name="Google Shape;664;p26"/>
          <p:cNvSpPr txBox="1"/>
          <p:nvPr/>
        </p:nvSpPr>
        <p:spPr>
          <a:xfrm>
            <a:off x="9004724" y="3359627"/>
            <a:ext cx="286238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CA" sz="1800">
                <a:solidFill>
                  <a:srgbClr val="FF0000"/>
                </a:solidFill>
                <a:latin typeface="Calibri"/>
                <a:ea typeface="Calibri"/>
                <a:cs typeface="Calibri"/>
                <a:sym typeface="Calibri"/>
              </a:rPr>
              <a:t>The model predictions match the true weight. This indicates that the model is overfitting the training data</a:t>
            </a:r>
            <a:endParaRPr b="1" i="1" sz="1800">
              <a:solidFill>
                <a:srgbClr val="FF0000"/>
              </a:solidFill>
              <a:latin typeface="Calibri"/>
              <a:ea typeface="Calibri"/>
              <a:cs typeface="Calibri"/>
              <a:sym typeface="Calibri"/>
            </a:endParaRPr>
          </a:p>
        </p:txBody>
      </p:sp>
      <p:sp>
        <p:nvSpPr>
          <p:cNvPr id="665" name="Google Shape;665;p26"/>
          <p:cNvSpPr/>
          <p:nvPr/>
        </p:nvSpPr>
        <p:spPr>
          <a:xfrm>
            <a:off x="512390" y="6211469"/>
            <a:ext cx="638921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400" u="sng">
                <a:solidFill>
                  <a:schemeClr val="dk1"/>
                </a:solidFill>
                <a:latin typeface="Calibri"/>
                <a:ea typeface="Calibri"/>
                <a:cs typeface="Calibri"/>
                <a:sym typeface="Calibri"/>
                <a:hlinkClick r:id="rId4">
                  <a:extLst>
                    <a:ext uri="{A12FA001-AC4F-418D-AE19-62706E023703}">
                      <ahyp:hlinkClr val="tx"/>
                    </a:ext>
                  </a:extLst>
                </a:hlinkClick>
              </a:rPr>
              <a:t>Example adopted from the awesome StatQuest (by Josh Starmer): https://www.youtube.com/watch?v=3CC4N4z3GJc&amp;t=87s</a:t>
            </a:r>
            <a:endParaRPr sz="1400">
              <a:solidFill>
                <a:schemeClr val="dk1"/>
              </a:solidFill>
              <a:latin typeface="Calibri"/>
              <a:ea typeface="Calibri"/>
              <a:cs typeface="Calibri"/>
              <a:sym typeface="Calibri"/>
            </a:endParaRPr>
          </a:p>
        </p:txBody>
      </p:sp>
      <p:sp>
        <p:nvSpPr>
          <p:cNvPr id="666" name="Google Shape;666;p26"/>
          <p:cNvSpPr/>
          <p:nvPr/>
        </p:nvSpPr>
        <p:spPr>
          <a:xfrm>
            <a:off x="6585535" y="3548024"/>
            <a:ext cx="1743463" cy="2595880"/>
          </a:xfrm>
          <a:prstGeom prst="rect">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37"/>
                                        </p:tgtEl>
                                        <p:attrNameLst>
                                          <p:attrName>style.visibility</p:attrName>
                                        </p:attrNameLst>
                                      </p:cBhvr>
                                      <p:to>
                                        <p:strVal val="visible"/>
                                      </p:to>
                                    </p:set>
                                    <p:anim calcmode="lin" valueType="num">
                                      <p:cBhvr additive="base">
                                        <p:cTn dur="500"/>
                                        <p:tgtEl>
                                          <p:spTgt spid="63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38"/>
                                        </p:tgtEl>
                                        <p:attrNameLst>
                                          <p:attrName>style.visibility</p:attrName>
                                        </p:attrNameLst>
                                      </p:cBhvr>
                                      <p:to>
                                        <p:strVal val="visible"/>
                                      </p:to>
                                    </p:set>
                                    <p:anim calcmode="lin" valueType="num">
                                      <p:cBhvr additive="base">
                                        <p:cTn dur="500"/>
                                        <p:tgtEl>
                                          <p:spTgt spid="63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40"/>
                                        </p:tgtEl>
                                        <p:attrNameLst>
                                          <p:attrName>style.visibility</p:attrName>
                                        </p:attrNameLst>
                                      </p:cBhvr>
                                      <p:to>
                                        <p:strVal val="visible"/>
                                      </p:to>
                                    </p:set>
                                    <p:anim calcmode="lin" valueType="num">
                                      <p:cBhvr additive="base">
                                        <p:cTn dur="500"/>
                                        <p:tgtEl>
                                          <p:spTgt spid="64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39"/>
                                        </p:tgtEl>
                                        <p:attrNameLst>
                                          <p:attrName>style.visibility</p:attrName>
                                        </p:attrNameLst>
                                      </p:cBhvr>
                                      <p:to>
                                        <p:strVal val="visible"/>
                                      </p:to>
                                    </p:set>
                                    <p:anim calcmode="lin" valueType="num">
                                      <p:cBhvr additive="base">
                                        <p:cTn dur="500"/>
                                        <p:tgtEl>
                                          <p:spTgt spid="63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41"/>
                                        </p:tgtEl>
                                        <p:attrNameLst>
                                          <p:attrName>style.visibility</p:attrName>
                                        </p:attrNameLst>
                                      </p:cBhvr>
                                      <p:to>
                                        <p:strVal val="visible"/>
                                      </p:to>
                                    </p:set>
                                    <p:anim calcmode="lin" valueType="num">
                                      <p:cBhvr additive="base">
                                        <p:cTn dur="500"/>
                                        <p:tgtEl>
                                          <p:spTgt spid="64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42"/>
                                        </p:tgtEl>
                                        <p:attrNameLst>
                                          <p:attrName>style.visibility</p:attrName>
                                        </p:attrNameLst>
                                      </p:cBhvr>
                                      <p:to>
                                        <p:strVal val="visible"/>
                                      </p:to>
                                    </p:set>
                                    <p:anim calcmode="lin" valueType="num">
                                      <p:cBhvr additive="base">
                                        <p:cTn dur="500"/>
                                        <p:tgtEl>
                                          <p:spTgt spid="64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43"/>
                                        </p:tgtEl>
                                        <p:attrNameLst>
                                          <p:attrName>style.visibility</p:attrName>
                                        </p:attrNameLst>
                                      </p:cBhvr>
                                      <p:to>
                                        <p:strVal val="visible"/>
                                      </p:to>
                                    </p:set>
                                    <p:anim calcmode="lin" valueType="num">
                                      <p:cBhvr additive="base">
                                        <p:cTn dur="500"/>
                                        <p:tgtEl>
                                          <p:spTgt spid="64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44"/>
                                        </p:tgtEl>
                                        <p:attrNameLst>
                                          <p:attrName>style.visibility</p:attrName>
                                        </p:attrNameLst>
                                      </p:cBhvr>
                                      <p:to>
                                        <p:strVal val="visible"/>
                                      </p:to>
                                    </p:set>
                                    <p:anim calcmode="lin" valueType="num">
                                      <p:cBhvr additive="base">
                                        <p:cTn dur="500"/>
                                        <p:tgtEl>
                                          <p:spTgt spid="64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46"/>
                                        </p:tgtEl>
                                        <p:attrNameLst>
                                          <p:attrName>style.visibility</p:attrName>
                                        </p:attrNameLst>
                                      </p:cBhvr>
                                      <p:to>
                                        <p:strVal val="visible"/>
                                      </p:to>
                                    </p:set>
                                    <p:anim calcmode="lin" valueType="num">
                                      <p:cBhvr additive="base">
                                        <p:cTn dur="500"/>
                                        <p:tgtEl>
                                          <p:spTgt spid="64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45"/>
                                        </p:tgtEl>
                                        <p:attrNameLst>
                                          <p:attrName>style.visibility</p:attrName>
                                        </p:attrNameLst>
                                      </p:cBhvr>
                                      <p:to>
                                        <p:strVal val="visible"/>
                                      </p:to>
                                    </p:set>
                                    <p:anim calcmode="lin" valueType="num">
                                      <p:cBhvr additive="base">
                                        <p:cTn dur="500"/>
                                        <p:tgtEl>
                                          <p:spTgt spid="64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47"/>
                                        </p:tgtEl>
                                        <p:attrNameLst>
                                          <p:attrName>style.visibility</p:attrName>
                                        </p:attrNameLst>
                                      </p:cBhvr>
                                      <p:to>
                                        <p:strVal val="visible"/>
                                      </p:to>
                                    </p:set>
                                    <p:anim calcmode="lin" valueType="num">
                                      <p:cBhvr additive="base">
                                        <p:cTn dur="500"/>
                                        <p:tgtEl>
                                          <p:spTgt spid="64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48"/>
                                        </p:tgtEl>
                                        <p:attrNameLst>
                                          <p:attrName>style.visibility</p:attrName>
                                        </p:attrNameLst>
                                      </p:cBhvr>
                                      <p:to>
                                        <p:strVal val="visible"/>
                                      </p:to>
                                    </p:set>
                                    <p:anim calcmode="lin" valueType="num">
                                      <p:cBhvr additive="base">
                                        <p:cTn dur="500"/>
                                        <p:tgtEl>
                                          <p:spTgt spid="64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49"/>
                                        </p:tgtEl>
                                        <p:attrNameLst>
                                          <p:attrName>style.visibility</p:attrName>
                                        </p:attrNameLst>
                                      </p:cBhvr>
                                      <p:to>
                                        <p:strVal val="visible"/>
                                      </p:to>
                                    </p:set>
                                    <p:anim calcmode="lin" valueType="num">
                                      <p:cBhvr additive="base">
                                        <p:cTn dur="500"/>
                                        <p:tgtEl>
                                          <p:spTgt spid="64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50"/>
                                        </p:tgtEl>
                                        <p:attrNameLst>
                                          <p:attrName>style.visibility</p:attrName>
                                        </p:attrNameLst>
                                      </p:cBhvr>
                                      <p:to>
                                        <p:strVal val="visible"/>
                                      </p:to>
                                    </p:set>
                                    <p:anim calcmode="lin" valueType="num">
                                      <p:cBhvr additive="base">
                                        <p:cTn dur="500"/>
                                        <p:tgtEl>
                                          <p:spTgt spid="65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51"/>
                                        </p:tgtEl>
                                        <p:attrNameLst>
                                          <p:attrName>style.visibility</p:attrName>
                                        </p:attrNameLst>
                                      </p:cBhvr>
                                      <p:to>
                                        <p:strVal val="visible"/>
                                      </p:to>
                                    </p:set>
                                    <p:anim calcmode="lin" valueType="num">
                                      <p:cBhvr additive="base">
                                        <p:cTn dur="500"/>
                                        <p:tgtEl>
                                          <p:spTgt spid="65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52"/>
                                        </p:tgtEl>
                                        <p:attrNameLst>
                                          <p:attrName>style.visibility</p:attrName>
                                        </p:attrNameLst>
                                      </p:cBhvr>
                                      <p:to>
                                        <p:strVal val="visible"/>
                                      </p:to>
                                    </p:set>
                                    <p:anim calcmode="lin" valueType="num">
                                      <p:cBhvr additive="base">
                                        <p:cTn dur="500"/>
                                        <p:tgtEl>
                                          <p:spTgt spid="65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53"/>
                                        </p:tgtEl>
                                        <p:attrNameLst>
                                          <p:attrName>style.visibility</p:attrName>
                                        </p:attrNameLst>
                                      </p:cBhvr>
                                      <p:to>
                                        <p:strVal val="visible"/>
                                      </p:to>
                                    </p:set>
                                    <p:anim calcmode="lin" valueType="num">
                                      <p:cBhvr additive="base">
                                        <p:cTn dur="500"/>
                                        <p:tgtEl>
                                          <p:spTgt spid="65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54"/>
                                        </p:tgtEl>
                                        <p:attrNameLst>
                                          <p:attrName>style.visibility</p:attrName>
                                        </p:attrNameLst>
                                      </p:cBhvr>
                                      <p:to>
                                        <p:strVal val="visible"/>
                                      </p:to>
                                    </p:set>
                                    <p:anim calcmode="lin" valueType="num">
                                      <p:cBhvr additive="base">
                                        <p:cTn dur="500"/>
                                        <p:tgtEl>
                                          <p:spTgt spid="65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55"/>
                                        </p:tgtEl>
                                        <p:attrNameLst>
                                          <p:attrName>style.visibility</p:attrName>
                                        </p:attrNameLst>
                                      </p:cBhvr>
                                      <p:to>
                                        <p:strVal val="visible"/>
                                      </p:to>
                                    </p:set>
                                    <p:anim calcmode="lin" valueType="num">
                                      <p:cBhvr additive="base">
                                        <p:cTn dur="500"/>
                                        <p:tgtEl>
                                          <p:spTgt spid="65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56"/>
                                        </p:tgtEl>
                                        <p:attrNameLst>
                                          <p:attrName>style.visibility</p:attrName>
                                        </p:attrNameLst>
                                      </p:cBhvr>
                                      <p:to>
                                        <p:strVal val="visible"/>
                                      </p:to>
                                    </p:set>
                                    <p:anim calcmode="lin" valueType="num">
                                      <p:cBhvr additive="base">
                                        <p:cTn dur="500"/>
                                        <p:tgtEl>
                                          <p:spTgt spid="65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61"/>
                                        </p:tgtEl>
                                        <p:attrNameLst>
                                          <p:attrName>style.visibility</p:attrName>
                                        </p:attrNameLst>
                                      </p:cBhvr>
                                      <p:to>
                                        <p:strVal val="visible"/>
                                      </p:to>
                                    </p:set>
                                    <p:anim calcmode="lin" valueType="num">
                                      <p:cBhvr additive="base">
                                        <p:cTn dur="500"/>
                                        <p:tgtEl>
                                          <p:spTgt spid="66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66"/>
                                        </p:tgtEl>
                                        <p:attrNameLst>
                                          <p:attrName>style.visibility</p:attrName>
                                        </p:attrNameLst>
                                      </p:cBhvr>
                                      <p:to>
                                        <p:strVal val="visible"/>
                                      </p:to>
                                    </p:set>
                                    <p:anim calcmode="lin" valueType="num">
                                      <p:cBhvr additive="base">
                                        <p:cTn dur="500"/>
                                        <p:tgtEl>
                                          <p:spTgt spid="66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63"/>
                                        </p:tgtEl>
                                        <p:attrNameLst>
                                          <p:attrName>style.visibility</p:attrName>
                                        </p:attrNameLst>
                                      </p:cBhvr>
                                      <p:to>
                                        <p:strVal val="visible"/>
                                      </p:to>
                                    </p:set>
                                    <p:anim calcmode="lin" valueType="num">
                                      <p:cBhvr additive="base">
                                        <p:cTn dur="500"/>
                                        <p:tgtEl>
                                          <p:spTgt spid="66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62"/>
                                        </p:tgtEl>
                                        <p:attrNameLst>
                                          <p:attrName>style.visibility</p:attrName>
                                        </p:attrNameLst>
                                      </p:cBhvr>
                                      <p:to>
                                        <p:strVal val="visible"/>
                                      </p:to>
                                    </p:set>
                                    <p:anim calcmode="lin" valueType="num">
                                      <p:cBhvr additive="base">
                                        <p:cTn dur="500"/>
                                        <p:tgtEl>
                                          <p:spTgt spid="66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64"/>
                                        </p:tgtEl>
                                        <p:attrNameLst>
                                          <p:attrName>style.visibility</p:attrName>
                                        </p:attrNameLst>
                                      </p:cBhvr>
                                      <p:to>
                                        <p:strVal val="visible"/>
                                      </p:to>
                                    </p:set>
                                    <p:anim calcmode="lin" valueType="num">
                                      <p:cBhvr additive="base">
                                        <p:cTn dur="500"/>
                                        <p:tgtEl>
                                          <p:spTgt spid="66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pic>
        <p:nvPicPr>
          <p:cNvPr id="671" name="Google Shape;671;p27"/>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672" name="Google Shape;672;p27"/>
          <p:cNvSpPr/>
          <p:nvPr/>
        </p:nvSpPr>
        <p:spPr>
          <a:xfrm>
            <a:off x="123740" y="246309"/>
            <a:ext cx="11099422" cy="121772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CA" sz="3600">
                <a:solidFill>
                  <a:schemeClr val="lt1"/>
                </a:solidFill>
                <a:latin typeface="Montserrat"/>
                <a:ea typeface="Montserrat"/>
                <a:cs typeface="Montserrat"/>
                <a:sym typeface="Montserrat"/>
              </a:rPr>
              <a:t>XGBOOST: GRADIENT BOOSTING ALGORITHM</a:t>
            </a:r>
            <a:endParaRPr/>
          </a:p>
        </p:txBody>
      </p:sp>
      <p:sp>
        <p:nvSpPr>
          <p:cNvPr id="673" name="Google Shape;673;p27"/>
          <p:cNvSpPr txBox="1"/>
          <p:nvPr/>
        </p:nvSpPr>
        <p:spPr>
          <a:xfrm>
            <a:off x="96726" y="1023477"/>
            <a:ext cx="12095274" cy="1713290"/>
          </a:xfrm>
          <a:prstGeom prst="rect">
            <a:avLst/>
          </a:prstGeom>
          <a:noFill/>
          <a:ln>
            <a:noFill/>
          </a:ln>
        </p:spPr>
        <p:txBody>
          <a:bodyPr anchorCtr="0" anchor="t" bIns="45700" lIns="91425" spcFirstLastPara="1" rIns="91425" wrap="square" tIns="45700">
            <a:normAutofit/>
          </a:bodyPr>
          <a:lstStyle/>
          <a:p>
            <a:pPr indent="-285750" lvl="0" marL="285750" marR="0" rtl="0" algn="l">
              <a:lnSpc>
                <a:spcPct val="90000"/>
              </a:lnSpc>
              <a:spcBef>
                <a:spcPts val="0"/>
              </a:spcBef>
              <a:spcAft>
                <a:spcPts val="0"/>
              </a:spcAft>
              <a:buClr>
                <a:schemeClr val="dk1"/>
              </a:buClr>
              <a:buSzPts val="1600"/>
              <a:buFont typeface="Arial"/>
              <a:buChar char="•"/>
            </a:pPr>
            <a:r>
              <a:rPr lang="en-CA" sz="1600">
                <a:solidFill>
                  <a:schemeClr val="dk1"/>
                </a:solidFill>
                <a:latin typeface="Montserrat"/>
                <a:ea typeface="Montserrat"/>
                <a:cs typeface="Montserrat"/>
                <a:sym typeface="Montserrat"/>
              </a:rPr>
              <a:t>We add a learning rate (range from 0 to 1) to overcome this issue.</a:t>
            </a:r>
            <a:endParaRPr/>
          </a:p>
          <a:p>
            <a:pPr indent="-285750" lvl="0" marL="285750" marR="0" rtl="0" algn="l">
              <a:lnSpc>
                <a:spcPct val="90000"/>
              </a:lnSpc>
              <a:spcBef>
                <a:spcPts val="1000"/>
              </a:spcBef>
              <a:spcAft>
                <a:spcPts val="0"/>
              </a:spcAft>
              <a:buClr>
                <a:schemeClr val="dk1"/>
              </a:buClr>
              <a:buSzPts val="1600"/>
              <a:buFont typeface="Arial"/>
              <a:buChar char="•"/>
            </a:pPr>
            <a:r>
              <a:rPr lang="en-CA" sz="1600">
                <a:solidFill>
                  <a:schemeClr val="dk1"/>
                </a:solidFill>
                <a:latin typeface="Montserrat"/>
                <a:ea typeface="Montserrat"/>
                <a:cs typeface="Montserrat"/>
                <a:sym typeface="Montserrat"/>
              </a:rPr>
              <a:t>This parameter is used for scaling purposes by adjusting the newly added information from the new tree.</a:t>
            </a:r>
            <a:endParaRPr/>
          </a:p>
          <a:p>
            <a:pPr indent="-285750" lvl="0" marL="285750" marR="0" rtl="0" algn="l">
              <a:lnSpc>
                <a:spcPct val="90000"/>
              </a:lnSpc>
              <a:spcBef>
                <a:spcPts val="1000"/>
              </a:spcBef>
              <a:spcAft>
                <a:spcPts val="0"/>
              </a:spcAft>
              <a:buClr>
                <a:schemeClr val="dk1"/>
              </a:buClr>
              <a:buSzPts val="1600"/>
              <a:buFont typeface="Arial"/>
              <a:buChar char="•"/>
            </a:pPr>
            <a:r>
              <a:rPr lang="en-CA" sz="1600">
                <a:solidFill>
                  <a:schemeClr val="dk1"/>
                </a:solidFill>
                <a:latin typeface="Montserrat"/>
                <a:ea typeface="Montserrat"/>
                <a:cs typeface="Montserrat"/>
                <a:sym typeface="Montserrat"/>
              </a:rPr>
              <a:t>Adding this tree and scaling it with the learning rate helps us get a little closer to the true values.</a:t>
            </a:r>
            <a:endParaRPr/>
          </a:p>
          <a:p>
            <a:pPr indent="-285750" lvl="0" marL="285750" marR="0" rtl="0" algn="l">
              <a:lnSpc>
                <a:spcPct val="90000"/>
              </a:lnSpc>
              <a:spcBef>
                <a:spcPts val="1000"/>
              </a:spcBef>
              <a:spcAft>
                <a:spcPts val="0"/>
              </a:spcAft>
              <a:buClr>
                <a:schemeClr val="dk1"/>
              </a:buClr>
              <a:buSzPts val="1600"/>
              <a:buFont typeface="Arial"/>
              <a:buChar char="•"/>
            </a:pPr>
            <a:r>
              <a:rPr lang="en-CA" sz="1600">
                <a:solidFill>
                  <a:schemeClr val="dk1"/>
                </a:solidFill>
                <a:latin typeface="Montserrat"/>
                <a:ea typeface="Montserrat"/>
                <a:cs typeface="Montserrat"/>
                <a:sym typeface="Montserrat"/>
              </a:rPr>
              <a:t>By taking smaller steps, the model results in better predictions on the testing dataset (low variance).</a:t>
            </a:r>
            <a:endParaRPr sz="1600">
              <a:solidFill>
                <a:schemeClr val="dk1"/>
              </a:solidFill>
              <a:latin typeface="Montserrat"/>
              <a:ea typeface="Montserrat"/>
              <a:cs typeface="Montserrat"/>
              <a:sym typeface="Montserrat"/>
            </a:endParaRPr>
          </a:p>
          <a:p>
            <a:pPr indent="-184150" lvl="0" marL="285750" marR="0" rtl="0" algn="l">
              <a:lnSpc>
                <a:spcPct val="90000"/>
              </a:lnSpc>
              <a:spcBef>
                <a:spcPts val="1000"/>
              </a:spcBef>
              <a:spcAft>
                <a:spcPts val="0"/>
              </a:spcAft>
              <a:buClr>
                <a:schemeClr val="dk1"/>
              </a:buClr>
              <a:buSzPts val="1600"/>
              <a:buFont typeface="Arial"/>
              <a:buNone/>
            </a:pPr>
            <a:r>
              <a:t/>
            </a:r>
            <a:endParaRPr sz="1600">
              <a:solidFill>
                <a:schemeClr val="dk1"/>
              </a:solidFill>
              <a:latin typeface="Montserrat"/>
              <a:ea typeface="Montserrat"/>
              <a:cs typeface="Montserrat"/>
              <a:sym typeface="Montserrat"/>
            </a:endParaRPr>
          </a:p>
        </p:txBody>
      </p:sp>
      <p:sp>
        <p:nvSpPr>
          <p:cNvPr id="674" name="Google Shape;674;p27"/>
          <p:cNvSpPr/>
          <p:nvPr/>
        </p:nvSpPr>
        <p:spPr>
          <a:xfrm>
            <a:off x="8611156" y="2368839"/>
            <a:ext cx="1059786" cy="349195"/>
          </a:xfrm>
          <a:prstGeom prst="roundRect">
            <a:avLst>
              <a:gd fmla="val 16667" name="adj"/>
            </a:avLst>
          </a:prstGeom>
          <a:solidFill>
            <a:schemeClr val="accent4"/>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lt1"/>
                </a:solidFill>
                <a:latin typeface="Calibri"/>
                <a:ea typeface="Calibri"/>
                <a:cs typeface="Calibri"/>
                <a:sym typeface="Calibri"/>
              </a:rPr>
              <a:t>Is female?</a:t>
            </a:r>
            <a:endParaRPr sz="1600">
              <a:solidFill>
                <a:schemeClr val="lt1"/>
              </a:solidFill>
              <a:latin typeface="Calibri"/>
              <a:ea typeface="Calibri"/>
              <a:cs typeface="Calibri"/>
              <a:sym typeface="Calibri"/>
            </a:endParaRPr>
          </a:p>
        </p:txBody>
      </p:sp>
      <p:cxnSp>
        <p:nvCxnSpPr>
          <p:cNvPr id="675" name="Google Shape;675;p27"/>
          <p:cNvCxnSpPr>
            <a:stCxn id="674" idx="2"/>
            <a:endCxn id="676" idx="0"/>
          </p:cNvCxnSpPr>
          <p:nvPr/>
        </p:nvCxnSpPr>
        <p:spPr>
          <a:xfrm flipH="1">
            <a:off x="8451649" y="2718034"/>
            <a:ext cx="689400" cy="341700"/>
          </a:xfrm>
          <a:prstGeom prst="straightConnector1">
            <a:avLst/>
          </a:prstGeom>
          <a:noFill/>
          <a:ln cap="flat" cmpd="sng" w="9525">
            <a:solidFill>
              <a:schemeClr val="accent1"/>
            </a:solidFill>
            <a:prstDash val="solid"/>
            <a:miter lim="800000"/>
            <a:headEnd len="sm" w="sm" type="none"/>
            <a:tailEnd len="med" w="med" type="triangle"/>
          </a:ln>
        </p:spPr>
      </p:cxnSp>
      <p:cxnSp>
        <p:nvCxnSpPr>
          <p:cNvPr id="677" name="Google Shape;677;p27"/>
          <p:cNvCxnSpPr>
            <a:stCxn id="674" idx="2"/>
            <a:endCxn id="678" idx="0"/>
          </p:cNvCxnSpPr>
          <p:nvPr/>
        </p:nvCxnSpPr>
        <p:spPr>
          <a:xfrm>
            <a:off x="9141049" y="2718034"/>
            <a:ext cx="763800" cy="341700"/>
          </a:xfrm>
          <a:prstGeom prst="straightConnector1">
            <a:avLst/>
          </a:prstGeom>
          <a:noFill/>
          <a:ln cap="flat" cmpd="sng" w="9525">
            <a:solidFill>
              <a:schemeClr val="accent1"/>
            </a:solidFill>
            <a:prstDash val="solid"/>
            <a:miter lim="800000"/>
            <a:headEnd len="sm" w="sm" type="none"/>
            <a:tailEnd len="med" w="med" type="triangle"/>
          </a:ln>
        </p:spPr>
      </p:cxnSp>
      <p:sp>
        <p:nvSpPr>
          <p:cNvPr id="676" name="Google Shape;676;p27"/>
          <p:cNvSpPr/>
          <p:nvPr/>
        </p:nvSpPr>
        <p:spPr>
          <a:xfrm>
            <a:off x="7828440" y="3059635"/>
            <a:ext cx="1246266" cy="343431"/>
          </a:xfrm>
          <a:prstGeom prst="roundRect">
            <a:avLst>
              <a:gd fmla="val 16667" name="adj"/>
            </a:avLst>
          </a:prstGeom>
          <a:solidFill>
            <a:srgbClr val="FF00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lt1"/>
                </a:solidFill>
                <a:latin typeface="Calibri"/>
                <a:ea typeface="Calibri"/>
                <a:cs typeface="Calibri"/>
                <a:sym typeface="Calibri"/>
              </a:rPr>
              <a:t>Height &lt;1.6</a:t>
            </a:r>
            <a:endParaRPr sz="1600">
              <a:solidFill>
                <a:schemeClr val="lt1"/>
              </a:solidFill>
              <a:latin typeface="Calibri"/>
              <a:ea typeface="Calibri"/>
              <a:cs typeface="Calibri"/>
              <a:sym typeface="Calibri"/>
            </a:endParaRPr>
          </a:p>
        </p:txBody>
      </p:sp>
      <p:sp>
        <p:nvSpPr>
          <p:cNvPr id="678" name="Google Shape;678;p27"/>
          <p:cNvSpPr/>
          <p:nvPr/>
        </p:nvSpPr>
        <p:spPr>
          <a:xfrm>
            <a:off x="9311753" y="3059635"/>
            <a:ext cx="1186273" cy="343431"/>
          </a:xfrm>
          <a:prstGeom prst="roundRect">
            <a:avLst>
              <a:gd fmla="val 16667" name="adj"/>
            </a:avLst>
          </a:prstGeom>
          <a:solidFill>
            <a:srgbClr val="FF00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lt1"/>
                </a:solidFill>
                <a:latin typeface="Calibri"/>
                <a:ea typeface="Calibri"/>
                <a:cs typeface="Calibri"/>
                <a:sym typeface="Calibri"/>
              </a:rPr>
              <a:t>Is not Blue?</a:t>
            </a:r>
            <a:endParaRPr sz="1600">
              <a:solidFill>
                <a:schemeClr val="lt1"/>
              </a:solidFill>
              <a:latin typeface="Calibri"/>
              <a:ea typeface="Calibri"/>
              <a:cs typeface="Calibri"/>
              <a:sym typeface="Calibri"/>
            </a:endParaRPr>
          </a:p>
        </p:txBody>
      </p:sp>
      <p:cxnSp>
        <p:nvCxnSpPr>
          <p:cNvPr id="679" name="Google Shape;679;p27"/>
          <p:cNvCxnSpPr/>
          <p:nvPr/>
        </p:nvCxnSpPr>
        <p:spPr>
          <a:xfrm flipH="1">
            <a:off x="9499235" y="3411314"/>
            <a:ext cx="424530" cy="341602"/>
          </a:xfrm>
          <a:prstGeom prst="straightConnector1">
            <a:avLst/>
          </a:prstGeom>
          <a:noFill/>
          <a:ln cap="flat" cmpd="sng" w="9525">
            <a:solidFill>
              <a:schemeClr val="accent1"/>
            </a:solidFill>
            <a:prstDash val="solid"/>
            <a:miter lim="800000"/>
            <a:headEnd len="sm" w="sm" type="none"/>
            <a:tailEnd len="med" w="med" type="triangle"/>
          </a:ln>
        </p:spPr>
      </p:cxnSp>
      <p:cxnSp>
        <p:nvCxnSpPr>
          <p:cNvPr id="680" name="Google Shape;680;p27"/>
          <p:cNvCxnSpPr/>
          <p:nvPr/>
        </p:nvCxnSpPr>
        <p:spPr>
          <a:xfrm>
            <a:off x="9923765" y="3411314"/>
            <a:ext cx="528892" cy="341602"/>
          </a:xfrm>
          <a:prstGeom prst="straightConnector1">
            <a:avLst/>
          </a:prstGeom>
          <a:noFill/>
          <a:ln cap="flat" cmpd="sng" w="9525">
            <a:solidFill>
              <a:schemeClr val="accent1"/>
            </a:solidFill>
            <a:prstDash val="solid"/>
            <a:miter lim="800000"/>
            <a:headEnd len="sm" w="sm" type="none"/>
            <a:tailEnd len="med" w="med" type="triangle"/>
          </a:ln>
        </p:spPr>
      </p:cxnSp>
      <p:cxnSp>
        <p:nvCxnSpPr>
          <p:cNvPr id="681" name="Google Shape;681;p27"/>
          <p:cNvCxnSpPr>
            <a:endCxn id="682" idx="0"/>
          </p:cNvCxnSpPr>
          <p:nvPr/>
        </p:nvCxnSpPr>
        <p:spPr>
          <a:xfrm flipH="1">
            <a:off x="7766970" y="3411216"/>
            <a:ext cx="424500" cy="341700"/>
          </a:xfrm>
          <a:prstGeom prst="straightConnector1">
            <a:avLst/>
          </a:prstGeom>
          <a:noFill/>
          <a:ln cap="flat" cmpd="sng" w="9525">
            <a:solidFill>
              <a:schemeClr val="accent1"/>
            </a:solidFill>
            <a:prstDash val="solid"/>
            <a:miter lim="800000"/>
            <a:headEnd len="sm" w="sm" type="none"/>
            <a:tailEnd len="med" w="med" type="triangle"/>
          </a:ln>
        </p:spPr>
      </p:cxnSp>
      <p:cxnSp>
        <p:nvCxnSpPr>
          <p:cNvPr id="683" name="Google Shape;683;p27"/>
          <p:cNvCxnSpPr>
            <a:endCxn id="684" idx="0"/>
          </p:cNvCxnSpPr>
          <p:nvPr/>
        </p:nvCxnSpPr>
        <p:spPr>
          <a:xfrm>
            <a:off x="8191492" y="3411216"/>
            <a:ext cx="528900" cy="341700"/>
          </a:xfrm>
          <a:prstGeom prst="straightConnector1">
            <a:avLst/>
          </a:prstGeom>
          <a:noFill/>
          <a:ln cap="flat" cmpd="sng" w="9525">
            <a:solidFill>
              <a:schemeClr val="accent1"/>
            </a:solidFill>
            <a:prstDash val="solid"/>
            <a:miter lim="800000"/>
            <a:headEnd len="sm" w="sm" type="none"/>
            <a:tailEnd len="med" w="med" type="triangle"/>
          </a:ln>
        </p:spPr>
      </p:cxnSp>
      <p:sp>
        <p:nvSpPr>
          <p:cNvPr id="682" name="Google Shape;682;p27"/>
          <p:cNvSpPr/>
          <p:nvPr/>
        </p:nvSpPr>
        <p:spPr>
          <a:xfrm>
            <a:off x="7408783" y="3752916"/>
            <a:ext cx="716373"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400">
                <a:solidFill>
                  <a:srgbClr val="FF0000"/>
                </a:solidFill>
                <a:latin typeface="Calibri"/>
                <a:ea typeface="Calibri"/>
                <a:cs typeface="Calibri"/>
                <a:sym typeface="Calibri"/>
              </a:rPr>
              <a:t>-14.7</a:t>
            </a:r>
            <a:endParaRPr sz="1400">
              <a:solidFill>
                <a:srgbClr val="FF0000"/>
              </a:solidFill>
              <a:latin typeface="Calibri"/>
              <a:ea typeface="Calibri"/>
              <a:cs typeface="Calibri"/>
              <a:sym typeface="Calibri"/>
            </a:endParaRPr>
          </a:p>
        </p:txBody>
      </p:sp>
      <p:sp>
        <p:nvSpPr>
          <p:cNvPr id="684" name="Google Shape;684;p27"/>
          <p:cNvSpPr/>
          <p:nvPr/>
        </p:nvSpPr>
        <p:spPr>
          <a:xfrm>
            <a:off x="8362205" y="3752916"/>
            <a:ext cx="716374"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800">
                <a:solidFill>
                  <a:srgbClr val="FF0000"/>
                </a:solidFill>
                <a:latin typeface="Calibri"/>
                <a:ea typeface="Calibri"/>
                <a:cs typeface="Calibri"/>
                <a:sym typeface="Calibri"/>
              </a:rPr>
              <a:t>4.8</a:t>
            </a:r>
            <a:endParaRPr sz="1800">
              <a:solidFill>
                <a:srgbClr val="FF0000"/>
              </a:solidFill>
              <a:latin typeface="Calibri"/>
              <a:ea typeface="Calibri"/>
              <a:cs typeface="Calibri"/>
              <a:sym typeface="Calibri"/>
            </a:endParaRPr>
          </a:p>
        </p:txBody>
      </p:sp>
      <p:sp>
        <p:nvSpPr>
          <p:cNvPr id="685" name="Google Shape;685;p27"/>
          <p:cNvSpPr/>
          <p:nvPr/>
        </p:nvSpPr>
        <p:spPr>
          <a:xfrm>
            <a:off x="9141048" y="3772079"/>
            <a:ext cx="716373"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200">
                <a:solidFill>
                  <a:srgbClr val="FF0000"/>
                </a:solidFill>
                <a:latin typeface="Calibri"/>
                <a:ea typeface="Calibri"/>
                <a:cs typeface="Calibri"/>
                <a:sym typeface="Calibri"/>
              </a:rPr>
              <a:t>1.8, 5.8</a:t>
            </a:r>
            <a:endParaRPr sz="1200">
              <a:solidFill>
                <a:srgbClr val="FF0000"/>
              </a:solidFill>
              <a:latin typeface="Calibri"/>
              <a:ea typeface="Calibri"/>
              <a:cs typeface="Calibri"/>
              <a:sym typeface="Calibri"/>
            </a:endParaRPr>
          </a:p>
        </p:txBody>
      </p:sp>
      <p:sp>
        <p:nvSpPr>
          <p:cNvPr id="686" name="Google Shape;686;p27"/>
          <p:cNvSpPr/>
          <p:nvPr/>
        </p:nvSpPr>
        <p:spPr>
          <a:xfrm>
            <a:off x="10094470" y="3772079"/>
            <a:ext cx="716374"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800">
                <a:solidFill>
                  <a:srgbClr val="FF0000"/>
                </a:solidFill>
                <a:latin typeface="Calibri"/>
                <a:ea typeface="Calibri"/>
                <a:cs typeface="Calibri"/>
                <a:sym typeface="Calibri"/>
              </a:rPr>
              <a:t>16.8</a:t>
            </a:r>
            <a:endParaRPr sz="1800">
              <a:solidFill>
                <a:srgbClr val="FF0000"/>
              </a:solidFill>
              <a:latin typeface="Calibri"/>
              <a:ea typeface="Calibri"/>
              <a:cs typeface="Calibri"/>
              <a:sym typeface="Calibri"/>
            </a:endParaRPr>
          </a:p>
        </p:txBody>
      </p:sp>
      <p:sp>
        <p:nvSpPr>
          <p:cNvPr id="687" name="Google Shape;687;p27"/>
          <p:cNvSpPr txBox="1"/>
          <p:nvPr/>
        </p:nvSpPr>
        <p:spPr>
          <a:xfrm>
            <a:off x="7674253" y="3393325"/>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688" name="Google Shape;688;p27"/>
          <p:cNvSpPr txBox="1"/>
          <p:nvPr/>
        </p:nvSpPr>
        <p:spPr>
          <a:xfrm>
            <a:off x="8467902" y="2690015"/>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689" name="Google Shape;689;p27"/>
          <p:cNvSpPr txBox="1"/>
          <p:nvPr/>
        </p:nvSpPr>
        <p:spPr>
          <a:xfrm>
            <a:off x="9580434" y="2690015"/>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690" name="Google Shape;690;p27"/>
          <p:cNvSpPr txBox="1"/>
          <p:nvPr/>
        </p:nvSpPr>
        <p:spPr>
          <a:xfrm>
            <a:off x="10293579" y="3383584"/>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691" name="Google Shape;691;p27"/>
          <p:cNvSpPr txBox="1"/>
          <p:nvPr/>
        </p:nvSpPr>
        <p:spPr>
          <a:xfrm>
            <a:off x="8510071" y="3365866"/>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692" name="Google Shape;692;p27"/>
          <p:cNvSpPr txBox="1"/>
          <p:nvPr/>
        </p:nvSpPr>
        <p:spPr>
          <a:xfrm>
            <a:off x="9459461" y="3364924"/>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693" name="Google Shape;693;p27"/>
          <p:cNvSpPr/>
          <p:nvPr/>
        </p:nvSpPr>
        <p:spPr>
          <a:xfrm>
            <a:off x="3613164" y="2515428"/>
            <a:ext cx="1049256" cy="1016222"/>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4" name="Google Shape;694;p27"/>
          <p:cNvSpPr/>
          <p:nvPr/>
        </p:nvSpPr>
        <p:spPr>
          <a:xfrm>
            <a:off x="2037491" y="2813095"/>
            <a:ext cx="1059786" cy="349195"/>
          </a:xfrm>
          <a:prstGeom prst="roundRect">
            <a:avLst>
              <a:gd fmla="val 16667" name="adj"/>
            </a:avLst>
          </a:prstGeom>
          <a:solidFill>
            <a:schemeClr val="accent4"/>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lt1"/>
                </a:solidFill>
                <a:latin typeface="Calibri"/>
                <a:ea typeface="Calibri"/>
                <a:cs typeface="Calibri"/>
                <a:sym typeface="Calibri"/>
              </a:rPr>
              <a:t>71.2</a:t>
            </a:r>
            <a:endParaRPr sz="1600">
              <a:solidFill>
                <a:schemeClr val="lt1"/>
              </a:solidFill>
              <a:latin typeface="Calibri"/>
              <a:ea typeface="Calibri"/>
              <a:cs typeface="Calibri"/>
              <a:sym typeface="Calibri"/>
            </a:endParaRPr>
          </a:p>
        </p:txBody>
      </p:sp>
      <p:sp>
        <p:nvSpPr>
          <p:cNvPr id="695" name="Google Shape;695;p27"/>
          <p:cNvSpPr txBox="1"/>
          <p:nvPr/>
        </p:nvSpPr>
        <p:spPr>
          <a:xfrm>
            <a:off x="1347544" y="3219534"/>
            <a:ext cx="2499457"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CA" sz="1800">
                <a:solidFill>
                  <a:srgbClr val="FF0000"/>
                </a:solidFill>
                <a:latin typeface="Calibri"/>
                <a:ea typeface="Calibri"/>
                <a:cs typeface="Calibri"/>
                <a:sym typeface="Calibri"/>
              </a:rPr>
              <a:t>AVERAGE WEIGHT (INITIAL GUESS FROM PREVIOUS STEP</a:t>
            </a:r>
            <a:endParaRPr sz="1800">
              <a:solidFill>
                <a:srgbClr val="FF0000"/>
              </a:solidFill>
              <a:latin typeface="Calibri"/>
              <a:ea typeface="Calibri"/>
              <a:cs typeface="Calibri"/>
              <a:sym typeface="Calibri"/>
            </a:endParaRPr>
          </a:p>
        </p:txBody>
      </p:sp>
      <p:graphicFrame>
        <p:nvGraphicFramePr>
          <p:cNvPr id="696" name="Google Shape;696;p27"/>
          <p:cNvGraphicFramePr/>
          <p:nvPr/>
        </p:nvGraphicFramePr>
        <p:xfrm>
          <a:off x="288651" y="4185920"/>
          <a:ext cx="3000000" cy="3000000"/>
        </p:xfrm>
        <a:graphic>
          <a:graphicData uri="http://schemas.openxmlformats.org/drawingml/2006/table">
            <a:tbl>
              <a:tblPr bandRow="1" firstRow="1">
                <a:noFill/>
                <a:tableStyleId>{C56017F4-4159-4531-9A6F-2EA572D870EB}</a:tableStyleId>
              </a:tblPr>
              <a:tblGrid>
                <a:gridCol w="1346200"/>
                <a:gridCol w="1346200"/>
                <a:gridCol w="1346200"/>
                <a:gridCol w="1346200"/>
              </a:tblGrid>
              <a:tr h="370850">
                <a:tc>
                  <a:txBody>
                    <a:bodyPr/>
                    <a:lstStyle/>
                    <a:p>
                      <a:pPr indent="0" lvl="0" marL="0" marR="0" rtl="0" algn="l">
                        <a:spcBef>
                          <a:spcPts val="0"/>
                        </a:spcBef>
                        <a:spcAft>
                          <a:spcPts val="0"/>
                        </a:spcAft>
                        <a:buNone/>
                      </a:pPr>
                      <a:r>
                        <a:rPr lang="en-CA" sz="1800"/>
                        <a:t>Height</a:t>
                      </a:r>
                      <a:endParaRPr sz="1800"/>
                    </a:p>
                  </a:txBody>
                  <a:tcPr marT="45725" marB="45725" marR="91450" marL="91450"/>
                </a:tc>
                <a:tc>
                  <a:txBody>
                    <a:bodyPr/>
                    <a:lstStyle/>
                    <a:p>
                      <a:pPr indent="0" lvl="0" marL="0" marR="0" rtl="0" algn="l">
                        <a:spcBef>
                          <a:spcPts val="0"/>
                        </a:spcBef>
                        <a:spcAft>
                          <a:spcPts val="0"/>
                        </a:spcAft>
                        <a:buNone/>
                      </a:pPr>
                      <a:r>
                        <a:rPr lang="en-CA" sz="1800"/>
                        <a:t>Color</a:t>
                      </a:r>
                      <a:endParaRPr sz="1800"/>
                    </a:p>
                  </a:txBody>
                  <a:tcPr marT="45725" marB="45725" marR="91450" marL="91450"/>
                </a:tc>
                <a:tc>
                  <a:txBody>
                    <a:bodyPr/>
                    <a:lstStyle/>
                    <a:p>
                      <a:pPr indent="0" lvl="0" marL="0" marR="0" rtl="0" algn="l">
                        <a:spcBef>
                          <a:spcPts val="0"/>
                        </a:spcBef>
                        <a:spcAft>
                          <a:spcPts val="0"/>
                        </a:spcAft>
                        <a:buNone/>
                      </a:pPr>
                      <a:r>
                        <a:rPr lang="en-CA" sz="1800"/>
                        <a:t>Gender</a:t>
                      </a:r>
                      <a:endParaRPr sz="1800"/>
                    </a:p>
                  </a:txBody>
                  <a:tcPr marT="45725" marB="45725" marR="91450" marL="91450"/>
                </a:tc>
                <a:tc>
                  <a:txBody>
                    <a:bodyPr/>
                    <a:lstStyle/>
                    <a:p>
                      <a:pPr indent="0" lvl="0" marL="0" marR="0" rtl="0" algn="l">
                        <a:spcBef>
                          <a:spcPts val="0"/>
                        </a:spcBef>
                        <a:spcAft>
                          <a:spcPts val="0"/>
                        </a:spcAft>
                        <a:buNone/>
                      </a:pPr>
                      <a:r>
                        <a:rPr lang="en-CA" sz="1800"/>
                        <a:t>Weight (Kg)</a:t>
                      </a:r>
                      <a:endParaRPr sz="1800"/>
                    </a:p>
                  </a:txBody>
                  <a:tcPr marT="45725" marB="45725" marR="91450" marL="91450"/>
                </a:tc>
              </a:tr>
              <a:tr h="370850">
                <a:tc>
                  <a:txBody>
                    <a:bodyPr/>
                    <a:lstStyle/>
                    <a:p>
                      <a:pPr indent="0" lvl="0" marL="0" marR="0" rtl="0" algn="l">
                        <a:spcBef>
                          <a:spcPts val="0"/>
                        </a:spcBef>
                        <a:spcAft>
                          <a:spcPts val="0"/>
                        </a:spcAft>
                        <a:buNone/>
                      </a:pPr>
                      <a:r>
                        <a:rPr lang="en-CA" sz="1800"/>
                        <a:t>1.6</a:t>
                      </a:r>
                      <a:endParaRPr sz="1800"/>
                    </a:p>
                  </a:txBody>
                  <a:tcPr marT="45725" marB="45725" marR="91450" marL="91450"/>
                </a:tc>
                <a:tc>
                  <a:txBody>
                    <a:bodyPr/>
                    <a:lstStyle/>
                    <a:p>
                      <a:pPr indent="0" lvl="0" marL="0" marR="0" rtl="0" algn="l">
                        <a:spcBef>
                          <a:spcPts val="0"/>
                        </a:spcBef>
                        <a:spcAft>
                          <a:spcPts val="0"/>
                        </a:spcAft>
                        <a:buNone/>
                      </a:pPr>
                      <a:r>
                        <a:rPr lang="en-CA" sz="1800"/>
                        <a:t>Blue</a:t>
                      </a:r>
                      <a:endParaRPr sz="1800"/>
                    </a:p>
                  </a:txBody>
                  <a:tcPr marT="45725" marB="45725" marR="91450" marL="91450"/>
                </a:tc>
                <a:tc>
                  <a:txBody>
                    <a:bodyPr/>
                    <a:lstStyle/>
                    <a:p>
                      <a:pPr indent="0" lvl="0" marL="0" marR="0" rtl="0" algn="l">
                        <a:spcBef>
                          <a:spcPts val="0"/>
                        </a:spcBef>
                        <a:spcAft>
                          <a:spcPts val="0"/>
                        </a:spcAft>
                        <a:buNone/>
                      </a:pPr>
                      <a:r>
                        <a:rPr lang="en-CA" sz="1800"/>
                        <a:t>Male</a:t>
                      </a:r>
                      <a:endParaRPr sz="1800"/>
                    </a:p>
                  </a:txBody>
                  <a:tcPr marT="45725" marB="45725" marR="91450" marL="91450"/>
                </a:tc>
                <a:tc>
                  <a:txBody>
                    <a:bodyPr/>
                    <a:lstStyle/>
                    <a:p>
                      <a:pPr indent="0" lvl="0" marL="0" marR="0" rtl="0" algn="l">
                        <a:spcBef>
                          <a:spcPts val="0"/>
                        </a:spcBef>
                        <a:spcAft>
                          <a:spcPts val="0"/>
                        </a:spcAft>
                        <a:buNone/>
                      </a:pPr>
                      <a:r>
                        <a:rPr lang="en-CA" sz="1800"/>
                        <a:t>88</a:t>
                      </a:r>
                      <a:endParaRPr sz="1800"/>
                    </a:p>
                  </a:txBody>
                  <a:tcPr marT="45725" marB="45725" marR="91450" marL="91450"/>
                </a:tc>
              </a:tr>
              <a:tr h="370850">
                <a:tc>
                  <a:txBody>
                    <a:bodyPr/>
                    <a:lstStyle/>
                    <a:p>
                      <a:pPr indent="0" lvl="0" marL="0" marR="0" rtl="0" algn="l">
                        <a:spcBef>
                          <a:spcPts val="0"/>
                        </a:spcBef>
                        <a:spcAft>
                          <a:spcPts val="0"/>
                        </a:spcAft>
                        <a:buNone/>
                      </a:pPr>
                      <a:r>
                        <a:rPr lang="en-CA" sz="1800"/>
                        <a:t>1.6</a:t>
                      </a:r>
                      <a:endParaRPr sz="1800"/>
                    </a:p>
                  </a:txBody>
                  <a:tcPr marT="45725" marB="45725" marR="91450" marL="91450"/>
                </a:tc>
                <a:tc>
                  <a:txBody>
                    <a:bodyPr/>
                    <a:lstStyle/>
                    <a:p>
                      <a:pPr indent="0" lvl="0" marL="0" marR="0" rtl="0" algn="l">
                        <a:spcBef>
                          <a:spcPts val="0"/>
                        </a:spcBef>
                        <a:spcAft>
                          <a:spcPts val="0"/>
                        </a:spcAft>
                        <a:buNone/>
                      </a:pPr>
                      <a:r>
                        <a:rPr lang="en-CA" sz="1800"/>
                        <a:t>Green</a:t>
                      </a:r>
                      <a:endParaRPr sz="1800"/>
                    </a:p>
                  </a:txBody>
                  <a:tcPr marT="45725" marB="45725" marR="91450" marL="91450"/>
                </a:tc>
                <a:tc>
                  <a:txBody>
                    <a:bodyPr/>
                    <a:lstStyle/>
                    <a:p>
                      <a:pPr indent="0" lvl="0" marL="0" marR="0" rtl="0" algn="l">
                        <a:spcBef>
                          <a:spcPts val="0"/>
                        </a:spcBef>
                        <a:spcAft>
                          <a:spcPts val="0"/>
                        </a:spcAft>
                        <a:buNone/>
                      </a:pPr>
                      <a:r>
                        <a:rPr b="0" lang="en-CA" sz="1800"/>
                        <a:t>Female</a:t>
                      </a:r>
                      <a:endParaRPr b="0" sz="1800"/>
                    </a:p>
                  </a:txBody>
                  <a:tcPr marT="45725" marB="45725" marR="91450" marL="91450"/>
                </a:tc>
                <a:tc>
                  <a:txBody>
                    <a:bodyPr/>
                    <a:lstStyle/>
                    <a:p>
                      <a:pPr indent="0" lvl="0" marL="0" marR="0" rtl="0" algn="l">
                        <a:spcBef>
                          <a:spcPts val="0"/>
                        </a:spcBef>
                        <a:spcAft>
                          <a:spcPts val="0"/>
                        </a:spcAft>
                        <a:buNone/>
                      </a:pPr>
                      <a:r>
                        <a:rPr lang="en-CA" sz="1800"/>
                        <a:t>76</a:t>
                      </a:r>
                      <a:endParaRPr sz="1800"/>
                    </a:p>
                  </a:txBody>
                  <a:tcPr marT="45725" marB="45725" marR="91450" marL="91450"/>
                </a:tc>
              </a:tr>
              <a:tr h="370850">
                <a:tc>
                  <a:txBody>
                    <a:bodyPr/>
                    <a:lstStyle/>
                    <a:p>
                      <a:pPr indent="0" lvl="0" marL="0" marR="0" rtl="0" algn="l">
                        <a:spcBef>
                          <a:spcPts val="0"/>
                        </a:spcBef>
                        <a:spcAft>
                          <a:spcPts val="0"/>
                        </a:spcAft>
                        <a:buNone/>
                      </a:pPr>
                      <a:r>
                        <a:rPr lang="en-CA" sz="1800"/>
                        <a:t>1.5</a:t>
                      </a:r>
                      <a:endParaRPr sz="1800"/>
                    </a:p>
                  </a:txBody>
                  <a:tcPr marT="45725" marB="45725" marR="91450" marL="91450"/>
                </a:tc>
                <a:tc>
                  <a:txBody>
                    <a:bodyPr/>
                    <a:lstStyle/>
                    <a:p>
                      <a:pPr indent="0" lvl="0" marL="0" marR="0" rtl="0" algn="l">
                        <a:spcBef>
                          <a:spcPts val="0"/>
                        </a:spcBef>
                        <a:spcAft>
                          <a:spcPts val="0"/>
                        </a:spcAft>
                        <a:buNone/>
                      </a:pPr>
                      <a:r>
                        <a:rPr lang="en-CA" sz="1800"/>
                        <a:t>Blue</a:t>
                      </a:r>
                      <a:endParaRPr sz="1800"/>
                    </a:p>
                  </a:txBody>
                  <a:tcPr marT="45725" marB="45725" marR="91450" marL="91450"/>
                </a:tc>
                <a:tc>
                  <a:txBody>
                    <a:bodyPr/>
                    <a:lstStyle/>
                    <a:p>
                      <a:pPr indent="0" lvl="0" marL="0" marR="0" rtl="0" algn="l">
                        <a:spcBef>
                          <a:spcPts val="0"/>
                        </a:spcBef>
                        <a:spcAft>
                          <a:spcPts val="0"/>
                        </a:spcAft>
                        <a:buNone/>
                      </a:pPr>
                      <a:r>
                        <a:rPr b="0" lang="en-CA" sz="1800"/>
                        <a:t>Female</a:t>
                      </a:r>
                      <a:endParaRPr b="0" sz="1800"/>
                    </a:p>
                  </a:txBody>
                  <a:tcPr marT="45725" marB="45725" marR="91450" marL="91450"/>
                </a:tc>
                <a:tc>
                  <a:txBody>
                    <a:bodyPr/>
                    <a:lstStyle/>
                    <a:p>
                      <a:pPr indent="0" lvl="0" marL="0" marR="0" rtl="0" algn="l">
                        <a:spcBef>
                          <a:spcPts val="0"/>
                        </a:spcBef>
                        <a:spcAft>
                          <a:spcPts val="0"/>
                        </a:spcAft>
                        <a:buNone/>
                      </a:pPr>
                      <a:r>
                        <a:rPr lang="en-CA" sz="1800"/>
                        <a:t>56</a:t>
                      </a:r>
                      <a:endParaRPr sz="1800"/>
                    </a:p>
                  </a:txBody>
                  <a:tcPr marT="45725" marB="45725" marR="91450" marL="91450"/>
                </a:tc>
              </a:tr>
              <a:tr h="370850">
                <a:tc>
                  <a:txBody>
                    <a:bodyPr/>
                    <a:lstStyle/>
                    <a:p>
                      <a:pPr indent="0" lvl="0" marL="0" marR="0" rtl="0" algn="l">
                        <a:spcBef>
                          <a:spcPts val="0"/>
                        </a:spcBef>
                        <a:spcAft>
                          <a:spcPts val="0"/>
                        </a:spcAft>
                        <a:buNone/>
                      </a:pPr>
                      <a:r>
                        <a:rPr lang="en-CA" sz="1800"/>
                        <a:t>1.8</a:t>
                      </a:r>
                      <a:endParaRPr sz="1800"/>
                    </a:p>
                  </a:txBody>
                  <a:tcPr marT="45725" marB="45725" marR="91450" marL="91450"/>
                </a:tc>
                <a:tc>
                  <a:txBody>
                    <a:bodyPr/>
                    <a:lstStyle/>
                    <a:p>
                      <a:pPr indent="0" lvl="0" marL="0" marR="0" rtl="0" algn="l">
                        <a:spcBef>
                          <a:spcPts val="0"/>
                        </a:spcBef>
                        <a:spcAft>
                          <a:spcPts val="0"/>
                        </a:spcAft>
                        <a:buNone/>
                      </a:pPr>
                      <a:r>
                        <a:rPr lang="en-CA" sz="1800"/>
                        <a:t>Red</a:t>
                      </a:r>
                      <a:endParaRPr sz="1800"/>
                    </a:p>
                  </a:txBody>
                  <a:tcPr marT="45725" marB="45725" marR="91450" marL="91450"/>
                </a:tc>
                <a:tc>
                  <a:txBody>
                    <a:bodyPr/>
                    <a:lstStyle/>
                    <a:p>
                      <a:pPr indent="0" lvl="0" marL="0" marR="0" rtl="0" algn="l">
                        <a:spcBef>
                          <a:spcPts val="0"/>
                        </a:spcBef>
                        <a:spcAft>
                          <a:spcPts val="0"/>
                        </a:spcAft>
                        <a:buNone/>
                      </a:pPr>
                      <a:r>
                        <a:rPr lang="en-CA" sz="1800"/>
                        <a:t>Male</a:t>
                      </a:r>
                      <a:endParaRPr sz="1800"/>
                    </a:p>
                  </a:txBody>
                  <a:tcPr marT="45725" marB="45725" marR="91450" marL="91450"/>
                </a:tc>
                <a:tc>
                  <a:txBody>
                    <a:bodyPr/>
                    <a:lstStyle/>
                    <a:p>
                      <a:pPr indent="0" lvl="0" marL="0" marR="0" rtl="0" algn="l">
                        <a:spcBef>
                          <a:spcPts val="0"/>
                        </a:spcBef>
                        <a:spcAft>
                          <a:spcPts val="0"/>
                        </a:spcAft>
                        <a:buNone/>
                      </a:pPr>
                      <a:r>
                        <a:rPr lang="en-CA" sz="1800"/>
                        <a:t>73</a:t>
                      </a:r>
                      <a:endParaRPr sz="1800"/>
                    </a:p>
                  </a:txBody>
                  <a:tcPr marT="45725" marB="45725" marR="91450" marL="91450"/>
                </a:tc>
              </a:tr>
              <a:tr h="370850">
                <a:tc>
                  <a:txBody>
                    <a:bodyPr/>
                    <a:lstStyle/>
                    <a:p>
                      <a:pPr indent="0" lvl="0" marL="0" marR="0" rtl="0" algn="l">
                        <a:spcBef>
                          <a:spcPts val="0"/>
                        </a:spcBef>
                        <a:spcAft>
                          <a:spcPts val="0"/>
                        </a:spcAft>
                        <a:buNone/>
                      </a:pPr>
                      <a:r>
                        <a:rPr lang="en-CA" sz="1800"/>
                        <a:t>1.5</a:t>
                      </a:r>
                      <a:endParaRPr sz="1800"/>
                    </a:p>
                  </a:txBody>
                  <a:tcPr marT="45725" marB="45725" marR="91450" marL="91450"/>
                </a:tc>
                <a:tc>
                  <a:txBody>
                    <a:bodyPr/>
                    <a:lstStyle/>
                    <a:p>
                      <a:pPr indent="0" lvl="0" marL="0" marR="0" rtl="0" algn="l">
                        <a:spcBef>
                          <a:spcPts val="0"/>
                        </a:spcBef>
                        <a:spcAft>
                          <a:spcPts val="0"/>
                        </a:spcAft>
                        <a:buNone/>
                      </a:pPr>
                      <a:r>
                        <a:rPr lang="en-CA" sz="1800"/>
                        <a:t>Green</a:t>
                      </a:r>
                      <a:endParaRPr sz="1800"/>
                    </a:p>
                  </a:txBody>
                  <a:tcPr marT="45725" marB="45725" marR="91450" marL="91450"/>
                </a:tc>
                <a:tc>
                  <a:txBody>
                    <a:bodyPr/>
                    <a:lstStyle/>
                    <a:p>
                      <a:pPr indent="0" lvl="0" marL="0" marR="0" rtl="0" algn="l">
                        <a:spcBef>
                          <a:spcPts val="0"/>
                        </a:spcBef>
                        <a:spcAft>
                          <a:spcPts val="0"/>
                        </a:spcAft>
                        <a:buNone/>
                      </a:pPr>
                      <a:r>
                        <a:rPr lang="en-CA" sz="1800"/>
                        <a:t>Male</a:t>
                      </a:r>
                      <a:endParaRPr sz="1800"/>
                    </a:p>
                  </a:txBody>
                  <a:tcPr marT="45725" marB="45725" marR="91450" marL="91450"/>
                </a:tc>
                <a:tc>
                  <a:txBody>
                    <a:bodyPr/>
                    <a:lstStyle/>
                    <a:p>
                      <a:pPr indent="0" lvl="0" marL="0" marR="0" rtl="0" algn="l">
                        <a:spcBef>
                          <a:spcPts val="0"/>
                        </a:spcBef>
                        <a:spcAft>
                          <a:spcPts val="0"/>
                        </a:spcAft>
                        <a:buNone/>
                      </a:pPr>
                      <a:r>
                        <a:rPr lang="en-CA" sz="1800"/>
                        <a:t>77</a:t>
                      </a:r>
                      <a:endParaRPr sz="1800"/>
                    </a:p>
                  </a:txBody>
                  <a:tcPr marT="45725" marB="45725" marR="91450" marL="91450"/>
                </a:tc>
              </a:tr>
              <a:tr h="370850">
                <a:tc>
                  <a:txBody>
                    <a:bodyPr/>
                    <a:lstStyle/>
                    <a:p>
                      <a:pPr indent="0" lvl="0" marL="0" marR="0" rtl="0" algn="l">
                        <a:spcBef>
                          <a:spcPts val="0"/>
                        </a:spcBef>
                        <a:spcAft>
                          <a:spcPts val="0"/>
                        </a:spcAft>
                        <a:buNone/>
                      </a:pPr>
                      <a:r>
                        <a:rPr lang="en-CA" sz="1800"/>
                        <a:t>1.4</a:t>
                      </a:r>
                      <a:endParaRPr sz="1800"/>
                    </a:p>
                  </a:txBody>
                  <a:tcPr marT="45725" marB="45725" marR="91450" marL="91450"/>
                </a:tc>
                <a:tc>
                  <a:txBody>
                    <a:bodyPr/>
                    <a:lstStyle/>
                    <a:p>
                      <a:pPr indent="0" lvl="0" marL="0" marR="0" rtl="0" algn="l">
                        <a:spcBef>
                          <a:spcPts val="0"/>
                        </a:spcBef>
                        <a:spcAft>
                          <a:spcPts val="0"/>
                        </a:spcAft>
                        <a:buNone/>
                      </a:pPr>
                      <a:r>
                        <a:rPr lang="en-CA" sz="1800"/>
                        <a:t>Blue</a:t>
                      </a:r>
                      <a:endParaRPr sz="1800"/>
                    </a:p>
                  </a:txBody>
                  <a:tcPr marT="45725" marB="45725" marR="91450" marL="91450"/>
                </a:tc>
                <a:tc>
                  <a:txBody>
                    <a:bodyPr/>
                    <a:lstStyle/>
                    <a:p>
                      <a:pPr indent="0" lvl="0" marL="0" marR="0" rtl="0" algn="l">
                        <a:spcBef>
                          <a:spcPts val="0"/>
                        </a:spcBef>
                        <a:spcAft>
                          <a:spcPts val="0"/>
                        </a:spcAft>
                        <a:buNone/>
                      </a:pPr>
                      <a:r>
                        <a:rPr b="0" lang="en-CA" sz="1800"/>
                        <a:t>Female</a:t>
                      </a:r>
                      <a:endParaRPr b="0" sz="1800"/>
                    </a:p>
                  </a:txBody>
                  <a:tcPr marT="45725" marB="45725" marR="91450" marL="91450"/>
                </a:tc>
                <a:tc>
                  <a:txBody>
                    <a:bodyPr/>
                    <a:lstStyle/>
                    <a:p>
                      <a:pPr indent="0" lvl="0" marL="0" marR="0" rtl="0" algn="l">
                        <a:spcBef>
                          <a:spcPts val="0"/>
                        </a:spcBef>
                        <a:spcAft>
                          <a:spcPts val="0"/>
                        </a:spcAft>
                        <a:buNone/>
                      </a:pPr>
                      <a:r>
                        <a:rPr lang="en-CA" sz="1800"/>
                        <a:t>57</a:t>
                      </a:r>
                      <a:endParaRPr sz="1800"/>
                    </a:p>
                  </a:txBody>
                  <a:tcPr marT="45725" marB="45725" marR="91450" marL="91450"/>
                </a:tc>
              </a:tr>
            </a:tbl>
          </a:graphicData>
        </a:graphic>
      </p:graphicFrame>
      <p:sp>
        <p:nvSpPr>
          <p:cNvPr id="697" name="Google Shape;697;p27"/>
          <p:cNvSpPr/>
          <p:nvPr/>
        </p:nvSpPr>
        <p:spPr>
          <a:xfrm>
            <a:off x="288651" y="4185920"/>
            <a:ext cx="4057130" cy="2595880"/>
          </a:xfrm>
          <a:prstGeom prst="rect">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aphicFrame>
        <p:nvGraphicFramePr>
          <p:cNvPr id="698" name="Google Shape;698;p27"/>
          <p:cNvGraphicFramePr/>
          <p:nvPr/>
        </p:nvGraphicFramePr>
        <p:xfrm>
          <a:off x="6540168" y="4176969"/>
          <a:ext cx="3000000" cy="3000000"/>
        </p:xfrm>
        <a:graphic>
          <a:graphicData uri="http://schemas.openxmlformats.org/drawingml/2006/table">
            <a:tbl>
              <a:tblPr bandRow="1" firstRow="1">
                <a:noFill/>
                <a:tableStyleId>{C56017F4-4159-4531-9A6F-2EA572D870EB}</a:tableStyleId>
              </a:tblPr>
              <a:tblGrid>
                <a:gridCol w="1743475"/>
              </a:tblGrid>
              <a:tr h="370850">
                <a:tc>
                  <a:txBody>
                    <a:bodyPr/>
                    <a:lstStyle/>
                    <a:p>
                      <a:pPr indent="0" lvl="0" marL="0" marR="0" rtl="0" algn="l">
                        <a:spcBef>
                          <a:spcPts val="0"/>
                        </a:spcBef>
                        <a:spcAft>
                          <a:spcPts val="0"/>
                        </a:spcAft>
                        <a:buNone/>
                      </a:pPr>
                      <a:r>
                        <a:rPr lang="en-CA" sz="1800"/>
                        <a:t>New predictions</a:t>
                      </a:r>
                      <a:endParaRPr sz="1800"/>
                    </a:p>
                  </a:txBody>
                  <a:tcPr marT="45725" marB="45725" marR="91450" marL="91450"/>
                </a:tc>
              </a:tr>
              <a:tr h="370850">
                <a:tc>
                  <a:txBody>
                    <a:bodyPr/>
                    <a:lstStyle/>
                    <a:p>
                      <a:pPr indent="0" lvl="0" marL="0" marR="0" rtl="0" algn="ctr">
                        <a:spcBef>
                          <a:spcPts val="0"/>
                        </a:spcBef>
                        <a:spcAft>
                          <a:spcPts val="0"/>
                        </a:spcAft>
                        <a:buNone/>
                      </a:pPr>
                      <a:r>
                        <a:rPr lang="en-CA" sz="1800"/>
                        <a:t>72.9</a:t>
                      </a:r>
                      <a:endParaRPr sz="1800"/>
                    </a:p>
                  </a:txBody>
                  <a:tcPr marT="45725" marB="45725" marR="91450" marL="91450"/>
                </a:tc>
              </a:tr>
              <a:tr h="370850">
                <a:tc>
                  <a:txBody>
                    <a:bodyPr/>
                    <a:lstStyle/>
                    <a:p>
                      <a:pPr indent="0" lvl="0" marL="0" marR="0" rtl="0" algn="ctr">
                        <a:spcBef>
                          <a:spcPts val="0"/>
                        </a:spcBef>
                        <a:spcAft>
                          <a:spcPts val="0"/>
                        </a:spcAft>
                        <a:buNone/>
                      </a:pPr>
                      <a:r>
                        <a:t/>
                      </a:r>
                      <a:endParaRPr sz="1800"/>
                    </a:p>
                  </a:txBody>
                  <a:tcPr marT="45725" marB="45725" marR="91450" marL="91450"/>
                </a:tc>
              </a:tr>
              <a:tr h="370850">
                <a:tc>
                  <a:txBody>
                    <a:bodyPr/>
                    <a:lstStyle/>
                    <a:p>
                      <a:pPr indent="0" lvl="0" marL="0" marR="0" rtl="0" algn="ctr">
                        <a:spcBef>
                          <a:spcPts val="0"/>
                        </a:spcBef>
                        <a:spcAft>
                          <a:spcPts val="0"/>
                        </a:spcAft>
                        <a:buNone/>
                      </a:pPr>
                      <a:r>
                        <a:t/>
                      </a:r>
                      <a:endParaRPr sz="1800"/>
                    </a:p>
                  </a:txBody>
                  <a:tcPr marT="45725" marB="45725" marR="91450" marL="91450"/>
                </a:tc>
              </a:tr>
              <a:tr h="370850">
                <a:tc>
                  <a:txBody>
                    <a:bodyPr/>
                    <a:lstStyle/>
                    <a:p>
                      <a:pPr indent="0" lvl="0" marL="0" marR="0" rtl="0" algn="ctr">
                        <a:spcBef>
                          <a:spcPts val="0"/>
                        </a:spcBef>
                        <a:spcAft>
                          <a:spcPts val="0"/>
                        </a:spcAft>
                        <a:buNone/>
                      </a:pPr>
                      <a:r>
                        <a:t/>
                      </a:r>
                      <a:endParaRPr sz="1800"/>
                    </a:p>
                  </a:txBody>
                  <a:tcPr marT="45725" marB="45725" marR="91450" marL="91450"/>
                </a:tc>
              </a:tr>
              <a:tr h="370850">
                <a:tc>
                  <a:txBody>
                    <a:bodyPr/>
                    <a:lstStyle/>
                    <a:p>
                      <a:pPr indent="0" lvl="0" marL="0" marR="0" rtl="0" algn="ctr">
                        <a:spcBef>
                          <a:spcPts val="0"/>
                        </a:spcBef>
                        <a:spcAft>
                          <a:spcPts val="0"/>
                        </a:spcAft>
                        <a:buNone/>
                      </a:pPr>
                      <a:r>
                        <a:t/>
                      </a:r>
                      <a:endParaRPr sz="1800"/>
                    </a:p>
                  </a:txBody>
                  <a:tcPr marT="45725" marB="45725" marR="91450" marL="91450"/>
                </a:tc>
              </a:tr>
              <a:tr h="370850">
                <a:tc>
                  <a:txBody>
                    <a:bodyPr/>
                    <a:lstStyle/>
                    <a:p>
                      <a:pPr indent="0" lvl="0" marL="0" marR="0" rtl="0" algn="ctr">
                        <a:spcBef>
                          <a:spcPts val="0"/>
                        </a:spcBef>
                        <a:spcAft>
                          <a:spcPts val="0"/>
                        </a:spcAft>
                        <a:buNone/>
                      </a:pPr>
                      <a:r>
                        <a:t/>
                      </a:r>
                      <a:endParaRPr sz="1800"/>
                    </a:p>
                  </a:txBody>
                  <a:tcPr marT="45725" marB="45725" marR="91450" marL="91450"/>
                </a:tc>
              </a:tr>
            </a:tbl>
          </a:graphicData>
        </a:graphic>
      </p:graphicFrame>
      <p:sp>
        <p:nvSpPr>
          <p:cNvPr id="699" name="Google Shape;699;p27"/>
          <p:cNvSpPr txBox="1"/>
          <p:nvPr/>
        </p:nvSpPr>
        <p:spPr>
          <a:xfrm>
            <a:off x="9580434" y="4665741"/>
            <a:ext cx="291208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1800">
                <a:solidFill>
                  <a:schemeClr val="dk1"/>
                </a:solidFill>
                <a:latin typeface="Calibri"/>
                <a:ea typeface="Calibri"/>
                <a:cs typeface="Calibri"/>
                <a:sym typeface="Calibri"/>
              </a:rPr>
              <a:t>Predictions = 71.2+ 0.1 * 16.8=72.9</a:t>
            </a:r>
            <a:endParaRPr b="1" sz="1800">
              <a:solidFill>
                <a:schemeClr val="dk1"/>
              </a:solidFill>
              <a:latin typeface="Calibri"/>
              <a:ea typeface="Calibri"/>
              <a:cs typeface="Calibri"/>
              <a:sym typeface="Calibri"/>
            </a:endParaRPr>
          </a:p>
        </p:txBody>
      </p:sp>
      <p:cxnSp>
        <p:nvCxnSpPr>
          <p:cNvPr id="700" name="Google Shape;700;p27"/>
          <p:cNvCxnSpPr>
            <a:endCxn id="699" idx="1"/>
          </p:cNvCxnSpPr>
          <p:nvPr/>
        </p:nvCxnSpPr>
        <p:spPr>
          <a:xfrm>
            <a:off x="7867734" y="4657707"/>
            <a:ext cx="1712700" cy="331200"/>
          </a:xfrm>
          <a:prstGeom prst="curvedConnector3">
            <a:avLst>
              <a:gd fmla="val 50000" name="adj1"/>
            </a:avLst>
          </a:prstGeom>
          <a:noFill/>
          <a:ln cap="flat" cmpd="sng" w="38100">
            <a:solidFill>
              <a:schemeClr val="accent1"/>
            </a:solidFill>
            <a:prstDash val="solid"/>
            <a:miter lim="800000"/>
            <a:headEnd len="sm" w="sm" type="none"/>
            <a:tailEnd len="med" w="med" type="triangle"/>
          </a:ln>
        </p:spPr>
      </p:cxnSp>
      <p:sp>
        <p:nvSpPr>
          <p:cNvPr id="701" name="Google Shape;701;p27"/>
          <p:cNvSpPr txBox="1"/>
          <p:nvPr/>
        </p:nvSpPr>
        <p:spPr>
          <a:xfrm>
            <a:off x="4678749" y="2827440"/>
            <a:ext cx="1881233"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CA" sz="2000">
                <a:solidFill>
                  <a:schemeClr val="dk1"/>
                </a:solidFill>
                <a:latin typeface="Calibri"/>
                <a:ea typeface="Calibri"/>
                <a:cs typeface="Calibri"/>
                <a:sym typeface="Calibri"/>
              </a:rPr>
              <a:t>LEARNING RATE 0.1</a:t>
            </a:r>
            <a:endParaRPr b="1" sz="2000">
              <a:solidFill>
                <a:schemeClr val="dk1"/>
              </a:solidFill>
              <a:latin typeface="Calibri"/>
              <a:ea typeface="Calibri"/>
              <a:cs typeface="Calibri"/>
              <a:sym typeface="Calibri"/>
            </a:endParaRPr>
          </a:p>
        </p:txBody>
      </p:sp>
      <p:sp>
        <p:nvSpPr>
          <p:cNvPr id="702" name="Google Shape;702;p27"/>
          <p:cNvSpPr/>
          <p:nvPr/>
        </p:nvSpPr>
        <p:spPr>
          <a:xfrm>
            <a:off x="6559982" y="2679163"/>
            <a:ext cx="877224" cy="860124"/>
          </a:xfrm>
          <a:prstGeom prst="mathMultiply">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3" name="Google Shape;703;p27"/>
          <p:cNvSpPr/>
          <p:nvPr/>
        </p:nvSpPr>
        <p:spPr>
          <a:xfrm>
            <a:off x="6525216" y="4175116"/>
            <a:ext cx="1743462" cy="2564181"/>
          </a:xfrm>
          <a:prstGeom prst="rect">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74"/>
                                        </p:tgtEl>
                                        <p:attrNameLst>
                                          <p:attrName>style.visibility</p:attrName>
                                        </p:attrNameLst>
                                      </p:cBhvr>
                                      <p:to>
                                        <p:strVal val="visible"/>
                                      </p:to>
                                    </p:set>
                                    <p:anim calcmode="lin" valueType="num">
                                      <p:cBhvr additive="base">
                                        <p:cTn dur="500"/>
                                        <p:tgtEl>
                                          <p:spTgt spid="67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75"/>
                                        </p:tgtEl>
                                        <p:attrNameLst>
                                          <p:attrName>style.visibility</p:attrName>
                                        </p:attrNameLst>
                                      </p:cBhvr>
                                      <p:to>
                                        <p:strVal val="visible"/>
                                      </p:to>
                                    </p:set>
                                    <p:anim calcmode="lin" valueType="num">
                                      <p:cBhvr additive="base">
                                        <p:cTn dur="500"/>
                                        <p:tgtEl>
                                          <p:spTgt spid="67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77"/>
                                        </p:tgtEl>
                                        <p:attrNameLst>
                                          <p:attrName>style.visibility</p:attrName>
                                        </p:attrNameLst>
                                      </p:cBhvr>
                                      <p:to>
                                        <p:strVal val="visible"/>
                                      </p:to>
                                    </p:set>
                                    <p:anim calcmode="lin" valueType="num">
                                      <p:cBhvr additive="base">
                                        <p:cTn dur="500"/>
                                        <p:tgtEl>
                                          <p:spTgt spid="67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76"/>
                                        </p:tgtEl>
                                        <p:attrNameLst>
                                          <p:attrName>style.visibility</p:attrName>
                                        </p:attrNameLst>
                                      </p:cBhvr>
                                      <p:to>
                                        <p:strVal val="visible"/>
                                      </p:to>
                                    </p:set>
                                    <p:anim calcmode="lin" valueType="num">
                                      <p:cBhvr additive="base">
                                        <p:cTn dur="500"/>
                                        <p:tgtEl>
                                          <p:spTgt spid="67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78"/>
                                        </p:tgtEl>
                                        <p:attrNameLst>
                                          <p:attrName>style.visibility</p:attrName>
                                        </p:attrNameLst>
                                      </p:cBhvr>
                                      <p:to>
                                        <p:strVal val="visible"/>
                                      </p:to>
                                    </p:set>
                                    <p:anim calcmode="lin" valueType="num">
                                      <p:cBhvr additive="base">
                                        <p:cTn dur="500"/>
                                        <p:tgtEl>
                                          <p:spTgt spid="67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79"/>
                                        </p:tgtEl>
                                        <p:attrNameLst>
                                          <p:attrName>style.visibility</p:attrName>
                                        </p:attrNameLst>
                                      </p:cBhvr>
                                      <p:to>
                                        <p:strVal val="visible"/>
                                      </p:to>
                                    </p:set>
                                    <p:anim calcmode="lin" valueType="num">
                                      <p:cBhvr additive="base">
                                        <p:cTn dur="500"/>
                                        <p:tgtEl>
                                          <p:spTgt spid="67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80"/>
                                        </p:tgtEl>
                                        <p:attrNameLst>
                                          <p:attrName>style.visibility</p:attrName>
                                        </p:attrNameLst>
                                      </p:cBhvr>
                                      <p:to>
                                        <p:strVal val="visible"/>
                                      </p:to>
                                    </p:set>
                                    <p:anim calcmode="lin" valueType="num">
                                      <p:cBhvr additive="base">
                                        <p:cTn dur="500"/>
                                        <p:tgtEl>
                                          <p:spTgt spid="68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81"/>
                                        </p:tgtEl>
                                        <p:attrNameLst>
                                          <p:attrName>style.visibility</p:attrName>
                                        </p:attrNameLst>
                                      </p:cBhvr>
                                      <p:to>
                                        <p:strVal val="visible"/>
                                      </p:to>
                                    </p:set>
                                    <p:anim calcmode="lin" valueType="num">
                                      <p:cBhvr additive="base">
                                        <p:cTn dur="500"/>
                                        <p:tgtEl>
                                          <p:spTgt spid="68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83"/>
                                        </p:tgtEl>
                                        <p:attrNameLst>
                                          <p:attrName>style.visibility</p:attrName>
                                        </p:attrNameLst>
                                      </p:cBhvr>
                                      <p:to>
                                        <p:strVal val="visible"/>
                                      </p:to>
                                    </p:set>
                                    <p:anim calcmode="lin" valueType="num">
                                      <p:cBhvr additive="base">
                                        <p:cTn dur="500"/>
                                        <p:tgtEl>
                                          <p:spTgt spid="68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82"/>
                                        </p:tgtEl>
                                        <p:attrNameLst>
                                          <p:attrName>style.visibility</p:attrName>
                                        </p:attrNameLst>
                                      </p:cBhvr>
                                      <p:to>
                                        <p:strVal val="visible"/>
                                      </p:to>
                                    </p:set>
                                    <p:anim calcmode="lin" valueType="num">
                                      <p:cBhvr additive="base">
                                        <p:cTn dur="500"/>
                                        <p:tgtEl>
                                          <p:spTgt spid="68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84"/>
                                        </p:tgtEl>
                                        <p:attrNameLst>
                                          <p:attrName>style.visibility</p:attrName>
                                        </p:attrNameLst>
                                      </p:cBhvr>
                                      <p:to>
                                        <p:strVal val="visible"/>
                                      </p:to>
                                    </p:set>
                                    <p:anim calcmode="lin" valueType="num">
                                      <p:cBhvr additive="base">
                                        <p:cTn dur="500"/>
                                        <p:tgtEl>
                                          <p:spTgt spid="68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85"/>
                                        </p:tgtEl>
                                        <p:attrNameLst>
                                          <p:attrName>style.visibility</p:attrName>
                                        </p:attrNameLst>
                                      </p:cBhvr>
                                      <p:to>
                                        <p:strVal val="visible"/>
                                      </p:to>
                                    </p:set>
                                    <p:anim calcmode="lin" valueType="num">
                                      <p:cBhvr additive="base">
                                        <p:cTn dur="500"/>
                                        <p:tgtEl>
                                          <p:spTgt spid="68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86"/>
                                        </p:tgtEl>
                                        <p:attrNameLst>
                                          <p:attrName>style.visibility</p:attrName>
                                        </p:attrNameLst>
                                      </p:cBhvr>
                                      <p:to>
                                        <p:strVal val="visible"/>
                                      </p:to>
                                    </p:set>
                                    <p:anim calcmode="lin" valueType="num">
                                      <p:cBhvr additive="base">
                                        <p:cTn dur="500"/>
                                        <p:tgtEl>
                                          <p:spTgt spid="68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87"/>
                                        </p:tgtEl>
                                        <p:attrNameLst>
                                          <p:attrName>style.visibility</p:attrName>
                                        </p:attrNameLst>
                                      </p:cBhvr>
                                      <p:to>
                                        <p:strVal val="visible"/>
                                      </p:to>
                                    </p:set>
                                    <p:anim calcmode="lin" valueType="num">
                                      <p:cBhvr additive="base">
                                        <p:cTn dur="500"/>
                                        <p:tgtEl>
                                          <p:spTgt spid="68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88"/>
                                        </p:tgtEl>
                                        <p:attrNameLst>
                                          <p:attrName>style.visibility</p:attrName>
                                        </p:attrNameLst>
                                      </p:cBhvr>
                                      <p:to>
                                        <p:strVal val="visible"/>
                                      </p:to>
                                    </p:set>
                                    <p:anim calcmode="lin" valueType="num">
                                      <p:cBhvr additive="base">
                                        <p:cTn dur="500"/>
                                        <p:tgtEl>
                                          <p:spTgt spid="68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89"/>
                                        </p:tgtEl>
                                        <p:attrNameLst>
                                          <p:attrName>style.visibility</p:attrName>
                                        </p:attrNameLst>
                                      </p:cBhvr>
                                      <p:to>
                                        <p:strVal val="visible"/>
                                      </p:to>
                                    </p:set>
                                    <p:anim calcmode="lin" valueType="num">
                                      <p:cBhvr additive="base">
                                        <p:cTn dur="500"/>
                                        <p:tgtEl>
                                          <p:spTgt spid="68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90"/>
                                        </p:tgtEl>
                                        <p:attrNameLst>
                                          <p:attrName>style.visibility</p:attrName>
                                        </p:attrNameLst>
                                      </p:cBhvr>
                                      <p:to>
                                        <p:strVal val="visible"/>
                                      </p:to>
                                    </p:set>
                                    <p:anim calcmode="lin" valueType="num">
                                      <p:cBhvr additive="base">
                                        <p:cTn dur="500"/>
                                        <p:tgtEl>
                                          <p:spTgt spid="69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91"/>
                                        </p:tgtEl>
                                        <p:attrNameLst>
                                          <p:attrName>style.visibility</p:attrName>
                                        </p:attrNameLst>
                                      </p:cBhvr>
                                      <p:to>
                                        <p:strVal val="visible"/>
                                      </p:to>
                                    </p:set>
                                    <p:anim calcmode="lin" valueType="num">
                                      <p:cBhvr additive="base">
                                        <p:cTn dur="500"/>
                                        <p:tgtEl>
                                          <p:spTgt spid="69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92"/>
                                        </p:tgtEl>
                                        <p:attrNameLst>
                                          <p:attrName>style.visibility</p:attrName>
                                        </p:attrNameLst>
                                      </p:cBhvr>
                                      <p:to>
                                        <p:strVal val="visible"/>
                                      </p:to>
                                    </p:set>
                                    <p:anim calcmode="lin" valueType="num">
                                      <p:cBhvr additive="base">
                                        <p:cTn dur="500"/>
                                        <p:tgtEl>
                                          <p:spTgt spid="69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702"/>
                                        </p:tgtEl>
                                        <p:attrNameLst>
                                          <p:attrName>style.visibility</p:attrName>
                                        </p:attrNameLst>
                                      </p:cBhvr>
                                      <p:to>
                                        <p:strVal val="visible"/>
                                      </p:to>
                                    </p:set>
                                    <p:anim calcmode="lin" valueType="num">
                                      <p:cBhvr additive="base">
                                        <p:cTn dur="500"/>
                                        <p:tgtEl>
                                          <p:spTgt spid="70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701"/>
                                        </p:tgtEl>
                                        <p:attrNameLst>
                                          <p:attrName>style.visibility</p:attrName>
                                        </p:attrNameLst>
                                      </p:cBhvr>
                                      <p:to>
                                        <p:strVal val="visible"/>
                                      </p:to>
                                    </p:set>
                                    <p:anim calcmode="lin" valueType="num">
                                      <p:cBhvr additive="base">
                                        <p:cTn dur="500"/>
                                        <p:tgtEl>
                                          <p:spTgt spid="70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7"/>
                                        </p:tgtEl>
                                        <p:attrNameLst>
                                          <p:attrName>style.visibility</p:attrName>
                                        </p:attrNameLst>
                                      </p:cBhvr>
                                      <p:to>
                                        <p:strVal val="visible"/>
                                      </p:to>
                                    </p:set>
                                    <p:animEffect filter="fade" transition="in">
                                      <p:cBhvr>
                                        <p:cTn dur="500"/>
                                        <p:tgtEl>
                                          <p:spTgt spid="6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03"/>
                                        </p:tgtEl>
                                        <p:attrNameLst>
                                          <p:attrName>style.visibility</p:attrName>
                                        </p:attrNameLst>
                                      </p:cBhvr>
                                      <p:to>
                                        <p:strVal val="visible"/>
                                      </p:to>
                                    </p:set>
                                    <p:anim calcmode="lin" valueType="num">
                                      <p:cBhvr additive="base">
                                        <p:cTn dur="500"/>
                                        <p:tgtEl>
                                          <p:spTgt spid="70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700"/>
                                        </p:tgtEl>
                                        <p:attrNameLst>
                                          <p:attrName>style.visibility</p:attrName>
                                        </p:attrNameLst>
                                      </p:cBhvr>
                                      <p:to>
                                        <p:strVal val="visible"/>
                                      </p:to>
                                    </p:set>
                                    <p:anim calcmode="lin" valueType="num">
                                      <p:cBhvr additive="base">
                                        <p:cTn dur="500"/>
                                        <p:tgtEl>
                                          <p:spTgt spid="70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98"/>
                                        </p:tgtEl>
                                        <p:attrNameLst>
                                          <p:attrName>style.visibility</p:attrName>
                                        </p:attrNameLst>
                                      </p:cBhvr>
                                      <p:to>
                                        <p:strVal val="visible"/>
                                      </p:to>
                                    </p:set>
                                    <p:anim calcmode="lin" valueType="num">
                                      <p:cBhvr additive="base">
                                        <p:cTn dur="500"/>
                                        <p:tgtEl>
                                          <p:spTgt spid="69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99"/>
                                        </p:tgtEl>
                                        <p:attrNameLst>
                                          <p:attrName>style.visibility</p:attrName>
                                        </p:attrNameLst>
                                      </p:cBhvr>
                                      <p:to>
                                        <p:strVal val="visible"/>
                                      </p:to>
                                    </p:set>
                                    <p:anim calcmode="lin" valueType="num">
                                      <p:cBhvr additive="base">
                                        <p:cTn dur="500"/>
                                        <p:tgtEl>
                                          <p:spTgt spid="69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pic>
        <p:nvPicPr>
          <p:cNvPr id="708" name="Google Shape;708;p28"/>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709" name="Google Shape;709;p28"/>
          <p:cNvSpPr/>
          <p:nvPr/>
        </p:nvSpPr>
        <p:spPr>
          <a:xfrm>
            <a:off x="149248" y="227418"/>
            <a:ext cx="11023222" cy="121772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CA" sz="3600">
                <a:solidFill>
                  <a:schemeClr val="lt1"/>
                </a:solidFill>
                <a:latin typeface="Montserrat"/>
                <a:ea typeface="Montserrat"/>
                <a:cs typeface="Montserrat"/>
                <a:sym typeface="Montserrat"/>
              </a:rPr>
              <a:t>XGBOOST: GRADIENT BOOSTING ALGORITHM</a:t>
            </a:r>
            <a:endParaRPr/>
          </a:p>
        </p:txBody>
      </p:sp>
      <p:sp>
        <p:nvSpPr>
          <p:cNvPr id="710" name="Google Shape;710;p28"/>
          <p:cNvSpPr txBox="1"/>
          <p:nvPr/>
        </p:nvSpPr>
        <p:spPr>
          <a:xfrm>
            <a:off x="122919" y="1188738"/>
            <a:ext cx="5054108" cy="1938992"/>
          </a:xfrm>
          <a:prstGeom prst="rect">
            <a:avLst/>
          </a:prstGeom>
          <a:noFill/>
          <a:ln>
            <a:noFill/>
          </a:ln>
        </p:spPr>
        <p:txBody>
          <a:bodyPr anchorCtr="0" anchor="t" bIns="45700" lIns="91425" spcFirstLastPara="1" rIns="91425" wrap="square" tIns="45700">
            <a:normAutofit/>
          </a:bodyPr>
          <a:lstStyle/>
          <a:p>
            <a:pPr indent="-285750" lvl="0" marL="285750" marR="0" rtl="0" algn="l">
              <a:lnSpc>
                <a:spcPct val="90000"/>
              </a:lnSpc>
              <a:spcBef>
                <a:spcPts val="0"/>
              </a:spcBef>
              <a:spcAft>
                <a:spcPts val="0"/>
              </a:spcAft>
              <a:buClr>
                <a:schemeClr val="dk1"/>
              </a:buClr>
              <a:buSzPts val="1600"/>
              <a:buFont typeface="Arial"/>
              <a:buChar char="•"/>
            </a:pPr>
            <a:r>
              <a:rPr lang="en-CA" sz="1600">
                <a:solidFill>
                  <a:schemeClr val="dk1"/>
                </a:solidFill>
                <a:latin typeface="Montserrat"/>
                <a:ea typeface="Montserrat"/>
                <a:cs typeface="Montserrat"/>
                <a:sym typeface="Montserrat"/>
              </a:rPr>
              <a:t>Now let’s build another tree with the new residuals from the new predictions.</a:t>
            </a:r>
            <a:endParaRPr/>
          </a:p>
          <a:p>
            <a:pPr indent="-184150" lvl="0" marL="285750" marR="0" rtl="0" algn="l">
              <a:lnSpc>
                <a:spcPct val="90000"/>
              </a:lnSpc>
              <a:spcBef>
                <a:spcPts val="1000"/>
              </a:spcBef>
              <a:spcAft>
                <a:spcPts val="0"/>
              </a:spcAft>
              <a:buClr>
                <a:schemeClr val="dk1"/>
              </a:buClr>
              <a:buSzPts val="1600"/>
              <a:buFont typeface="Arial"/>
              <a:buNone/>
            </a:pPr>
            <a:r>
              <a:t/>
            </a:r>
            <a:endParaRPr sz="1600">
              <a:solidFill>
                <a:schemeClr val="dk1"/>
              </a:solidFill>
              <a:latin typeface="Montserrat"/>
              <a:ea typeface="Montserrat"/>
              <a:cs typeface="Montserrat"/>
              <a:sym typeface="Montserrat"/>
            </a:endParaRPr>
          </a:p>
          <a:p>
            <a:pPr indent="-184150" lvl="0" marL="285750" marR="0" rtl="0" algn="l">
              <a:lnSpc>
                <a:spcPct val="90000"/>
              </a:lnSpc>
              <a:spcBef>
                <a:spcPts val="1000"/>
              </a:spcBef>
              <a:spcAft>
                <a:spcPts val="0"/>
              </a:spcAft>
              <a:buClr>
                <a:schemeClr val="dk1"/>
              </a:buClr>
              <a:buSzPts val="1600"/>
              <a:buFont typeface="Arial"/>
              <a:buNone/>
            </a:pPr>
            <a:r>
              <a:t/>
            </a:r>
            <a:endParaRPr sz="1600">
              <a:solidFill>
                <a:schemeClr val="dk1"/>
              </a:solidFill>
              <a:latin typeface="Montserrat"/>
              <a:ea typeface="Montserrat"/>
              <a:cs typeface="Montserrat"/>
              <a:sym typeface="Montserrat"/>
            </a:endParaRPr>
          </a:p>
          <a:p>
            <a:pPr indent="-184150" lvl="0" marL="285750" marR="0" rtl="0" algn="l">
              <a:lnSpc>
                <a:spcPct val="90000"/>
              </a:lnSpc>
              <a:spcBef>
                <a:spcPts val="1000"/>
              </a:spcBef>
              <a:spcAft>
                <a:spcPts val="0"/>
              </a:spcAft>
              <a:buClr>
                <a:schemeClr val="dk1"/>
              </a:buClr>
              <a:buSzPts val="1600"/>
              <a:buFont typeface="Arial"/>
              <a:buNone/>
            </a:pPr>
            <a:r>
              <a:t/>
            </a:r>
            <a:endParaRPr sz="1600">
              <a:solidFill>
                <a:schemeClr val="dk1"/>
              </a:solidFill>
              <a:latin typeface="Montserrat"/>
              <a:ea typeface="Montserrat"/>
              <a:cs typeface="Montserrat"/>
              <a:sym typeface="Montserrat"/>
            </a:endParaRPr>
          </a:p>
          <a:p>
            <a:pPr indent="-184150" lvl="0" marL="285750" marR="0" rtl="0" algn="l">
              <a:lnSpc>
                <a:spcPct val="90000"/>
              </a:lnSpc>
              <a:spcBef>
                <a:spcPts val="1000"/>
              </a:spcBef>
              <a:spcAft>
                <a:spcPts val="0"/>
              </a:spcAft>
              <a:buClr>
                <a:schemeClr val="dk1"/>
              </a:buClr>
              <a:buSzPts val="1600"/>
              <a:buFont typeface="Arial"/>
              <a:buNone/>
            </a:pPr>
            <a:r>
              <a:t/>
            </a:r>
            <a:endParaRPr sz="1600">
              <a:solidFill>
                <a:schemeClr val="dk1"/>
              </a:solidFill>
              <a:latin typeface="Montserrat"/>
              <a:ea typeface="Montserrat"/>
              <a:cs typeface="Montserrat"/>
              <a:sym typeface="Montserrat"/>
            </a:endParaRPr>
          </a:p>
        </p:txBody>
      </p:sp>
      <p:graphicFrame>
        <p:nvGraphicFramePr>
          <p:cNvPr id="711" name="Google Shape;711;p28"/>
          <p:cNvGraphicFramePr/>
          <p:nvPr/>
        </p:nvGraphicFramePr>
        <p:xfrm>
          <a:off x="336734" y="3957320"/>
          <a:ext cx="3000000" cy="3000000"/>
        </p:xfrm>
        <a:graphic>
          <a:graphicData uri="http://schemas.openxmlformats.org/drawingml/2006/table">
            <a:tbl>
              <a:tblPr bandRow="1" firstRow="1">
                <a:noFill/>
                <a:tableStyleId>{C56017F4-4159-4531-9A6F-2EA572D870EB}</a:tableStyleId>
              </a:tblPr>
              <a:tblGrid>
                <a:gridCol w="1346200"/>
                <a:gridCol w="1346200"/>
                <a:gridCol w="1346200"/>
                <a:gridCol w="1346200"/>
              </a:tblGrid>
              <a:tr h="370850">
                <a:tc>
                  <a:txBody>
                    <a:bodyPr/>
                    <a:lstStyle/>
                    <a:p>
                      <a:pPr indent="0" lvl="0" marL="0" marR="0" rtl="0" algn="l">
                        <a:spcBef>
                          <a:spcPts val="0"/>
                        </a:spcBef>
                        <a:spcAft>
                          <a:spcPts val="0"/>
                        </a:spcAft>
                        <a:buNone/>
                      </a:pPr>
                      <a:r>
                        <a:rPr lang="en-CA" sz="1800"/>
                        <a:t>Height</a:t>
                      </a:r>
                      <a:endParaRPr sz="1800"/>
                    </a:p>
                  </a:txBody>
                  <a:tcPr marT="45725" marB="45725" marR="91450" marL="91450"/>
                </a:tc>
                <a:tc>
                  <a:txBody>
                    <a:bodyPr/>
                    <a:lstStyle/>
                    <a:p>
                      <a:pPr indent="0" lvl="0" marL="0" marR="0" rtl="0" algn="l">
                        <a:spcBef>
                          <a:spcPts val="0"/>
                        </a:spcBef>
                        <a:spcAft>
                          <a:spcPts val="0"/>
                        </a:spcAft>
                        <a:buNone/>
                      </a:pPr>
                      <a:r>
                        <a:rPr lang="en-CA" sz="1800"/>
                        <a:t>Color</a:t>
                      </a:r>
                      <a:endParaRPr sz="1800"/>
                    </a:p>
                  </a:txBody>
                  <a:tcPr marT="45725" marB="45725" marR="91450" marL="91450"/>
                </a:tc>
                <a:tc>
                  <a:txBody>
                    <a:bodyPr/>
                    <a:lstStyle/>
                    <a:p>
                      <a:pPr indent="0" lvl="0" marL="0" marR="0" rtl="0" algn="l">
                        <a:spcBef>
                          <a:spcPts val="0"/>
                        </a:spcBef>
                        <a:spcAft>
                          <a:spcPts val="0"/>
                        </a:spcAft>
                        <a:buNone/>
                      </a:pPr>
                      <a:r>
                        <a:rPr lang="en-CA" sz="1800"/>
                        <a:t>Gender</a:t>
                      </a:r>
                      <a:endParaRPr sz="1800"/>
                    </a:p>
                  </a:txBody>
                  <a:tcPr marT="45725" marB="45725" marR="91450" marL="91450"/>
                </a:tc>
                <a:tc>
                  <a:txBody>
                    <a:bodyPr/>
                    <a:lstStyle/>
                    <a:p>
                      <a:pPr indent="0" lvl="0" marL="0" marR="0" rtl="0" algn="l">
                        <a:spcBef>
                          <a:spcPts val="0"/>
                        </a:spcBef>
                        <a:spcAft>
                          <a:spcPts val="0"/>
                        </a:spcAft>
                        <a:buNone/>
                      </a:pPr>
                      <a:r>
                        <a:rPr lang="en-CA" sz="1800"/>
                        <a:t>Weight (Kg)</a:t>
                      </a:r>
                      <a:endParaRPr sz="1800"/>
                    </a:p>
                  </a:txBody>
                  <a:tcPr marT="45725" marB="45725" marR="91450" marL="91450"/>
                </a:tc>
              </a:tr>
              <a:tr h="370850">
                <a:tc>
                  <a:txBody>
                    <a:bodyPr/>
                    <a:lstStyle/>
                    <a:p>
                      <a:pPr indent="0" lvl="0" marL="0" marR="0" rtl="0" algn="l">
                        <a:spcBef>
                          <a:spcPts val="0"/>
                        </a:spcBef>
                        <a:spcAft>
                          <a:spcPts val="0"/>
                        </a:spcAft>
                        <a:buNone/>
                      </a:pPr>
                      <a:r>
                        <a:rPr lang="en-CA" sz="1800"/>
                        <a:t>1.6</a:t>
                      </a:r>
                      <a:endParaRPr sz="1800"/>
                    </a:p>
                  </a:txBody>
                  <a:tcPr marT="45725" marB="45725" marR="91450" marL="91450"/>
                </a:tc>
                <a:tc>
                  <a:txBody>
                    <a:bodyPr/>
                    <a:lstStyle/>
                    <a:p>
                      <a:pPr indent="0" lvl="0" marL="0" marR="0" rtl="0" algn="l">
                        <a:spcBef>
                          <a:spcPts val="0"/>
                        </a:spcBef>
                        <a:spcAft>
                          <a:spcPts val="0"/>
                        </a:spcAft>
                        <a:buNone/>
                      </a:pPr>
                      <a:r>
                        <a:rPr lang="en-CA" sz="1800"/>
                        <a:t>Blue</a:t>
                      </a:r>
                      <a:endParaRPr sz="1800"/>
                    </a:p>
                  </a:txBody>
                  <a:tcPr marT="45725" marB="45725" marR="91450" marL="91450"/>
                </a:tc>
                <a:tc>
                  <a:txBody>
                    <a:bodyPr/>
                    <a:lstStyle/>
                    <a:p>
                      <a:pPr indent="0" lvl="0" marL="0" marR="0" rtl="0" algn="l">
                        <a:spcBef>
                          <a:spcPts val="0"/>
                        </a:spcBef>
                        <a:spcAft>
                          <a:spcPts val="0"/>
                        </a:spcAft>
                        <a:buNone/>
                      </a:pPr>
                      <a:r>
                        <a:rPr lang="en-CA" sz="1800"/>
                        <a:t>Male</a:t>
                      </a:r>
                      <a:endParaRPr sz="1800"/>
                    </a:p>
                  </a:txBody>
                  <a:tcPr marT="45725" marB="45725" marR="91450" marL="91450"/>
                </a:tc>
                <a:tc>
                  <a:txBody>
                    <a:bodyPr/>
                    <a:lstStyle/>
                    <a:p>
                      <a:pPr indent="0" lvl="0" marL="0" marR="0" rtl="0" algn="l">
                        <a:spcBef>
                          <a:spcPts val="0"/>
                        </a:spcBef>
                        <a:spcAft>
                          <a:spcPts val="0"/>
                        </a:spcAft>
                        <a:buNone/>
                      </a:pPr>
                      <a:r>
                        <a:rPr lang="en-CA" sz="1800"/>
                        <a:t>88</a:t>
                      </a:r>
                      <a:endParaRPr sz="1800"/>
                    </a:p>
                  </a:txBody>
                  <a:tcPr marT="45725" marB="45725" marR="91450" marL="91450"/>
                </a:tc>
              </a:tr>
              <a:tr h="370850">
                <a:tc>
                  <a:txBody>
                    <a:bodyPr/>
                    <a:lstStyle/>
                    <a:p>
                      <a:pPr indent="0" lvl="0" marL="0" marR="0" rtl="0" algn="l">
                        <a:spcBef>
                          <a:spcPts val="0"/>
                        </a:spcBef>
                        <a:spcAft>
                          <a:spcPts val="0"/>
                        </a:spcAft>
                        <a:buNone/>
                      </a:pPr>
                      <a:r>
                        <a:rPr lang="en-CA" sz="1800"/>
                        <a:t>1.6</a:t>
                      </a:r>
                      <a:endParaRPr sz="1800"/>
                    </a:p>
                  </a:txBody>
                  <a:tcPr marT="45725" marB="45725" marR="91450" marL="91450"/>
                </a:tc>
                <a:tc>
                  <a:txBody>
                    <a:bodyPr/>
                    <a:lstStyle/>
                    <a:p>
                      <a:pPr indent="0" lvl="0" marL="0" marR="0" rtl="0" algn="l">
                        <a:spcBef>
                          <a:spcPts val="0"/>
                        </a:spcBef>
                        <a:spcAft>
                          <a:spcPts val="0"/>
                        </a:spcAft>
                        <a:buNone/>
                      </a:pPr>
                      <a:r>
                        <a:rPr lang="en-CA" sz="1800"/>
                        <a:t>Green</a:t>
                      </a:r>
                      <a:endParaRPr sz="1800"/>
                    </a:p>
                  </a:txBody>
                  <a:tcPr marT="45725" marB="45725" marR="91450" marL="91450"/>
                </a:tc>
                <a:tc>
                  <a:txBody>
                    <a:bodyPr/>
                    <a:lstStyle/>
                    <a:p>
                      <a:pPr indent="0" lvl="0" marL="0" marR="0" rtl="0" algn="l">
                        <a:spcBef>
                          <a:spcPts val="0"/>
                        </a:spcBef>
                        <a:spcAft>
                          <a:spcPts val="0"/>
                        </a:spcAft>
                        <a:buNone/>
                      </a:pPr>
                      <a:r>
                        <a:rPr b="0" lang="en-CA" sz="1800"/>
                        <a:t>Female</a:t>
                      </a:r>
                      <a:endParaRPr b="0" sz="1800"/>
                    </a:p>
                  </a:txBody>
                  <a:tcPr marT="45725" marB="45725" marR="91450" marL="91450"/>
                </a:tc>
                <a:tc>
                  <a:txBody>
                    <a:bodyPr/>
                    <a:lstStyle/>
                    <a:p>
                      <a:pPr indent="0" lvl="0" marL="0" marR="0" rtl="0" algn="l">
                        <a:spcBef>
                          <a:spcPts val="0"/>
                        </a:spcBef>
                        <a:spcAft>
                          <a:spcPts val="0"/>
                        </a:spcAft>
                        <a:buNone/>
                      </a:pPr>
                      <a:r>
                        <a:rPr lang="en-CA" sz="1800"/>
                        <a:t>76</a:t>
                      </a:r>
                      <a:endParaRPr sz="1800"/>
                    </a:p>
                  </a:txBody>
                  <a:tcPr marT="45725" marB="45725" marR="91450" marL="91450"/>
                </a:tc>
              </a:tr>
              <a:tr h="370850">
                <a:tc>
                  <a:txBody>
                    <a:bodyPr/>
                    <a:lstStyle/>
                    <a:p>
                      <a:pPr indent="0" lvl="0" marL="0" marR="0" rtl="0" algn="l">
                        <a:spcBef>
                          <a:spcPts val="0"/>
                        </a:spcBef>
                        <a:spcAft>
                          <a:spcPts val="0"/>
                        </a:spcAft>
                        <a:buNone/>
                      </a:pPr>
                      <a:r>
                        <a:rPr lang="en-CA" sz="1800"/>
                        <a:t>1.5</a:t>
                      </a:r>
                      <a:endParaRPr sz="1800"/>
                    </a:p>
                  </a:txBody>
                  <a:tcPr marT="45725" marB="45725" marR="91450" marL="91450"/>
                </a:tc>
                <a:tc>
                  <a:txBody>
                    <a:bodyPr/>
                    <a:lstStyle/>
                    <a:p>
                      <a:pPr indent="0" lvl="0" marL="0" marR="0" rtl="0" algn="l">
                        <a:spcBef>
                          <a:spcPts val="0"/>
                        </a:spcBef>
                        <a:spcAft>
                          <a:spcPts val="0"/>
                        </a:spcAft>
                        <a:buNone/>
                      </a:pPr>
                      <a:r>
                        <a:rPr lang="en-CA" sz="1800"/>
                        <a:t>Blue</a:t>
                      </a:r>
                      <a:endParaRPr sz="1800"/>
                    </a:p>
                  </a:txBody>
                  <a:tcPr marT="45725" marB="45725" marR="91450" marL="91450"/>
                </a:tc>
                <a:tc>
                  <a:txBody>
                    <a:bodyPr/>
                    <a:lstStyle/>
                    <a:p>
                      <a:pPr indent="0" lvl="0" marL="0" marR="0" rtl="0" algn="l">
                        <a:spcBef>
                          <a:spcPts val="0"/>
                        </a:spcBef>
                        <a:spcAft>
                          <a:spcPts val="0"/>
                        </a:spcAft>
                        <a:buNone/>
                      </a:pPr>
                      <a:r>
                        <a:rPr b="0" lang="en-CA" sz="1800"/>
                        <a:t>Female</a:t>
                      </a:r>
                      <a:endParaRPr b="0" sz="1800"/>
                    </a:p>
                  </a:txBody>
                  <a:tcPr marT="45725" marB="45725" marR="91450" marL="91450"/>
                </a:tc>
                <a:tc>
                  <a:txBody>
                    <a:bodyPr/>
                    <a:lstStyle/>
                    <a:p>
                      <a:pPr indent="0" lvl="0" marL="0" marR="0" rtl="0" algn="l">
                        <a:spcBef>
                          <a:spcPts val="0"/>
                        </a:spcBef>
                        <a:spcAft>
                          <a:spcPts val="0"/>
                        </a:spcAft>
                        <a:buNone/>
                      </a:pPr>
                      <a:r>
                        <a:rPr lang="en-CA" sz="1800"/>
                        <a:t>56</a:t>
                      </a:r>
                      <a:endParaRPr sz="1800"/>
                    </a:p>
                  </a:txBody>
                  <a:tcPr marT="45725" marB="45725" marR="91450" marL="91450"/>
                </a:tc>
              </a:tr>
              <a:tr h="370850">
                <a:tc>
                  <a:txBody>
                    <a:bodyPr/>
                    <a:lstStyle/>
                    <a:p>
                      <a:pPr indent="0" lvl="0" marL="0" marR="0" rtl="0" algn="l">
                        <a:spcBef>
                          <a:spcPts val="0"/>
                        </a:spcBef>
                        <a:spcAft>
                          <a:spcPts val="0"/>
                        </a:spcAft>
                        <a:buNone/>
                      </a:pPr>
                      <a:r>
                        <a:rPr lang="en-CA" sz="1800"/>
                        <a:t>1.8</a:t>
                      </a:r>
                      <a:endParaRPr sz="1800"/>
                    </a:p>
                  </a:txBody>
                  <a:tcPr marT="45725" marB="45725" marR="91450" marL="91450"/>
                </a:tc>
                <a:tc>
                  <a:txBody>
                    <a:bodyPr/>
                    <a:lstStyle/>
                    <a:p>
                      <a:pPr indent="0" lvl="0" marL="0" marR="0" rtl="0" algn="l">
                        <a:spcBef>
                          <a:spcPts val="0"/>
                        </a:spcBef>
                        <a:spcAft>
                          <a:spcPts val="0"/>
                        </a:spcAft>
                        <a:buNone/>
                      </a:pPr>
                      <a:r>
                        <a:rPr lang="en-CA" sz="1800"/>
                        <a:t>Red</a:t>
                      </a:r>
                      <a:endParaRPr sz="1800"/>
                    </a:p>
                  </a:txBody>
                  <a:tcPr marT="45725" marB="45725" marR="91450" marL="91450"/>
                </a:tc>
                <a:tc>
                  <a:txBody>
                    <a:bodyPr/>
                    <a:lstStyle/>
                    <a:p>
                      <a:pPr indent="0" lvl="0" marL="0" marR="0" rtl="0" algn="l">
                        <a:spcBef>
                          <a:spcPts val="0"/>
                        </a:spcBef>
                        <a:spcAft>
                          <a:spcPts val="0"/>
                        </a:spcAft>
                        <a:buNone/>
                      </a:pPr>
                      <a:r>
                        <a:rPr lang="en-CA" sz="1800"/>
                        <a:t>Male</a:t>
                      </a:r>
                      <a:endParaRPr sz="1800"/>
                    </a:p>
                  </a:txBody>
                  <a:tcPr marT="45725" marB="45725" marR="91450" marL="91450"/>
                </a:tc>
                <a:tc>
                  <a:txBody>
                    <a:bodyPr/>
                    <a:lstStyle/>
                    <a:p>
                      <a:pPr indent="0" lvl="0" marL="0" marR="0" rtl="0" algn="l">
                        <a:spcBef>
                          <a:spcPts val="0"/>
                        </a:spcBef>
                        <a:spcAft>
                          <a:spcPts val="0"/>
                        </a:spcAft>
                        <a:buNone/>
                      </a:pPr>
                      <a:r>
                        <a:rPr lang="en-CA" sz="1800"/>
                        <a:t>73</a:t>
                      </a:r>
                      <a:endParaRPr sz="1800"/>
                    </a:p>
                  </a:txBody>
                  <a:tcPr marT="45725" marB="45725" marR="91450" marL="91450"/>
                </a:tc>
              </a:tr>
              <a:tr h="370850">
                <a:tc>
                  <a:txBody>
                    <a:bodyPr/>
                    <a:lstStyle/>
                    <a:p>
                      <a:pPr indent="0" lvl="0" marL="0" marR="0" rtl="0" algn="l">
                        <a:spcBef>
                          <a:spcPts val="0"/>
                        </a:spcBef>
                        <a:spcAft>
                          <a:spcPts val="0"/>
                        </a:spcAft>
                        <a:buNone/>
                      </a:pPr>
                      <a:r>
                        <a:rPr lang="en-CA" sz="1800"/>
                        <a:t>1.5</a:t>
                      </a:r>
                      <a:endParaRPr sz="1800"/>
                    </a:p>
                  </a:txBody>
                  <a:tcPr marT="45725" marB="45725" marR="91450" marL="91450"/>
                </a:tc>
                <a:tc>
                  <a:txBody>
                    <a:bodyPr/>
                    <a:lstStyle/>
                    <a:p>
                      <a:pPr indent="0" lvl="0" marL="0" marR="0" rtl="0" algn="l">
                        <a:spcBef>
                          <a:spcPts val="0"/>
                        </a:spcBef>
                        <a:spcAft>
                          <a:spcPts val="0"/>
                        </a:spcAft>
                        <a:buNone/>
                      </a:pPr>
                      <a:r>
                        <a:rPr lang="en-CA" sz="1800"/>
                        <a:t>Green</a:t>
                      </a:r>
                      <a:endParaRPr sz="1800"/>
                    </a:p>
                  </a:txBody>
                  <a:tcPr marT="45725" marB="45725" marR="91450" marL="91450"/>
                </a:tc>
                <a:tc>
                  <a:txBody>
                    <a:bodyPr/>
                    <a:lstStyle/>
                    <a:p>
                      <a:pPr indent="0" lvl="0" marL="0" marR="0" rtl="0" algn="l">
                        <a:spcBef>
                          <a:spcPts val="0"/>
                        </a:spcBef>
                        <a:spcAft>
                          <a:spcPts val="0"/>
                        </a:spcAft>
                        <a:buNone/>
                      </a:pPr>
                      <a:r>
                        <a:rPr lang="en-CA" sz="1800"/>
                        <a:t>Male</a:t>
                      </a:r>
                      <a:endParaRPr sz="1800"/>
                    </a:p>
                  </a:txBody>
                  <a:tcPr marT="45725" marB="45725" marR="91450" marL="91450"/>
                </a:tc>
                <a:tc>
                  <a:txBody>
                    <a:bodyPr/>
                    <a:lstStyle/>
                    <a:p>
                      <a:pPr indent="0" lvl="0" marL="0" marR="0" rtl="0" algn="l">
                        <a:spcBef>
                          <a:spcPts val="0"/>
                        </a:spcBef>
                        <a:spcAft>
                          <a:spcPts val="0"/>
                        </a:spcAft>
                        <a:buNone/>
                      </a:pPr>
                      <a:r>
                        <a:rPr lang="en-CA" sz="1800"/>
                        <a:t>77</a:t>
                      </a:r>
                      <a:endParaRPr sz="1800"/>
                    </a:p>
                  </a:txBody>
                  <a:tcPr marT="45725" marB="45725" marR="91450" marL="91450"/>
                </a:tc>
              </a:tr>
              <a:tr h="370850">
                <a:tc>
                  <a:txBody>
                    <a:bodyPr/>
                    <a:lstStyle/>
                    <a:p>
                      <a:pPr indent="0" lvl="0" marL="0" marR="0" rtl="0" algn="l">
                        <a:spcBef>
                          <a:spcPts val="0"/>
                        </a:spcBef>
                        <a:spcAft>
                          <a:spcPts val="0"/>
                        </a:spcAft>
                        <a:buNone/>
                      </a:pPr>
                      <a:r>
                        <a:rPr lang="en-CA" sz="1800"/>
                        <a:t>1.4</a:t>
                      </a:r>
                      <a:endParaRPr sz="1800"/>
                    </a:p>
                  </a:txBody>
                  <a:tcPr marT="45725" marB="45725" marR="91450" marL="91450"/>
                </a:tc>
                <a:tc>
                  <a:txBody>
                    <a:bodyPr/>
                    <a:lstStyle/>
                    <a:p>
                      <a:pPr indent="0" lvl="0" marL="0" marR="0" rtl="0" algn="l">
                        <a:spcBef>
                          <a:spcPts val="0"/>
                        </a:spcBef>
                        <a:spcAft>
                          <a:spcPts val="0"/>
                        </a:spcAft>
                        <a:buNone/>
                      </a:pPr>
                      <a:r>
                        <a:rPr lang="en-CA" sz="1800"/>
                        <a:t>Blue</a:t>
                      </a:r>
                      <a:endParaRPr sz="1800"/>
                    </a:p>
                  </a:txBody>
                  <a:tcPr marT="45725" marB="45725" marR="91450" marL="91450"/>
                </a:tc>
                <a:tc>
                  <a:txBody>
                    <a:bodyPr/>
                    <a:lstStyle/>
                    <a:p>
                      <a:pPr indent="0" lvl="0" marL="0" marR="0" rtl="0" algn="l">
                        <a:spcBef>
                          <a:spcPts val="0"/>
                        </a:spcBef>
                        <a:spcAft>
                          <a:spcPts val="0"/>
                        </a:spcAft>
                        <a:buNone/>
                      </a:pPr>
                      <a:r>
                        <a:rPr b="0" lang="en-CA" sz="1800"/>
                        <a:t>Female</a:t>
                      </a:r>
                      <a:endParaRPr b="0" sz="1800"/>
                    </a:p>
                  </a:txBody>
                  <a:tcPr marT="45725" marB="45725" marR="91450" marL="91450"/>
                </a:tc>
                <a:tc>
                  <a:txBody>
                    <a:bodyPr/>
                    <a:lstStyle/>
                    <a:p>
                      <a:pPr indent="0" lvl="0" marL="0" marR="0" rtl="0" algn="l">
                        <a:spcBef>
                          <a:spcPts val="0"/>
                        </a:spcBef>
                        <a:spcAft>
                          <a:spcPts val="0"/>
                        </a:spcAft>
                        <a:buNone/>
                      </a:pPr>
                      <a:r>
                        <a:rPr lang="en-CA" sz="1800"/>
                        <a:t>57</a:t>
                      </a:r>
                      <a:endParaRPr sz="1800"/>
                    </a:p>
                  </a:txBody>
                  <a:tcPr marT="45725" marB="45725" marR="91450" marL="91450"/>
                </a:tc>
              </a:tr>
            </a:tbl>
          </a:graphicData>
        </a:graphic>
      </p:graphicFrame>
      <p:sp>
        <p:nvSpPr>
          <p:cNvPr id="712" name="Google Shape;712;p28"/>
          <p:cNvSpPr/>
          <p:nvPr/>
        </p:nvSpPr>
        <p:spPr>
          <a:xfrm>
            <a:off x="4393864" y="3957320"/>
            <a:ext cx="1312680" cy="2595880"/>
          </a:xfrm>
          <a:prstGeom prst="rect">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3" name="Google Shape;713;p28"/>
          <p:cNvSpPr/>
          <p:nvPr/>
        </p:nvSpPr>
        <p:spPr>
          <a:xfrm>
            <a:off x="336734" y="3957320"/>
            <a:ext cx="4057130" cy="2595880"/>
          </a:xfrm>
          <a:prstGeom prst="rect">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aphicFrame>
        <p:nvGraphicFramePr>
          <p:cNvPr id="714" name="Google Shape;714;p28"/>
          <p:cNvGraphicFramePr/>
          <p:nvPr/>
        </p:nvGraphicFramePr>
        <p:xfrm>
          <a:off x="6079543" y="3948369"/>
          <a:ext cx="3000000" cy="3000000"/>
        </p:xfrm>
        <a:graphic>
          <a:graphicData uri="http://schemas.openxmlformats.org/drawingml/2006/table">
            <a:tbl>
              <a:tblPr bandRow="1" firstRow="1">
                <a:noFill/>
                <a:tableStyleId>{C56017F4-4159-4531-9A6F-2EA572D870EB}</a:tableStyleId>
              </a:tblPr>
              <a:tblGrid>
                <a:gridCol w="2028575"/>
                <a:gridCol w="2028575"/>
              </a:tblGrid>
              <a:tr h="370850">
                <a:tc>
                  <a:txBody>
                    <a:bodyPr/>
                    <a:lstStyle/>
                    <a:p>
                      <a:pPr indent="0" lvl="0" marL="0" marR="0" rtl="0" algn="l">
                        <a:spcBef>
                          <a:spcPts val="0"/>
                        </a:spcBef>
                        <a:spcAft>
                          <a:spcPts val="0"/>
                        </a:spcAft>
                        <a:buNone/>
                      </a:pPr>
                      <a:r>
                        <a:rPr lang="en-CA" sz="1800"/>
                        <a:t>New predictions</a:t>
                      </a:r>
                      <a:endParaRPr sz="1800"/>
                    </a:p>
                  </a:txBody>
                  <a:tcPr marT="45725" marB="45725" marR="91450" marL="91450"/>
                </a:tc>
                <a:tc>
                  <a:txBody>
                    <a:bodyPr/>
                    <a:lstStyle/>
                    <a:p>
                      <a:pPr indent="0" lvl="0" marL="0" marR="0" rtl="0" algn="l">
                        <a:spcBef>
                          <a:spcPts val="0"/>
                        </a:spcBef>
                        <a:spcAft>
                          <a:spcPts val="0"/>
                        </a:spcAft>
                        <a:buNone/>
                      </a:pPr>
                      <a:r>
                        <a:rPr lang="en-CA" sz="1800"/>
                        <a:t>New Residuals</a:t>
                      </a:r>
                      <a:endParaRPr sz="1800"/>
                    </a:p>
                  </a:txBody>
                  <a:tcPr marT="45725" marB="45725" marR="91450" marL="91450"/>
                </a:tc>
              </a:tr>
              <a:tr h="370850">
                <a:tc>
                  <a:txBody>
                    <a:bodyPr/>
                    <a:lstStyle/>
                    <a:p>
                      <a:pPr indent="0" lvl="0" marL="0" marR="0" rtl="0" algn="ctr">
                        <a:spcBef>
                          <a:spcPts val="0"/>
                        </a:spcBef>
                        <a:spcAft>
                          <a:spcPts val="0"/>
                        </a:spcAft>
                        <a:buNone/>
                      </a:pPr>
                      <a:r>
                        <a:rPr lang="en-CA" sz="1800"/>
                        <a:t>72.9</a:t>
                      </a:r>
                      <a:endParaRPr sz="1800"/>
                    </a:p>
                  </a:txBody>
                  <a:tcPr marT="45725" marB="45725" marR="91450" marL="91450"/>
                </a:tc>
                <a:tc>
                  <a:txBody>
                    <a:bodyPr/>
                    <a:lstStyle/>
                    <a:p>
                      <a:pPr indent="0" lvl="0" marL="0" marR="0" rtl="0" algn="ctr">
                        <a:spcBef>
                          <a:spcPts val="0"/>
                        </a:spcBef>
                        <a:spcAft>
                          <a:spcPts val="0"/>
                        </a:spcAft>
                        <a:buNone/>
                      </a:pPr>
                      <a:r>
                        <a:rPr lang="en-CA" sz="1800"/>
                        <a:t>88-72.9 = 15.1</a:t>
                      </a:r>
                      <a:endParaRPr sz="1800"/>
                    </a:p>
                  </a:txBody>
                  <a:tcPr marT="45725" marB="45725" marR="91450" marL="91450"/>
                </a:tc>
              </a:tr>
              <a:tr h="370850">
                <a:tc>
                  <a:txBody>
                    <a:bodyPr/>
                    <a:lstStyle/>
                    <a:p>
                      <a:pPr indent="0" lvl="0" marL="0" marR="0" rtl="0" algn="ctr">
                        <a:spcBef>
                          <a:spcPts val="0"/>
                        </a:spcBef>
                        <a:spcAft>
                          <a:spcPts val="0"/>
                        </a:spcAft>
                        <a:buNone/>
                      </a:pPr>
                      <a:r>
                        <a:t/>
                      </a:r>
                      <a:endParaRPr sz="1800"/>
                    </a:p>
                  </a:txBody>
                  <a:tcPr marT="45725" marB="45725" marR="91450" marL="91450"/>
                </a:tc>
                <a:tc>
                  <a:txBody>
                    <a:bodyPr/>
                    <a:lstStyle/>
                    <a:p>
                      <a:pPr indent="0" lvl="0" marL="0" marR="0" rtl="0" algn="ctr">
                        <a:spcBef>
                          <a:spcPts val="0"/>
                        </a:spcBef>
                        <a:spcAft>
                          <a:spcPts val="0"/>
                        </a:spcAft>
                        <a:buNone/>
                      </a:pPr>
                      <a:r>
                        <a:rPr lang="en-CA" sz="1800"/>
                        <a:t>4.3</a:t>
                      </a:r>
                      <a:endParaRPr sz="1800"/>
                    </a:p>
                  </a:txBody>
                  <a:tcPr marT="45725" marB="45725" marR="91450" marL="91450"/>
                </a:tc>
              </a:tr>
              <a:tr h="370850">
                <a:tc>
                  <a:txBody>
                    <a:bodyPr/>
                    <a:lstStyle/>
                    <a:p>
                      <a:pPr indent="0" lvl="0" marL="0" marR="0" rtl="0" algn="ctr">
                        <a:spcBef>
                          <a:spcPts val="0"/>
                        </a:spcBef>
                        <a:spcAft>
                          <a:spcPts val="0"/>
                        </a:spcAft>
                        <a:buNone/>
                      </a:pPr>
                      <a:r>
                        <a:t/>
                      </a:r>
                      <a:endParaRPr sz="1800"/>
                    </a:p>
                  </a:txBody>
                  <a:tcPr marT="45725" marB="45725" marR="91450" marL="91450"/>
                </a:tc>
                <a:tc>
                  <a:txBody>
                    <a:bodyPr/>
                    <a:lstStyle/>
                    <a:p>
                      <a:pPr indent="0" lvl="0" marL="0" marR="0" rtl="0" algn="ctr">
                        <a:spcBef>
                          <a:spcPts val="0"/>
                        </a:spcBef>
                        <a:spcAft>
                          <a:spcPts val="0"/>
                        </a:spcAft>
                        <a:buNone/>
                      </a:pPr>
                      <a:r>
                        <a:rPr lang="en-CA" sz="1800"/>
                        <a:t>-13.7</a:t>
                      </a:r>
                      <a:endParaRPr sz="1800"/>
                    </a:p>
                  </a:txBody>
                  <a:tcPr marT="45725" marB="45725" marR="91450" marL="91450"/>
                </a:tc>
              </a:tr>
              <a:tr h="370850">
                <a:tc>
                  <a:txBody>
                    <a:bodyPr/>
                    <a:lstStyle/>
                    <a:p>
                      <a:pPr indent="0" lvl="0" marL="0" marR="0" rtl="0" algn="ctr">
                        <a:spcBef>
                          <a:spcPts val="0"/>
                        </a:spcBef>
                        <a:spcAft>
                          <a:spcPts val="0"/>
                        </a:spcAft>
                        <a:buNone/>
                      </a:pPr>
                      <a:r>
                        <a:t/>
                      </a:r>
                      <a:endParaRPr sz="1800"/>
                    </a:p>
                  </a:txBody>
                  <a:tcPr marT="45725" marB="45725" marR="91450" marL="91450"/>
                </a:tc>
                <a:tc>
                  <a:txBody>
                    <a:bodyPr/>
                    <a:lstStyle/>
                    <a:p>
                      <a:pPr indent="0" lvl="0" marL="0" marR="0" rtl="0" algn="ctr">
                        <a:spcBef>
                          <a:spcPts val="0"/>
                        </a:spcBef>
                        <a:spcAft>
                          <a:spcPts val="0"/>
                        </a:spcAft>
                        <a:buNone/>
                      </a:pPr>
                      <a:r>
                        <a:rPr lang="en-CA" sz="1800"/>
                        <a:t>1.4</a:t>
                      </a:r>
                      <a:endParaRPr sz="1800"/>
                    </a:p>
                  </a:txBody>
                  <a:tcPr marT="45725" marB="45725" marR="91450" marL="91450"/>
                </a:tc>
              </a:tr>
              <a:tr h="370850">
                <a:tc>
                  <a:txBody>
                    <a:bodyPr/>
                    <a:lstStyle/>
                    <a:p>
                      <a:pPr indent="0" lvl="0" marL="0" marR="0" rtl="0" algn="ctr">
                        <a:spcBef>
                          <a:spcPts val="0"/>
                        </a:spcBef>
                        <a:spcAft>
                          <a:spcPts val="0"/>
                        </a:spcAft>
                        <a:buNone/>
                      </a:pPr>
                      <a:r>
                        <a:t/>
                      </a:r>
                      <a:endParaRPr sz="1800"/>
                    </a:p>
                  </a:txBody>
                  <a:tcPr marT="45725" marB="45725" marR="91450" marL="91450"/>
                </a:tc>
                <a:tc>
                  <a:txBody>
                    <a:bodyPr/>
                    <a:lstStyle/>
                    <a:p>
                      <a:pPr indent="0" lvl="0" marL="0" marR="0" rtl="0" algn="ctr">
                        <a:spcBef>
                          <a:spcPts val="0"/>
                        </a:spcBef>
                        <a:spcAft>
                          <a:spcPts val="0"/>
                        </a:spcAft>
                        <a:buNone/>
                      </a:pPr>
                      <a:r>
                        <a:rPr lang="en-CA" sz="1800"/>
                        <a:t>5.4</a:t>
                      </a:r>
                      <a:endParaRPr sz="1800"/>
                    </a:p>
                  </a:txBody>
                  <a:tcPr marT="45725" marB="45725" marR="91450" marL="91450"/>
                </a:tc>
              </a:tr>
              <a:tr h="370850">
                <a:tc>
                  <a:txBody>
                    <a:bodyPr/>
                    <a:lstStyle/>
                    <a:p>
                      <a:pPr indent="0" lvl="0" marL="0" marR="0" rtl="0" algn="ctr">
                        <a:spcBef>
                          <a:spcPts val="0"/>
                        </a:spcBef>
                        <a:spcAft>
                          <a:spcPts val="0"/>
                        </a:spcAft>
                        <a:buNone/>
                      </a:pPr>
                      <a:r>
                        <a:t/>
                      </a:r>
                      <a:endParaRPr sz="1800"/>
                    </a:p>
                  </a:txBody>
                  <a:tcPr marT="45725" marB="45725" marR="91450" marL="91450"/>
                </a:tc>
                <a:tc>
                  <a:txBody>
                    <a:bodyPr/>
                    <a:lstStyle/>
                    <a:p>
                      <a:pPr indent="0" lvl="0" marL="0" marR="0" rtl="0" algn="ctr">
                        <a:spcBef>
                          <a:spcPts val="0"/>
                        </a:spcBef>
                        <a:spcAft>
                          <a:spcPts val="0"/>
                        </a:spcAft>
                        <a:buNone/>
                      </a:pPr>
                      <a:r>
                        <a:rPr lang="en-CA" sz="1800"/>
                        <a:t>-12.7</a:t>
                      </a:r>
                      <a:endParaRPr sz="1800"/>
                    </a:p>
                  </a:txBody>
                  <a:tcPr marT="45725" marB="45725" marR="91450" marL="91450"/>
                </a:tc>
              </a:tr>
            </a:tbl>
          </a:graphicData>
        </a:graphic>
      </p:graphicFrame>
      <p:sp>
        <p:nvSpPr>
          <p:cNvPr id="715" name="Google Shape;715;p28"/>
          <p:cNvSpPr txBox="1"/>
          <p:nvPr/>
        </p:nvSpPr>
        <p:spPr>
          <a:xfrm>
            <a:off x="3812269" y="2900416"/>
            <a:ext cx="223717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1800">
                <a:solidFill>
                  <a:srgbClr val="FF0000"/>
                </a:solidFill>
                <a:latin typeface="Calibri"/>
                <a:ea typeface="Calibri"/>
                <a:cs typeface="Calibri"/>
                <a:sym typeface="Calibri"/>
              </a:rPr>
              <a:t>Predictions = 71.2+ 0.1 * 16.8=72.9</a:t>
            </a:r>
            <a:endParaRPr b="1" sz="1800">
              <a:solidFill>
                <a:srgbClr val="FF0000"/>
              </a:solidFill>
              <a:latin typeface="Calibri"/>
              <a:ea typeface="Calibri"/>
              <a:cs typeface="Calibri"/>
              <a:sym typeface="Calibri"/>
            </a:endParaRPr>
          </a:p>
        </p:txBody>
      </p:sp>
      <p:cxnSp>
        <p:nvCxnSpPr>
          <p:cNvPr id="716" name="Google Shape;716;p28"/>
          <p:cNvCxnSpPr/>
          <p:nvPr/>
        </p:nvCxnSpPr>
        <p:spPr>
          <a:xfrm>
            <a:off x="5706544" y="3266267"/>
            <a:ext cx="1908900" cy="1168200"/>
          </a:xfrm>
          <a:prstGeom prst="curvedConnector3">
            <a:avLst>
              <a:gd fmla="val 50000" name="adj1"/>
            </a:avLst>
          </a:prstGeom>
          <a:noFill/>
          <a:ln cap="flat" cmpd="sng" w="38100">
            <a:solidFill>
              <a:srgbClr val="FF0000"/>
            </a:solidFill>
            <a:prstDash val="solid"/>
            <a:miter lim="800000"/>
            <a:headEnd len="sm" w="sm" type="none"/>
            <a:tailEnd len="med" w="med" type="triangle"/>
          </a:ln>
        </p:spPr>
      </p:cxnSp>
      <p:graphicFrame>
        <p:nvGraphicFramePr>
          <p:cNvPr id="717" name="Google Shape;717;p28"/>
          <p:cNvGraphicFramePr/>
          <p:nvPr/>
        </p:nvGraphicFramePr>
        <p:xfrm>
          <a:off x="8059521" y="1160251"/>
          <a:ext cx="3000000" cy="3000000"/>
        </p:xfrm>
        <a:graphic>
          <a:graphicData uri="http://schemas.openxmlformats.org/drawingml/2006/table">
            <a:tbl>
              <a:tblPr bandRow="1" firstRow="1">
                <a:noFill/>
                <a:tableStyleId>{C56017F4-4159-4531-9A6F-2EA572D870EB}</a:tableStyleId>
              </a:tblPr>
              <a:tblGrid>
                <a:gridCol w="2068925"/>
              </a:tblGrid>
              <a:tr h="421975">
                <a:tc>
                  <a:txBody>
                    <a:bodyPr/>
                    <a:lstStyle/>
                    <a:p>
                      <a:pPr indent="0" lvl="0" marL="0" marR="0" rtl="0" algn="ctr">
                        <a:spcBef>
                          <a:spcPts val="0"/>
                        </a:spcBef>
                        <a:spcAft>
                          <a:spcPts val="0"/>
                        </a:spcAft>
                        <a:buNone/>
                      </a:pPr>
                      <a:r>
                        <a:rPr lang="en-CA" sz="1800"/>
                        <a:t>Initial Residuals</a:t>
                      </a:r>
                      <a:endParaRPr sz="1800"/>
                    </a:p>
                  </a:txBody>
                  <a:tcPr marT="45725" marB="45725" marR="91450" marL="91450"/>
                </a:tc>
              </a:tr>
              <a:tr h="343125">
                <a:tc>
                  <a:txBody>
                    <a:bodyPr/>
                    <a:lstStyle/>
                    <a:p>
                      <a:pPr indent="0" lvl="0" marL="0" marR="0" rtl="0" algn="ctr">
                        <a:spcBef>
                          <a:spcPts val="0"/>
                        </a:spcBef>
                        <a:spcAft>
                          <a:spcPts val="0"/>
                        </a:spcAft>
                        <a:buNone/>
                      </a:pPr>
                      <a:r>
                        <a:rPr lang="en-CA" sz="1800"/>
                        <a:t>16.8</a:t>
                      </a:r>
                      <a:endParaRPr sz="1800"/>
                    </a:p>
                  </a:txBody>
                  <a:tcPr marT="45725" marB="45725" marR="91450" marL="91450"/>
                </a:tc>
              </a:tr>
              <a:tr h="343125">
                <a:tc>
                  <a:txBody>
                    <a:bodyPr/>
                    <a:lstStyle/>
                    <a:p>
                      <a:pPr indent="0" lvl="0" marL="0" marR="0" rtl="0" algn="ctr">
                        <a:spcBef>
                          <a:spcPts val="0"/>
                        </a:spcBef>
                        <a:spcAft>
                          <a:spcPts val="0"/>
                        </a:spcAft>
                        <a:buNone/>
                      </a:pPr>
                      <a:r>
                        <a:rPr lang="en-CA" sz="1800"/>
                        <a:t>4.8</a:t>
                      </a:r>
                      <a:endParaRPr sz="1800"/>
                    </a:p>
                  </a:txBody>
                  <a:tcPr marT="45725" marB="45725" marR="91450" marL="91450"/>
                </a:tc>
              </a:tr>
              <a:tr h="443025">
                <a:tc>
                  <a:txBody>
                    <a:bodyPr/>
                    <a:lstStyle/>
                    <a:p>
                      <a:pPr indent="0" lvl="0" marL="0" marR="0" rtl="0" algn="ctr">
                        <a:spcBef>
                          <a:spcPts val="0"/>
                        </a:spcBef>
                        <a:spcAft>
                          <a:spcPts val="0"/>
                        </a:spcAft>
                        <a:buNone/>
                      </a:pPr>
                      <a:r>
                        <a:rPr lang="en-CA" sz="1800"/>
                        <a:t>-15.2</a:t>
                      </a:r>
                      <a:endParaRPr sz="1800"/>
                    </a:p>
                  </a:txBody>
                  <a:tcPr marT="45725" marB="45725" marR="91450" marL="91450"/>
                </a:tc>
              </a:tr>
              <a:tr h="343125">
                <a:tc>
                  <a:txBody>
                    <a:bodyPr/>
                    <a:lstStyle/>
                    <a:p>
                      <a:pPr indent="0" lvl="0" marL="0" marR="0" rtl="0" algn="ctr">
                        <a:spcBef>
                          <a:spcPts val="0"/>
                        </a:spcBef>
                        <a:spcAft>
                          <a:spcPts val="0"/>
                        </a:spcAft>
                        <a:buNone/>
                      </a:pPr>
                      <a:r>
                        <a:rPr lang="en-CA" sz="1800"/>
                        <a:t>1.8</a:t>
                      </a:r>
                      <a:endParaRPr sz="1800"/>
                    </a:p>
                  </a:txBody>
                  <a:tcPr marT="45725" marB="45725" marR="91450" marL="91450"/>
                </a:tc>
              </a:tr>
              <a:tr h="343125">
                <a:tc>
                  <a:txBody>
                    <a:bodyPr/>
                    <a:lstStyle/>
                    <a:p>
                      <a:pPr indent="0" lvl="0" marL="0" marR="0" rtl="0" algn="ctr">
                        <a:spcBef>
                          <a:spcPts val="0"/>
                        </a:spcBef>
                        <a:spcAft>
                          <a:spcPts val="0"/>
                        </a:spcAft>
                        <a:buNone/>
                      </a:pPr>
                      <a:r>
                        <a:rPr lang="en-CA" sz="1800"/>
                        <a:t>5.8</a:t>
                      </a:r>
                      <a:endParaRPr sz="1800"/>
                    </a:p>
                  </a:txBody>
                  <a:tcPr marT="45725" marB="45725" marR="91450" marL="91450"/>
                </a:tc>
              </a:tr>
              <a:tr h="343125">
                <a:tc>
                  <a:txBody>
                    <a:bodyPr/>
                    <a:lstStyle/>
                    <a:p>
                      <a:pPr indent="0" lvl="0" marL="0" marR="0" rtl="0" algn="ctr">
                        <a:spcBef>
                          <a:spcPts val="0"/>
                        </a:spcBef>
                        <a:spcAft>
                          <a:spcPts val="0"/>
                        </a:spcAft>
                        <a:buNone/>
                      </a:pPr>
                      <a:r>
                        <a:rPr lang="en-CA" sz="1800"/>
                        <a:t>-14.2</a:t>
                      </a:r>
                      <a:endParaRPr sz="1800"/>
                    </a:p>
                  </a:txBody>
                  <a:tcPr marT="45725" marB="45725" marR="91450" marL="91450"/>
                </a:tc>
              </a:tr>
            </a:tbl>
          </a:graphicData>
        </a:graphic>
      </p:graphicFrame>
      <p:sp>
        <p:nvSpPr>
          <p:cNvPr id="718" name="Google Shape;718;p28"/>
          <p:cNvSpPr txBox="1"/>
          <p:nvPr/>
        </p:nvSpPr>
        <p:spPr>
          <a:xfrm>
            <a:off x="4990683" y="1515626"/>
            <a:ext cx="2237172"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1800">
                <a:solidFill>
                  <a:srgbClr val="FF0000"/>
                </a:solidFill>
                <a:latin typeface="Calibri"/>
                <a:ea typeface="Calibri"/>
                <a:cs typeface="Calibri"/>
                <a:sym typeface="Calibri"/>
              </a:rPr>
              <a:t>RECALL THAT THESE ARE THE INITIAL RESIDUALS </a:t>
            </a:r>
            <a:endParaRPr b="1" sz="1800">
              <a:solidFill>
                <a:srgbClr val="FF0000"/>
              </a:solidFill>
              <a:latin typeface="Calibri"/>
              <a:ea typeface="Calibri"/>
              <a:cs typeface="Calibri"/>
              <a:sym typeface="Calibri"/>
            </a:endParaRPr>
          </a:p>
        </p:txBody>
      </p:sp>
      <p:cxnSp>
        <p:nvCxnSpPr>
          <p:cNvPr id="719" name="Google Shape;719;p28"/>
          <p:cNvCxnSpPr/>
          <p:nvPr/>
        </p:nvCxnSpPr>
        <p:spPr>
          <a:xfrm flipH="1" rot="10800000">
            <a:off x="6781800" y="1711954"/>
            <a:ext cx="1277700" cy="294900"/>
          </a:xfrm>
          <a:prstGeom prst="curvedConnector3">
            <a:avLst>
              <a:gd fmla="val 50000" name="adj1"/>
            </a:avLst>
          </a:prstGeom>
          <a:noFill/>
          <a:ln cap="flat" cmpd="sng" w="38100">
            <a:solidFill>
              <a:srgbClr val="FF0000"/>
            </a:solidFill>
            <a:prstDash val="solid"/>
            <a:miter lim="800000"/>
            <a:headEnd len="sm" w="sm" type="none"/>
            <a:tailEnd len="med" w="med" type="triangle"/>
          </a:ln>
        </p:spPr>
      </p:cxnSp>
      <p:sp>
        <p:nvSpPr>
          <p:cNvPr id="720" name="Google Shape;720;p28"/>
          <p:cNvSpPr/>
          <p:nvPr/>
        </p:nvSpPr>
        <p:spPr>
          <a:xfrm>
            <a:off x="10174092" y="2197451"/>
            <a:ext cx="762748" cy="3505282"/>
          </a:xfrm>
          <a:prstGeom prst="curvedLeftArrow">
            <a:avLst>
              <a:gd fmla="val 25000" name="adj1"/>
              <a:gd fmla="val 50000" name="adj2"/>
              <a:gd fmla="val 25000" name="adj3"/>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21" name="Google Shape;721;p28"/>
          <p:cNvSpPr txBox="1"/>
          <p:nvPr/>
        </p:nvSpPr>
        <p:spPr>
          <a:xfrm>
            <a:off x="10955280" y="3486704"/>
            <a:ext cx="1394001"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1800">
                <a:solidFill>
                  <a:srgbClr val="FF0000"/>
                </a:solidFill>
                <a:latin typeface="Calibri"/>
                <a:ea typeface="Calibri"/>
                <a:cs typeface="Calibri"/>
                <a:sym typeface="Calibri"/>
              </a:rPr>
              <a:t>RESIDUALS HAVE GONE DOWN!</a:t>
            </a:r>
            <a:endParaRPr b="1" sz="1800">
              <a:solidFill>
                <a:srgbClr val="FF0000"/>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pic>
        <p:nvPicPr>
          <p:cNvPr id="726" name="Google Shape;726;p29"/>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727" name="Google Shape;727;p29"/>
          <p:cNvSpPr/>
          <p:nvPr/>
        </p:nvSpPr>
        <p:spPr>
          <a:xfrm>
            <a:off x="244828" y="246227"/>
            <a:ext cx="11632822" cy="121772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CA" sz="3600">
                <a:solidFill>
                  <a:schemeClr val="lt1"/>
                </a:solidFill>
                <a:latin typeface="Montserrat"/>
                <a:ea typeface="Montserrat"/>
                <a:cs typeface="Montserrat"/>
                <a:sym typeface="Montserrat"/>
              </a:rPr>
              <a:t>XGBOOST: GRADIENT BOOSTING ALGORITHM</a:t>
            </a:r>
            <a:endParaRPr/>
          </a:p>
        </p:txBody>
      </p:sp>
      <p:sp>
        <p:nvSpPr>
          <p:cNvPr id="728" name="Google Shape;728;p29"/>
          <p:cNvSpPr/>
          <p:nvPr/>
        </p:nvSpPr>
        <p:spPr>
          <a:xfrm>
            <a:off x="7263612" y="1133925"/>
            <a:ext cx="1059786" cy="349195"/>
          </a:xfrm>
          <a:prstGeom prst="roundRect">
            <a:avLst>
              <a:gd fmla="val 16667" name="adj"/>
            </a:avLst>
          </a:prstGeom>
          <a:solidFill>
            <a:schemeClr val="accent4"/>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lt1"/>
                </a:solidFill>
                <a:latin typeface="Calibri"/>
                <a:ea typeface="Calibri"/>
                <a:cs typeface="Calibri"/>
                <a:sym typeface="Calibri"/>
              </a:rPr>
              <a:t>Is female?</a:t>
            </a:r>
            <a:endParaRPr sz="1600">
              <a:solidFill>
                <a:schemeClr val="lt1"/>
              </a:solidFill>
              <a:latin typeface="Calibri"/>
              <a:ea typeface="Calibri"/>
              <a:cs typeface="Calibri"/>
              <a:sym typeface="Calibri"/>
            </a:endParaRPr>
          </a:p>
        </p:txBody>
      </p:sp>
      <p:cxnSp>
        <p:nvCxnSpPr>
          <p:cNvPr id="729" name="Google Shape;729;p29"/>
          <p:cNvCxnSpPr>
            <a:stCxn id="728" idx="2"/>
            <a:endCxn id="730" idx="0"/>
          </p:cNvCxnSpPr>
          <p:nvPr/>
        </p:nvCxnSpPr>
        <p:spPr>
          <a:xfrm flipH="1">
            <a:off x="7104105" y="1483120"/>
            <a:ext cx="689400" cy="341700"/>
          </a:xfrm>
          <a:prstGeom prst="straightConnector1">
            <a:avLst/>
          </a:prstGeom>
          <a:noFill/>
          <a:ln cap="flat" cmpd="sng" w="9525">
            <a:solidFill>
              <a:schemeClr val="accent1"/>
            </a:solidFill>
            <a:prstDash val="solid"/>
            <a:miter lim="800000"/>
            <a:headEnd len="sm" w="sm" type="none"/>
            <a:tailEnd len="med" w="med" type="triangle"/>
          </a:ln>
        </p:spPr>
      </p:cxnSp>
      <p:cxnSp>
        <p:nvCxnSpPr>
          <p:cNvPr id="731" name="Google Shape;731;p29"/>
          <p:cNvCxnSpPr>
            <a:stCxn id="728" idx="2"/>
            <a:endCxn id="732" idx="0"/>
          </p:cNvCxnSpPr>
          <p:nvPr/>
        </p:nvCxnSpPr>
        <p:spPr>
          <a:xfrm>
            <a:off x="7793505" y="1483120"/>
            <a:ext cx="763800" cy="341700"/>
          </a:xfrm>
          <a:prstGeom prst="straightConnector1">
            <a:avLst/>
          </a:prstGeom>
          <a:noFill/>
          <a:ln cap="flat" cmpd="sng" w="9525">
            <a:solidFill>
              <a:schemeClr val="accent1"/>
            </a:solidFill>
            <a:prstDash val="solid"/>
            <a:miter lim="800000"/>
            <a:headEnd len="sm" w="sm" type="none"/>
            <a:tailEnd len="med" w="med" type="triangle"/>
          </a:ln>
        </p:spPr>
      </p:cxnSp>
      <p:sp>
        <p:nvSpPr>
          <p:cNvPr id="730" name="Google Shape;730;p29"/>
          <p:cNvSpPr/>
          <p:nvPr/>
        </p:nvSpPr>
        <p:spPr>
          <a:xfrm>
            <a:off x="6480896" y="1824721"/>
            <a:ext cx="1246266" cy="343431"/>
          </a:xfrm>
          <a:prstGeom prst="roundRect">
            <a:avLst>
              <a:gd fmla="val 16667" name="adj"/>
            </a:avLst>
          </a:prstGeom>
          <a:solidFill>
            <a:srgbClr val="FF00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lt1"/>
                </a:solidFill>
                <a:latin typeface="Calibri"/>
                <a:ea typeface="Calibri"/>
                <a:cs typeface="Calibri"/>
                <a:sym typeface="Calibri"/>
              </a:rPr>
              <a:t>Height &lt;1.6</a:t>
            </a:r>
            <a:endParaRPr sz="1600">
              <a:solidFill>
                <a:schemeClr val="lt1"/>
              </a:solidFill>
              <a:latin typeface="Calibri"/>
              <a:ea typeface="Calibri"/>
              <a:cs typeface="Calibri"/>
              <a:sym typeface="Calibri"/>
            </a:endParaRPr>
          </a:p>
        </p:txBody>
      </p:sp>
      <p:sp>
        <p:nvSpPr>
          <p:cNvPr id="732" name="Google Shape;732;p29"/>
          <p:cNvSpPr/>
          <p:nvPr/>
        </p:nvSpPr>
        <p:spPr>
          <a:xfrm>
            <a:off x="7964209" y="1824721"/>
            <a:ext cx="1186273" cy="343431"/>
          </a:xfrm>
          <a:prstGeom prst="roundRect">
            <a:avLst>
              <a:gd fmla="val 16667" name="adj"/>
            </a:avLst>
          </a:prstGeom>
          <a:solidFill>
            <a:srgbClr val="FF00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lt1"/>
                </a:solidFill>
                <a:latin typeface="Calibri"/>
                <a:ea typeface="Calibri"/>
                <a:cs typeface="Calibri"/>
                <a:sym typeface="Calibri"/>
              </a:rPr>
              <a:t>Is not Blue?</a:t>
            </a:r>
            <a:endParaRPr sz="1600">
              <a:solidFill>
                <a:schemeClr val="lt1"/>
              </a:solidFill>
              <a:latin typeface="Calibri"/>
              <a:ea typeface="Calibri"/>
              <a:cs typeface="Calibri"/>
              <a:sym typeface="Calibri"/>
            </a:endParaRPr>
          </a:p>
        </p:txBody>
      </p:sp>
      <p:cxnSp>
        <p:nvCxnSpPr>
          <p:cNvPr id="733" name="Google Shape;733;p29"/>
          <p:cNvCxnSpPr/>
          <p:nvPr/>
        </p:nvCxnSpPr>
        <p:spPr>
          <a:xfrm flipH="1">
            <a:off x="8151691" y="2176400"/>
            <a:ext cx="424530" cy="341602"/>
          </a:xfrm>
          <a:prstGeom prst="straightConnector1">
            <a:avLst/>
          </a:prstGeom>
          <a:noFill/>
          <a:ln cap="flat" cmpd="sng" w="9525">
            <a:solidFill>
              <a:schemeClr val="accent1"/>
            </a:solidFill>
            <a:prstDash val="solid"/>
            <a:miter lim="800000"/>
            <a:headEnd len="sm" w="sm" type="none"/>
            <a:tailEnd len="med" w="med" type="triangle"/>
          </a:ln>
        </p:spPr>
      </p:cxnSp>
      <p:cxnSp>
        <p:nvCxnSpPr>
          <p:cNvPr id="734" name="Google Shape;734;p29"/>
          <p:cNvCxnSpPr/>
          <p:nvPr/>
        </p:nvCxnSpPr>
        <p:spPr>
          <a:xfrm>
            <a:off x="8576221" y="2176400"/>
            <a:ext cx="528892" cy="341602"/>
          </a:xfrm>
          <a:prstGeom prst="straightConnector1">
            <a:avLst/>
          </a:prstGeom>
          <a:noFill/>
          <a:ln cap="flat" cmpd="sng" w="9525">
            <a:solidFill>
              <a:schemeClr val="accent1"/>
            </a:solidFill>
            <a:prstDash val="solid"/>
            <a:miter lim="800000"/>
            <a:headEnd len="sm" w="sm" type="none"/>
            <a:tailEnd len="med" w="med" type="triangle"/>
          </a:ln>
        </p:spPr>
      </p:cxnSp>
      <p:cxnSp>
        <p:nvCxnSpPr>
          <p:cNvPr id="735" name="Google Shape;735;p29"/>
          <p:cNvCxnSpPr>
            <a:endCxn id="736" idx="0"/>
          </p:cNvCxnSpPr>
          <p:nvPr/>
        </p:nvCxnSpPr>
        <p:spPr>
          <a:xfrm flipH="1">
            <a:off x="6419426" y="2176302"/>
            <a:ext cx="424500" cy="341700"/>
          </a:xfrm>
          <a:prstGeom prst="straightConnector1">
            <a:avLst/>
          </a:prstGeom>
          <a:noFill/>
          <a:ln cap="flat" cmpd="sng" w="9525">
            <a:solidFill>
              <a:schemeClr val="accent1"/>
            </a:solidFill>
            <a:prstDash val="solid"/>
            <a:miter lim="800000"/>
            <a:headEnd len="sm" w="sm" type="none"/>
            <a:tailEnd len="med" w="med" type="triangle"/>
          </a:ln>
        </p:spPr>
      </p:cxnSp>
      <p:cxnSp>
        <p:nvCxnSpPr>
          <p:cNvPr id="737" name="Google Shape;737;p29"/>
          <p:cNvCxnSpPr>
            <a:endCxn id="738" idx="0"/>
          </p:cNvCxnSpPr>
          <p:nvPr/>
        </p:nvCxnSpPr>
        <p:spPr>
          <a:xfrm>
            <a:off x="6843948" y="2176302"/>
            <a:ext cx="528900" cy="341700"/>
          </a:xfrm>
          <a:prstGeom prst="straightConnector1">
            <a:avLst/>
          </a:prstGeom>
          <a:noFill/>
          <a:ln cap="flat" cmpd="sng" w="9525">
            <a:solidFill>
              <a:schemeClr val="accent1"/>
            </a:solidFill>
            <a:prstDash val="solid"/>
            <a:miter lim="800000"/>
            <a:headEnd len="sm" w="sm" type="none"/>
            <a:tailEnd len="med" w="med" type="triangle"/>
          </a:ln>
        </p:spPr>
      </p:cxnSp>
      <p:sp>
        <p:nvSpPr>
          <p:cNvPr id="736" name="Google Shape;736;p29"/>
          <p:cNvSpPr/>
          <p:nvPr/>
        </p:nvSpPr>
        <p:spPr>
          <a:xfrm>
            <a:off x="6061239" y="2518002"/>
            <a:ext cx="716373"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400">
                <a:solidFill>
                  <a:srgbClr val="FF0000"/>
                </a:solidFill>
                <a:latin typeface="Calibri"/>
                <a:ea typeface="Calibri"/>
                <a:cs typeface="Calibri"/>
                <a:sym typeface="Calibri"/>
              </a:rPr>
              <a:t>-14.7</a:t>
            </a:r>
            <a:endParaRPr sz="1400">
              <a:solidFill>
                <a:srgbClr val="FF0000"/>
              </a:solidFill>
              <a:latin typeface="Calibri"/>
              <a:ea typeface="Calibri"/>
              <a:cs typeface="Calibri"/>
              <a:sym typeface="Calibri"/>
            </a:endParaRPr>
          </a:p>
        </p:txBody>
      </p:sp>
      <p:sp>
        <p:nvSpPr>
          <p:cNvPr id="738" name="Google Shape;738;p29"/>
          <p:cNvSpPr/>
          <p:nvPr/>
        </p:nvSpPr>
        <p:spPr>
          <a:xfrm>
            <a:off x="7014661" y="2518002"/>
            <a:ext cx="716374"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800">
                <a:solidFill>
                  <a:srgbClr val="FF0000"/>
                </a:solidFill>
                <a:latin typeface="Calibri"/>
                <a:ea typeface="Calibri"/>
                <a:cs typeface="Calibri"/>
                <a:sym typeface="Calibri"/>
              </a:rPr>
              <a:t>4.8</a:t>
            </a:r>
            <a:endParaRPr sz="1800">
              <a:solidFill>
                <a:srgbClr val="FF0000"/>
              </a:solidFill>
              <a:latin typeface="Calibri"/>
              <a:ea typeface="Calibri"/>
              <a:cs typeface="Calibri"/>
              <a:sym typeface="Calibri"/>
            </a:endParaRPr>
          </a:p>
        </p:txBody>
      </p:sp>
      <p:sp>
        <p:nvSpPr>
          <p:cNvPr id="739" name="Google Shape;739;p29"/>
          <p:cNvSpPr/>
          <p:nvPr/>
        </p:nvSpPr>
        <p:spPr>
          <a:xfrm>
            <a:off x="7793504" y="2537165"/>
            <a:ext cx="716373"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200">
                <a:solidFill>
                  <a:srgbClr val="FF0000"/>
                </a:solidFill>
                <a:latin typeface="Calibri"/>
                <a:ea typeface="Calibri"/>
                <a:cs typeface="Calibri"/>
                <a:sym typeface="Calibri"/>
              </a:rPr>
              <a:t>1.8, 5.8</a:t>
            </a:r>
            <a:endParaRPr sz="1200">
              <a:solidFill>
                <a:srgbClr val="FF0000"/>
              </a:solidFill>
              <a:latin typeface="Calibri"/>
              <a:ea typeface="Calibri"/>
              <a:cs typeface="Calibri"/>
              <a:sym typeface="Calibri"/>
            </a:endParaRPr>
          </a:p>
        </p:txBody>
      </p:sp>
      <p:sp>
        <p:nvSpPr>
          <p:cNvPr id="740" name="Google Shape;740;p29"/>
          <p:cNvSpPr/>
          <p:nvPr/>
        </p:nvSpPr>
        <p:spPr>
          <a:xfrm>
            <a:off x="8746926" y="2537165"/>
            <a:ext cx="716374"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800">
                <a:solidFill>
                  <a:srgbClr val="FF0000"/>
                </a:solidFill>
                <a:latin typeface="Calibri"/>
                <a:ea typeface="Calibri"/>
                <a:cs typeface="Calibri"/>
                <a:sym typeface="Calibri"/>
              </a:rPr>
              <a:t>16.8</a:t>
            </a:r>
            <a:endParaRPr sz="1800">
              <a:solidFill>
                <a:srgbClr val="FF0000"/>
              </a:solidFill>
              <a:latin typeface="Calibri"/>
              <a:ea typeface="Calibri"/>
              <a:cs typeface="Calibri"/>
              <a:sym typeface="Calibri"/>
            </a:endParaRPr>
          </a:p>
        </p:txBody>
      </p:sp>
      <p:sp>
        <p:nvSpPr>
          <p:cNvPr id="741" name="Google Shape;741;p29"/>
          <p:cNvSpPr txBox="1"/>
          <p:nvPr/>
        </p:nvSpPr>
        <p:spPr>
          <a:xfrm>
            <a:off x="6326709" y="2158411"/>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742" name="Google Shape;742;p29"/>
          <p:cNvSpPr txBox="1"/>
          <p:nvPr/>
        </p:nvSpPr>
        <p:spPr>
          <a:xfrm>
            <a:off x="7120358" y="1455101"/>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743" name="Google Shape;743;p29"/>
          <p:cNvSpPr txBox="1"/>
          <p:nvPr/>
        </p:nvSpPr>
        <p:spPr>
          <a:xfrm>
            <a:off x="8232890" y="1455101"/>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744" name="Google Shape;744;p29"/>
          <p:cNvSpPr txBox="1"/>
          <p:nvPr/>
        </p:nvSpPr>
        <p:spPr>
          <a:xfrm>
            <a:off x="8946035" y="2148670"/>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745" name="Google Shape;745;p29"/>
          <p:cNvSpPr txBox="1"/>
          <p:nvPr/>
        </p:nvSpPr>
        <p:spPr>
          <a:xfrm>
            <a:off x="7162527" y="2130952"/>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746" name="Google Shape;746;p29"/>
          <p:cNvSpPr txBox="1"/>
          <p:nvPr/>
        </p:nvSpPr>
        <p:spPr>
          <a:xfrm>
            <a:off x="8111917" y="2130010"/>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747" name="Google Shape;747;p29"/>
          <p:cNvSpPr/>
          <p:nvPr/>
        </p:nvSpPr>
        <p:spPr>
          <a:xfrm>
            <a:off x="2265620" y="1280514"/>
            <a:ext cx="1049256" cy="1016222"/>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8" name="Google Shape;748;p29"/>
          <p:cNvSpPr/>
          <p:nvPr/>
        </p:nvSpPr>
        <p:spPr>
          <a:xfrm>
            <a:off x="689947" y="1578181"/>
            <a:ext cx="1059786" cy="349195"/>
          </a:xfrm>
          <a:prstGeom prst="roundRect">
            <a:avLst>
              <a:gd fmla="val 16667" name="adj"/>
            </a:avLst>
          </a:prstGeom>
          <a:solidFill>
            <a:schemeClr val="accent4"/>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lt1"/>
                </a:solidFill>
                <a:latin typeface="Calibri"/>
                <a:ea typeface="Calibri"/>
                <a:cs typeface="Calibri"/>
                <a:sym typeface="Calibri"/>
              </a:rPr>
              <a:t>71.2</a:t>
            </a:r>
            <a:endParaRPr sz="1600">
              <a:solidFill>
                <a:schemeClr val="lt1"/>
              </a:solidFill>
              <a:latin typeface="Calibri"/>
              <a:ea typeface="Calibri"/>
              <a:cs typeface="Calibri"/>
              <a:sym typeface="Calibri"/>
            </a:endParaRPr>
          </a:p>
        </p:txBody>
      </p:sp>
      <p:sp>
        <p:nvSpPr>
          <p:cNvPr id="749" name="Google Shape;749;p29"/>
          <p:cNvSpPr txBox="1"/>
          <p:nvPr/>
        </p:nvSpPr>
        <p:spPr>
          <a:xfrm>
            <a:off x="0" y="1984620"/>
            <a:ext cx="2499457"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CA" sz="1800">
                <a:solidFill>
                  <a:srgbClr val="FF0000"/>
                </a:solidFill>
                <a:latin typeface="Calibri"/>
                <a:ea typeface="Calibri"/>
                <a:cs typeface="Calibri"/>
                <a:sym typeface="Calibri"/>
              </a:rPr>
              <a:t>AVERAGE WEIGHT (INITIAL GUESS FROM PREVIOUS STEP</a:t>
            </a:r>
            <a:endParaRPr sz="1800">
              <a:solidFill>
                <a:srgbClr val="FF0000"/>
              </a:solidFill>
              <a:latin typeface="Calibri"/>
              <a:ea typeface="Calibri"/>
              <a:cs typeface="Calibri"/>
              <a:sym typeface="Calibri"/>
            </a:endParaRPr>
          </a:p>
        </p:txBody>
      </p:sp>
      <p:sp>
        <p:nvSpPr>
          <p:cNvPr id="750" name="Google Shape;750;p29"/>
          <p:cNvSpPr txBox="1"/>
          <p:nvPr/>
        </p:nvSpPr>
        <p:spPr>
          <a:xfrm>
            <a:off x="3331205" y="1592526"/>
            <a:ext cx="1881233"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CA" sz="2000">
                <a:solidFill>
                  <a:schemeClr val="dk1"/>
                </a:solidFill>
                <a:latin typeface="Calibri"/>
                <a:ea typeface="Calibri"/>
                <a:cs typeface="Calibri"/>
                <a:sym typeface="Calibri"/>
              </a:rPr>
              <a:t>LEARNING RATE 0.1</a:t>
            </a:r>
            <a:endParaRPr b="1" sz="2000">
              <a:solidFill>
                <a:schemeClr val="dk1"/>
              </a:solidFill>
              <a:latin typeface="Calibri"/>
              <a:ea typeface="Calibri"/>
              <a:cs typeface="Calibri"/>
              <a:sym typeface="Calibri"/>
            </a:endParaRPr>
          </a:p>
        </p:txBody>
      </p:sp>
      <p:sp>
        <p:nvSpPr>
          <p:cNvPr id="751" name="Google Shape;751;p29"/>
          <p:cNvSpPr/>
          <p:nvPr/>
        </p:nvSpPr>
        <p:spPr>
          <a:xfrm>
            <a:off x="5212438" y="1444249"/>
            <a:ext cx="877224" cy="860124"/>
          </a:xfrm>
          <a:prstGeom prst="mathMultiply">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2" name="Google Shape;752;p29"/>
          <p:cNvSpPr/>
          <p:nvPr/>
        </p:nvSpPr>
        <p:spPr>
          <a:xfrm>
            <a:off x="7263612" y="3017250"/>
            <a:ext cx="1059786" cy="349195"/>
          </a:xfrm>
          <a:prstGeom prst="roundRect">
            <a:avLst>
              <a:gd fmla="val 16667" name="adj"/>
            </a:avLst>
          </a:prstGeom>
          <a:solidFill>
            <a:schemeClr val="accent4"/>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lt1"/>
                </a:solidFill>
                <a:latin typeface="Calibri"/>
                <a:ea typeface="Calibri"/>
                <a:cs typeface="Calibri"/>
                <a:sym typeface="Calibri"/>
              </a:rPr>
              <a:t>Is female?</a:t>
            </a:r>
            <a:endParaRPr sz="1600">
              <a:solidFill>
                <a:schemeClr val="lt1"/>
              </a:solidFill>
              <a:latin typeface="Calibri"/>
              <a:ea typeface="Calibri"/>
              <a:cs typeface="Calibri"/>
              <a:sym typeface="Calibri"/>
            </a:endParaRPr>
          </a:p>
        </p:txBody>
      </p:sp>
      <p:cxnSp>
        <p:nvCxnSpPr>
          <p:cNvPr id="753" name="Google Shape;753;p29"/>
          <p:cNvCxnSpPr>
            <a:stCxn id="752" idx="2"/>
            <a:endCxn id="754" idx="0"/>
          </p:cNvCxnSpPr>
          <p:nvPr/>
        </p:nvCxnSpPr>
        <p:spPr>
          <a:xfrm flipH="1">
            <a:off x="7104105" y="3366445"/>
            <a:ext cx="689400" cy="341700"/>
          </a:xfrm>
          <a:prstGeom prst="straightConnector1">
            <a:avLst/>
          </a:prstGeom>
          <a:noFill/>
          <a:ln cap="flat" cmpd="sng" w="9525">
            <a:solidFill>
              <a:schemeClr val="accent1"/>
            </a:solidFill>
            <a:prstDash val="solid"/>
            <a:miter lim="800000"/>
            <a:headEnd len="sm" w="sm" type="none"/>
            <a:tailEnd len="med" w="med" type="triangle"/>
          </a:ln>
        </p:spPr>
      </p:cxnSp>
      <p:cxnSp>
        <p:nvCxnSpPr>
          <p:cNvPr id="755" name="Google Shape;755;p29"/>
          <p:cNvCxnSpPr>
            <a:stCxn id="752" idx="2"/>
            <a:endCxn id="756" idx="0"/>
          </p:cNvCxnSpPr>
          <p:nvPr/>
        </p:nvCxnSpPr>
        <p:spPr>
          <a:xfrm>
            <a:off x="7793505" y="3366445"/>
            <a:ext cx="763800" cy="341700"/>
          </a:xfrm>
          <a:prstGeom prst="straightConnector1">
            <a:avLst/>
          </a:prstGeom>
          <a:noFill/>
          <a:ln cap="flat" cmpd="sng" w="9525">
            <a:solidFill>
              <a:schemeClr val="accent1"/>
            </a:solidFill>
            <a:prstDash val="solid"/>
            <a:miter lim="800000"/>
            <a:headEnd len="sm" w="sm" type="none"/>
            <a:tailEnd len="med" w="med" type="triangle"/>
          </a:ln>
        </p:spPr>
      </p:cxnSp>
      <p:sp>
        <p:nvSpPr>
          <p:cNvPr id="754" name="Google Shape;754;p29"/>
          <p:cNvSpPr/>
          <p:nvPr/>
        </p:nvSpPr>
        <p:spPr>
          <a:xfrm>
            <a:off x="6480896" y="3708046"/>
            <a:ext cx="1246266" cy="343431"/>
          </a:xfrm>
          <a:prstGeom prst="roundRect">
            <a:avLst>
              <a:gd fmla="val 16667" name="adj"/>
            </a:avLst>
          </a:prstGeom>
          <a:solidFill>
            <a:srgbClr val="FF00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lt1"/>
                </a:solidFill>
                <a:latin typeface="Calibri"/>
                <a:ea typeface="Calibri"/>
                <a:cs typeface="Calibri"/>
                <a:sym typeface="Calibri"/>
              </a:rPr>
              <a:t>Height &lt;1.6</a:t>
            </a:r>
            <a:endParaRPr sz="1600">
              <a:solidFill>
                <a:schemeClr val="lt1"/>
              </a:solidFill>
              <a:latin typeface="Calibri"/>
              <a:ea typeface="Calibri"/>
              <a:cs typeface="Calibri"/>
              <a:sym typeface="Calibri"/>
            </a:endParaRPr>
          </a:p>
        </p:txBody>
      </p:sp>
      <p:sp>
        <p:nvSpPr>
          <p:cNvPr id="756" name="Google Shape;756;p29"/>
          <p:cNvSpPr/>
          <p:nvPr/>
        </p:nvSpPr>
        <p:spPr>
          <a:xfrm>
            <a:off x="7964209" y="3708046"/>
            <a:ext cx="1186273" cy="343431"/>
          </a:xfrm>
          <a:prstGeom prst="roundRect">
            <a:avLst>
              <a:gd fmla="val 16667" name="adj"/>
            </a:avLst>
          </a:prstGeom>
          <a:solidFill>
            <a:srgbClr val="FF00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lt1"/>
                </a:solidFill>
                <a:latin typeface="Calibri"/>
                <a:ea typeface="Calibri"/>
                <a:cs typeface="Calibri"/>
                <a:sym typeface="Calibri"/>
              </a:rPr>
              <a:t>Is not Blue?</a:t>
            </a:r>
            <a:endParaRPr sz="1600">
              <a:solidFill>
                <a:schemeClr val="lt1"/>
              </a:solidFill>
              <a:latin typeface="Calibri"/>
              <a:ea typeface="Calibri"/>
              <a:cs typeface="Calibri"/>
              <a:sym typeface="Calibri"/>
            </a:endParaRPr>
          </a:p>
        </p:txBody>
      </p:sp>
      <p:cxnSp>
        <p:nvCxnSpPr>
          <p:cNvPr id="757" name="Google Shape;757;p29"/>
          <p:cNvCxnSpPr/>
          <p:nvPr/>
        </p:nvCxnSpPr>
        <p:spPr>
          <a:xfrm flipH="1">
            <a:off x="8151691" y="4059725"/>
            <a:ext cx="424530" cy="341602"/>
          </a:xfrm>
          <a:prstGeom prst="straightConnector1">
            <a:avLst/>
          </a:prstGeom>
          <a:noFill/>
          <a:ln cap="flat" cmpd="sng" w="9525">
            <a:solidFill>
              <a:schemeClr val="accent1"/>
            </a:solidFill>
            <a:prstDash val="solid"/>
            <a:miter lim="800000"/>
            <a:headEnd len="sm" w="sm" type="none"/>
            <a:tailEnd len="med" w="med" type="triangle"/>
          </a:ln>
        </p:spPr>
      </p:cxnSp>
      <p:cxnSp>
        <p:nvCxnSpPr>
          <p:cNvPr id="758" name="Google Shape;758;p29"/>
          <p:cNvCxnSpPr/>
          <p:nvPr/>
        </p:nvCxnSpPr>
        <p:spPr>
          <a:xfrm>
            <a:off x="8576221" y="4059725"/>
            <a:ext cx="528892" cy="341602"/>
          </a:xfrm>
          <a:prstGeom prst="straightConnector1">
            <a:avLst/>
          </a:prstGeom>
          <a:noFill/>
          <a:ln cap="flat" cmpd="sng" w="9525">
            <a:solidFill>
              <a:schemeClr val="accent1"/>
            </a:solidFill>
            <a:prstDash val="solid"/>
            <a:miter lim="800000"/>
            <a:headEnd len="sm" w="sm" type="none"/>
            <a:tailEnd len="med" w="med" type="triangle"/>
          </a:ln>
        </p:spPr>
      </p:cxnSp>
      <p:cxnSp>
        <p:nvCxnSpPr>
          <p:cNvPr id="759" name="Google Shape;759;p29"/>
          <p:cNvCxnSpPr>
            <a:endCxn id="760" idx="0"/>
          </p:cNvCxnSpPr>
          <p:nvPr/>
        </p:nvCxnSpPr>
        <p:spPr>
          <a:xfrm flipH="1">
            <a:off x="6419426" y="4059627"/>
            <a:ext cx="424500" cy="341700"/>
          </a:xfrm>
          <a:prstGeom prst="straightConnector1">
            <a:avLst/>
          </a:prstGeom>
          <a:noFill/>
          <a:ln cap="flat" cmpd="sng" w="9525">
            <a:solidFill>
              <a:schemeClr val="accent1"/>
            </a:solidFill>
            <a:prstDash val="solid"/>
            <a:miter lim="800000"/>
            <a:headEnd len="sm" w="sm" type="none"/>
            <a:tailEnd len="med" w="med" type="triangle"/>
          </a:ln>
        </p:spPr>
      </p:cxnSp>
      <p:cxnSp>
        <p:nvCxnSpPr>
          <p:cNvPr id="761" name="Google Shape;761;p29"/>
          <p:cNvCxnSpPr>
            <a:endCxn id="762" idx="0"/>
          </p:cNvCxnSpPr>
          <p:nvPr/>
        </p:nvCxnSpPr>
        <p:spPr>
          <a:xfrm>
            <a:off x="6843948" y="4059627"/>
            <a:ext cx="528900" cy="341700"/>
          </a:xfrm>
          <a:prstGeom prst="straightConnector1">
            <a:avLst/>
          </a:prstGeom>
          <a:noFill/>
          <a:ln cap="flat" cmpd="sng" w="9525">
            <a:solidFill>
              <a:schemeClr val="accent1"/>
            </a:solidFill>
            <a:prstDash val="solid"/>
            <a:miter lim="800000"/>
            <a:headEnd len="sm" w="sm" type="none"/>
            <a:tailEnd len="med" w="med" type="triangle"/>
          </a:ln>
        </p:spPr>
      </p:cxnSp>
      <p:sp>
        <p:nvSpPr>
          <p:cNvPr id="760" name="Google Shape;760;p29"/>
          <p:cNvSpPr/>
          <p:nvPr/>
        </p:nvSpPr>
        <p:spPr>
          <a:xfrm>
            <a:off x="6061239" y="4401327"/>
            <a:ext cx="716373"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FF0000"/>
              </a:solidFill>
              <a:latin typeface="Calibri"/>
              <a:ea typeface="Calibri"/>
              <a:cs typeface="Calibri"/>
              <a:sym typeface="Calibri"/>
            </a:endParaRPr>
          </a:p>
        </p:txBody>
      </p:sp>
      <p:sp>
        <p:nvSpPr>
          <p:cNvPr id="762" name="Google Shape;762;p29"/>
          <p:cNvSpPr/>
          <p:nvPr/>
        </p:nvSpPr>
        <p:spPr>
          <a:xfrm>
            <a:off x="7014661" y="4401327"/>
            <a:ext cx="716374"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Calibri"/>
              <a:ea typeface="Calibri"/>
              <a:cs typeface="Calibri"/>
              <a:sym typeface="Calibri"/>
            </a:endParaRPr>
          </a:p>
        </p:txBody>
      </p:sp>
      <p:sp>
        <p:nvSpPr>
          <p:cNvPr id="763" name="Google Shape;763;p29"/>
          <p:cNvSpPr/>
          <p:nvPr/>
        </p:nvSpPr>
        <p:spPr>
          <a:xfrm>
            <a:off x="7793504" y="4420490"/>
            <a:ext cx="716373"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FF0000"/>
              </a:solidFill>
              <a:latin typeface="Calibri"/>
              <a:ea typeface="Calibri"/>
              <a:cs typeface="Calibri"/>
              <a:sym typeface="Calibri"/>
            </a:endParaRPr>
          </a:p>
        </p:txBody>
      </p:sp>
      <p:sp>
        <p:nvSpPr>
          <p:cNvPr id="764" name="Google Shape;764;p29"/>
          <p:cNvSpPr/>
          <p:nvPr/>
        </p:nvSpPr>
        <p:spPr>
          <a:xfrm>
            <a:off x="8746926" y="4420490"/>
            <a:ext cx="716374"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Calibri"/>
              <a:ea typeface="Calibri"/>
              <a:cs typeface="Calibri"/>
              <a:sym typeface="Calibri"/>
            </a:endParaRPr>
          </a:p>
        </p:txBody>
      </p:sp>
      <p:sp>
        <p:nvSpPr>
          <p:cNvPr id="765" name="Google Shape;765;p29"/>
          <p:cNvSpPr txBox="1"/>
          <p:nvPr/>
        </p:nvSpPr>
        <p:spPr>
          <a:xfrm>
            <a:off x="6326709" y="4041736"/>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766" name="Google Shape;766;p29"/>
          <p:cNvSpPr txBox="1"/>
          <p:nvPr/>
        </p:nvSpPr>
        <p:spPr>
          <a:xfrm>
            <a:off x="7120358" y="3338426"/>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767" name="Google Shape;767;p29"/>
          <p:cNvSpPr txBox="1"/>
          <p:nvPr/>
        </p:nvSpPr>
        <p:spPr>
          <a:xfrm>
            <a:off x="8232890" y="3338426"/>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768" name="Google Shape;768;p29"/>
          <p:cNvSpPr txBox="1"/>
          <p:nvPr/>
        </p:nvSpPr>
        <p:spPr>
          <a:xfrm>
            <a:off x="8946035" y="4031995"/>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769" name="Google Shape;769;p29"/>
          <p:cNvSpPr txBox="1"/>
          <p:nvPr/>
        </p:nvSpPr>
        <p:spPr>
          <a:xfrm>
            <a:off x="7162527" y="4014277"/>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770" name="Google Shape;770;p29"/>
          <p:cNvSpPr txBox="1"/>
          <p:nvPr/>
        </p:nvSpPr>
        <p:spPr>
          <a:xfrm>
            <a:off x="8111917" y="4013335"/>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771" name="Google Shape;771;p29"/>
          <p:cNvSpPr txBox="1"/>
          <p:nvPr/>
        </p:nvSpPr>
        <p:spPr>
          <a:xfrm>
            <a:off x="3331205" y="3475851"/>
            <a:ext cx="1881233"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CA" sz="2000">
                <a:solidFill>
                  <a:schemeClr val="dk1"/>
                </a:solidFill>
                <a:latin typeface="Calibri"/>
                <a:ea typeface="Calibri"/>
                <a:cs typeface="Calibri"/>
                <a:sym typeface="Calibri"/>
              </a:rPr>
              <a:t>LEARNING RATE 0.1</a:t>
            </a:r>
            <a:endParaRPr b="1" sz="2000">
              <a:solidFill>
                <a:schemeClr val="dk1"/>
              </a:solidFill>
              <a:latin typeface="Calibri"/>
              <a:ea typeface="Calibri"/>
              <a:cs typeface="Calibri"/>
              <a:sym typeface="Calibri"/>
            </a:endParaRPr>
          </a:p>
        </p:txBody>
      </p:sp>
      <p:sp>
        <p:nvSpPr>
          <p:cNvPr id="772" name="Google Shape;772;p29"/>
          <p:cNvSpPr/>
          <p:nvPr/>
        </p:nvSpPr>
        <p:spPr>
          <a:xfrm>
            <a:off x="5212438" y="3327574"/>
            <a:ext cx="877224" cy="860124"/>
          </a:xfrm>
          <a:prstGeom prst="mathMultiply">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3" name="Google Shape;773;p29"/>
          <p:cNvSpPr/>
          <p:nvPr/>
        </p:nvSpPr>
        <p:spPr>
          <a:xfrm>
            <a:off x="7263612" y="4884558"/>
            <a:ext cx="1059786" cy="349195"/>
          </a:xfrm>
          <a:prstGeom prst="roundRect">
            <a:avLst>
              <a:gd fmla="val 16667" name="adj"/>
            </a:avLst>
          </a:prstGeom>
          <a:solidFill>
            <a:schemeClr val="accent4"/>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lt1"/>
                </a:solidFill>
                <a:latin typeface="Calibri"/>
                <a:ea typeface="Calibri"/>
                <a:cs typeface="Calibri"/>
                <a:sym typeface="Calibri"/>
              </a:rPr>
              <a:t>Is female?</a:t>
            </a:r>
            <a:endParaRPr sz="1600">
              <a:solidFill>
                <a:schemeClr val="lt1"/>
              </a:solidFill>
              <a:latin typeface="Calibri"/>
              <a:ea typeface="Calibri"/>
              <a:cs typeface="Calibri"/>
              <a:sym typeface="Calibri"/>
            </a:endParaRPr>
          </a:p>
        </p:txBody>
      </p:sp>
      <p:cxnSp>
        <p:nvCxnSpPr>
          <p:cNvPr id="774" name="Google Shape;774;p29"/>
          <p:cNvCxnSpPr>
            <a:stCxn id="773" idx="2"/>
            <a:endCxn id="775" idx="0"/>
          </p:cNvCxnSpPr>
          <p:nvPr/>
        </p:nvCxnSpPr>
        <p:spPr>
          <a:xfrm flipH="1">
            <a:off x="7104105" y="5233753"/>
            <a:ext cx="689400" cy="341700"/>
          </a:xfrm>
          <a:prstGeom prst="straightConnector1">
            <a:avLst/>
          </a:prstGeom>
          <a:noFill/>
          <a:ln cap="flat" cmpd="sng" w="9525">
            <a:solidFill>
              <a:schemeClr val="accent1"/>
            </a:solidFill>
            <a:prstDash val="solid"/>
            <a:miter lim="800000"/>
            <a:headEnd len="sm" w="sm" type="none"/>
            <a:tailEnd len="med" w="med" type="triangle"/>
          </a:ln>
        </p:spPr>
      </p:cxnSp>
      <p:cxnSp>
        <p:nvCxnSpPr>
          <p:cNvPr id="776" name="Google Shape;776;p29"/>
          <p:cNvCxnSpPr>
            <a:stCxn id="773" idx="2"/>
            <a:endCxn id="777" idx="0"/>
          </p:cNvCxnSpPr>
          <p:nvPr/>
        </p:nvCxnSpPr>
        <p:spPr>
          <a:xfrm>
            <a:off x="7793505" y="5233753"/>
            <a:ext cx="763800" cy="341700"/>
          </a:xfrm>
          <a:prstGeom prst="straightConnector1">
            <a:avLst/>
          </a:prstGeom>
          <a:noFill/>
          <a:ln cap="flat" cmpd="sng" w="9525">
            <a:solidFill>
              <a:schemeClr val="accent1"/>
            </a:solidFill>
            <a:prstDash val="solid"/>
            <a:miter lim="800000"/>
            <a:headEnd len="sm" w="sm" type="none"/>
            <a:tailEnd len="med" w="med" type="triangle"/>
          </a:ln>
        </p:spPr>
      </p:cxnSp>
      <p:sp>
        <p:nvSpPr>
          <p:cNvPr id="775" name="Google Shape;775;p29"/>
          <p:cNvSpPr/>
          <p:nvPr/>
        </p:nvSpPr>
        <p:spPr>
          <a:xfrm>
            <a:off x="6480896" y="5575354"/>
            <a:ext cx="1246266" cy="343431"/>
          </a:xfrm>
          <a:prstGeom prst="roundRect">
            <a:avLst>
              <a:gd fmla="val 16667" name="adj"/>
            </a:avLst>
          </a:prstGeom>
          <a:solidFill>
            <a:srgbClr val="FF00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lt1"/>
                </a:solidFill>
                <a:latin typeface="Calibri"/>
                <a:ea typeface="Calibri"/>
                <a:cs typeface="Calibri"/>
                <a:sym typeface="Calibri"/>
              </a:rPr>
              <a:t>Height &lt;1.6</a:t>
            </a:r>
            <a:endParaRPr sz="1600">
              <a:solidFill>
                <a:schemeClr val="lt1"/>
              </a:solidFill>
              <a:latin typeface="Calibri"/>
              <a:ea typeface="Calibri"/>
              <a:cs typeface="Calibri"/>
              <a:sym typeface="Calibri"/>
            </a:endParaRPr>
          </a:p>
        </p:txBody>
      </p:sp>
      <p:sp>
        <p:nvSpPr>
          <p:cNvPr id="777" name="Google Shape;777;p29"/>
          <p:cNvSpPr/>
          <p:nvPr/>
        </p:nvSpPr>
        <p:spPr>
          <a:xfrm>
            <a:off x="7964209" y="5575354"/>
            <a:ext cx="1186273" cy="343431"/>
          </a:xfrm>
          <a:prstGeom prst="roundRect">
            <a:avLst>
              <a:gd fmla="val 16667" name="adj"/>
            </a:avLst>
          </a:prstGeom>
          <a:solidFill>
            <a:srgbClr val="FF00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A" sz="1600">
                <a:solidFill>
                  <a:schemeClr val="lt1"/>
                </a:solidFill>
                <a:latin typeface="Calibri"/>
                <a:ea typeface="Calibri"/>
                <a:cs typeface="Calibri"/>
                <a:sym typeface="Calibri"/>
              </a:rPr>
              <a:t>Is not Blue?</a:t>
            </a:r>
            <a:endParaRPr sz="1600">
              <a:solidFill>
                <a:schemeClr val="lt1"/>
              </a:solidFill>
              <a:latin typeface="Calibri"/>
              <a:ea typeface="Calibri"/>
              <a:cs typeface="Calibri"/>
              <a:sym typeface="Calibri"/>
            </a:endParaRPr>
          </a:p>
        </p:txBody>
      </p:sp>
      <p:cxnSp>
        <p:nvCxnSpPr>
          <p:cNvPr id="778" name="Google Shape;778;p29"/>
          <p:cNvCxnSpPr/>
          <p:nvPr/>
        </p:nvCxnSpPr>
        <p:spPr>
          <a:xfrm flipH="1">
            <a:off x="8151691" y="5927033"/>
            <a:ext cx="424530" cy="341602"/>
          </a:xfrm>
          <a:prstGeom prst="straightConnector1">
            <a:avLst/>
          </a:prstGeom>
          <a:noFill/>
          <a:ln cap="flat" cmpd="sng" w="9525">
            <a:solidFill>
              <a:schemeClr val="accent1"/>
            </a:solidFill>
            <a:prstDash val="solid"/>
            <a:miter lim="800000"/>
            <a:headEnd len="sm" w="sm" type="none"/>
            <a:tailEnd len="med" w="med" type="triangle"/>
          </a:ln>
        </p:spPr>
      </p:cxnSp>
      <p:cxnSp>
        <p:nvCxnSpPr>
          <p:cNvPr id="779" name="Google Shape;779;p29"/>
          <p:cNvCxnSpPr/>
          <p:nvPr/>
        </p:nvCxnSpPr>
        <p:spPr>
          <a:xfrm>
            <a:off x="8576221" y="5927033"/>
            <a:ext cx="528892" cy="341602"/>
          </a:xfrm>
          <a:prstGeom prst="straightConnector1">
            <a:avLst/>
          </a:prstGeom>
          <a:noFill/>
          <a:ln cap="flat" cmpd="sng" w="9525">
            <a:solidFill>
              <a:schemeClr val="accent1"/>
            </a:solidFill>
            <a:prstDash val="solid"/>
            <a:miter lim="800000"/>
            <a:headEnd len="sm" w="sm" type="none"/>
            <a:tailEnd len="med" w="med" type="triangle"/>
          </a:ln>
        </p:spPr>
      </p:cxnSp>
      <p:cxnSp>
        <p:nvCxnSpPr>
          <p:cNvPr id="780" name="Google Shape;780;p29"/>
          <p:cNvCxnSpPr>
            <a:endCxn id="781" idx="0"/>
          </p:cNvCxnSpPr>
          <p:nvPr/>
        </p:nvCxnSpPr>
        <p:spPr>
          <a:xfrm flipH="1">
            <a:off x="6419426" y="5926935"/>
            <a:ext cx="424500" cy="341700"/>
          </a:xfrm>
          <a:prstGeom prst="straightConnector1">
            <a:avLst/>
          </a:prstGeom>
          <a:noFill/>
          <a:ln cap="flat" cmpd="sng" w="9525">
            <a:solidFill>
              <a:schemeClr val="accent1"/>
            </a:solidFill>
            <a:prstDash val="solid"/>
            <a:miter lim="800000"/>
            <a:headEnd len="sm" w="sm" type="none"/>
            <a:tailEnd len="med" w="med" type="triangle"/>
          </a:ln>
        </p:spPr>
      </p:cxnSp>
      <p:cxnSp>
        <p:nvCxnSpPr>
          <p:cNvPr id="782" name="Google Shape;782;p29"/>
          <p:cNvCxnSpPr>
            <a:endCxn id="783" idx="0"/>
          </p:cNvCxnSpPr>
          <p:nvPr/>
        </p:nvCxnSpPr>
        <p:spPr>
          <a:xfrm>
            <a:off x="6843948" y="5926935"/>
            <a:ext cx="528900" cy="341700"/>
          </a:xfrm>
          <a:prstGeom prst="straightConnector1">
            <a:avLst/>
          </a:prstGeom>
          <a:noFill/>
          <a:ln cap="flat" cmpd="sng" w="9525">
            <a:solidFill>
              <a:schemeClr val="accent1"/>
            </a:solidFill>
            <a:prstDash val="solid"/>
            <a:miter lim="800000"/>
            <a:headEnd len="sm" w="sm" type="none"/>
            <a:tailEnd len="med" w="med" type="triangle"/>
          </a:ln>
        </p:spPr>
      </p:cxnSp>
      <p:sp>
        <p:nvSpPr>
          <p:cNvPr id="781" name="Google Shape;781;p29"/>
          <p:cNvSpPr/>
          <p:nvPr/>
        </p:nvSpPr>
        <p:spPr>
          <a:xfrm>
            <a:off x="6061239" y="6268635"/>
            <a:ext cx="716373"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FF0000"/>
              </a:solidFill>
              <a:latin typeface="Calibri"/>
              <a:ea typeface="Calibri"/>
              <a:cs typeface="Calibri"/>
              <a:sym typeface="Calibri"/>
            </a:endParaRPr>
          </a:p>
        </p:txBody>
      </p:sp>
      <p:sp>
        <p:nvSpPr>
          <p:cNvPr id="783" name="Google Shape;783;p29"/>
          <p:cNvSpPr/>
          <p:nvPr/>
        </p:nvSpPr>
        <p:spPr>
          <a:xfrm>
            <a:off x="7014661" y="6268635"/>
            <a:ext cx="716374"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Calibri"/>
              <a:ea typeface="Calibri"/>
              <a:cs typeface="Calibri"/>
              <a:sym typeface="Calibri"/>
            </a:endParaRPr>
          </a:p>
        </p:txBody>
      </p:sp>
      <p:sp>
        <p:nvSpPr>
          <p:cNvPr id="784" name="Google Shape;784;p29"/>
          <p:cNvSpPr/>
          <p:nvPr/>
        </p:nvSpPr>
        <p:spPr>
          <a:xfrm>
            <a:off x="7793504" y="6287798"/>
            <a:ext cx="716373"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FF0000"/>
              </a:solidFill>
              <a:latin typeface="Calibri"/>
              <a:ea typeface="Calibri"/>
              <a:cs typeface="Calibri"/>
              <a:sym typeface="Calibri"/>
            </a:endParaRPr>
          </a:p>
        </p:txBody>
      </p:sp>
      <p:sp>
        <p:nvSpPr>
          <p:cNvPr id="785" name="Google Shape;785;p29"/>
          <p:cNvSpPr/>
          <p:nvPr/>
        </p:nvSpPr>
        <p:spPr>
          <a:xfrm>
            <a:off x="8746926" y="6287798"/>
            <a:ext cx="716374" cy="341602"/>
          </a:xfrm>
          <a:prstGeom prst="roundRect">
            <a:avLst>
              <a:gd fmla="val 16667" name="adj"/>
            </a:avLst>
          </a:prstGeom>
          <a:solidFill>
            <a:srgbClr val="92D05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Calibri"/>
              <a:ea typeface="Calibri"/>
              <a:cs typeface="Calibri"/>
              <a:sym typeface="Calibri"/>
            </a:endParaRPr>
          </a:p>
        </p:txBody>
      </p:sp>
      <p:sp>
        <p:nvSpPr>
          <p:cNvPr id="786" name="Google Shape;786;p29"/>
          <p:cNvSpPr txBox="1"/>
          <p:nvPr/>
        </p:nvSpPr>
        <p:spPr>
          <a:xfrm>
            <a:off x="6326709" y="5909044"/>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787" name="Google Shape;787;p29"/>
          <p:cNvSpPr txBox="1"/>
          <p:nvPr/>
        </p:nvSpPr>
        <p:spPr>
          <a:xfrm>
            <a:off x="7120358" y="5205734"/>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788" name="Google Shape;788;p29"/>
          <p:cNvSpPr txBox="1"/>
          <p:nvPr/>
        </p:nvSpPr>
        <p:spPr>
          <a:xfrm>
            <a:off x="8232890" y="5205734"/>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789" name="Google Shape;789;p29"/>
          <p:cNvSpPr txBox="1"/>
          <p:nvPr/>
        </p:nvSpPr>
        <p:spPr>
          <a:xfrm>
            <a:off x="8946035" y="5899303"/>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790" name="Google Shape;790;p29"/>
          <p:cNvSpPr txBox="1"/>
          <p:nvPr/>
        </p:nvSpPr>
        <p:spPr>
          <a:xfrm>
            <a:off x="7162527" y="5881585"/>
            <a:ext cx="333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791" name="Google Shape;791;p29"/>
          <p:cNvSpPr txBox="1"/>
          <p:nvPr/>
        </p:nvSpPr>
        <p:spPr>
          <a:xfrm>
            <a:off x="8111917" y="5880643"/>
            <a:ext cx="2968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792" name="Google Shape;792;p29"/>
          <p:cNvSpPr txBox="1"/>
          <p:nvPr/>
        </p:nvSpPr>
        <p:spPr>
          <a:xfrm>
            <a:off x="3331205" y="5343159"/>
            <a:ext cx="1881233"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CA" sz="2000">
                <a:solidFill>
                  <a:schemeClr val="dk1"/>
                </a:solidFill>
                <a:latin typeface="Calibri"/>
                <a:ea typeface="Calibri"/>
                <a:cs typeface="Calibri"/>
                <a:sym typeface="Calibri"/>
              </a:rPr>
              <a:t>LEARNING RATE 0.1</a:t>
            </a:r>
            <a:endParaRPr b="1" sz="2000">
              <a:solidFill>
                <a:schemeClr val="dk1"/>
              </a:solidFill>
              <a:latin typeface="Calibri"/>
              <a:ea typeface="Calibri"/>
              <a:cs typeface="Calibri"/>
              <a:sym typeface="Calibri"/>
            </a:endParaRPr>
          </a:p>
        </p:txBody>
      </p:sp>
      <p:sp>
        <p:nvSpPr>
          <p:cNvPr id="793" name="Google Shape;793;p29"/>
          <p:cNvSpPr/>
          <p:nvPr/>
        </p:nvSpPr>
        <p:spPr>
          <a:xfrm>
            <a:off x="5212438" y="5194882"/>
            <a:ext cx="877224" cy="860124"/>
          </a:xfrm>
          <a:prstGeom prst="mathMultiply">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4" name="Google Shape;794;p29"/>
          <p:cNvSpPr/>
          <p:nvPr/>
        </p:nvSpPr>
        <p:spPr>
          <a:xfrm>
            <a:off x="9605234" y="5253115"/>
            <a:ext cx="333746" cy="343431"/>
          </a:xfrm>
          <a:prstGeom prst="ellipse">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5" name="Google Shape;795;p29"/>
          <p:cNvSpPr/>
          <p:nvPr/>
        </p:nvSpPr>
        <p:spPr>
          <a:xfrm>
            <a:off x="10208352" y="5253115"/>
            <a:ext cx="333746" cy="343431"/>
          </a:xfrm>
          <a:prstGeom prst="ellipse">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6" name="Google Shape;796;p29"/>
          <p:cNvSpPr/>
          <p:nvPr/>
        </p:nvSpPr>
        <p:spPr>
          <a:xfrm>
            <a:off x="10811470" y="5251801"/>
            <a:ext cx="333746" cy="343431"/>
          </a:xfrm>
          <a:prstGeom prst="ellipse">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7" name="Google Shape;797;p29"/>
          <p:cNvSpPr/>
          <p:nvPr/>
        </p:nvSpPr>
        <p:spPr>
          <a:xfrm>
            <a:off x="11416623" y="5251800"/>
            <a:ext cx="333746" cy="343431"/>
          </a:xfrm>
          <a:prstGeom prst="ellipse">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8" name="Google Shape;798;p29"/>
          <p:cNvSpPr txBox="1"/>
          <p:nvPr/>
        </p:nvSpPr>
        <p:spPr>
          <a:xfrm>
            <a:off x="72848" y="3343214"/>
            <a:ext cx="2310143" cy="2862322"/>
          </a:xfrm>
          <a:prstGeom prst="rect">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CA" sz="2000">
                <a:solidFill>
                  <a:srgbClr val="FF0000"/>
                </a:solidFill>
                <a:latin typeface="Calibri"/>
                <a:ea typeface="Calibri"/>
                <a:cs typeface="Calibri"/>
                <a:sym typeface="Calibri"/>
              </a:rPr>
              <a:t>NOW YOU CAN MAKE NEW PREDICTIONS BY COMBINING ALL THE SCALED PREDICTIONS FROM ALL TREES</a:t>
            </a:r>
            <a:endParaRPr b="1" sz="2000">
              <a:solidFill>
                <a:srgbClr val="FF0000"/>
              </a:solidFill>
              <a:latin typeface="Calibri"/>
              <a:ea typeface="Calibri"/>
              <a:cs typeface="Calibri"/>
              <a:sym typeface="Calibri"/>
            </a:endParaRPr>
          </a:p>
        </p:txBody>
      </p:sp>
      <p:sp>
        <p:nvSpPr>
          <p:cNvPr id="799" name="Google Shape;799;p29"/>
          <p:cNvSpPr/>
          <p:nvPr/>
        </p:nvSpPr>
        <p:spPr>
          <a:xfrm>
            <a:off x="2343786" y="3280013"/>
            <a:ext cx="1049256" cy="1016222"/>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0" name="Google Shape;800;p29"/>
          <p:cNvSpPr/>
          <p:nvPr/>
        </p:nvSpPr>
        <p:spPr>
          <a:xfrm>
            <a:off x="2419893" y="5241058"/>
            <a:ext cx="1049256" cy="1016222"/>
          </a:xfrm>
          <a:prstGeom prst="mathPlus">
            <a:avLst>
              <a:gd fmla="val 23520" name="adj1"/>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pic>
        <p:nvPicPr>
          <p:cNvPr id="805" name="Google Shape;805;p30"/>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806" name="Google Shape;806;p30"/>
          <p:cNvSpPr/>
          <p:nvPr/>
        </p:nvSpPr>
        <p:spPr>
          <a:xfrm>
            <a:off x="149602" y="79682"/>
            <a:ext cx="11238575" cy="95410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CA" sz="3600">
                <a:solidFill>
                  <a:schemeClr val="lt1"/>
                </a:solidFill>
                <a:latin typeface="Montserrat"/>
                <a:ea typeface="Montserrat"/>
                <a:cs typeface="Montserrat"/>
                <a:sym typeface="Montserrat"/>
              </a:rPr>
              <a:t>XGBOOST: WHAT IS EXTREME GRADIENT BOOSTING THEN</a:t>
            </a:r>
            <a:endParaRPr/>
          </a:p>
        </p:txBody>
      </p:sp>
      <p:sp>
        <p:nvSpPr>
          <p:cNvPr id="807" name="Google Shape;807;p30"/>
          <p:cNvSpPr txBox="1"/>
          <p:nvPr/>
        </p:nvSpPr>
        <p:spPr>
          <a:xfrm>
            <a:off x="392767" y="1262562"/>
            <a:ext cx="11406466" cy="4525963"/>
          </a:xfrm>
          <a:prstGeom prst="rect">
            <a:avLst/>
          </a:prstGeom>
          <a:noFill/>
          <a:ln>
            <a:noFill/>
          </a:ln>
        </p:spPr>
        <p:txBody>
          <a:bodyPr anchorCtr="0" anchor="t" bIns="45700" lIns="91425" spcFirstLastPara="1" rIns="91425" wrap="square" tIns="45700">
            <a:normAutofit/>
          </a:bodyPr>
          <a:lstStyle/>
          <a:p>
            <a:pPr indent="-171450" lvl="0" marL="285750" marR="0" rtl="0" algn="l">
              <a:lnSpc>
                <a:spcPct val="90000"/>
              </a:lnSpc>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pic>
        <p:nvPicPr>
          <p:cNvPr id="808" name="Google Shape;808;p30"/>
          <p:cNvPicPr preferRelativeResize="0"/>
          <p:nvPr/>
        </p:nvPicPr>
        <p:blipFill rotWithShape="1">
          <a:blip r:embed="rId4">
            <a:alphaModFix/>
          </a:blip>
          <a:srcRect b="0" l="0" r="0" t="0"/>
          <a:stretch/>
        </p:blipFill>
        <p:spPr>
          <a:xfrm>
            <a:off x="1793551" y="1358900"/>
            <a:ext cx="7296797" cy="4660900"/>
          </a:xfrm>
          <a:prstGeom prst="rect">
            <a:avLst/>
          </a:prstGeom>
          <a:noFill/>
          <a:ln>
            <a:noFill/>
          </a:ln>
        </p:spPr>
      </p:pic>
      <p:sp>
        <p:nvSpPr>
          <p:cNvPr id="809" name="Google Shape;809;p30"/>
          <p:cNvSpPr/>
          <p:nvPr/>
        </p:nvSpPr>
        <p:spPr>
          <a:xfrm>
            <a:off x="149602" y="1358900"/>
            <a:ext cx="608314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u="sng">
                <a:solidFill>
                  <a:schemeClr val="dk1"/>
                </a:solidFill>
                <a:latin typeface="Calibri"/>
                <a:ea typeface="Calibri"/>
                <a:cs typeface="Calibri"/>
                <a:sym typeface="Calibri"/>
                <a:hlinkClick r:id="rId5">
                  <a:extLst>
                    <a:ext uri="{A12FA001-AC4F-418D-AE19-62706E023703}">
                      <ahyp:hlinkClr val="tx"/>
                    </a:ext>
                  </a:extLst>
                </a:hlinkClick>
              </a:rPr>
              <a:t>Paper: https://arxiv.org/pdf/1603.02754.pdf</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CA" sz="1800" u="sng">
                <a:solidFill>
                  <a:schemeClr val="dk1"/>
                </a:solidFill>
                <a:latin typeface="Calibri"/>
                <a:ea typeface="Calibri"/>
                <a:cs typeface="Calibri"/>
                <a:sym typeface="Calibri"/>
                <a:hlinkClick r:id="rId6">
                  <a:extLst>
                    <a:ext uri="{A12FA001-AC4F-418D-AE19-62706E023703}">
                      <ahyp:hlinkClr val="tx"/>
                    </a:ext>
                  </a:extLst>
                </a:hlinkClick>
              </a:rPr>
              <a:t>https://xgboost.readthedocs.io/en/latest/tutorials/model.html</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pic>
        <p:nvPicPr>
          <p:cNvPr id="814" name="Google Shape;814;p31"/>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815" name="Google Shape;815;p31"/>
          <p:cNvSpPr/>
          <p:nvPr/>
        </p:nvSpPr>
        <p:spPr>
          <a:xfrm>
            <a:off x="216278" y="260454"/>
            <a:ext cx="7585714" cy="5232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CA" sz="3600">
                <a:solidFill>
                  <a:schemeClr val="lt1"/>
                </a:solidFill>
                <a:latin typeface="Montserrat"/>
                <a:ea typeface="Montserrat"/>
                <a:cs typeface="Montserrat"/>
                <a:sym typeface="Montserrat"/>
              </a:rPr>
              <a:t>XGBOOST: PAPER HIGHLIGHTS</a:t>
            </a:r>
            <a:endParaRPr/>
          </a:p>
        </p:txBody>
      </p:sp>
      <p:sp>
        <p:nvSpPr>
          <p:cNvPr id="816" name="Google Shape;816;p31"/>
          <p:cNvSpPr txBox="1"/>
          <p:nvPr>
            <p:ph idx="1" type="body"/>
          </p:nvPr>
        </p:nvSpPr>
        <p:spPr>
          <a:xfrm>
            <a:off x="216278" y="1143000"/>
            <a:ext cx="11975722"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CA" sz="2000"/>
              <a:t>“</a:t>
            </a:r>
            <a:r>
              <a:rPr i="1" lang="en-CA" sz="2000"/>
              <a:t>The most important factor behind the success of XGBoost is its scalability in all scenarios. The system runs more than </a:t>
            </a:r>
            <a:r>
              <a:rPr b="1" i="1" lang="en-CA" sz="2000"/>
              <a:t>ten times faster than existing popular solutions </a:t>
            </a:r>
            <a:r>
              <a:rPr i="1" lang="en-CA" sz="2000"/>
              <a:t>on a single machine and </a:t>
            </a:r>
            <a:r>
              <a:rPr b="1" i="1" lang="en-CA" sz="2000"/>
              <a:t>scales to billions of examples </a:t>
            </a:r>
            <a:r>
              <a:rPr i="1" lang="en-CA" sz="2000"/>
              <a:t>in </a:t>
            </a:r>
            <a:r>
              <a:rPr b="1" i="1" lang="en-CA" sz="2000"/>
              <a:t>distributed or memory-limited </a:t>
            </a:r>
            <a:r>
              <a:rPr i="1" lang="en-CA" sz="2000"/>
              <a:t>settings.”</a:t>
            </a:r>
            <a:endParaRPr/>
          </a:p>
          <a:p>
            <a:pPr indent="-228600" lvl="0" marL="228600" rtl="0" algn="l">
              <a:lnSpc>
                <a:spcPct val="90000"/>
              </a:lnSpc>
              <a:spcBef>
                <a:spcPts val="1000"/>
              </a:spcBef>
              <a:spcAft>
                <a:spcPts val="0"/>
              </a:spcAft>
              <a:buClr>
                <a:schemeClr val="dk1"/>
              </a:buClr>
              <a:buSzPts val="2000"/>
              <a:buChar char="•"/>
            </a:pPr>
            <a:r>
              <a:rPr lang="en-CA" sz="2000"/>
              <a:t>“</a:t>
            </a:r>
            <a:r>
              <a:rPr i="1" lang="en-CA" sz="2000"/>
              <a:t>The scalability of XGBoost is due to several important systems and </a:t>
            </a:r>
            <a:r>
              <a:rPr b="1" i="1" lang="en-CA" sz="2000"/>
              <a:t>algorithmic optimizations</a:t>
            </a:r>
            <a:r>
              <a:rPr i="1" lang="en-CA" sz="2000"/>
              <a:t>. These innovations include: </a:t>
            </a:r>
            <a:r>
              <a:rPr b="1" i="1" lang="en-CA" sz="2000"/>
              <a:t>a novel tree learning algorithm </a:t>
            </a:r>
            <a:r>
              <a:rPr i="1" lang="en-CA" sz="2000"/>
              <a:t>is for handling </a:t>
            </a:r>
            <a:r>
              <a:rPr b="1" i="1" lang="en-CA" sz="2000"/>
              <a:t>sparse data</a:t>
            </a:r>
            <a:r>
              <a:rPr i="1" lang="en-CA" sz="2000"/>
              <a:t>; a theoretically justified </a:t>
            </a:r>
            <a:r>
              <a:rPr b="1" i="1" lang="en-CA" sz="2000"/>
              <a:t>weighted quantile sketch procedure </a:t>
            </a:r>
            <a:r>
              <a:rPr i="1" lang="en-CA" sz="2000"/>
              <a:t>enables handling instance weights in approximate tree learning. </a:t>
            </a:r>
            <a:r>
              <a:rPr b="1" i="1" lang="en-CA" sz="2000"/>
              <a:t>Parallel and distributed computing </a:t>
            </a:r>
            <a:r>
              <a:rPr i="1" lang="en-CA" sz="2000"/>
              <a:t>makes learning faster which enables quicker model exploration</a:t>
            </a:r>
            <a:r>
              <a:rPr lang="en-CA" sz="2000"/>
              <a:t>”. </a:t>
            </a:r>
            <a:endParaRPr/>
          </a:p>
          <a:p>
            <a:pPr indent="-228600" lvl="0" marL="228600" rtl="0" algn="l">
              <a:lnSpc>
                <a:spcPct val="90000"/>
              </a:lnSpc>
              <a:spcBef>
                <a:spcPts val="1000"/>
              </a:spcBef>
              <a:spcAft>
                <a:spcPts val="0"/>
              </a:spcAft>
              <a:buClr>
                <a:schemeClr val="dk1"/>
              </a:buClr>
              <a:buSzPts val="2000"/>
              <a:buChar char="•"/>
            </a:pPr>
            <a:r>
              <a:rPr i="1" lang="en-CA" sz="2000"/>
              <a:t>“More importantly, XGBoost exploits </a:t>
            </a:r>
            <a:r>
              <a:rPr b="1" i="1" lang="en-CA" sz="2000"/>
              <a:t>out-of-core computation </a:t>
            </a:r>
            <a:r>
              <a:rPr i="1" lang="en-CA" sz="2000"/>
              <a:t>and enables data scientists to process hundred millions of examples on a desktop”</a:t>
            </a:r>
            <a:r>
              <a:rPr lang="en-CA" sz="2000"/>
              <a:t>. </a:t>
            </a:r>
            <a:endParaRPr/>
          </a:p>
          <a:p>
            <a:pPr indent="-228600" lvl="0" marL="228600" rtl="0" algn="l">
              <a:lnSpc>
                <a:spcPct val="90000"/>
              </a:lnSpc>
              <a:spcBef>
                <a:spcPts val="1000"/>
              </a:spcBef>
              <a:spcAft>
                <a:spcPts val="0"/>
              </a:spcAft>
              <a:buClr>
                <a:schemeClr val="dk1"/>
              </a:buClr>
              <a:buSzPts val="2000"/>
              <a:buChar char="•"/>
            </a:pPr>
            <a:r>
              <a:rPr lang="en-CA" sz="2000"/>
              <a:t>“</a:t>
            </a:r>
            <a:r>
              <a:rPr i="1" lang="en-CA" sz="2000"/>
              <a:t>Finally, it is even more exciting to combine these techniques to make an end-to-end system that scales to even larger data with the least amount of cluster resources</a:t>
            </a:r>
            <a:r>
              <a:rPr lang="en-CA" sz="2000"/>
              <a:t>”.</a:t>
            </a:r>
            <a:endParaRPr sz="2000"/>
          </a:p>
        </p:txBody>
      </p:sp>
      <p:sp>
        <p:nvSpPr>
          <p:cNvPr id="817" name="Google Shape;817;p31"/>
          <p:cNvSpPr/>
          <p:nvPr/>
        </p:nvSpPr>
        <p:spPr>
          <a:xfrm>
            <a:off x="1610465" y="5979632"/>
            <a:ext cx="479733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2000" u="sng">
                <a:solidFill>
                  <a:schemeClr val="dk1"/>
                </a:solidFill>
                <a:latin typeface="Calibri"/>
                <a:ea typeface="Calibri"/>
                <a:cs typeface="Calibri"/>
                <a:sym typeface="Calibri"/>
                <a:hlinkClick r:id="rId4">
                  <a:extLst>
                    <a:ext uri="{A12FA001-AC4F-418D-AE19-62706E023703}">
                      <ahyp:hlinkClr val="tx"/>
                    </a:ext>
                  </a:extLst>
                </a:hlinkClick>
              </a:rPr>
              <a:t>Paper: https://arxiv.org/pdf/1603.02754.pdf</a:t>
            </a:r>
            <a:endParaRPr sz="20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Ahmed Ryan (FCA)</dc:creator>
</cp:coreProperties>
</file>