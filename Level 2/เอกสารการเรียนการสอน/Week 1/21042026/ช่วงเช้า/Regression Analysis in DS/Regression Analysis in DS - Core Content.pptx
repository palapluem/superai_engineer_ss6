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7315200" cy="9601200"/>
  <p:embeddedFontLst>
    <p:embeddedFont>
      <p:font typeface="Montserrat"/>
      <p:regular r:id="rId21"/>
      <p:bold r:id="rId22"/>
      <p:italic r:id="rId23"/>
      <p:boldItalic r:id="rId24"/>
    </p:embeddedFont>
    <p:embeddedFont>
      <p:font typeface="Urbanist Medium"/>
      <p:regular r:id="rId25"/>
      <p:bold r:id="rId26"/>
      <p:italic r:id="rId27"/>
      <p:boldItalic r:id="rId28"/>
    </p:embeddedFont>
    <p:embeddedFont>
      <p:font typeface="Urbanis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3" roundtripDataSignature="AMtx7mhG02lmiTct2o8UmfiobaG0ZeB1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Medium-bold.fntdata"/><Relationship Id="rId25" Type="http://schemas.openxmlformats.org/officeDocument/2006/relationships/font" Target="fonts/UrbanistMedium-regular.fntdata"/><Relationship Id="rId28" Type="http://schemas.openxmlformats.org/officeDocument/2006/relationships/font" Target="fonts/UrbanistMedium-boldItalic.fntdata"/><Relationship Id="rId27" Type="http://schemas.openxmlformats.org/officeDocument/2006/relationships/font" Target="fonts/Urbanist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italic.fntdata"/><Relationship Id="rId30" Type="http://schemas.openxmlformats.org/officeDocument/2006/relationships/font" Target="fonts/Urbanis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Urbanis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1727"/>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1727"/>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CA"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81dae4034_0_0:notes"/>
          <p:cNvSpPr/>
          <p:nvPr>
            <p:ph idx="2" type="sldImg"/>
          </p:nvPr>
        </p:nvSpPr>
        <p:spPr>
          <a:xfrm>
            <a:off x="406720" y="720090"/>
            <a:ext cx="65025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81dae4034_0_0: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1" name="Google Shape;221;p11: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8" name="Google Shape;258;p1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5" name="Shape 15"/>
        <p:cNvGrpSpPr/>
        <p:nvPr/>
      </p:nvGrpSpPr>
      <p:grpSpPr>
        <a:xfrm>
          <a:off x="0" y="0"/>
          <a:ext cx="0" cy="0"/>
          <a:chOff x="0" y="0"/>
          <a:chExt cx="0" cy="0"/>
        </a:xfrm>
      </p:grpSpPr>
      <p:sp>
        <p:nvSpPr>
          <p:cNvPr id="16" name="Google Shape;1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21" name="Shape 21"/>
        <p:cNvGrpSpPr/>
        <p:nvPr/>
      </p:nvGrpSpPr>
      <p:grpSpPr>
        <a:xfrm>
          <a:off x="0" y="0"/>
          <a:ext cx="0" cy="0"/>
          <a:chOff x="0" y="0"/>
          <a:chExt cx="0" cy="0"/>
        </a:xfrm>
      </p:grpSpPr>
      <p:sp>
        <p:nvSpPr>
          <p:cNvPr id="22" name="Google Shape;2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25" name="Shape 25"/>
        <p:cNvGrpSpPr/>
        <p:nvPr/>
      </p:nvGrpSpPr>
      <p:grpSpPr>
        <a:xfrm>
          <a:off x="0" y="0"/>
          <a:ext cx="0" cy="0"/>
          <a:chOff x="0" y="0"/>
          <a:chExt cx="0" cy="0"/>
        </a:xfrm>
      </p:grpSpPr>
      <p:sp>
        <p:nvSpPr>
          <p:cNvPr id="26" name="Google Shape;2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5183188" y="987425"/>
            <a:ext cx="6172200" cy="4873625"/>
          </a:xfrm>
          <a:prstGeom prst="rect">
            <a:avLst/>
          </a:prstGeom>
          <a:noFill/>
          <a:ln>
            <a:noFill/>
          </a:ln>
        </p:spPr>
      </p:sp>
      <p:sp>
        <p:nvSpPr>
          <p:cNvPr id="68" name="Google Shape;68;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84" name="Shape 84"/>
        <p:cNvGrpSpPr/>
        <p:nvPr/>
      </p:nvGrpSpPr>
      <p:grpSpPr>
        <a:xfrm>
          <a:off x="0" y="0"/>
          <a:ext cx="0" cy="0"/>
          <a:chOff x="0" y="0"/>
          <a:chExt cx="0" cy="0"/>
        </a:xfrm>
      </p:grpSpPr>
      <p:pic>
        <p:nvPicPr>
          <p:cNvPr id="85" name="Google Shape;85;g3d81dae4034_0_130"/>
          <p:cNvPicPr preferRelativeResize="0"/>
          <p:nvPr/>
        </p:nvPicPr>
        <p:blipFill rotWithShape="1">
          <a:blip r:embed="rId2">
            <a:alphaModFix amt="50000"/>
          </a:blip>
          <a:srcRect b="8145" l="3134" r="7835" t="16786"/>
          <a:stretch/>
        </p:blipFill>
        <p:spPr>
          <a:xfrm flipH="1" rot="10800000">
            <a:off x="0" y="-4632"/>
            <a:ext cx="12215400" cy="6872665"/>
          </a:xfrm>
          <a:prstGeom prst="rect">
            <a:avLst/>
          </a:prstGeom>
          <a:noFill/>
          <a:ln>
            <a:noFill/>
          </a:ln>
        </p:spPr>
      </p:pic>
      <p:sp>
        <p:nvSpPr>
          <p:cNvPr id="86" name="Google Shape;86;g3d81dae4034_0_130"/>
          <p:cNvSpPr/>
          <p:nvPr/>
        </p:nvSpPr>
        <p:spPr>
          <a:xfrm flipH="1" rot="10800000">
            <a:off x="0" y="6235500"/>
            <a:ext cx="12199500" cy="6225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87" name="Google Shape;87;g3d81dae4034_0_130"/>
          <p:cNvSpPr txBox="1"/>
          <p:nvPr>
            <p:ph idx="1" type="subTitle"/>
          </p:nvPr>
        </p:nvSpPr>
        <p:spPr>
          <a:xfrm>
            <a:off x="304800" y="2318600"/>
            <a:ext cx="5870400" cy="336000"/>
          </a:xfrm>
          <a:prstGeom prst="rect">
            <a:avLst/>
          </a:prstGeom>
        </p:spPr>
        <p:txBody>
          <a:bodyPr anchorCtr="0" anchor="t" bIns="0" lIns="0" spcFirstLastPara="1" rIns="0" wrap="square" tIns="0">
            <a:normAutofit/>
          </a:bodyPr>
          <a:lstStyle>
            <a:lvl1pPr lvl="0">
              <a:spcBef>
                <a:spcPts val="1000"/>
              </a:spcBef>
              <a:spcAft>
                <a:spcPts val="0"/>
              </a:spcAft>
              <a:buClr>
                <a:schemeClr val="dk2"/>
              </a:buClr>
              <a:buSzPts val="2800"/>
              <a:buFont typeface="Urbanist"/>
              <a:buNone/>
              <a:defRPr>
                <a:solidFill>
                  <a:schemeClr val="dk2"/>
                </a:solidFill>
              </a:defRPr>
            </a:lvl1pPr>
            <a:lvl2pPr lvl="1">
              <a:spcBef>
                <a:spcPts val="500"/>
              </a:spcBef>
              <a:spcAft>
                <a:spcPts val="0"/>
              </a:spcAft>
              <a:buClr>
                <a:schemeClr val="dk2"/>
              </a:buClr>
              <a:buSzPts val="2400"/>
              <a:buFont typeface="Urbanist"/>
              <a:buNone/>
              <a:defRPr>
                <a:solidFill>
                  <a:schemeClr val="dk2"/>
                </a:solidFill>
                <a:latin typeface="Urbanist"/>
                <a:ea typeface="Urbanist"/>
                <a:cs typeface="Urbanist"/>
                <a:sym typeface="Urbanist"/>
              </a:defRPr>
            </a:lvl2pPr>
            <a:lvl3pPr lvl="2">
              <a:spcBef>
                <a:spcPts val="500"/>
              </a:spcBef>
              <a:spcAft>
                <a:spcPts val="0"/>
              </a:spcAft>
              <a:buClr>
                <a:schemeClr val="dk2"/>
              </a:buClr>
              <a:buSzPts val="2000"/>
              <a:buFont typeface="Urbanist"/>
              <a:buNone/>
              <a:defRPr>
                <a:solidFill>
                  <a:schemeClr val="dk2"/>
                </a:solidFill>
                <a:latin typeface="Urbanist"/>
                <a:ea typeface="Urbanist"/>
                <a:cs typeface="Urbanist"/>
                <a:sym typeface="Urbanist"/>
              </a:defRPr>
            </a:lvl3pPr>
            <a:lvl4pPr lvl="3">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4pPr>
            <a:lvl5pPr lvl="4">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5pPr>
            <a:lvl6pPr lvl="5">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6pPr>
            <a:lvl7pPr lvl="6">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7pPr>
            <a:lvl8pPr lvl="7">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8pPr>
            <a:lvl9pPr lvl="8">
              <a:spcBef>
                <a:spcPts val="500"/>
              </a:spcBef>
              <a:spcAft>
                <a:spcPts val="0"/>
              </a:spcAft>
              <a:buClr>
                <a:schemeClr val="dk2"/>
              </a:buClr>
              <a:buSzPts val="1800"/>
              <a:buFont typeface="Urbanist"/>
              <a:buNone/>
              <a:defRPr>
                <a:solidFill>
                  <a:schemeClr val="dk2"/>
                </a:solidFill>
                <a:latin typeface="Urbanist"/>
                <a:ea typeface="Urbanist"/>
                <a:cs typeface="Urbanist"/>
                <a:sym typeface="Urbanist"/>
              </a:defRPr>
            </a:lvl9pPr>
          </a:lstStyle>
          <a:p/>
        </p:txBody>
      </p:sp>
      <p:sp>
        <p:nvSpPr>
          <p:cNvPr id="88" name="Google Shape;88;g3d81dae4034_0_130"/>
          <p:cNvSpPr txBox="1"/>
          <p:nvPr>
            <p:ph idx="2" type="subTitle"/>
          </p:nvPr>
        </p:nvSpPr>
        <p:spPr>
          <a:xfrm>
            <a:off x="427500" y="6234633"/>
            <a:ext cx="3600000" cy="315300"/>
          </a:xfrm>
          <a:prstGeom prst="rect">
            <a:avLst/>
          </a:prstGeom>
        </p:spPr>
        <p:txBody>
          <a:bodyPr anchorCtr="0" anchor="b" bIns="0" lIns="0" spcFirstLastPara="1" rIns="0" wrap="square" tIns="0">
            <a:normAutofit/>
          </a:bodyPr>
          <a:lstStyle>
            <a:lvl1pPr lvl="0">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89" name="Google Shape;89;g3d81dae4034_0_130"/>
          <p:cNvSpPr txBox="1"/>
          <p:nvPr>
            <p:ph idx="3" type="subTitle"/>
          </p:nvPr>
        </p:nvSpPr>
        <p:spPr>
          <a:xfrm>
            <a:off x="6288987" y="6234633"/>
            <a:ext cx="3059700" cy="315300"/>
          </a:xfrm>
          <a:prstGeom prst="rect">
            <a:avLst/>
          </a:prstGeom>
        </p:spPr>
        <p:txBody>
          <a:bodyPr anchorCtr="0" anchor="b" bIns="0" lIns="0" spcFirstLastPara="1" rIns="0" wrap="square" tIns="0">
            <a:normAutofit/>
          </a:bodyPr>
          <a:lstStyle>
            <a:lvl1pPr lvl="0">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90" name="Google Shape;90;g3d81dae4034_0_130"/>
          <p:cNvSpPr txBox="1"/>
          <p:nvPr>
            <p:ph idx="4" type="subTitle"/>
          </p:nvPr>
        </p:nvSpPr>
        <p:spPr>
          <a:xfrm>
            <a:off x="9145600" y="6244967"/>
            <a:ext cx="2742000" cy="304800"/>
          </a:xfrm>
          <a:prstGeom prst="rect">
            <a:avLst/>
          </a:prstGeom>
        </p:spPr>
        <p:txBody>
          <a:bodyPr anchorCtr="0" anchor="b" bIns="0" lIns="0" spcFirstLastPara="1" rIns="0" wrap="square" tIns="0">
            <a:normAutofit/>
          </a:bodyPr>
          <a:lstStyle>
            <a:lvl1pPr lvl="0" algn="r">
              <a:spcBef>
                <a:spcPts val="10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1pPr>
            <a:lvl2pPr lvl="1"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2pPr>
            <a:lvl3pPr lvl="2"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3pPr>
            <a:lvl4pPr lvl="3"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4pPr>
            <a:lvl5pPr lvl="4"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5pPr>
            <a:lvl6pPr lvl="5"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6pPr>
            <a:lvl7pPr lvl="6"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7pPr>
            <a:lvl8pPr lvl="7"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8pPr>
            <a:lvl9pPr lvl="8" algn="r">
              <a:spcBef>
                <a:spcPts val="500"/>
              </a:spcBef>
              <a:spcAft>
                <a:spcPts val="0"/>
              </a:spcAft>
              <a:buClr>
                <a:schemeClr val="dk2"/>
              </a:buClr>
              <a:buSzPts val="900"/>
              <a:buFont typeface="Urbanist Medium"/>
              <a:buNone/>
              <a:defRPr sz="900">
                <a:solidFill>
                  <a:schemeClr val="dk2"/>
                </a:solidFill>
                <a:latin typeface="Urbanist Medium"/>
                <a:ea typeface="Urbanist Medium"/>
                <a:cs typeface="Urbanist Medium"/>
                <a:sym typeface="Urbanist Medium"/>
              </a:defRPr>
            </a:lvl9pPr>
          </a:lstStyle>
          <a:p/>
        </p:txBody>
      </p:sp>
      <p:sp>
        <p:nvSpPr>
          <p:cNvPr id="91" name="Google Shape;91;g3d81dae4034_0_130"/>
          <p:cNvSpPr/>
          <p:nvPr/>
        </p:nvSpPr>
        <p:spPr>
          <a:xfrm>
            <a:off x="304800" y="6450000"/>
            <a:ext cx="65100" cy="65100"/>
          </a:xfrm>
          <a:prstGeom prst="ellipse">
            <a:avLst/>
          </a:prstGeom>
          <a:solidFill>
            <a:schemeClr val="lt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92" name="Google Shape;92;g3d81dae4034_0_130"/>
          <p:cNvSpPr/>
          <p:nvPr/>
        </p:nvSpPr>
        <p:spPr>
          <a:xfrm>
            <a:off x="6158600" y="6452000"/>
            <a:ext cx="61200" cy="61200"/>
          </a:xfrm>
          <a:prstGeom prst="rect">
            <a:avLst/>
          </a:prstGeom>
          <a:solidFill>
            <a:schemeClr val="lt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solidFill>
                <a:schemeClr val="dk1"/>
              </a:solidFill>
              <a:latin typeface="Urbanist"/>
              <a:ea typeface="Urbanist"/>
              <a:cs typeface="Urbanist"/>
              <a:sym typeface="Urbanist"/>
            </a:endParaRPr>
          </a:p>
        </p:txBody>
      </p:sp>
      <p:sp>
        <p:nvSpPr>
          <p:cNvPr id="93" name="Google Shape;93;g3d81dae4034_0_130"/>
          <p:cNvSpPr txBox="1"/>
          <p:nvPr>
            <p:ph type="title"/>
          </p:nvPr>
        </p:nvSpPr>
        <p:spPr>
          <a:xfrm>
            <a:off x="304800" y="304800"/>
            <a:ext cx="8878500" cy="1892100"/>
          </a:xfrm>
          <a:prstGeom prst="rect">
            <a:avLst/>
          </a:prstGeom>
        </p:spPr>
        <p:txBody>
          <a:bodyPr anchorCtr="0" anchor="ctr" bIns="0" lIns="0" spcFirstLastPara="1" rIns="0" wrap="square" tIns="0">
            <a:normAutofit/>
          </a:bodyPr>
          <a:lstStyle>
            <a:lvl1pPr lvl="0">
              <a:lnSpc>
                <a:spcPct val="85000"/>
              </a:lnSpc>
              <a:spcBef>
                <a:spcPts val="0"/>
              </a:spcBef>
              <a:spcAft>
                <a:spcPts val="0"/>
              </a:spcAft>
              <a:buNone/>
              <a:defRPr sz="6400">
                <a:solidFill>
                  <a:schemeClr val="dk2"/>
                </a:solidFill>
              </a:defRPr>
            </a:lvl1pPr>
            <a:lvl2pPr lvl="1">
              <a:lnSpc>
                <a:spcPct val="85000"/>
              </a:lnSpc>
              <a:spcBef>
                <a:spcPts val="0"/>
              </a:spcBef>
              <a:spcAft>
                <a:spcPts val="0"/>
              </a:spcAft>
              <a:buNone/>
              <a:defRPr sz="6400">
                <a:solidFill>
                  <a:schemeClr val="dk2"/>
                </a:solidFill>
              </a:defRPr>
            </a:lvl2pPr>
            <a:lvl3pPr lvl="2">
              <a:lnSpc>
                <a:spcPct val="85000"/>
              </a:lnSpc>
              <a:spcBef>
                <a:spcPts val="0"/>
              </a:spcBef>
              <a:spcAft>
                <a:spcPts val="0"/>
              </a:spcAft>
              <a:buNone/>
              <a:defRPr sz="6400">
                <a:solidFill>
                  <a:schemeClr val="dk2"/>
                </a:solidFill>
              </a:defRPr>
            </a:lvl3pPr>
            <a:lvl4pPr lvl="3">
              <a:lnSpc>
                <a:spcPct val="85000"/>
              </a:lnSpc>
              <a:spcBef>
                <a:spcPts val="0"/>
              </a:spcBef>
              <a:spcAft>
                <a:spcPts val="0"/>
              </a:spcAft>
              <a:buNone/>
              <a:defRPr sz="6400">
                <a:solidFill>
                  <a:schemeClr val="dk2"/>
                </a:solidFill>
              </a:defRPr>
            </a:lvl4pPr>
            <a:lvl5pPr lvl="4">
              <a:lnSpc>
                <a:spcPct val="85000"/>
              </a:lnSpc>
              <a:spcBef>
                <a:spcPts val="0"/>
              </a:spcBef>
              <a:spcAft>
                <a:spcPts val="0"/>
              </a:spcAft>
              <a:buNone/>
              <a:defRPr sz="6400">
                <a:solidFill>
                  <a:schemeClr val="dk2"/>
                </a:solidFill>
              </a:defRPr>
            </a:lvl5pPr>
            <a:lvl6pPr lvl="5">
              <a:lnSpc>
                <a:spcPct val="85000"/>
              </a:lnSpc>
              <a:spcBef>
                <a:spcPts val="0"/>
              </a:spcBef>
              <a:spcAft>
                <a:spcPts val="0"/>
              </a:spcAft>
              <a:buNone/>
              <a:defRPr sz="6400">
                <a:solidFill>
                  <a:schemeClr val="dk2"/>
                </a:solidFill>
              </a:defRPr>
            </a:lvl6pPr>
            <a:lvl7pPr lvl="6">
              <a:lnSpc>
                <a:spcPct val="85000"/>
              </a:lnSpc>
              <a:spcBef>
                <a:spcPts val="0"/>
              </a:spcBef>
              <a:spcAft>
                <a:spcPts val="0"/>
              </a:spcAft>
              <a:buNone/>
              <a:defRPr sz="6400">
                <a:solidFill>
                  <a:schemeClr val="dk2"/>
                </a:solidFill>
              </a:defRPr>
            </a:lvl7pPr>
            <a:lvl8pPr lvl="7">
              <a:lnSpc>
                <a:spcPct val="85000"/>
              </a:lnSpc>
              <a:spcBef>
                <a:spcPts val="0"/>
              </a:spcBef>
              <a:spcAft>
                <a:spcPts val="0"/>
              </a:spcAft>
              <a:buNone/>
              <a:defRPr sz="6400">
                <a:solidFill>
                  <a:schemeClr val="dk2"/>
                </a:solidFill>
              </a:defRPr>
            </a:lvl8pPr>
            <a:lvl9pPr lvl="8">
              <a:lnSpc>
                <a:spcPct val="85000"/>
              </a:lnSpc>
              <a:spcBef>
                <a:spcPts val="0"/>
              </a:spcBef>
              <a:spcAft>
                <a:spcPts val="0"/>
              </a:spcAft>
              <a:buNone/>
              <a:defRPr sz="6400">
                <a:solidFill>
                  <a:schemeClr val="dk2"/>
                </a:solidFill>
              </a:defRPr>
            </a:lvl9pPr>
          </a:lstStyle>
          <a:p/>
        </p:txBody>
      </p:sp>
      <p:cxnSp>
        <p:nvCxnSpPr>
          <p:cNvPr id="94" name="Google Shape;94;g3d81dae4034_0_130"/>
          <p:cNvCxnSpPr/>
          <p:nvPr/>
        </p:nvCxnSpPr>
        <p:spPr>
          <a:xfrm>
            <a:off x="318400" y="6244400"/>
            <a:ext cx="11569200" cy="0"/>
          </a:xfrm>
          <a:prstGeom prst="straightConnector1">
            <a:avLst/>
          </a:prstGeom>
          <a:noFill/>
          <a:ln cap="flat" cmpd="sng" w="9525">
            <a:solidFill>
              <a:schemeClr val="accent1"/>
            </a:solidFill>
            <a:prstDash val="solid"/>
            <a:round/>
            <a:headEnd len="med" w="med" type="none"/>
            <a:tailEnd len="med" w="med" type="none"/>
          </a:ln>
        </p:spPr>
      </p:cxnSp>
      <p:sp>
        <p:nvSpPr>
          <p:cNvPr id="95" name="Google Shape;95;g3d81dae4034_0_130"/>
          <p:cNvSpPr txBox="1"/>
          <p:nvPr>
            <p:ph idx="5" type="subTitle"/>
          </p:nvPr>
        </p:nvSpPr>
        <p:spPr>
          <a:xfrm>
            <a:off x="396100" y="5567867"/>
            <a:ext cx="1686300" cy="304800"/>
          </a:xfrm>
          <a:prstGeom prst="rect">
            <a:avLst/>
          </a:prstGeom>
        </p:spPr>
        <p:txBody>
          <a:bodyPr anchorCtr="0" anchor="t" bIns="0" lIns="0" spcFirstLastPara="1" rIns="0" wrap="square" tIns="0">
            <a:normAutofit/>
          </a:bodyPr>
          <a:lstStyle>
            <a:lvl1pPr lvl="0" algn="ctr">
              <a:spcBef>
                <a:spcPts val="1000"/>
              </a:spcBef>
              <a:spcAft>
                <a:spcPts val="0"/>
              </a:spcAft>
              <a:buClr>
                <a:schemeClr val="lt1"/>
              </a:buClr>
              <a:buSzPts val="1600"/>
              <a:buFont typeface="Urbanist"/>
              <a:buNone/>
              <a:defRPr sz="1600"/>
            </a:lvl1pPr>
            <a:lvl2pPr lvl="1"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2pPr>
            <a:lvl3pPr lvl="2"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3pPr>
            <a:lvl4pPr lvl="3"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4pPr>
            <a:lvl5pPr lvl="4"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5pPr>
            <a:lvl6pPr lvl="5"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6pPr>
            <a:lvl7pPr lvl="6"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7pPr>
            <a:lvl8pPr lvl="7"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8pPr>
            <a:lvl9pPr lvl="8"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9pPr>
          </a:lstStyle>
          <a:p/>
        </p:txBody>
      </p:sp>
      <p:sp>
        <p:nvSpPr>
          <p:cNvPr id="96" name="Google Shape;96;g3d81dae4034_0_130"/>
          <p:cNvSpPr txBox="1"/>
          <p:nvPr>
            <p:ph idx="6" type="subTitle"/>
          </p:nvPr>
        </p:nvSpPr>
        <p:spPr>
          <a:xfrm>
            <a:off x="2381833" y="5567867"/>
            <a:ext cx="1686300" cy="304800"/>
          </a:xfrm>
          <a:prstGeom prst="rect">
            <a:avLst/>
          </a:prstGeom>
        </p:spPr>
        <p:txBody>
          <a:bodyPr anchorCtr="0" anchor="t" bIns="0" lIns="0" spcFirstLastPara="1" rIns="0" wrap="square" tIns="0">
            <a:normAutofit/>
          </a:bodyPr>
          <a:lstStyle>
            <a:lvl1pPr lvl="0" algn="ctr">
              <a:spcBef>
                <a:spcPts val="1000"/>
              </a:spcBef>
              <a:spcAft>
                <a:spcPts val="0"/>
              </a:spcAft>
              <a:buClr>
                <a:schemeClr val="lt1"/>
              </a:buClr>
              <a:buSzPts val="1600"/>
              <a:buFont typeface="Urbanist"/>
              <a:buNone/>
              <a:defRPr sz="1600"/>
            </a:lvl1pPr>
            <a:lvl2pPr lvl="1"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2pPr>
            <a:lvl3pPr lvl="2"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3pPr>
            <a:lvl4pPr lvl="3"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4pPr>
            <a:lvl5pPr lvl="4"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5pPr>
            <a:lvl6pPr lvl="5"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6pPr>
            <a:lvl7pPr lvl="6"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7pPr>
            <a:lvl8pPr lvl="7"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8pPr>
            <a:lvl9pPr lvl="8" algn="ctr">
              <a:spcBef>
                <a:spcPts val="500"/>
              </a:spcBef>
              <a:spcAft>
                <a:spcPts val="0"/>
              </a:spcAft>
              <a:buClr>
                <a:schemeClr val="lt1"/>
              </a:buClr>
              <a:buSzPts val="1600"/>
              <a:buFont typeface="Urbanist"/>
              <a:buNone/>
              <a:defRPr sz="1600">
                <a:solidFill>
                  <a:schemeClr val="lt1"/>
                </a:solidFill>
                <a:latin typeface="Urbanist"/>
                <a:ea typeface="Urbanist"/>
                <a:cs typeface="Urbanist"/>
                <a:sym typeface="Urbanist"/>
              </a:defRPr>
            </a:lvl9pPr>
          </a:lstStyle>
          <a:p/>
        </p:txBody>
      </p:sp>
      <p:sp>
        <p:nvSpPr>
          <p:cNvPr id="97" name="Google Shape;97;g3d81dae4034_0_130"/>
          <p:cNvSpPr txBox="1"/>
          <p:nvPr>
            <p:ph idx="7" type="subTitle"/>
          </p:nvPr>
        </p:nvSpPr>
        <p:spPr>
          <a:xfrm>
            <a:off x="304789" y="4605967"/>
            <a:ext cx="6212700" cy="336000"/>
          </a:xfrm>
          <a:prstGeom prst="rect">
            <a:avLst/>
          </a:prstGeom>
        </p:spPr>
        <p:txBody>
          <a:bodyPr anchorCtr="0" anchor="t" bIns="121900" lIns="0" spcFirstLastPara="1" rIns="121900" wrap="square" tIns="0">
            <a:normAutofit/>
          </a:bodyPr>
          <a:lstStyle>
            <a:lvl1pPr lvl="0">
              <a:spcBef>
                <a:spcPts val="1000"/>
              </a:spcBef>
              <a:spcAft>
                <a:spcPts val="0"/>
              </a:spcAft>
              <a:buClr>
                <a:schemeClr val="lt1"/>
              </a:buClr>
              <a:buSzPts val="1600"/>
              <a:buFont typeface="Urbanist"/>
              <a:buNone/>
              <a:defRPr b="1" sz="1600"/>
            </a:lvl1pPr>
            <a:lvl2pPr lvl="1">
              <a:spcBef>
                <a:spcPts val="500"/>
              </a:spcBef>
              <a:spcAft>
                <a:spcPts val="0"/>
              </a:spcAft>
              <a:buClr>
                <a:schemeClr val="lt1"/>
              </a:buClr>
              <a:buSzPts val="2400"/>
              <a:buFont typeface="Urbanist"/>
              <a:buNone/>
              <a:defRPr b="1">
                <a:solidFill>
                  <a:schemeClr val="lt1"/>
                </a:solidFill>
                <a:latin typeface="Urbanist"/>
                <a:ea typeface="Urbanist"/>
                <a:cs typeface="Urbanist"/>
                <a:sym typeface="Urbanist"/>
              </a:defRPr>
            </a:lvl2pPr>
            <a:lvl3pPr lvl="2">
              <a:spcBef>
                <a:spcPts val="500"/>
              </a:spcBef>
              <a:spcAft>
                <a:spcPts val="0"/>
              </a:spcAft>
              <a:buClr>
                <a:schemeClr val="lt1"/>
              </a:buClr>
              <a:buSzPts val="2000"/>
              <a:buFont typeface="Urbanist"/>
              <a:buNone/>
              <a:defRPr b="1">
                <a:solidFill>
                  <a:schemeClr val="lt1"/>
                </a:solidFill>
                <a:latin typeface="Urbanist"/>
                <a:ea typeface="Urbanist"/>
                <a:cs typeface="Urbanist"/>
                <a:sym typeface="Urbanist"/>
              </a:defRPr>
            </a:lvl3pPr>
            <a:lvl4pPr lvl="3">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4pPr>
            <a:lvl5pPr lvl="4">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5pPr>
            <a:lvl6pPr lvl="5">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6pPr>
            <a:lvl7pPr lvl="6">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7pPr>
            <a:lvl8pPr lvl="7">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8pPr>
            <a:lvl9pPr lvl="8">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9pPr>
          </a:lstStyle>
          <a:p/>
        </p:txBody>
      </p:sp>
      <p:sp>
        <p:nvSpPr>
          <p:cNvPr id="98" name="Google Shape;98;g3d81dae4034_0_130"/>
          <p:cNvSpPr txBox="1"/>
          <p:nvPr>
            <p:ph idx="8" type="subTitle"/>
          </p:nvPr>
        </p:nvSpPr>
        <p:spPr>
          <a:xfrm>
            <a:off x="304789" y="4990733"/>
            <a:ext cx="6212700" cy="336000"/>
          </a:xfrm>
          <a:prstGeom prst="rect">
            <a:avLst/>
          </a:prstGeom>
        </p:spPr>
        <p:txBody>
          <a:bodyPr anchorCtr="0" anchor="t" bIns="121900" lIns="0" spcFirstLastPara="1" rIns="121900" wrap="square" tIns="0">
            <a:normAutofit/>
          </a:bodyPr>
          <a:lstStyle>
            <a:lvl1pPr lvl="0">
              <a:spcBef>
                <a:spcPts val="1000"/>
              </a:spcBef>
              <a:spcAft>
                <a:spcPts val="0"/>
              </a:spcAft>
              <a:buClr>
                <a:schemeClr val="lt1"/>
              </a:buClr>
              <a:buSzPts val="1600"/>
              <a:buFont typeface="Urbanist"/>
              <a:buNone/>
              <a:defRPr b="1" sz="1600"/>
            </a:lvl1pPr>
            <a:lvl2pPr lvl="1">
              <a:spcBef>
                <a:spcPts val="500"/>
              </a:spcBef>
              <a:spcAft>
                <a:spcPts val="0"/>
              </a:spcAft>
              <a:buClr>
                <a:schemeClr val="lt1"/>
              </a:buClr>
              <a:buSzPts val="2400"/>
              <a:buFont typeface="Urbanist"/>
              <a:buNone/>
              <a:defRPr b="1">
                <a:solidFill>
                  <a:schemeClr val="lt1"/>
                </a:solidFill>
                <a:latin typeface="Urbanist"/>
                <a:ea typeface="Urbanist"/>
                <a:cs typeface="Urbanist"/>
                <a:sym typeface="Urbanist"/>
              </a:defRPr>
            </a:lvl2pPr>
            <a:lvl3pPr lvl="2">
              <a:spcBef>
                <a:spcPts val="500"/>
              </a:spcBef>
              <a:spcAft>
                <a:spcPts val="0"/>
              </a:spcAft>
              <a:buClr>
                <a:schemeClr val="lt1"/>
              </a:buClr>
              <a:buSzPts val="2000"/>
              <a:buFont typeface="Urbanist"/>
              <a:buNone/>
              <a:defRPr b="1">
                <a:solidFill>
                  <a:schemeClr val="lt1"/>
                </a:solidFill>
                <a:latin typeface="Urbanist"/>
                <a:ea typeface="Urbanist"/>
                <a:cs typeface="Urbanist"/>
                <a:sym typeface="Urbanist"/>
              </a:defRPr>
            </a:lvl3pPr>
            <a:lvl4pPr lvl="3">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4pPr>
            <a:lvl5pPr lvl="4">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5pPr>
            <a:lvl6pPr lvl="5">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6pPr>
            <a:lvl7pPr lvl="6">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7pPr>
            <a:lvl8pPr lvl="7">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8pPr>
            <a:lvl9pPr lvl="8">
              <a:spcBef>
                <a:spcPts val="500"/>
              </a:spcBef>
              <a:spcAft>
                <a:spcPts val="0"/>
              </a:spcAft>
              <a:buClr>
                <a:schemeClr val="lt1"/>
              </a:buClr>
              <a:buSzPts val="18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3740">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hyperlink" Target="https://www.kaggle.com/mohansacharya/graduate-admissions" TargetMode="External"/><Relationship Id="rId6" Type="http://schemas.openxmlformats.org/officeDocument/2006/relationships/hyperlink" Target="https://www.pexels.com/photo/accomplishment-ceremony-education-graduation-26788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d81dae4034_0_0"/>
          <p:cNvSpPr/>
          <p:nvPr/>
        </p:nvSpPr>
        <p:spPr>
          <a:xfrm>
            <a:off x="304800" y="5484500"/>
            <a:ext cx="1865700" cy="451500"/>
          </a:xfrm>
          <a:prstGeom prst="roundRect">
            <a:avLst>
              <a:gd fmla="val 16667" name="adj"/>
            </a:avLst>
          </a:prstGeom>
          <a:solidFill>
            <a:schemeClr val="lt2"/>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300">
              <a:solidFill>
                <a:schemeClr val="lt1"/>
              </a:solidFill>
              <a:latin typeface="Urbanist"/>
              <a:ea typeface="Urbanist"/>
              <a:cs typeface="Urbanist"/>
              <a:sym typeface="Urbanist"/>
            </a:endParaRPr>
          </a:p>
        </p:txBody>
      </p:sp>
      <p:sp>
        <p:nvSpPr>
          <p:cNvPr id="104" name="Google Shape;104;g3d81dae4034_0_0"/>
          <p:cNvSpPr/>
          <p:nvPr/>
        </p:nvSpPr>
        <p:spPr>
          <a:xfrm>
            <a:off x="2292233" y="5484500"/>
            <a:ext cx="1865700" cy="451500"/>
          </a:xfrm>
          <a:prstGeom prst="roundRect">
            <a:avLst>
              <a:gd fmla="val 16667" name="adj"/>
            </a:avLst>
          </a:prstGeom>
          <a:solidFill>
            <a:schemeClr val="lt2"/>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300">
              <a:solidFill>
                <a:schemeClr val="lt1"/>
              </a:solidFill>
              <a:latin typeface="Urbanist"/>
              <a:ea typeface="Urbanist"/>
              <a:cs typeface="Urbanist"/>
              <a:sym typeface="Urbanist"/>
            </a:endParaRPr>
          </a:p>
        </p:txBody>
      </p:sp>
      <p:grpSp>
        <p:nvGrpSpPr>
          <p:cNvPr id="105" name="Google Shape;105;g3d81dae4034_0_0"/>
          <p:cNvGrpSpPr/>
          <p:nvPr/>
        </p:nvGrpSpPr>
        <p:grpSpPr>
          <a:xfrm>
            <a:off x="304789" y="4169800"/>
            <a:ext cx="310792" cy="310792"/>
            <a:chOff x="259788" y="1923155"/>
            <a:chExt cx="409800" cy="409800"/>
          </a:xfrm>
        </p:grpSpPr>
        <p:sp>
          <p:nvSpPr>
            <p:cNvPr id="106" name="Google Shape;106;g3d81dae4034_0_0"/>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latin typeface="Urbanist"/>
                <a:ea typeface="Urbanist"/>
                <a:cs typeface="Urbanist"/>
                <a:sym typeface="Urbanist"/>
              </a:endParaRPr>
            </a:p>
          </p:txBody>
        </p:sp>
        <p:grpSp>
          <p:nvGrpSpPr>
            <p:cNvPr id="107" name="Google Shape;107;g3d81dae4034_0_0"/>
            <p:cNvGrpSpPr/>
            <p:nvPr/>
          </p:nvGrpSpPr>
          <p:grpSpPr>
            <a:xfrm>
              <a:off x="362088" y="2093825"/>
              <a:ext cx="205200" cy="102600"/>
              <a:chOff x="498725" y="2069800"/>
              <a:chExt cx="205200" cy="102600"/>
            </a:xfrm>
          </p:grpSpPr>
          <p:cxnSp>
            <p:nvCxnSpPr>
              <p:cNvPr id="108" name="Google Shape;108;g3d81dae4034_0_0"/>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109" name="Google Shape;109;g3d81dae4034_0_0"/>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110" name="Google Shape;110;g3d81dae4034_0_0"/>
          <p:cNvSpPr txBox="1"/>
          <p:nvPr>
            <p:ph type="title"/>
          </p:nvPr>
        </p:nvSpPr>
        <p:spPr>
          <a:xfrm>
            <a:off x="304800" y="304800"/>
            <a:ext cx="8878500" cy="1892100"/>
          </a:xfrm>
          <a:prstGeom prst="rect">
            <a:avLst/>
          </a:prstGeom>
        </p:spPr>
        <p:txBody>
          <a:bodyPr anchorCtr="0" anchor="ctr" bIns="0" lIns="0" spcFirstLastPara="1" rIns="0" wrap="square" tIns="0">
            <a:normAutofit/>
          </a:bodyPr>
          <a:lstStyle/>
          <a:p>
            <a:pPr indent="0" lvl="0" marL="0" rtl="0" algn="l">
              <a:spcBef>
                <a:spcPts val="0"/>
              </a:spcBef>
              <a:spcAft>
                <a:spcPts val="0"/>
              </a:spcAft>
              <a:buClr>
                <a:schemeClr val="dk1"/>
              </a:buClr>
              <a:buSzPts val="1500"/>
              <a:buNone/>
            </a:pPr>
            <a:r>
              <a:rPr lang="en-CA">
                <a:solidFill>
                  <a:schemeClr val="lt1"/>
                </a:solidFill>
              </a:rPr>
              <a:t>Machine Learning 1</a:t>
            </a:r>
            <a:endParaRPr>
              <a:solidFill>
                <a:schemeClr val="lt1"/>
              </a:solidFill>
            </a:endParaRPr>
          </a:p>
        </p:txBody>
      </p:sp>
      <p:sp>
        <p:nvSpPr>
          <p:cNvPr id="111" name="Google Shape;111;g3d81dae4034_0_0"/>
          <p:cNvSpPr txBox="1"/>
          <p:nvPr>
            <p:ph idx="1" type="subTitle"/>
          </p:nvPr>
        </p:nvSpPr>
        <p:spPr>
          <a:xfrm>
            <a:off x="304800" y="2318600"/>
            <a:ext cx="5870400" cy="336000"/>
          </a:xfrm>
          <a:prstGeom prst="rect">
            <a:avLst/>
          </a:prstGeom>
          <a:effectLst>
            <a:outerShdw blurRad="76200" rotWithShape="0" algn="bl" dir="5400000" dist="25400">
              <a:srgbClr val="000000">
                <a:alpha val="50000"/>
              </a:srgbClr>
            </a:outerShdw>
          </a:effectLst>
        </p:spPr>
        <p:txBody>
          <a:bodyPr anchorCtr="0" anchor="t" bIns="0" lIns="0" spcFirstLastPara="1" rIns="0" wrap="square" tIns="0">
            <a:normAutofit lnSpcReduction="10000"/>
          </a:bodyPr>
          <a:lstStyle/>
          <a:p>
            <a:pPr indent="0" lvl="0" marL="0" rtl="0" algn="l">
              <a:lnSpc>
                <a:spcPct val="85000"/>
              </a:lnSpc>
              <a:spcBef>
                <a:spcPts val="1000"/>
              </a:spcBef>
              <a:spcAft>
                <a:spcPts val="0"/>
              </a:spcAft>
              <a:buNone/>
            </a:pPr>
            <a:r>
              <a:rPr lang="en-CA">
                <a:solidFill>
                  <a:schemeClr val="lt1"/>
                </a:solidFill>
                <a:latin typeface="Urbanist Medium"/>
                <a:ea typeface="Urbanist Medium"/>
                <a:cs typeface="Urbanist Medium"/>
                <a:sym typeface="Urbanist Medium"/>
              </a:rPr>
              <a:t>Super AI Engineer Season 6</a:t>
            </a:r>
            <a:endParaRPr>
              <a:solidFill>
                <a:schemeClr val="lt1"/>
              </a:solidFill>
              <a:latin typeface="Urbanist Medium"/>
              <a:ea typeface="Urbanist Medium"/>
              <a:cs typeface="Urbanist Medium"/>
              <a:sym typeface="Urbanist Medium"/>
            </a:endParaRPr>
          </a:p>
        </p:txBody>
      </p:sp>
      <p:sp>
        <p:nvSpPr>
          <p:cNvPr id="112" name="Google Shape;112;g3d81dae4034_0_0"/>
          <p:cNvSpPr txBox="1"/>
          <p:nvPr>
            <p:ph idx="2" type="subTitle"/>
          </p:nvPr>
        </p:nvSpPr>
        <p:spPr>
          <a:xfrm>
            <a:off x="427500" y="6234633"/>
            <a:ext cx="3600000" cy="315300"/>
          </a:xfrm>
          <a:prstGeom prst="rect">
            <a:avLst/>
          </a:prstGeom>
        </p:spPr>
        <p:txBody>
          <a:bodyPr anchorCtr="0" anchor="b" bIns="0" lIns="0" spcFirstLastPara="1" rIns="0" wrap="square" tIns="0">
            <a:normAutofit/>
          </a:bodyPr>
          <a:lstStyle/>
          <a:p>
            <a:pPr indent="0" lvl="0" marL="0" rtl="0" algn="l">
              <a:spcBef>
                <a:spcPts val="1000"/>
              </a:spcBef>
              <a:spcAft>
                <a:spcPts val="0"/>
              </a:spcAft>
              <a:buClr>
                <a:schemeClr val="dk1"/>
              </a:buClr>
              <a:buSzPts val="1500"/>
              <a:buFont typeface="Arial"/>
              <a:buNone/>
            </a:pPr>
            <a:r>
              <a:rPr lang="en-CA"/>
              <a:t>AIAT</a:t>
            </a:r>
            <a:endParaRPr/>
          </a:p>
        </p:txBody>
      </p:sp>
      <p:sp>
        <p:nvSpPr>
          <p:cNvPr id="113" name="Google Shape;113;g3d81dae4034_0_0"/>
          <p:cNvSpPr txBox="1"/>
          <p:nvPr>
            <p:ph idx="3" type="subTitle"/>
          </p:nvPr>
        </p:nvSpPr>
        <p:spPr>
          <a:xfrm>
            <a:off x="6288987" y="6234633"/>
            <a:ext cx="3059700" cy="315300"/>
          </a:xfrm>
          <a:prstGeom prst="rect">
            <a:avLst/>
          </a:prstGeom>
        </p:spPr>
        <p:txBody>
          <a:bodyPr anchorCtr="0" anchor="b" bIns="0" lIns="0" spcFirstLastPara="1" rIns="0" wrap="square" tIns="0">
            <a:normAutofit/>
          </a:bodyPr>
          <a:lstStyle/>
          <a:p>
            <a:pPr indent="0" lvl="0" marL="0" rtl="0" algn="l">
              <a:spcBef>
                <a:spcPts val="1000"/>
              </a:spcBef>
              <a:spcAft>
                <a:spcPts val="0"/>
              </a:spcAft>
              <a:buClr>
                <a:schemeClr val="dk1"/>
              </a:buClr>
              <a:buSzPts val="1500"/>
              <a:buFont typeface="Arial"/>
              <a:buNone/>
            </a:pPr>
            <a:r>
              <a:rPr lang="en-CA"/>
              <a:t> </a:t>
            </a:r>
            <a:endParaRPr/>
          </a:p>
        </p:txBody>
      </p:sp>
      <p:sp>
        <p:nvSpPr>
          <p:cNvPr id="114" name="Google Shape;114;g3d81dae4034_0_0"/>
          <p:cNvSpPr txBox="1"/>
          <p:nvPr>
            <p:ph idx="4" type="subTitle"/>
          </p:nvPr>
        </p:nvSpPr>
        <p:spPr>
          <a:xfrm>
            <a:off x="9145600" y="6244967"/>
            <a:ext cx="2742000" cy="304800"/>
          </a:xfrm>
          <a:prstGeom prst="rect">
            <a:avLst/>
          </a:prstGeom>
        </p:spPr>
        <p:txBody>
          <a:bodyPr anchorCtr="0" anchor="b" bIns="0" lIns="0" spcFirstLastPara="1" rIns="0" wrap="square" tIns="0">
            <a:normAutofit/>
          </a:bodyPr>
          <a:lstStyle/>
          <a:p>
            <a:pPr indent="0" lvl="0" marL="0" rtl="0" algn="r">
              <a:spcBef>
                <a:spcPts val="1000"/>
              </a:spcBef>
              <a:spcAft>
                <a:spcPts val="0"/>
              </a:spcAft>
              <a:buNone/>
            </a:pPr>
            <a:r>
              <a:rPr lang="en-CA"/>
              <a:t>2026</a:t>
            </a:r>
            <a:endParaRPr/>
          </a:p>
        </p:txBody>
      </p:sp>
      <p:sp>
        <p:nvSpPr>
          <p:cNvPr id="115" name="Google Shape;115;g3d81dae4034_0_0"/>
          <p:cNvSpPr txBox="1"/>
          <p:nvPr>
            <p:ph idx="5" type="subTitle"/>
          </p:nvPr>
        </p:nvSpPr>
        <p:spPr>
          <a:xfrm>
            <a:off x="396100" y="5567867"/>
            <a:ext cx="1686300" cy="304800"/>
          </a:xfrm>
          <a:prstGeom prst="rect">
            <a:avLst/>
          </a:prstGeom>
        </p:spPr>
        <p:txBody>
          <a:bodyPr anchorCtr="0" anchor="t" bIns="0" lIns="0" spcFirstLastPara="1" rIns="0" wrap="square" tIns="0">
            <a:normAutofit/>
          </a:bodyPr>
          <a:lstStyle/>
          <a:p>
            <a:pPr indent="0" lvl="0" marL="0" rtl="0" algn="ctr">
              <a:spcBef>
                <a:spcPts val="1000"/>
              </a:spcBef>
              <a:spcAft>
                <a:spcPts val="0"/>
              </a:spcAft>
              <a:buNone/>
            </a:pPr>
            <a:r>
              <a:rPr lang="en-CA"/>
              <a:t>Aslan B. Wong</a:t>
            </a:r>
            <a:endParaRPr/>
          </a:p>
        </p:txBody>
      </p:sp>
      <p:sp>
        <p:nvSpPr>
          <p:cNvPr id="116" name="Google Shape;116;g3d81dae4034_0_0"/>
          <p:cNvSpPr txBox="1"/>
          <p:nvPr>
            <p:ph idx="6" type="subTitle"/>
          </p:nvPr>
        </p:nvSpPr>
        <p:spPr>
          <a:xfrm>
            <a:off x="2381833" y="5567867"/>
            <a:ext cx="1686300" cy="304800"/>
          </a:xfrm>
          <a:prstGeom prst="rect">
            <a:avLst/>
          </a:prstGeom>
        </p:spPr>
        <p:txBody>
          <a:bodyPr anchorCtr="0" anchor="t" bIns="0" lIns="0" spcFirstLastPara="1" rIns="0" wrap="square" tIns="0">
            <a:normAutofit/>
          </a:bodyPr>
          <a:lstStyle/>
          <a:p>
            <a:pPr indent="0" lvl="0" marL="0" rtl="0" algn="ctr">
              <a:spcBef>
                <a:spcPts val="1000"/>
              </a:spcBef>
              <a:spcAft>
                <a:spcPts val="0"/>
              </a:spcAft>
              <a:buNone/>
            </a:pPr>
            <a:r>
              <a:rPr lang="en-CA"/>
              <a:t>Arttie🉑</a:t>
            </a:r>
            <a:endParaRPr/>
          </a:p>
        </p:txBody>
      </p:sp>
      <p:sp>
        <p:nvSpPr>
          <p:cNvPr id="117" name="Google Shape;117;g3d81dae4034_0_0"/>
          <p:cNvSpPr txBox="1"/>
          <p:nvPr>
            <p:ph idx="7" type="subTitle"/>
          </p:nvPr>
        </p:nvSpPr>
        <p:spPr>
          <a:xfrm>
            <a:off x="304789" y="4605967"/>
            <a:ext cx="6212700" cy="336000"/>
          </a:xfrm>
          <a:prstGeom prst="rect">
            <a:avLst/>
          </a:prstGeom>
        </p:spPr>
        <p:txBody>
          <a:bodyPr anchorCtr="0" anchor="t" bIns="121900" lIns="0" spcFirstLastPara="1" rIns="121900" wrap="square" tIns="0">
            <a:noAutofit/>
          </a:bodyPr>
          <a:lstStyle/>
          <a:p>
            <a:pPr indent="0" lvl="0" marL="0" rtl="0" algn="l">
              <a:lnSpc>
                <a:spcPct val="70000"/>
              </a:lnSpc>
              <a:spcBef>
                <a:spcPts val="1000"/>
              </a:spcBef>
              <a:spcAft>
                <a:spcPts val="0"/>
              </a:spcAft>
              <a:buSzPts val="275"/>
              <a:buNone/>
            </a:pPr>
            <a:r>
              <a:rPr lang="en-CA" sz="1900"/>
              <a:t>Level 2 /  21 April 2026</a:t>
            </a:r>
            <a:endParaRPr sz="1900"/>
          </a:p>
          <a:p>
            <a:pPr indent="0" lvl="0" marL="0" rtl="0" algn="l">
              <a:lnSpc>
                <a:spcPct val="70000"/>
              </a:lnSpc>
              <a:spcBef>
                <a:spcPts val="1000"/>
              </a:spcBef>
              <a:spcAft>
                <a:spcPts val="0"/>
              </a:spcAft>
              <a:buSzPts val="275"/>
              <a:buNone/>
            </a:pPr>
            <a:r>
              <a:t/>
            </a:r>
            <a:endParaRPr sz="1900"/>
          </a:p>
        </p:txBody>
      </p:sp>
      <p:sp>
        <p:nvSpPr>
          <p:cNvPr id="118" name="Google Shape;118;g3d81dae4034_0_0"/>
          <p:cNvSpPr txBox="1"/>
          <p:nvPr>
            <p:ph idx="8" type="subTitle"/>
          </p:nvPr>
        </p:nvSpPr>
        <p:spPr>
          <a:xfrm>
            <a:off x="304789" y="4990733"/>
            <a:ext cx="6212700" cy="336000"/>
          </a:xfrm>
          <a:prstGeom prst="rect">
            <a:avLst/>
          </a:prstGeom>
        </p:spPr>
        <p:txBody>
          <a:bodyPr anchorCtr="0" anchor="t" bIns="121900" lIns="0" spcFirstLastPara="1" rIns="121900" wrap="square" tIns="0">
            <a:normAutofit lnSpcReduction="10000"/>
          </a:bodyPr>
          <a:lstStyle/>
          <a:p>
            <a:pPr indent="0" lvl="0" marL="0" rtl="0" algn="l">
              <a:spcBef>
                <a:spcPts val="1000"/>
              </a:spcBef>
              <a:spcAft>
                <a:spcPts val="0"/>
              </a:spcAft>
              <a:buNone/>
            </a:pPr>
            <a:r>
              <a:rPr lang="en-CA"/>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24" name="Google Shape;124;p2"/>
          <p:cNvSpPr txBox="1"/>
          <p:nvPr/>
        </p:nvSpPr>
        <p:spPr>
          <a:xfrm>
            <a:off x="349997" y="1981200"/>
            <a:ext cx="490780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i="0" lang="en-CA" sz="4400" u="none" cap="none" strike="noStrike">
                <a:solidFill>
                  <a:schemeClr val="lt1"/>
                </a:solidFill>
                <a:latin typeface="Montserrat"/>
                <a:ea typeface="Montserrat"/>
                <a:cs typeface="Montserrat"/>
                <a:sym typeface="Montserrat"/>
              </a:rPr>
              <a:t>REGRESSION ANALYSIS IN DATA SCIENCE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3"/>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30" name="Google Shape;130;p3"/>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i="0" lang="en-CA" sz="4400" u="none" cap="none" strike="noStrike">
                <a:solidFill>
                  <a:schemeClr val="lt1"/>
                </a:solidFill>
                <a:latin typeface="Montserrat"/>
                <a:ea typeface="Montserrat"/>
                <a:cs typeface="Montserrat"/>
                <a:sym typeface="Montserrat"/>
              </a:rPr>
              <a:t>PROJECT CARD &amp; KEY LEARNING OUTCOMES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4"/>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36" name="Google Shape;136;p4"/>
          <p:cNvSpPr/>
          <p:nvPr/>
        </p:nvSpPr>
        <p:spPr>
          <a:xfrm>
            <a:off x="661578" y="2695373"/>
            <a:ext cx="7539447" cy="70224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Montserrat"/>
              <a:buNone/>
            </a:pPr>
            <a:br>
              <a:rPr b="1" i="0" lang="en-CA" sz="1400" u="none" cap="none" strike="noStrike">
                <a:solidFill>
                  <a:srgbClr val="000000"/>
                </a:solidFill>
                <a:latin typeface="Montserrat"/>
                <a:ea typeface="Montserrat"/>
                <a:cs typeface="Montserrat"/>
                <a:sym typeface="Montserrat"/>
              </a:rPr>
            </a:br>
            <a:endParaRPr b="1" i="0" sz="1400" u="none" cap="none" strike="noStrike">
              <a:solidFill>
                <a:srgbClr val="000000"/>
              </a:solidFill>
              <a:latin typeface="Montserrat"/>
              <a:ea typeface="Montserrat"/>
              <a:cs typeface="Montserrat"/>
              <a:sym typeface="Montserrat"/>
            </a:endParaRPr>
          </a:p>
        </p:txBody>
      </p:sp>
      <p:sp>
        <p:nvSpPr>
          <p:cNvPr id="137" name="Google Shape;137;p4"/>
          <p:cNvSpPr txBox="1"/>
          <p:nvPr/>
        </p:nvSpPr>
        <p:spPr>
          <a:xfrm>
            <a:off x="152400" y="273160"/>
            <a:ext cx="10349952"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0" lang="en-CA" sz="3600" u="none" cap="none" strike="noStrike">
                <a:solidFill>
                  <a:schemeClr val="lt1"/>
                </a:solidFill>
                <a:latin typeface="Montserrat"/>
                <a:ea typeface="Montserrat"/>
                <a:cs typeface="Montserrat"/>
                <a:sym typeface="Montserrat"/>
              </a:rPr>
              <a:t>PROJECT CARD</a:t>
            </a:r>
            <a:endParaRPr/>
          </a:p>
        </p:txBody>
      </p:sp>
      <p:sp>
        <p:nvSpPr>
          <p:cNvPr id="138" name="Google Shape;138;p4"/>
          <p:cNvSpPr/>
          <p:nvPr/>
        </p:nvSpPr>
        <p:spPr>
          <a:xfrm>
            <a:off x="378516" y="864091"/>
            <a:ext cx="7822509" cy="6050887"/>
          </a:xfrm>
          <a:prstGeom prst="rect">
            <a:avLst/>
          </a:prstGeom>
          <a:noFill/>
          <a:ln>
            <a:noFill/>
          </a:ln>
        </p:spPr>
        <p:txBody>
          <a:bodyPr anchorCtr="0" anchor="t" bIns="45700" lIns="91425" spcFirstLastPara="1" rIns="91425" wrap="square" tIns="45700">
            <a:spAutoFit/>
          </a:bodyPr>
          <a:lstStyle/>
          <a:p>
            <a:pPr indent="-184150" lvl="0" marL="285750" marR="0" rtl="0" algn="l">
              <a:spcBef>
                <a:spcPts val="0"/>
              </a:spcBef>
              <a:spcAft>
                <a:spcPts val="0"/>
              </a:spcAft>
              <a:buClr>
                <a:schemeClr val="dk1"/>
              </a:buClr>
              <a:buSzPts val="1600"/>
              <a:buFont typeface="Arial"/>
              <a:buNone/>
            </a:pPr>
            <a:r>
              <a:t/>
            </a:r>
            <a:endParaRPr b="1" i="0" sz="1600" u="none" cap="none" strike="noStrike">
              <a:solidFill>
                <a:schemeClr val="dk1"/>
              </a:solidFill>
              <a:latin typeface="Montserrat"/>
              <a:ea typeface="Montserrat"/>
              <a:cs typeface="Montserrat"/>
              <a:sym typeface="Montserrat"/>
            </a:endParaRPr>
          </a:p>
          <a:p>
            <a:pPr indent="0" lvl="0" marL="0" marR="0" rtl="0" algn="l">
              <a:spcBef>
                <a:spcPts val="0"/>
              </a:spcBef>
              <a:spcAft>
                <a:spcPts val="0"/>
              </a:spcAft>
              <a:buNone/>
            </a:pPr>
            <a:r>
              <a:rPr b="1" i="0" lang="en-CA" sz="1600" u="sng" cap="none" strike="noStrike">
                <a:solidFill>
                  <a:schemeClr val="dk1"/>
                </a:solidFill>
                <a:latin typeface="Montserrat"/>
                <a:ea typeface="Montserrat"/>
                <a:cs typeface="Montserrat"/>
                <a:sym typeface="Montserrat"/>
              </a:rPr>
              <a:t>GOAL: </a:t>
            </a:r>
            <a:endParaRPr/>
          </a:p>
          <a:p>
            <a:pPr indent="-285750" lvl="0" marL="285750" marR="0" rtl="0" algn="l">
              <a:spcBef>
                <a:spcPts val="0"/>
              </a:spcBef>
              <a:spcAft>
                <a:spcPts val="0"/>
              </a:spcAft>
              <a:buClr>
                <a:schemeClr val="dk1"/>
              </a:buClr>
              <a:buSzPts val="1600"/>
              <a:buFont typeface="Arial"/>
              <a:buChar char="•"/>
            </a:pPr>
            <a:r>
              <a:rPr i="1" lang="en-CA" sz="1600">
                <a:solidFill>
                  <a:schemeClr val="dk1"/>
                </a:solidFill>
                <a:latin typeface="Montserrat"/>
                <a:ea typeface="Montserrat"/>
                <a:cs typeface="Montserrat"/>
                <a:sym typeface="Montserrat"/>
              </a:rPr>
              <a:t>Build, train, and test an XG-Boost model to perform regression tasks and predict chances of university admission given student’s profile.</a:t>
            </a:r>
            <a:endParaRPr/>
          </a:p>
          <a:p>
            <a:pPr indent="0" lvl="0" marL="0" marR="0" rtl="0" algn="l">
              <a:spcBef>
                <a:spcPts val="0"/>
              </a:spcBef>
              <a:spcAft>
                <a:spcPts val="0"/>
              </a:spcAft>
              <a:buNone/>
            </a:pPr>
            <a:r>
              <a:t/>
            </a:r>
            <a:endParaRPr b="1" sz="1600">
              <a:solidFill>
                <a:schemeClr val="dk1"/>
              </a:solidFill>
              <a:latin typeface="Montserrat"/>
              <a:ea typeface="Montserrat"/>
              <a:cs typeface="Montserrat"/>
              <a:sym typeface="Montserrat"/>
            </a:endParaRPr>
          </a:p>
          <a:p>
            <a:pPr indent="0" lvl="0" marL="0" marR="0" rtl="0" algn="l">
              <a:spcBef>
                <a:spcPts val="0"/>
              </a:spcBef>
              <a:spcAft>
                <a:spcPts val="0"/>
              </a:spcAft>
              <a:buNone/>
            </a:pPr>
            <a:r>
              <a:rPr b="1" lang="en-CA" sz="1600" u="sng">
                <a:solidFill>
                  <a:schemeClr val="dk1"/>
                </a:solidFill>
                <a:latin typeface="Montserrat"/>
                <a:ea typeface="Montserrat"/>
                <a:cs typeface="Montserrat"/>
                <a:sym typeface="Montserrat"/>
              </a:rPr>
              <a:t>TOOL: </a:t>
            </a:r>
            <a:endParaRPr/>
          </a:p>
          <a:p>
            <a:pPr indent="-342900" lvl="0" marL="342900" marR="0" rtl="0" algn="l">
              <a:spcBef>
                <a:spcPts val="0"/>
              </a:spcBef>
              <a:spcAft>
                <a:spcPts val="0"/>
              </a:spcAft>
              <a:buClr>
                <a:schemeClr val="dk1"/>
              </a:buClr>
              <a:buSzPts val="1600"/>
              <a:buFont typeface="Arial"/>
              <a:buChar char="•"/>
            </a:pPr>
            <a:r>
              <a:rPr i="1" lang="en-CA" sz="1600">
                <a:solidFill>
                  <a:schemeClr val="dk1"/>
                </a:solidFill>
                <a:latin typeface="Montserrat"/>
                <a:ea typeface="Montserrat"/>
                <a:cs typeface="Montserrat"/>
                <a:sym typeface="Montserrat"/>
              </a:rPr>
              <a:t>Jupyter Notebooks, Google Colab and Scikit-Learn</a:t>
            </a:r>
            <a:endParaRPr/>
          </a:p>
          <a:p>
            <a:pPr indent="0" lvl="0" marL="0" marR="0" rtl="0" algn="l">
              <a:spcBef>
                <a:spcPts val="0"/>
              </a:spcBef>
              <a:spcAft>
                <a:spcPts val="0"/>
              </a:spcAft>
              <a:buNone/>
            </a:pPr>
            <a:r>
              <a:t/>
            </a:r>
            <a:endParaRPr b="1" sz="1600">
              <a:solidFill>
                <a:schemeClr val="dk1"/>
              </a:solidFill>
              <a:latin typeface="Montserrat"/>
              <a:ea typeface="Montserrat"/>
              <a:cs typeface="Montserrat"/>
              <a:sym typeface="Montserrat"/>
            </a:endParaRPr>
          </a:p>
          <a:p>
            <a:pPr indent="0" lvl="0" marL="0" marR="0" rtl="0" algn="l">
              <a:spcBef>
                <a:spcPts val="0"/>
              </a:spcBef>
              <a:spcAft>
                <a:spcPts val="0"/>
              </a:spcAft>
              <a:buNone/>
            </a:pPr>
            <a:r>
              <a:rPr b="1" lang="en-CA" sz="1600" u="sng">
                <a:solidFill>
                  <a:schemeClr val="dk1"/>
                </a:solidFill>
                <a:latin typeface="Montserrat"/>
                <a:ea typeface="Montserrat"/>
                <a:cs typeface="Montserrat"/>
                <a:sym typeface="Montserrat"/>
              </a:rPr>
              <a:t>PRACTICAL REAL-WORLD APPLICATION:</a:t>
            </a:r>
            <a:endParaRPr/>
          </a:p>
          <a:p>
            <a:pPr indent="-285750" lvl="0" marL="285750" marR="0" rtl="0" algn="l">
              <a:spcBef>
                <a:spcPts val="0"/>
              </a:spcBef>
              <a:spcAft>
                <a:spcPts val="0"/>
              </a:spcAft>
              <a:buClr>
                <a:schemeClr val="dk1"/>
              </a:buClr>
              <a:buSzPts val="1600"/>
              <a:buFont typeface="Arial"/>
              <a:buChar char="•"/>
            </a:pPr>
            <a:r>
              <a:rPr i="1" lang="en-CA" sz="1600">
                <a:solidFill>
                  <a:schemeClr val="dk1"/>
                </a:solidFill>
                <a:latin typeface="Montserrat"/>
                <a:ea typeface="Montserrat"/>
                <a:cs typeface="Montserrat"/>
                <a:sym typeface="Montserrat"/>
              </a:rPr>
              <a:t>Determine top qualifying students by University Admission Office. </a:t>
            </a:r>
            <a:endParaRPr/>
          </a:p>
          <a:p>
            <a:pPr indent="0" lvl="0" marL="0" marR="0" rtl="0" algn="l">
              <a:spcBef>
                <a:spcPts val="0"/>
              </a:spcBef>
              <a:spcAft>
                <a:spcPts val="0"/>
              </a:spcAft>
              <a:buNone/>
            </a:pPr>
            <a:r>
              <a:t/>
            </a:r>
            <a:endParaRPr b="1" sz="1600">
              <a:solidFill>
                <a:schemeClr val="dk1"/>
              </a:solidFill>
              <a:latin typeface="Montserrat"/>
              <a:ea typeface="Montserrat"/>
              <a:cs typeface="Montserrat"/>
              <a:sym typeface="Montserrat"/>
            </a:endParaRPr>
          </a:p>
          <a:p>
            <a:pPr indent="0" lvl="0" marL="0" marR="0" rtl="0" algn="l">
              <a:spcBef>
                <a:spcPts val="0"/>
              </a:spcBef>
              <a:spcAft>
                <a:spcPts val="0"/>
              </a:spcAft>
              <a:buNone/>
            </a:pPr>
            <a:r>
              <a:rPr b="1" lang="en-CA" sz="1600" u="sng">
                <a:solidFill>
                  <a:schemeClr val="dk1"/>
                </a:solidFill>
                <a:latin typeface="Montserrat"/>
                <a:ea typeface="Montserrat"/>
                <a:cs typeface="Montserrat"/>
                <a:sym typeface="Montserrat"/>
              </a:rPr>
              <a:t>DATA: </a:t>
            </a:r>
            <a:endParaRPr/>
          </a:p>
          <a:p>
            <a:pPr indent="0" lvl="0" marL="0" marR="0" rtl="0" algn="l">
              <a:spcBef>
                <a:spcPts val="0"/>
              </a:spcBef>
              <a:spcAft>
                <a:spcPts val="0"/>
              </a:spcAft>
              <a:buNone/>
            </a:pPr>
            <a:r>
              <a:rPr b="1" i="1" lang="en-CA" sz="1600">
                <a:solidFill>
                  <a:schemeClr val="dk1"/>
                </a:solidFill>
                <a:latin typeface="Montserrat"/>
                <a:ea typeface="Montserrat"/>
                <a:cs typeface="Montserrat"/>
                <a:sym typeface="Montserrat"/>
              </a:rPr>
              <a:t>INPUTS (FEATURES):</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GRE Scores (out of 340)</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TOEFL Scores (out of 120)</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University Rating (out of 5)</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Statement of Purpose (SOP) </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Letter of Recommendation (LOR) Strength (out of 5)</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Undergraduate GPA (out of 10)</a:t>
            </a:r>
            <a:endParaRPr/>
          </a:p>
          <a:p>
            <a:pPr indent="-285750" lvl="2" marL="285750" marR="0" rtl="0" algn="l">
              <a:spcBef>
                <a:spcPts val="0"/>
              </a:spcBef>
              <a:spcAft>
                <a:spcPts val="0"/>
              </a:spcAft>
              <a:buClr>
                <a:schemeClr val="dk1"/>
              </a:buClr>
              <a:buSzPts val="1600"/>
              <a:buFont typeface="Arial"/>
              <a:buChar char="•"/>
            </a:pPr>
            <a:r>
              <a:rPr b="0" i="1" lang="en-CA" sz="1600" u="none" cap="none" strike="noStrike">
                <a:solidFill>
                  <a:schemeClr val="dk1"/>
                </a:solidFill>
                <a:latin typeface="Montserrat"/>
                <a:ea typeface="Montserrat"/>
                <a:cs typeface="Montserrat"/>
                <a:sym typeface="Montserrat"/>
              </a:rPr>
              <a:t>Research Experience (either 0 or 1)</a:t>
            </a:r>
            <a:endParaRPr/>
          </a:p>
          <a:p>
            <a:pPr indent="0" lvl="0" marL="0" marR="0" rtl="0" algn="l">
              <a:spcBef>
                <a:spcPts val="0"/>
              </a:spcBef>
              <a:spcAft>
                <a:spcPts val="0"/>
              </a:spcAft>
              <a:buNone/>
            </a:pPr>
            <a:r>
              <a:rPr b="1" i="1" lang="en-CA" sz="1600">
                <a:solidFill>
                  <a:schemeClr val="dk1"/>
                </a:solidFill>
                <a:latin typeface="Montserrat"/>
                <a:ea typeface="Montserrat"/>
                <a:cs typeface="Montserrat"/>
                <a:sym typeface="Montserrat"/>
              </a:rPr>
              <a:t>OUTPUTS:</a:t>
            </a:r>
            <a:endParaRPr/>
          </a:p>
          <a:p>
            <a:pPr indent="-285750" lvl="0" marL="285750" marR="0" rtl="0" algn="l">
              <a:spcBef>
                <a:spcPts val="0"/>
              </a:spcBef>
              <a:spcAft>
                <a:spcPts val="0"/>
              </a:spcAft>
              <a:buClr>
                <a:schemeClr val="dk1"/>
              </a:buClr>
              <a:buSzPts val="1600"/>
              <a:buFont typeface="Arial"/>
              <a:buChar char="•"/>
            </a:pPr>
            <a:r>
              <a:rPr i="1" lang="en-CA" sz="1600">
                <a:solidFill>
                  <a:schemeClr val="dk1"/>
                </a:solidFill>
                <a:latin typeface="Montserrat"/>
                <a:ea typeface="Montserrat"/>
                <a:cs typeface="Montserrat"/>
                <a:sym typeface="Montserrat"/>
              </a:rPr>
              <a:t>Chance of admission (ranging from 0 to 1)</a:t>
            </a:r>
            <a:endParaRPr/>
          </a:p>
          <a:p>
            <a:pPr indent="0" lvl="0" marL="0" marR="0" rtl="0" algn="l">
              <a:lnSpc>
                <a:spcPct val="120000"/>
              </a:lnSpc>
              <a:spcBef>
                <a:spcPts val="0"/>
              </a:spcBef>
              <a:spcAft>
                <a:spcPts val="0"/>
              </a:spcAft>
              <a:buNone/>
            </a:pPr>
            <a:r>
              <a:rPr i="1" lang="en-CA" sz="1600">
                <a:solidFill>
                  <a:schemeClr val="dk1"/>
                </a:solidFill>
                <a:latin typeface="Montserrat"/>
                <a:ea typeface="Montserrat"/>
                <a:cs typeface="Montserrat"/>
                <a:sym typeface="Montserrat"/>
              </a:rPr>
              <a:t>   </a:t>
            </a:r>
            <a:endParaRPr i="1" sz="1600">
              <a:solidFill>
                <a:schemeClr val="dk1"/>
              </a:solidFill>
              <a:latin typeface="Montserrat"/>
              <a:ea typeface="Montserrat"/>
              <a:cs typeface="Montserrat"/>
              <a:sym typeface="Montserrat"/>
            </a:endParaRPr>
          </a:p>
          <a:p>
            <a:pPr indent="-184150" lvl="0" marL="285750" marR="0" rtl="0" algn="l">
              <a:spcBef>
                <a:spcPts val="0"/>
              </a:spcBef>
              <a:spcAft>
                <a:spcPts val="0"/>
              </a:spcAft>
              <a:buClr>
                <a:schemeClr val="dk1"/>
              </a:buClr>
              <a:buSzPts val="1600"/>
              <a:buFont typeface="Arial"/>
              <a:buNone/>
            </a:pPr>
            <a:r>
              <a:t/>
            </a:r>
            <a:endParaRPr b="1" sz="1600">
              <a:solidFill>
                <a:schemeClr val="dk1"/>
              </a:solidFill>
              <a:latin typeface="Montserrat"/>
              <a:ea typeface="Montserrat"/>
              <a:cs typeface="Montserrat"/>
              <a:sym typeface="Montserrat"/>
            </a:endParaRPr>
          </a:p>
        </p:txBody>
      </p:sp>
      <p:pic>
        <p:nvPicPr>
          <p:cNvPr descr="A group of people standing in front of a crowd&#10;&#10;Description automatically generated" id="139" name="Google Shape;139;p4"/>
          <p:cNvPicPr preferRelativeResize="0"/>
          <p:nvPr/>
        </p:nvPicPr>
        <p:blipFill rotWithShape="1">
          <a:blip r:embed="rId4">
            <a:alphaModFix/>
          </a:blip>
          <a:srcRect b="0" l="0" r="0" t="0"/>
          <a:stretch/>
        </p:blipFill>
        <p:spPr>
          <a:xfrm>
            <a:off x="7696200" y="1981200"/>
            <a:ext cx="3936857" cy="2341825"/>
          </a:xfrm>
          <a:prstGeom prst="rect">
            <a:avLst/>
          </a:prstGeom>
          <a:noFill/>
          <a:ln>
            <a:noFill/>
          </a:ln>
        </p:spPr>
      </p:pic>
      <p:sp>
        <p:nvSpPr>
          <p:cNvPr id="140" name="Google Shape;140;p4"/>
          <p:cNvSpPr/>
          <p:nvPr/>
        </p:nvSpPr>
        <p:spPr>
          <a:xfrm>
            <a:off x="1219200" y="6364019"/>
            <a:ext cx="6710296" cy="49398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900"/>
              <a:buFont typeface="Arial"/>
              <a:buChar char="•"/>
            </a:pPr>
            <a:r>
              <a:rPr lang="en-CA" sz="900">
                <a:solidFill>
                  <a:schemeClr val="dk1"/>
                </a:solidFill>
                <a:latin typeface="Montserrat"/>
                <a:ea typeface="Montserrat"/>
                <a:cs typeface="Montserrat"/>
                <a:sym typeface="Montserrat"/>
              </a:rPr>
              <a:t>Data Source: </a:t>
            </a:r>
            <a:r>
              <a:rPr lang="en-CA" sz="900" u="sng">
                <a:solidFill>
                  <a:schemeClr val="dk1"/>
                </a:solidFill>
                <a:latin typeface="Montserrat"/>
                <a:ea typeface="Montserrat"/>
                <a:cs typeface="Montserrat"/>
                <a:sym typeface="Montserrat"/>
                <a:hlinkClick r:id="rId5">
                  <a:extLst>
                    <a:ext uri="{A12FA001-AC4F-418D-AE19-62706E023703}">
                      <ahyp:hlinkClr val="tx"/>
                    </a:ext>
                  </a:extLst>
                </a:hlinkClick>
              </a:rPr>
              <a:t>https://www.kaggle.com/mohansacharya/graduate-admissions</a:t>
            </a:r>
            <a:endParaRPr sz="900">
              <a:solidFill>
                <a:schemeClr val="dk1"/>
              </a:solidFill>
              <a:latin typeface="Montserrat"/>
              <a:ea typeface="Montserrat"/>
              <a:cs typeface="Montserrat"/>
              <a:sym typeface="Montserrat"/>
            </a:endParaRPr>
          </a:p>
          <a:p>
            <a:pPr indent="-285750" lvl="0" marL="285750" marR="0" rtl="0" algn="l">
              <a:spcBef>
                <a:spcPts val="0"/>
              </a:spcBef>
              <a:spcAft>
                <a:spcPts val="0"/>
              </a:spcAft>
              <a:buClr>
                <a:schemeClr val="dk1"/>
              </a:buClr>
              <a:buSzPts val="900"/>
              <a:buFont typeface="Arial"/>
              <a:buChar char="•"/>
            </a:pPr>
            <a:r>
              <a:rPr lang="en-CA" sz="900">
                <a:solidFill>
                  <a:schemeClr val="dk1"/>
                </a:solidFill>
                <a:latin typeface="Montserrat"/>
                <a:ea typeface="Montserrat"/>
                <a:cs typeface="Montserrat"/>
                <a:sym typeface="Montserrat"/>
              </a:rPr>
              <a:t>Photo Credit: </a:t>
            </a:r>
            <a:r>
              <a:rPr lang="en-CA" sz="900" u="sng">
                <a:solidFill>
                  <a:schemeClr val="dk1"/>
                </a:solidFill>
                <a:latin typeface="Montserrat"/>
                <a:ea typeface="Montserrat"/>
                <a:cs typeface="Montserrat"/>
                <a:sym typeface="Montserrat"/>
                <a:hlinkClick r:id="rId6">
                  <a:extLst>
                    <a:ext uri="{A12FA001-AC4F-418D-AE19-62706E023703}">
                      <ahyp:hlinkClr val="tx"/>
                    </a:ext>
                  </a:extLst>
                </a:hlinkClick>
              </a:rPr>
              <a:t>https://www.pexels.com/photo/accomplishment-ceremony-education-graduation-267885/</a:t>
            </a:r>
            <a:endParaRPr sz="900">
              <a:solidFill>
                <a:schemeClr val="dk1"/>
              </a:solidFill>
              <a:latin typeface="Montserrat"/>
              <a:ea typeface="Montserrat"/>
              <a:cs typeface="Montserrat"/>
              <a:sym typeface="Montserrat"/>
            </a:endParaRPr>
          </a:p>
          <a:p>
            <a:pPr indent="-228600" lvl="0" marL="342900" marR="0" rtl="0" algn="just">
              <a:lnSpc>
                <a:spcPct val="90000"/>
              </a:lnSpc>
              <a:spcBef>
                <a:spcPts val="0"/>
              </a:spcBef>
              <a:spcAft>
                <a:spcPts val="0"/>
              </a:spcAft>
              <a:buClr>
                <a:schemeClr val="dk1"/>
              </a:buClr>
              <a:buSzPts val="900"/>
              <a:buFont typeface="Arial"/>
              <a:buNone/>
            </a:pPr>
            <a:r>
              <a:t/>
            </a:r>
            <a:endParaRPr sz="9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5"/>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46" name="Google Shape;146;p5"/>
          <p:cNvSpPr/>
          <p:nvPr/>
        </p:nvSpPr>
        <p:spPr>
          <a:xfrm>
            <a:off x="414418" y="1706643"/>
            <a:ext cx="10946167" cy="292075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5"/>
          <p:cNvSpPr/>
          <p:nvPr/>
        </p:nvSpPr>
        <p:spPr>
          <a:xfrm>
            <a:off x="176334" y="237642"/>
            <a:ext cx="7900866" cy="4616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MODEL INPUTS &amp; OUTPUTS</a:t>
            </a:r>
            <a:endParaRPr sz="3600">
              <a:solidFill>
                <a:schemeClr val="lt1"/>
              </a:solidFill>
              <a:latin typeface="Montserrat"/>
              <a:ea typeface="Montserrat"/>
              <a:cs typeface="Montserrat"/>
              <a:sym typeface="Montserrat"/>
            </a:endParaRPr>
          </a:p>
        </p:txBody>
      </p:sp>
      <p:sp>
        <p:nvSpPr>
          <p:cNvPr id="148" name="Google Shape;148;p5"/>
          <p:cNvSpPr/>
          <p:nvPr/>
        </p:nvSpPr>
        <p:spPr>
          <a:xfrm>
            <a:off x="4538133" y="2750138"/>
            <a:ext cx="3040912" cy="1552354"/>
          </a:xfrm>
          <a:prstGeom prst="roundRect">
            <a:avLst>
              <a:gd fmla="val 16667" name="adj"/>
            </a:avLst>
          </a:prstGeom>
          <a:solidFill>
            <a:srgbClr val="FF0000"/>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2400">
                <a:solidFill>
                  <a:schemeClr val="lt1"/>
                </a:solidFill>
                <a:latin typeface="Calibri"/>
                <a:ea typeface="Calibri"/>
                <a:cs typeface="Calibri"/>
                <a:sym typeface="Calibri"/>
              </a:rPr>
              <a:t>XG-BOOST REGRESSION MODEL </a:t>
            </a:r>
            <a:endParaRPr/>
          </a:p>
        </p:txBody>
      </p:sp>
      <p:sp>
        <p:nvSpPr>
          <p:cNvPr id="149" name="Google Shape;149;p5"/>
          <p:cNvSpPr/>
          <p:nvPr/>
        </p:nvSpPr>
        <p:spPr>
          <a:xfrm>
            <a:off x="7638056" y="3280469"/>
            <a:ext cx="841356" cy="533400"/>
          </a:xfrm>
          <a:prstGeom prst="rightArrow">
            <a:avLst>
              <a:gd fmla="val 50000" name="adj1"/>
              <a:gd fmla="val 50000" name="adj2"/>
            </a:avLst>
          </a:prstGeom>
          <a:solidFill>
            <a:srgbClr val="EF253C"/>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
        <p:nvSpPr>
          <p:cNvPr id="150" name="Google Shape;150;p5"/>
          <p:cNvSpPr/>
          <p:nvPr/>
        </p:nvSpPr>
        <p:spPr>
          <a:xfrm>
            <a:off x="8652201" y="2758816"/>
            <a:ext cx="1698649"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CA" sz="1600" u="sng">
                <a:solidFill>
                  <a:schemeClr val="dk1"/>
                </a:solidFill>
                <a:latin typeface="Arial"/>
                <a:ea typeface="Arial"/>
                <a:cs typeface="Arial"/>
                <a:sym typeface="Arial"/>
              </a:rPr>
              <a:t>OUTPUT</a:t>
            </a:r>
            <a:endParaRPr/>
          </a:p>
          <a:p>
            <a:pPr indent="0" lvl="0" marL="0" marR="0" rtl="0" algn="ctr">
              <a:lnSpc>
                <a:spcPct val="100000"/>
              </a:lnSpc>
              <a:spcBef>
                <a:spcPts val="0"/>
              </a:spcBef>
              <a:spcAft>
                <a:spcPts val="0"/>
              </a:spcAft>
              <a:buNone/>
            </a:pPr>
            <a:r>
              <a:t/>
            </a:r>
            <a:endParaRPr b="1" sz="1600">
              <a:solidFill>
                <a:schemeClr val="dk1"/>
              </a:solidFill>
              <a:latin typeface="Arial"/>
              <a:ea typeface="Arial"/>
              <a:cs typeface="Arial"/>
              <a:sym typeface="Arial"/>
            </a:endParaRPr>
          </a:p>
          <a:p>
            <a:pPr indent="0" lvl="0" marL="0" marR="0" rtl="0" algn="ctr">
              <a:spcBef>
                <a:spcPts val="0"/>
              </a:spcBef>
              <a:spcAft>
                <a:spcPts val="0"/>
              </a:spcAft>
              <a:buNone/>
            </a:pPr>
            <a:r>
              <a:rPr b="1" lang="en-CA" sz="1600">
                <a:solidFill>
                  <a:schemeClr val="dk1"/>
                </a:solidFill>
                <a:latin typeface="Arial"/>
                <a:ea typeface="Arial"/>
                <a:cs typeface="Arial"/>
                <a:sym typeface="Arial"/>
              </a:rPr>
              <a:t>Chance of Admission </a:t>
            </a:r>
            <a:endParaRPr/>
          </a:p>
        </p:txBody>
      </p:sp>
      <p:sp>
        <p:nvSpPr>
          <p:cNvPr id="151" name="Google Shape;151;p5"/>
          <p:cNvSpPr/>
          <p:nvPr/>
        </p:nvSpPr>
        <p:spPr>
          <a:xfrm>
            <a:off x="8556398" y="1600200"/>
            <a:ext cx="574159" cy="3893939"/>
          </a:xfrm>
          <a:prstGeom prst="leftBrace">
            <a:avLst>
              <a:gd fmla="val 82407" name="adj1"/>
              <a:gd fmla="val 50000" name="adj2"/>
            </a:avLst>
          </a:prstGeom>
          <a:noFill/>
          <a:ln cap="flat" cmpd="sng"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
        <p:nvSpPr>
          <p:cNvPr id="152" name="Google Shape;152;p5"/>
          <p:cNvSpPr/>
          <p:nvPr/>
        </p:nvSpPr>
        <p:spPr>
          <a:xfrm rot="10800000">
            <a:off x="9829800" y="1600200"/>
            <a:ext cx="574159" cy="3893939"/>
          </a:xfrm>
          <a:prstGeom prst="leftBrace">
            <a:avLst>
              <a:gd fmla="val 82407" name="adj1"/>
              <a:gd fmla="val 50000" name="adj2"/>
            </a:avLst>
          </a:prstGeom>
          <a:noFill/>
          <a:ln cap="flat" cmpd="sng"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
        <p:nvSpPr>
          <p:cNvPr id="153" name="Google Shape;153;p5"/>
          <p:cNvSpPr/>
          <p:nvPr/>
        </p:nvSpPr>
        <p:spPr>
          <a:xfrm>
            <a:off x="3721738" y="3259615"/>
            <a:ext cx="725746" cy="533400"/>
          </a:xfrm>
          <a:prstGeom prst="rightArrow">
            <a:avLst>
              <a:gd fmla="val 50000" name="adj1"/>
              <a:gd fmla="val 50000" name="adj2"/>
            </a:avLst>
          </a:prstGeom>
          <a:solidFill>
            <a:srgbClr val="EF253C"/>
          </a:solidFill>
          <a:ln>
            <a:noFill/>
          </a:ln>
          <a:effectLst>
            <a:outerShdw blurRad="44450" algn="ctr" dir="5400000" dist="2794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
        <p:nvSpPr>
          <p:cNvPr id="154" name="Google Shape;154;p5"/>
          <p:cNvSpPr/>
          <p:nvPr/>
        </p:nvSpPr>
        <p:spPr>
          <a:xfrm>
            <a:off x="414418" y="2117278"/>
            <a:ext cx="3134366" cy="22159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CA" sz="1600" u="sng">
                <a:solidFill>
                  <a:schemeClr val="dk1"/>
                </a:solidFill>
                <a:latin typeface="Arial"/>
                <a:ea typeface="Arial"/>
                <a:cs typeface="Arial"/>
                <a:sym typeface="Arial"/>
              </a:rPr>
              <a:t>INPUTS</a:t>
            </a:r>
            <a:endParaRPr/>
          </a:p>
          <a:p>
            <a:pPr indent="0" lvl="0" marL="0" marR="0" rtl="0" algn="ctr">
              <a:lnSpc>
                <a:spcPct val="100000"/>
              </a:lnSpc>
              <a:spcBef>
                <a:spcPts val="0"/>
              </a:spcBef>
              <a:spcAft>
                <a:spcPts val="0"/>
              </a:spcAft>
              <a:buNone/>
            </a:pPr>
            <a:r>
              <a:t/>
            </a:r>
            <a:endParaRPr b="1" sz="1200">
              <a:solidFill>
                <a:schemeClr val="dk1"/>
              </a:solidFill>
              <a:latin typeface="Arial"/>
              <a:ea typeface="Arial"/>
              <a:cs typeface="Arial"/>
              <a:sym typeface="Arial"/>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GRE Score </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TOEFL Score</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University Rating </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Statement of Purpose (SOP) </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Letter of Recommendation (LOR)</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CGPA </a:t>
            </a:r>
            <a:endParaRPr/>
          </a:p>
          <a:p>
            <a:pPr indent="0" lvl="0" marL="0" marR="0" rtl="0" algn="ctr">
              <a:spcBef>
                <a:spcPts val="0"/>
              </a:spcBef>
              <a:spcAft>
                <a:spcPts val="0"/>
              </a:spcAft>
              <a:buNone/>
            </a:pPr>
            <a:r>
              <a:rPr b="1" lang="en-CA" sz="1400">
                <a:solidFill>
                  <a:schemeClr val="dk1"/>
                </a:solidFill>
                <a:latin typeface="Arial"/>
                <a:ea typeface="Arial"/>
                <a:cs typeface="Arial"/>
                <a:sym typeface="Arial"/>
              </a:rPr>
              <a:t>Research </a:t>
            </a:r>
            <a:endParaRPr/>
          </a:p>
          <a:p>
            <a:pPr indent="0" lvl="0" marL="0" marR="0" rtl="0" algn="ctr">
              <a:lnSpc>
                <a:spcPct val="100000"/>
              </a:lnSpc>
              <a:spcBef>
                <a:spcPts val="0"/>
              </a:spcBef>
              <a:spcAft>
                <a:spcPts val="0"/>
              </a:spcAft>
              <a:buNone/>
            </a:pPr>
            <a:r>
              <a:t/>
            </a:r>
            <a:endParaRPr b="1" sz="1200">
              <a:solidFill>
                <a:schemeClr val="dk1"/>
              </a:solidFill>
              <a:latin typeface="Arial"/>
              <a:ea typeface="Arial"/>
              <a:cs typeface="Arial"/>
              <a:sym typeface="Arial"/>
            </a:endParaRPr>
          </a:p>
        </p:txBody>
      </p:sp>
      <p:sp>
        <p:nvSpPr>
          <p:cNvPr id="155" name="Google Shape;155;p5"/>
          <p:cNvSpPr/>
          <p:nvPr/>
        </p:nvSpPr>
        <p:spPr>
          <a:xfrm>
            <a:off x="263682" y="1567118"/>
            <a:ext cx="574159" cy="3893939"/>
          </a:xfrm>
          <a:prstGeom prst="leftBrace">
            <a:avLst>
              <a:gd fmla="val 82407" name="adj1"/>
              <a:gd fmla="val 50000" name="adj2"/>
            </a:avLst>
          </a:prstGeom>
          <a:noFill/>
          <a:ln cap="flat" cmpd="sng"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
        <p:nvSpPr>
          <p:cNvPr id="156" name="Google Shape;156;p5"/>
          <p:cNvSpPr/>
          <p:nvPr/>
        </p:nvSpPr>
        <p:spPr>
          <a:xfrm rot="10800000">
            <a:off x="3037947" y="1567119"/>
            <a:ext cx="574159" cy="3893939"/>
          </a:xfrm>
          <a:prstGeom prst="leftBrace">
            <a:avLst>
              <a:gd fmla="val 82407" name="adj1"/>
              <a:gd fmla="val 50000" name="adj2"/>
            </a:avLst>
          </a:prstGeom>
          <a:noFill/>
          <a:ln cap="flat" cmpd="sng"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D399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6"/>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62" name="Google Shape;162;p6"/>
          <p:cNvSpPr txBox="1"/>
          <p:nvPr/>
        </p:nvSpPr>
        <p:spPr>
          <a:xfrm>
            <a:off x="152399" y="273160"/>
            <a:ext cx="11201401"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KEY LEARNING OUTCOMES</a:t>
            </a:r>
            <a:endParaRPr/>
          </a:p>
        </p:txBody>
      </p:sp>
      <p:grpSp>
        <p:nvGrpSpPr>
          <p:cNvPr id="163" name="Google Shape;163;p6"/>
          <p:cNvGrpSpPr/>
          <p:nvPr/>
        </p:nvGrpSpPr>
        <p:grpSpPr>
          <a:xfrm>
            <a:off x="1066800" y="1649195"/>
            <a:ext cx="9143999" cy="3714751"/>
            <a:chOff x="0" y="579654"/>
            <a:chExt cx="9143999" cy="3714751"/>
          </a:xfrm>
        </p:grpSpPr>
        <p:sp>
          <p:nvSpPr>
            <p:cNvPr id="164" name="Google Shape;164;p6"/>
            <p:cNvSpPr/>
            <p:nvPr/>
          </p:nvSpPr>
          <p:spPr>
            <a:xfrm>
              <a:off x="0" y="579654"/>
              <a:ext cx="2857499" cy="1714500"/>
            </a:xfrm>
            <a:prstGeom prst="rect">
              <a:avLst/>
            </a:prstGeom>
            <a:solidFill>
              <a:srgbClr val="95959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txBox="1"/>
            <p:nvPr/>
          </p:nvSpPr>
          <p:spPr>
            <a:xfrm>
              <a:off x="0" y="579654"/>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Calibri"/>
                <a:buNone/>
              </a:pPr>
              <a:r>
                <a:rPr i="1" lang="en-CA" sz="2200">
                  <a:solidFill>
                    <a:schemeClr val="dk1"/>
                  </a:solidFill>
                  <a:latin typeface="Montserrat"/>
                  <a:ea typeface="Montserrat"/>
                  <a:cs typeface="Montserrat"/>
                  <a:sym typeface="Montserrat"/>
                </a:rPr>
                <a:t>Perform data visualization using Seaborn &amp; Matplotlib libraries</a:t>
              </a:r>
              <a:endParaRPr sz="2200">
                <a:solidFill>
                  <a:schemeClr val="dk1"/>
                </a:solidFill>
                <a:latin typeface="Calibri"/>
                <a:ea typeface="Calibri"/>
                <a:cs typeface="Calibri"/>
                <a:sym typeface="Calibri"/>
              </a:endParaRPr>
            </a:p>
          </p:txBody>
        </p:sp>
        <p:sp>
          <p:nvSpPr>
            <p:cNvPr id="166" name="Google Shape;166;p6"/>
            <p:cNvSpPr/>
            <p:nvPr/>
          </p:nvSpPr>
          <p:spPr>
            <a:xfrm>
              <a:off x="3143250" y="579654"/>
              <a:ext cx="2857499" cy="1714500"/>
            </a:xfrm>
            <a:prstGeom prst="rect">
              <a:avLst/>
            </a:prstGeom>
            <a:solidFill>
              <a:srgbClr val="9E9E9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txBox="1"/>
            <p:nvPr/>
          </p:nvSpPr>
          <p:spPr>
            <a:xfrm>
              <a:off x="3143250" y="579654"/>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Montserrat"/>
                <a:buNone/>
              </a:pPr>
              <a:r>
                <a:rPr i="1" lang="en-CA" sz="2200">
                  <a:solidFill>
                    <a:schemeClr val="dk1"/>
                  </a:solidFill>
                  <a:latin typeface="Montserrat"/>
                  <a:ea typeface="Montserrat"/>
                  <a:cs typeface="Montserrat"/>
                  <a:sym typeface="Montserrat"/>
                </a:rPr>
                <a:t>Train an XG-boost algorithm to predict university admission</a:t>
              </a:r>
              <a:endParaRPr/>
            </a:p>
          </p:txBody>
        </p:sp>
        <p:sp>
          <p:nvSpPr>
            <p:cNvPr id="168" name="Google Shape;168;p6"/>
            <p:cNvSpPr/>
            <p:nvPr/>
          </p:nvSpPr>
          <p:spPr>
            <a:xfrm>
              <a:off x="6286500" y="579654"/>
              <a:ext cx="2857499" cy="1714500"/>
            </a:xfrm>
            <a:prstGeom prst="rect">
              <a:avLst/>
            </a:prstGeom>
            <a:solidFill>
              <a:srgbClr val="A8A8A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txBox="1"/>
            <p:nvPr/>
          </p:nvSpPr>
          <p:spPr>
            <a:xfrm>
              <a:off x="6286500" y="579654"/>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Montserrat"/>
                <a:buNone/>
              </a:pPr>
              <a:r>
                <a:rPr i="1" lang="en-CA" sz="2200">
                  <a:solidFill>
                    <a:schemeClr val="dk1"/>
                  </a:solidFill>
                  <a:latin typeface="Montserrat"/>
                  <a:ea typeface="Montserrat"/>
                  <a:cs typeface="Montserrat"/>
                  <a:sym typeface="Montserrat"/>
                </a:rPr>
                <a:t>Train an XG-boost algorithm to predict life expectancy (capstone project)</a:t>
              </a:r>
              <a:endParaRPr/>
            </a:p>
          </p:txBody>
        </p:sp>
        <p:sp>
          <p:nvSpPr>
            <p:cNvPr id="170" name="Google Shape;170;p6"/>
            <p:cNvSpPr/>
            <p:nvPr/>
          </p:nvSpPr>
          <p:spPr>
            <a:xfrm>
              <a:off x="0" y="2579905"/>
              <a:ext cx="2857499" cy="1714500"/>
            </a:xfrm>
            <a:prstGeom prst="rect">
              <a:avLst/>
            </a:prstGeom>
            <a:solidFill>
              <a:srgbClr val="B2B2B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0" y="2579905"/>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Montserrat"/>
                <a:buNone/>
              </a:pPr>
              <a:r>
                <a:rPr i="1" lang="en-CA" sz="2200">
                  <a:solidFill>
                    <a:schemeClr val="dk1"/>
                  </a:solidFill>
                  <a:latin typeface="Montserrat"/>
                  <a:ea typeface="Montserrat"/>
                  <a:cs typeface="Montserrat"/>
                  <a:sym typeface="Montserrat"/>
                </a:rPr>
                <a:t>Understand the theory/intuition behind boosting</a:t>
              </a:r>
              <a:endParaRPr/>
            </a:p>
          </p:txBody>
        </p:sp>
        <p:sp>
          <p:nvSpPr>
            <p:cNvPr id="172" name="Google Shape;172;p6"/>
            <p:cNvSpPr/>
            <p:nvPr/>
          </p:nvSpPr>
          <p:spPr>
            <a:xfrm>
              <a:off x="3143250" y="2579904"/>
              <a:ext cx="2857499" cy="1714500"/>
            </a:xfrm>
            <a:prstGeom prst="rect">
              <a:avLst/>
            </a:prstGeom>
            <a:solidFill>
              <a:srgbClr val="BBBBBB"/>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txBox="1"/>
            <p:nvPr/>
          </p:nvSpPr>
          <p:spPr>
            <a:xfrm>
              <a:off x="3143250" y="2579904"/>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Montserrat"/>
                <a:buNone/>
              </a:pPr>
              <a:r>
                <a:rPr i="1" lang="en-CA" sz="2200">
                  <a:solidFill>
                    <a:schemeClr val="dk1"/>
                  </a:solidFill>
                  <a:latin typeface="Montserrat"/>
                  <a:ea typeface="Montserrat"/>
                  <a:cs typeface="Montserrat"/>
                  <a:sym typeface="Montserrat"/>
                </a:rPr>
                <a:t>Learn the advantages &amp; disadvantages of XG-boost</a:t>
              </a:r>
              <a:endParaRPr/>
            </a:p>
          </p:txBody>
        </p:sp>
        <p:sp>
          <p:nvSpPr>
            <p:cNvPr id="174" name="Google Shape;174;p6"/>
            <p:cNvSpPr/>
            <p:nvPr/>
          </p:nvSpPr>
          <p:spPr>
            <a:xfrm>
              <a:off x="6286500" y="2579904"/>
              <a:ext cx="2857499" cy="1714500"/>
            </a:xfrm>
            <a:prstGeom prst="rect">
              <a:avLst/>
            </a:prstGeom>
            <a:solidFill>
              <a:srgbClr val="C5C5C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txBox="1"/>
            <p:nvPr/>
          </p:nvSpPr>
          <p:spPr>
            <a:xfrm>
              <a:off x="6286500" y="2579904"/>
              <a:ext cx="2857499" cy="1714500"/>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dk1"/>
                </a:buClr>
                <a:buSzPts val="2200"/>
                <a:buFont typeface="Montserrat"/>
                <a:buNone/>
              </a:pPr>
              <a:r>
                <a:rPr i="1" lang="en-CA" sz="2200">
                  <a:solidFill>
                    <a:schemeClr val="dk1"/>
                  </a:solidFill>
                  <a:latin typeface="Montserrat"/>
                  <a:ea typeface="Montserrat"/>
                  <a:cs typeface="Montserrat"/>
                  <a:sym typeface="Montserrat"/>
                </a:rPr>
                <a:t>Evaluate trained models performance</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7"/>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181" name="Google Shape;181;p7"/>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WHAT IS REGRESSION?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8"/>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187" name="Google Shape;187;p8"/>
          <p:cNvSpPr/>
          <p:nvPr/>
        </p:nvSpPr>
        <p:spPr>
          <a:xfrm>
            <a:off x="421867" y="250838"/>
            <a:ext cx="9803586"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WHAT IS REGRESSION?</a:t>
            </a:r>
            <a:endParaRPr/>
          </a:p>
        </p:txBody>
      </p:sp>
      <p:sp>
        <p:nvSpPr>
          <p:cNvPr id="188" name="Google Shape;188;p8"/>
          <p:cNvSpPr txBox="1"/>
          <p:nvPr/>
        </p:nvSpPr>
        <p:spPr>
          <a:xfrm>
            <a:off x="350676" y="1288722"/>
            <a:ext cx="11384124" cy="452596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000"/>
              <a:buFont typeface="Arial"/>
              <a:buChar char="•"/>
            </a:pPr>
            <a:r>
              <a:rPr lang="en-CA" sz="2000">
                <a:solidFill>
                  <a:schemeClr val="dk1"/>
                </a:solidFill>
                <a:latin typeface="Montserrat"/>
                <a:ea typeface="Montserrat"/>
                <a:cs typeface="Montserrat"/>
                <a:sym typeface="Montserrat"/>
              </a:rPr>
              <a:t>Regression works by estimating a continuous dependent variable Y from a list of independent input variables X.</a:t>
            </a:r>
            <a:endParaRPr/>
          </a:p>
          <a:p>
            <a:pPr indent="-342900" lvl="0" marL="342900" marR="0" rtl="0" algn="l">
              <a:lnSpc>
                <a:spcPct val="90000"/>
              </a:lnSpc>
              <a:spcBef>
                <a:spcPts val="1000"/>
              </a:spcBef>
              <a:spcAft>
                <a:spcPts val="0"/>
              </a:spcAft>
              <a:buClr>
                <a:schemeClr val="dk1"/>
              </a:buClr>
              <a:buSzPts val="2000"/>
              <a:buFont typeface="Arial"/>
              <a:buChar char="•"/>
            </a:pPr>
            <a:r>
              <a:rPr lang="en-CA" sz="2000">
                <a:solidFill>
                  <a:schemeClr val="dk1"/>
                </a:solidFill>
                <a:latin typeface="Montserrat"/>
                <a:ea typeface="Montserrat"/>
                <a:cs typeface="Montserrat"/>
                <a:sym typeface="Montserrat"/>
              </a:rPr>
              <a:t>Regression is used in many real-life applications:</a:t>
            </a:r>
            <a:endParaRPr/>
          </a:p>
          <a:p>
            <a:pPr indent="-342900" lvl="1" marL="800100" marR="0" rtl="0" algn="l">
              <a:lnSpc>
                <a:spcPct val="90000"/>
              </a:lnSpc>
              <a:spcBef>
                <a:spcPts val="500"/>
              </a:spcBef>
              <a:spcAft>
                <a:spcPts val="0"/>
              </a:spcAft>
              <a:buClr>
                <a:schemeClr val="dk1"/>
              </a:buClr>
              <a:buSzPts val="2000"/>
              <a:buFont typeface="Courier New"/>
              <a:buChar char="o"/>
            </a:pPr>
            <a:r>
              <a:rPr b="0" i="0" lang="en-CA" sz="2000" u="none" cap="none" strike="noStrike">
                <a:solidFill>
                  <a:schemeClr val="dk1"/>
                </a:solidFill>
                <a:latin typeface="Montserrat"/>
                <a:ea typeface="Montserrat"/>
                <a:cs typeface="Montserrat"/>
                <a:sym typeface="Montserrat"/>
              </a:rPr>
              <a:t>Financial forecasting</a:t>
            </a:r>
            <a:endParaRPr/>
          </a:p>
          <a:p>
            <a:pPr indent="-342900" lvl="1" marL="800100" marR="0" rtl="0" algn="l">
              <a:lnSpc>
                <a:spcPct val="90000"/>
              </a:lnSpc>
              <a:spcBef>
                <a:spcPts val="500"/>
              </a:spcBef>
              <a:spcAft>
                <a:spcPts val="0"/>
              </a:spcAft>
              <a:buClr>
                <a:schemeClr val="dk1"/>
              </a:buClr>
              <a:buSzPts val="2000"/>
              <a:buFont typeface="Courier New"/>
              <a:buChar char="o"/>
            </a:pPr>
            <a:r>
              <a:rPr b="0" i="0" lang="en-CA" sz="2000" u="none" cap="none" strike="noStrike">
                <a:solidFill>
                  <a:schemeClr val="dk1"/>
                </a:solidFill>
                <a:latin typeface="Montserrat"/>
                <a:ea typeface="Montserrat"/>
                <a:cs typeface="Montserrat"/>
                <a:sym typeface="Montserrat"/>
              </a:rPr>
              <a:t>Weather analysis</a:t>
            </a:r>
            <a:endParaRPr/>
          </a:p>
        </p:txBody>
      </p:sp>
      <p:sp>
        <p:nvSpPr>
          <p:cNvPr id="189" name="Google Shape;189;p8"/>
          <p:cNvSpPr txBox="1"/>
          <p:nvPr/>
        </p:nvSpPr>
        <p:spPr>
          <a:xfrm>
            <a:off x="1409700" y="1573394"/>
            <a:ext cx="8534400" cy="302516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
        <p:nvSpPr>
          <p:cNvPr id="190" name="Google Shape;190;p8"/>
          <p:cNvSpPr/>
          <p:nvPr/>
        </p:nvSpPr>
        <p:spPr>
          <a:xfrm>
            <a:off x="6324600" y="3900227"/>
            <a:ext cx="2517089" cy="1212999"/>
          </a:xfrm>
          <a:prstGeom prst="roundRect">
            <a:avLst>
              <a:gd fmla="val 16667"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A" sz="2000">
                <a:solidFill>
                  <a:schemeClr val="lt1"/>
                </a:solidFill>
                <a:latin typeface="Calibri"/>
                <a:ea typeface="Calibri"/>
                <a:cs typeface="Calibri"/>
                <a:sym typeface="Calibri"/>
              </a:rPr>
              <a:t>REGRESSION MODEL</a:t>
            </a:r>
            <a:endParaRPr/>
          </a:p>
        </p:txBody>
      </p:sp>
      <p:sp>
        <p:nvSpPr>
          <p:cNvPr id="191" name="Google Shape;191;p8"/>
          <p:cNvSpPr/>
          <p:nvPr/>
        </p:nvSpPr>
        <p:spPr>
          <a:xfrm>
            <a:off x="4672265" y="4262575"/>
            <a:ext cx="1652336" cy="495301"/>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8"/>
          <p:cNvSpPr/>
          <p:nvPr/>
        </p:nvSpPr>
        <p:spPr>
          <a:xfrm>
            <a:off x="8853413" y="4262575"/>
            <a:ext cx="1860402" cy="495301"/>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8"/>
          <p:cNvSpPr/>
          <p:nvPr/>
        </p:nvSpPr>
        <p:spPr>
          <a:xfrm>
            <a:off x="8751259" y="3412285"/>
            <a:ext cx="2916183" cy="707886"/>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CA" sz="2000" u="sng" cap="none" strike="noStrike">
                <a:solidFill>
                  <a:schemeClr val="dk1"/>
                </a:solidFill>
                <a:latin typeface="Montserrat"/>
                <a:ea typeface="Montserrat"/>
                <a:cs typeface="Montserrat"/>
                <a:sym typeface="Montserrat"/>
              </a:rPr>
              <a:t>OUTPUT (Y)</a:t>
            </a:r>
            <a:endParaRPr/>
          </a:p>
          <a:p>
            <a:pPr indent="0" lvl="1" marL="457200" marR="0" rtl="0" algn="ctr">
              <a:spcBef>
                <a:spcPts val="0"/>
              </a:spcBef>
              <a:spcAft>
                <a:spcPts val="0"/>
              </a:spcAft>
              <a:buNone/>
            </a:pPr>
            <a:r>
              <a:rPr b="0" i="0" lang="en-CA" sz="2000" u="none" cap="none" strike="noStrike">
                <a:solidFill>
                  <a:schemeClr val="dk1"/>
                </a:solidFill>
                <a:latin typeface="Montserrat"/>
                <a:ea typeface="Montserrat"/>
                <a:cs typeface="Montserrat"/>
                <a:sym typeface="Montserrat"/>
              </a:rPr>
              <a:t>HOUSE PRICE ($)</a:t>
            </a:r>
            <a:endParaRPr/>
          </a:p>
        </p:txBody>
      </p:sp>
      <p:sp>
        <p:nvSpPr>
          <p:cNvPr id="194" name="Google Shape;194;p8"/>
          <p:cNvSpPr/>
          <p:nvPr/>
        </p:nvSpPr>
        <p:spPr>
          <a:xfrm>
            <a:off x="4031500" y="3238343"/>
            <a:ext cx="482600" cy="2526605"/>
          </a:xfrm>
          <a:prstGeom prst="rightBrace">
            <a:avLst>
              <a:gd fmla="val 167110" name="adj1"/>
              <a:gd fmla="val 50000" name="adj2"/>
            </a:avLst>
          </a:prstGeom>
          <a:noFill/>
          <a:ln cap="flat" cmpd="sng" w="571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8"/>
          <p:cNvSpPr/>
          <p:nvPr/>
        </p:nvSpPr>
        <p:spPr>
          <a:xfrm>
            <a:off x="-1081575" y="3379155"/>
            <a:ext cx="6096000"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CA" sz="2000" u="sng">
                <a:solidFill>
                  <a:schemeClr val="dk1"/>
                </a:solidFill>
                <a:latin typeface="Montserrat"/>
                <a:ea typeface="Montserrat"/>
                <a:cs typeface="Montserrat"/>
                <a:sym typeface="Montserrat"/>
              </a:rPr>
              <a:t>INPUTS (X)</a:t>
            </a:r>
            <a:endParaRPr/>
          </a:p>
          <a:p>
            <a:pPr indent="0" lvl="1" marL="457200" marR="0" rtl="0" algn="ctr">
              <a:spcBef>
                <a:spcPts val="0"/>
              </a:spcBef>
              <a:spcAft>
                <a:spcPts val="0"/>
              </a:spcAft>
              <a:buNone/>
            </a:pPr>
            <a:r>
              <a:rPr b="0" i="0" lang="en-CA" sz="2000" u="none" cap="none" strike="noStrike">
                <a:solidFill>
                  <a:schemeClr val="dk1"/>
                </a:solidFill>
                <a:latin typeface="Montserrat"/>
                <a:ea typeface="Montserrat"/>
                <a:cs typeface="Montserrat"/>
                <a:sym typeface="Montserrat"/>
              </a:rPr>
              <a:t>Number of Bedrooms</a:t>
            </a:r>
            <a:endParaRPr/>
          </a:p>
          <a:p>
            <a:pPr indent="0" lvl="1" marL="457200" marR="0" rtl="0" algn="ctr">
              <a:spcBef>
                <a:spcPts val="0"/>
              </a:spcBef>
              <a:spcAft>
                <a:spcPts val="0"/>
              </a:spcAft>
              <a:buNone/>
            </a:pPr>
            <a:r>
              <a:rPr b="0" i="0" lang="en-CA" sz="2000" u="none" cap="none" strike="noStrike">
                <a:solidFill>
                  <a:schemeClr val="dk1"/>
                </a:solidFill>
                <a:latin typeface="Montserrat"/>
                <a:ea typeface="Montserrat"/>
                <a:cs typeface="Montserrat"/>
                <a:sym typeface="Montserrat"/>
              </a:rPr>
              <a:t>Number of bathrooms</a:t>
            </a:r>
            <a:endParaRPr/>
          </a:p>
          <a:p>
            <a:pPr indent="0" lvl="1" marL="457200" marR="0" rtl="0" algn="ctr">
              <a:spcBef>
                <a:spcPts val="0"/>
              </a:spcBef>
              <a:spcAft>
                <a:spcPts val="0"/>
              </a:spcAft>
              <a:buNone/>
            </a:pPr>
            <a:r>
              <a:rPr b="0" i="0" lang="en-CA" sz="2000" u="none" cap="none" strike="noStrike">
                <a:solidFill>
                  <a:schemeClr val="dk1"/>
                </a:solidFill>
                <a:latin typeface="Montserrat"/>
                <a:ea typeface="Montserrat"/>
                <a:cs typeface="Montserrat"/>
                <a:sym typeface="Montserrat"/>
              </a:rPr>
              <a:t>square footage</a:t>
            </a:r>
            <a:endParaRPr/>
          </a:p>
          <a:p>
            <a:pPr indent="0" lvl="1" marL="457200" marR="0" rtl="0" algn="ctr">
              <a:spcBef>
                <a:spcPts val="0"/>
              </a:spcBef>
              <a:spcAft>
                <a:spcPts val="0"/>
              </a:spcAft>
              <a:buNone/>
            </a:pPr>
            <a:r>
              <a:rPr b="0" i="0" lang="en-CA" sz="2000" u="none" cap="none" strike="noStrike">
                <a:solidFill>
                  <a:schemeClr val="dk1"/>
                </a:solidFill>
                <a:latin typeface="Montserrat"/>
                <a:ea typeface="Montserrat"/>
                <a:cs typeface="Montserrat"/>
                <a:sym typeface="Montserrat"/>
              </a:rPr>
              <a:t>Waterfront property? (Yes or No)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9"/>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201" name="Google Shape;201;p9"/>
          <p:cNvSpPr txBox="1"/>
          <p:nvPr/>
        </p:nvSpPr>
        <p:spPr>
          <a:xfrm>
            <a:off x="349997" y="1981200"/>
            <a:ext cx="5740923" cy="2133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WHAT IS XGBOOST? </a:t>
            </a:r>
            <a:endParaRPr/>
          </a:p>
          <a:p>
            <a:pPr indent="0" lvl="0" marL="0" marR="0" rtl="0" algn="l">
              <a:lnSpc>
                <a:spcPct val="90000"/>
              </a:lnSpc>
              <a:spcBef>
                <a:spcPts val="100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&amp; WHY?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0"/>
          <p:cNvPicPr preferRelativeResize="0"/>
          <p:nvPr/>
        </p:nvPicPr>
        <p:blipFill rotWithShape="1">
          <a:blip r:embed="rId3">
            <a:alphaModFix/>
          </a:blip>
          <a:srcRect b="13333" l="0" r="0" t="0"/>
          <a:stretch/>
        </p:blipFill>
        <p:spPr>
          <a:xfrm>
            <a:off x="0" y="0"/>
            <a:ext cx="12192001" cy="5943600"/>
          </a:xfrm>
          <a:prstGeom prst="rect">
            <a:avLst/>
          </a:prstGeom>
          <a:noFill/>
          <a:ln>
            <a:noFill/>
          </a:ln>
        </p:spPr>
      </p:pic>
      <p:sp>
        <p:nvSpPr>
          <p:cNvPr id="207" name="Google Shape;207;p10"/>
          <p:cNvSpPr/>
          <p:nvPr/>
        </p:nvSpPr>
        <p:spPr>
          <a:xfrm>
            <a:off x="317878" y="279727"/>
            <a:ext cx="7585714"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CA" sz="3600">
                <a:solidFill>
                  <a:schemeClr val="lt1"/>
                </a:solidFill>
                <a:latin typeface="Montserrat"/>
                <a:ea typeface="Montserrat"/>
                <a:cs typeface="Montserrat"/>
                <a:sym typeface="Montserrat"/>
              </a:rPr>
              <a:t>WHAT IS XGBOOST? &amp; WHY?</a:t>
            </a:r>
            <a:endParaRPr sz="3600">
              <a:solidFill>
                <a:schemeClr val="lt1"/>
              </a:solidFill>
              <a:latin typeface="Montserrat"/>
              <a:ea typeface="Montserrat"/>
              <a:cs typeface="Montserrat"/>
              <a:sym typeface="Montserrat"/>
            </a:endParaRPr>
          </a:p>
        </p:txBody>
      </p:sp>
      <p:sp>
        <p:nvSpPr>
          <p:cNvPr id="208" name="Google Shape;208;p10"/>
          <p:cNvSpPr txBox="1"/>
          <p:nvPr/>
        </p:nvSpPr>
        <p:spPr>
          <a:xfrm>
            <a:off x="242656" y="1166018"/>
            <a:ext cx="11339744" cy="4525963"/>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or Extreme gradient boosting is the go-to algorithm for many data scientists.</a:t>
            </a:r>
            <a:endParaRPr sz="1800">
              <a:solidFill>
                <a:schemeClr val="dk1"/>
              </a:solidFill>
              <a:latin typeface="Montserrat"/>
              <a:ea typeface="Montserrat"/>
              <a:cs typeface="Montserrat"/>
              <a:sym typeface="Montserrat"/>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XGBoost is a supervised learning algorithm that implements gradient boosted trees algorithm. </a:t>
            </a:r>
            <a:endParaRPr/>
          </a:p>
          <a:p>
            <a:pPr indent="-285750" lvl="0" marL="285750" marR="0" rtl="0" algn="l">
              <a:lnSpc>
                <a:spcPct val="90000"/>
              </a:lnSpc>
              <a:spcBef>
                <a:spcPts val="1000"/>
              </a:spcBef>
              <a:spcAft>
                <a:spcPts val="0"/>
              </a:spcAft>
              <a:buClr>
                <a:schemeClr val="dk1"/>
              </a:buClr>
              <a:buSzPts val="1800"/>
              <a:buFont typeface="Arial"/>
              <a:buChar char="•"/>
            </a:pPr>
            <a:r>
              <a:rPr lang="en-CA" sz="1800">
                <a:solidFill>
                  <a:schemeClr val="dk1"/>
                </a:solidFill>
                <a:latin typeface="Montserrat"/>
                <a:ea typeface="Montserrat"/>
                <a:cs typeface="Montserrat"/>
                <a:sym typeface="Montserrat"/>
              </a:rPr>
              <a:t>The algorithm works by building a series of models from the training data, each model is built to correct the mistakes made by the previous model. Models are added sequentially until no further improvement can be made. </a:t>
            </a:r>
            <a:endParaRPr/>
          </a:p>
          <a:p>
            <a:pPr indent="-228600" lvl="0" marL="34290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171450" lvl="0" marL="28575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228600" lvl="0" marL="342900" marR="0" rtl="0" algn="l">
              <a:lnSpc>
                <a:spcPct val="90000"/>
              </a:lnSpc>
              <a:spcBef>
                <a:spcPts val="1000"/>
              </a:spcBef>
              <a:spcAft>
                <a:spcPts val="0"/>
              </a:spcAft>
              <a:buClr>
                <a:schemeClr val="dk1"/>
              </a:buClr>
              <a:buSzPts val="1800"/>
              <a:buFont typeface="Arial"/>
              <a:buNone/>
            </a:pPr>
            <a:r>
              <a:t/>
            </a:r>
            <a:endParaRPr sz="1800">
              <a:solidFill>
                <a:schemeClr val="dk1"/>
              </a:solidFill>
              <a:latin typeface="Montserrat"/>
              <a:ea typeface="Montserrat"/>
              <a:cs typeface="Montserrat"/>
              <a:sym typeface="Montserrat"/>
            </a:endParaRPr>
          </a:p>
          <a:p>
            <a:pPr indent="0" lvl="0" marL="0" marR="0" rtl="0" algn="ctr">
              <a:lnSpc>
                <a:spcPct val="90000"/>
              </a:lnSpc>
              <a:spcBef>
                <a:spcPts val="10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grpSp>
        <p:nvGrpSpPr>
          <p:cNvPr id="209" name="Google Shape;209;p10"/>
          <p:cNvGrpSpPr/>
          <p:nvPr/>
        </p:nvGrpSpPr>
        <p:grpSpPr>
          <a:xfrm>
            <a:off x="3221173" y="3532214"/>
            <a:ext cx="4917419" cy="3044117"/>
            <a:chOff x="1011373" y="1941"/>
            <a:chExt cx="4917419" cy="3044117"/>
          </a:xfrm>
        </p:grpSpPr>
        <p:sp>
          <p:nvSpPr>
            <p:cNvPr id="210" name="Google Shape;210;p10"/>
            <p:cNvSpPr/>
            <p:nvPr/>
          </p:nvSpPr>
          <p:spPr>
            <a:xfrm>
              <a:off x="1011373" y="1941"/>
              <a:ext cx="2341628" cy="1404977"/>
            </a:xfrm>
            <a:prstGeom prst="rect">
              <a:avLst/>
            </a:prstGeom>
            <a:solidFill>
              <a:srgbClr val="9E9E9E"/>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txBox="1"/>
            <p:nvPr/>
          </p:nvSpPr>
          <p:spPr>
            <a:xfrm>
              <a:off x="1011373" y="1941"/>
              <a:ext cx="2341628" cy="1404977"/>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Montserrat"/>
                <a:buNone/>
              </a:pPr>
              <a:r>
                <a:rPr i="1" lang="en-CA" sz="2400">
                  <a:solidFill>
                    <a:srgbClr val="000000"/>
                  </a:solidFill>
                  <a:latin typeface="Montserrat"/>
                  <a:ea typeface="Montserrat"/>
                  <a:cs typeface="Montserrat"/>
                  <a:sym typeface="Montserrat"/>
                </a:rPr>
                <a:t>Extremely fast</a:t>
              </a:r>
              <a:endParaRPr/>
            </a:p>
          </p:txBody>
        </p:sp>
        <p:sp>
          <p:nvSpPr>
            <p:cNvPr id="212" name="Google Shape;212;p10"/>
            <p:cNvSpPr/>
            <p:nvPr/>
          </p:nvSpPr>
          <p:spPr>
            <a:xfrm>
              <a:off x="3587164" y="1941"/>
              <a:ext cx="2341628" cy="1404977"/>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txBox="1"/>
            <p:nvPr/>
          </p:nvSpPr>
          <p:spPr>
            <a:xfrm>
              <a:off x="3587164" y="1941"/>
              <a:ext cx="2341628" cy="1404977"/>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Montserrat"/>
                <a:buNone/>
              </a:pPr>
              <a:r>
                <a:rPr i="1" lang="en-CA" sz="2400">
                  <a:solidFill>
                    <a:srgbClr val="000000"/>
                  </a:solidFill>
                  <a:latin typeface="Montserrat"/>
                  <a:ea typeface="Montserrat"/>
                  <a:cs typeface="Montserrat"/>
                  <a:sym typeface="Montserrat"/>
                </a:rPr>
                <a:t>Good memory utilization</a:t>
              </a:r>
              <a:endParaRPr/>
            </a:p>
          </p:txBody>
        </p:sp>
        <p:sp>
          <p:nvSpPr>
            <p:cNvPr id="214" name="Google Shape;214;p10"/>
            <p:cNvSpPr/>
            <p:nvPr/>
          </p:nvSpPr>
          <p:spPr>
            <a:xfrm>
              <a:off x="1011373" y="1641081"/>
              <a:ext cx="2341628" cy="1404977"/>
            </a:xfrm>
            <a:prstGeom prst="rect">
              <a:avLst/>
            </a:prstGeom>
            <a:solidFill>
              <a:srgbClr val="D3D3D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txBox="1"/>
            <p:nvPr/>
          </p:nvSpPr>
          <p:spPr>
            <a:xfrm>
              <a:off x="1011373" y="1641081"/>
              <a:ext cx="2341628" cy="1404977"/>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Montserrat"/>
                <a:buNone/>
              </a:pPr>
              <a:r>
                <a:rPr i="1" lang="en-CA" sz="2400">
                  <a:solidFill>
                    <a:srgbClr val="000000"/>
                  </a:solidFill>
                  <a:latin typeface="Montserrat"/>
                  <a:ea typeface="Montserrat"/>
                  <a:cs typeface="Montserrat"/>
                  <a:sym typeface="Montserrat"/>
                </a:rPr>
                <a:t>Works for regression &amp; Classification</a:t>
              </a:r>
              <a:endParaRPr/>
            </a:p>
          </p:txBody>
        </p:sp>
        <p:sp>
          <p:nvSpPr>
            <p:cNvPr id="216" name="Google Shape;216;p10"/>
            <p:cNvSpPr/>
            <p:nvPr/>
          </p:nvSpPr>
          <p:spPr>
            <a:xfrm>
              <a:off x="3587164" y="1641081"/>
              <a:ext cx="2341628" cy="1404977"/>
            </a:xfrm>
            <a:prstGeom prst="rect">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txBox="1"/>
            <p:nvPr/>
          </p:nvSpPr>
          <p:spPr>
            <a:xfrm>
              <a:off x="3587164" y="1641081"/>
              <a:ext cx="2341628" cy="1404977"/>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Montserrat"/>
                <a:buNone/>
              </a:pPr>
              <a:r>
                <a:rPr i="1" lang="en-CA" sz="2400">
                  <a:solidFill>
                    <a:srgbClr val="000000"/>
                  </a:solidFill>
                  <a:latin typeface="Montserrat"/>
                  <a:ea typeface="Montserrat"/>
                  <a:cs typeface="Montserrat"/>
                  <a:sym typeface="Montserrat"/>
                </a:rPr>
                <a:t>Robust</a:t>
              </a:r>
              <a:endParaRPr/>
            </a:p>
          </p:txBody>
        </p:sp>
      </p:grpSp>
      <p:sp>
        <p:nvSpPr>
          <p:cNvPr id="218" name="Google Shape;218;p10"/>
          <p:cNvSpPr txBox="1"/>
          <p:nvPr/>
        </p:nvSpPr>
        <p:spPr>
          <a:xfrm>
            <a:off x="1143000" y="2779284"/>
            <a:ext cx="969263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CA" sz="2000">
                <a:solidFill>
                  <a:schemeClr val="dk1"/>
                </a:solidFill>
                <a:latin typeface="Montserrat"/>
                <a:ea typeface="Montserrat"/>
                <a:cs typeface="Montserrat"/>
                <a:sym typeface="Montserrat"/>
              </a:rPr>
              <a:t>“When in doubt, use xgboost!” – Owen Zhang, 1</a:t>
            </a:r>
            <a:r>
              <a:rPr b="1" baseline="30000" i="1" lang="en-CA" sz="2000">
                <a:solidFill>
                  <a:schemeClr val="dk1"/>
                </a:solidFill>
                <a:latin typeface="Montserrat"/>
                <a:ea typeface="Montserrat"/>
                <a:cs typeface="Montserrat"/>
                <a:sym typeface="Montserrat"/>
              </a:rPr>
              <a:t>st</a:t>
            </a:r>
            <a:r>
              <a:rPr b="1" i="1" lang="en-CA" sz="2000">
                <a:solidFill>
                  <a:schemeClr val="dk1"/>
                </a:solidFill>
                <a:latin typeface="Montserrat"/>
                <a:ea typeface="Montserrat"/>
                <a:cs typeface="Montserrat"/>
                <a:sym typeface="Montserrat"/>
              </a:rPr>
              <a:t> place Kaggle Winner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11"/>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224" name="Google Shape;224;p11"/>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PROJECT DEMO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12"/>
          <p:cNvPicPr preferRelativeResize="0"/>
          <p:nvPr/>
        </p:nvPicPr>
        <p:blipFill rotWithShape="1">
          <a:blip r:embed="rId3">
            <a:alphaModFix/>
          </a:blip>
          <a:srcRect b="0" l="0" r="0" t="0"/>
          <a:stretch/>
        </p:blipFill>
        <p:spPr>
          <a:xfrm>
            <a:off x="0" y="0"/>
            <a:ext cx="12192001" cy="6858000"/>
          </a:xfrm>
          <a:prstGeom prst="rect">
            <a:avLst/>
          </a:prstGeom>
          <a:noFill/>
          <a:ln>
            <a:noFill/>
          </a:ln>
        </p:spPr>
      </p:pic>
      <p:sp>
        <p:nvSpPr>
          <p:cNvPr id="230" name="Google Shape;230;p12"/>
          <p:cNvSpPr txBox="1"/>
          <p:nvPr/>
        </p:nvSpPr>
        <p:spPr>
          <a:xfrm>
            <a:off x="228600" y="228600"/>
            <a:ext cx="7696200"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Arial"/>
              <a:buNone/>
            </a:pPr>
            <a:r>
              <a:rPr lang="en-CA" sz="3600">
                <a:solidFill>
                  <a:schemeClr val="lt1"/>
                </a:solidFill>
                <a:latin typeface="Montserrat"/>
                <a:ea typeface="Montserrat"/>
                <a:cs typeface="Montserrat"/>
                <a:sym typeface="Montserrat"/>
              </a:rPr>
              <a:t>PROJECT DEMO</a:t>
            </a:r>
            <a:endParaRPr/>
          </a:p>
        </p:txBody>
      </p:sp>
      <p:pic>
        <p:nvPicPr>
          <p:cNvPr id="231" name="Google Shape;231;p12"/>
          <p:cNvPicPr preferRelativeResize="0"/>
          <p:nvPr/>
        </p:nvPicPr>
        <p:blipFill rotWithShape="1">
          <a:blip r:embed="rId4">
            <a:alphaModFix/>
          </a:blip>
          <a:srcRect b="0" l="0" r="0" t="0"/>
          <a:stretch/>
        </p:blipFill>
        <p:spPr>
          <a:xfrm>
            <a:off x="228600" y="1905000"/>
            <a:ext cx="11506200" cy="33301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13"/>
          <p:cNvPicPr preferRelativeResize="0"/>
          <p:nvPr/>
        </p:nvPicPr>
        <p:blipFill rotWithShape="1">
          <a:blip r:embed="rId3">
            <a:alphaModFix/>
          </a:blip>
          <a:srcRect b="0" l="0" r="0" t="0"/>
          <a:stretch/>
        </p:blipFill>
        <p:spPr>
          <a:xfrm>
            <a:off x="0" y="0"/>
            <a:ext cx="12257636" cy="6858000"/>
          </a:xfrm>
          <a:prstGeom prst="rect">
            <a:avLst/>
          </a:prstGeom>
          <a:noFill/>
          <a:ln>
            <a:noFill/>
          </a:ln>
        </p:spPr>
      </p:pic>
      <p:sp>
        <p:nvSpPr>
          <p:cNvPr id="237" name="Google Shape;237;p13"/>
          <p:cNvSpPr txBox="1"/>
          <p:nvPr/>
        </p:nvSpPr>
        <p:spPr>
          <a:xfrm>
            <a:off x="349997" y="1981200"/>
            <a:ext cx="5740923" cy="10275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Arial"/>
              <a:buNone/>
            </a:pPr>
            <a:r>
              <a:rPr b="1" lang="en-CA" sz="4400">
                <a:solidFill>
                  <a:schemeClr val="lt1"/>
                </a:solidFill>
                <a:latin typeface="Montserrat"/>
                <a:ea typeface="Montserrat"/>
                <a:cs typeface="Montserrat"/>
                <a:sym typeface="Montserrat"/>
              </a:rPr>
              <a:t>FINAL CAPSTONE PROJECT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14"/>
          <p:cNvPicPr preferRelativeResize="0"/>
          <p:nvPr/>
        </p:nvPicPr>
        <p:blipFill rotWithShape="1">
          <a:blip r:embed="rId3">
            <a:alphaModFix/>
          </a:blip>
          <a:srcRect b="0" l="0" r="0" t="0"/>
          <a:stretch/>
        </p:blipFill>
        <p:spPr>
          <a:xfrm>
            <a:off x="0" y="0"/>
            <a:ext cx="12192001" cy="6858000"/>
          </a:xfrm>
          <a:prstGeom prst="rect">
            <a:avLst/>
          </a:prstGeom>
          <a:noFill/>
          <a:ln>
            <a:noFill/>
          </a:ln>
        </p:spPr>
      </p:pic>
      <p:sp>
        <p:nvSpPr>
          <p:cNvPr id="243" name="Google Shape;243;p14"/>
          <p:cNvSpPr/>
          <p:nvPr/>
        </p:nvSpPr>
        <p:spPr>
          <a:xfrm>
            <a:off x="187436" y="1081268"/>
            <a:ext cx="10974887" cy="3224145"/>
          </a:xfrm>
          <a:prstGeom prst="rect">
            <a:avLst/>
          </a:prstGeom>
          <a:noFill/>
          <a:ln>
            <a:noFill/>
          </a:ln>
        </p:spPr>
        <p:txBody>
          <a:bodyPr anchorCtr="0" anchor="t" bIns="45700" lIns="91425" spcFirstLastPara="1" rIns="91425" wrap="square" tIns="45700">
            <a:normAutofit/>
          </a:bodyPr>
          <a:lstStyle/>
          <a:p>
            <a:pPr indent="-228600" lvl="1" marL="342900" marR="0" rtl="0" algn="l">
              <a:lnSpc>
                <a:spcPct val="90000"/>
              </a:lnSpc>
              <a:spcBef>
                <a:spcPts val="0"/>
              </a:spcBef>
              <a:spcAft>
                <a:spcPts val="0"/>
              </a:spcAft>
              <a:buClr>
                <a:schemeClr val="dk1"/>
              </a:buClr>
              <a:buSzPts val="1800"/>
              <a:buFont typeface="Arial"/>
              <a:buNone/>
            </a:pPr>
            <a:r>
              <a:t/>
            </a:r>
            <a:endParaRPr b="0" i="0" sz="1800" u="none" cap="none" strike="noStrike">
              <a:solidFill>
                <a:schemeClr val="dk1"/>
              </a:solidFill>
              <a:latin typeface="Montserrat"/>
              <a:ea typeface="Montserrat"/>
              <a:cs typeface="Montserrat"/>
              <a:sym typeface="Montserrat"/>
            </a:endParaRPr>
          </a:p>
        </p:txBody>
      </p:sp>
      <p:sp>
        <p:nvSpPr>
          <p:cNvPr id="244" name="Google Shape;244;p14"/>
          <p:cNvSpPr txBox="1"/>
          <p:nvPr/>
        </p:nvSpPr>
        <p:spPr>
          <a:xfrm>
            <a:off x="187434" y="202763"/>
            <a:ext cx="1008006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Arial"/>
              <a:buNone/>
            </a:pPr>
            <a:r>
              <a:rPr lang="en-CA" sz="3600">
                <a:solidFill>
                  <a:schemeClr val="lt1"/>
                </a:solidFill>
                <a:latin typeface="Montserrat"/>
                <a:ea typeface="Montserrat"/>
                <a:cs typeface="Montserrat"/>
                <a:sym typeface="Montserrat"/>
              </a:rPr>
              <a:t>FINAL CAPSTONE PROJECT </a:t>
            </a:r>
            <a:endParaRPr/>
          </a:p>
        </p:txBody>
      </p:sp>
      <p:sp>
        <p:nvSpPr>
          <p:cNvPr id="245" name="Google Shape;245;p14"/>
          <p:cNvSpPr txBox="1"/>
          <p:nvPr/>
        </p:nvSpPr>
        <p:spPr>
          <a:xfrm>
            <a:off x="4495800" y="6319422"/>
            <a:ext cx="632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alibri"/>
              <a:buNone/>
            </a:pPr>
            <a:r>
              <a:rPr b="0" i="0" lang="en-CA" sz="1400" u="none" cap="none" strike="noStrike">
                <a:solidFill>
                  <a:schemeClr val="dk1"/>
                </a:solidFill>
                <a:latin typeface="Calibri"/>
                <a:ea typeface="Calibri"/>
                <a:cs typeface="Calibri"/>
                <a:sym typeface="Calibri"/>
              </a:rPr>
              <a:t>Source: https://www.kaggle.com/jkumarajarshi/life-expectancy-who</a:t>
            </a:r>
            <a:endParaRPr/>
          </a:p>
        </p:txBody>
      </p:sp>
      <p:sp>
        <p:nvSpPr>
          <p:cNvPr id="246" name="Google Shape;246;p14"/>
          <p:cNvSpPr txBox="1"/>
          <p:nvPr/>
        </p:nvSpPr>
        <p:spPr>
          <a:xfrm>
            <a:off x="759596" y="1264643"/>
            <a:ext cx="11432403"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p:txBody>
      </p:sp>
      <p:sp>
        <p:nvSpPr>
          <p:cNvPr id="247" name="Google Shape;247;p14"/>
          <p:cNvSpPr txBox="1"/>
          <p:nvPr/>
        </p:nvSpPr>
        <p:spPr>
          <a:xfrm>
            <a:off x="1409700" y="1573394"/>
            <a:ext cx="8534400" cy="302516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48" name="Google Shape;248;p14"/>
          <p:cNvSpPr txBox="1"/>
          <p:nvPr/>
        </p:nvSpPr>
        <p:spPr>
          <a:xfrm>
            <a:off x="8994105" y="3992401"/>
            <a:ext cx="206425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alibri"/>
              <a:buNone/>
            </a:pPr>
            <a:r>
              <a:rPr b="0" i="0" lang="en-CA" sz="2000" u="none" cap="none" strike="noStrike">
                <a:solidFill>
                  <a:schemeClr val="dk1"/>
                </a:solidFill>
                <a:latin typeface="Calibri"/>
                <a:ea typeface="Calibri"/>
                <a:cs typeface="Calibri"/>
                <a:sym typeface="Calibri"/>
              </a:rPr>
              <a:t>LIFE EXPECTANCY</a:t>
            </a:r>
            <a:endParaRPr/>
          </a:p>
        </p:txBody>
      </p:sp>
      <p:sp>
        <p:nvSpPr>
          <p:cNvPr id="249" name="Google Shape;249;p14"/>
          <p:cNvSpPr txBox="1"/>
          <p:nvPr/>
        </p:nvSpPr>
        <p:spPr>
          <a:xfrm>
            <a:off x="1258129" y="2735632"/>
            <a:ext cx="26213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rPr b="1" i="0" lang="en-CA" sz="2400" u="sng" cap="none" strike="noStrike">
                <a:solidFill>
                  <a:schemeClr val="dk1"/>
                </a:solidFill>
                <a:latin typeface="Calibri"/>
                <a:ea typeface="Calibri"/>
                <a:cs typeface="Calibri"/>
                <a:sym typeface="Calibri"/>
              </a:rPr>
              <a:t>INPUT FEATURES</a:t>
            </a:r>
            <a:endParaRPr/>
          </a:p>
        </p:txBody>
      </p:sp>
      <p:sp>
        <p:nvSpPr>
          <p:cNvPr id="250" name="Google Shape;250;p14"/>
          <p:cNvSpPr/>
          <p:nvPr/>
        </p:nvSpPr>
        <p:spPr>
          <a:xfrm>
            <a:off x="5108182" y="3649439"/>
            <a:ext cx="2614534" cy="1154322"/>
          </a:xfrm>
          <a:prstGeom prst="roundRect">
            <a:avLst>
              <a:gd fmla="val 16667" name="adj"/>
            </a:avLst>
          </a:prstGeom>
          <a:solidFill>
            <a:srgbClr val="EF243B"/>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Calibri"/>
              <a:buNone/>
            </a:pPr>
            <a:r>
              <a:rPr b="1" i="0" lang="en-CA" sz="2400" u="none" cap="none" strike="noStrike">
                <a:solidFill>
                  <a:srgbClr val="FFFFFF"/>
                </a:solidFill>
                <a:latin typeface="Calibri"/>
                <a:ea typeface="Calibri"/>
                <a:cs typeface="Calibri"/>
                <a:sym typeface="Calibri"/>
              </a:rPr>
              <a:t>XG-BOOST REGRESSION MODEL</a:t>
            </a:r>
            <a:endParaRPr/>
          </a:p>
        </p:txBody>
      </p:sp>
      <p:sp>
        <p:nvSpPr>
          <p:cNvPr id="251" name="Google Shape;251;p14"/>
          <p:cNvSpPr/>
          <p:nvPr/>
        </p:nvSpPr>
        <p:spPr>
          <a:xfrm>
            <a:off x="3951833" y="3964420"/>
            <a:ext cx="1105366" cy="524360"/>
          </a:xfrm>
          <a:prstGeom prst="rightArrow">
            <a:avLst>
              <a:gd fmla="val 50000" name="adj1"/>
              <a:gd fmla="val 50000" name="adj2"/>
            </a:avLst>
          </a:prstGeom>
          <a:solidFill>
            <a:srgbClr val="EF253C"/>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rgbClr val="FFFFFF"/>
              </a:solidFill>
              <a:latin typeface="Calibri"/>
              <a:ea typeface="Calibri"/>
              <a:cs typeface="Calibri"/>
              <a:sym typeface="Calibri"/>
            </a:endParaRPr>
          </a:p>
        </p:txBody>
      </p:sp>
      <p:sp>
        <p:nvSpPr>
          <p:cNvPr id="252" name="Google Shape;252;p14"/>
          <p:cNvSpPr/>
          <p:nvPr/>
        </p:nvSpPr>
        <p:spPr>
          <a:xfrm>
            <a:off x="7820137" y="3964420"/>
            <a:ext cx="1105366" cy="524360"/>
          </a:xfrm>
          <a:prstGeom prst="rightArrow">
            <a:avLst>
              <a:gd fmla="val 50000" name="adj1"/>
              <a:gd fmla="val 50000" name="adj2"/>
            </a:avLst>
          </a:prstGeom>
          <a:solidFill>
            <a:srgbClr val="EF253C"/>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rgbClr val="FFFFFF"/>
              </a:solidFill>
              <a:latin typeface="Calibri"/>
              <a:ea typeface="Calibri"/>
              <a:cs typeface="Calibri"/>
              <a:sym typeface="Calibri"/>
            </a:endParaRPr>
          </a:p>
        </p:txBody>
      </p:sp>
      <p:sp>
        <p:nvSpPr>
          <p:cNvPr id="253" name="Google Shape;253;p14"/>
          <p:cNvSpPr txBox="1"/>
          <p:nvPr/>
        </p:nvSpPr>
        <p:spPr>
          <a:xfrm>
            <a:off x="8481367" y="2770506"/>
            <a:ext cx="267486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alibri"/>
              <a:buNone/>
            </a:pPr>
            <a:r>
              <a:rPr b="1" i="0" lang="en-CA" sz="2400" u="sng" cap="none" strike="noStrike">
                <a:solidFill>
                  <a:schemeClr val="dk1"/>
                </a:solidFill>
                <a:latin typeface="Calibri"/>
                <a:ea typeface="Calibri"/>
                <a:cs typeface="Calibri"/>
                <a:sym typeface="Calibri"/>
              </a:rPr>
              <a:t>PREDICTION</a:t>
            </a:r>
            <a:endParaRPr/>
          </a:p>
        </p:txBody>
      </p:sp>
      <p:sp>
        <p:nvSpPr>
          <p:cNvPr id="254" name="Google Shape;254;p14"/>
          <p:cNvSpPr txBox="1"/>
          <p:nvPr/>
        </p:nvSpPr>
        <p:spPr>
          <a:xfrm>
            <a:off x="322861" y="3084188"/>
            <a:ext cx="3905050"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YEAR</a:t>
            </a:r>
            <a:endParaRPr/>
          </a:p>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ADULT MORTALITY</a:t>
            </a:r>
            <a:endParaRPr/>
          </a:p>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STATUS</a:t>
            </a:r>
            <a:endParaRPr/>
          </a:p>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INFANT DEATHS</a:t>
            </a:r>
            <a:endParaRPr/>
          </a:p>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ALCOHOL</a:t>
            </a:r>
            <a:endParaRPr/>
          </a:p>
          <a:p>
            <a:pPr indent="0" lvl="0" marL="0" marR="0" rtl="0" algn="ctr">
              <a:lnSpc>
                <a:spcPct val="100000"/>
              </a:lnSpc>
              <a:spcBef>
                <a:spcPts val="0"/>
              </a:spcBef>
              <a:spcAft>
                <a:spcPts val="0"/>
              </a:spcAft>
              <a:buNone/>
            </a:pPr>
            <a:r>
              <a:rPr b="0" i="0" lang="en-CA" sz="2000" u="none" cap="none" strike="noStrike">
                <a:solidFill>
                  <a:schemeClr val="dk1"/>
                </a:solidFill>
                <a:latin typeface="Calibri"/>
                <a:ea typeface="Calibri"/>
                <a:cs typeface="Calibri"/>
                <a:sym typeface="Calibri"/>
              </a:rPr>
              <a:t>HEPATITIS B</a:t>
            </a:r>
            <a:endParaRPr/>
          </a:p>
        </p:txBody>
      </p:sp>
      <p:sp>
        <p:nvSpPr>
          <p:cNvPr id="255" name="Google Shape;255;p14"/>
          <p:cNvSpPr txBox="1"/>
          <p:nvPr/>
        </p:nvSpPr>
        <p:spPr>
          <a:xfrm>
            <a:off x="187432" y="1215835"/>
            <a:ext cx="11327505" cy="1217769"/>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1800"/>
              <a:buFont typeface="Arial"/>
              <a:buChar char="•"/>
            </a:pPr>
            <a:r>
              <a:rPr b="0" lang="en-CA" sz="1800">
                <a:solidFill>
                  <a:schemeClr val="dk1"/>
                </a:solidFill>
                <a:latin typeface="Montserrat"/>
                <a:ea typeface="Montserrat"/>
                <a:cs typeface="Montserrat"/>
                <a:sym typeface="Montserrat"/>
              </a:rPr>
              <a:t>In this hands-on project, we will train an XG-Boost model to predict life expectancy.</a:t>
            </a:r>
            <a:endParaRPr/>
          </a:p>
          <a:p>
            <a:pPr indent="-342900" lvl="0" marL="342900" marR="0" rtl="0" algn="l">
              <a:lnSpc>
                <a:spcPct val="90000"/>
              </a:lnSpc>
              <a:spcBef>
                <a:spcPts val="1000"/>
              </a:spcBef>
              <a:spcAft>
                <a:spcPts val="0"/>
              </a:spcAft>
              <a:buClr>
                <a:schemeClr val="dk1"/>
              </a:buClr>
              <a:buSzPts val="1800"/>
              <a:buFont typeface="Arial"/>
              <a:buChar char="•"/>
            </a:pPr>
            <a:r>
              <a:rPr b="0" lang="en-CA" sz="1800">
                <a:solidFill>
                  <a:schemeClr val="dk1"/>
                </a:solidFill>
                <a:latin typeface="Montserrat"/>
                <a:ea typeface="Montserrat"/>
                <a:cs typeface="Montserrat"/>
                <a:sym typeface="Montserrat"/>
              </a:rPr>
              <a:t>The data is obtained from World Health Organization (WHO) and United Nations Website and contains features like year, status, life expectancy, adult mortality, infant deaths, percentage of expenditure, alcohol etc.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5"/>
          <p:cNvPicPr preferRelativeResize="0"/>
          <p:nvPr/>
        </p:nvPicPr>
        <p:blipFill rotWithShape="1">
          <a:blip r:embed="rId3">
            <a:alphaModFix/>
          </a:blip>
          <a:srcRect b="0" l="0" r="0" t="0"/>
          <a:stretch/>
        </p:blipFill>
        <p:spPr>
          <a:xfrm>
            <a:off x="0" y="0"/>
            <a:ext cx="12192001" cy="6858000"/>
          </a:xfrm>
          <a:prstGeom prst="rect">
            <a:avLst/>
          </a:prstGeom>
          <a:noFill/>
          <a:ln>
            <a:noFill/>
          </a:ln>
        </p:spPr>
      </p:pic>
      <p:sp>
        <p:nvSpPr>
          <p:cNvPr id="261" name="Google Shape;261;p15"/>
          <p:cNvSpPr/>
          <p:nvPr/>
        </p:nvSpPr>
        <p:spPr>
          <a:xfrm>
            <a:off x="187434" y="1363929"/>
            <a:ext cx="10974887" cy="472469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lang="en-CA" sz="1800">
                <a:solidFill>
                  <a:schemeClr val="dk1"/>
                </a:solidFill>
                <a:latin typeface="Montserrat"/>
                <a:ea typeface="Montserrat"/>
                <a:cs typeface="Montserrat"/>
                <a:sym typeface="Montserrat"/>
              </a:rPr>
              <a:t>Final Capstone Project Tasks:</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Import the “</a:t>
            </a:r>
            <a:r>
              <a:rPr b="0" i="1" lang="en-CA" sz="1800" u="none" cap="none" strike="noStrike">
                <a:solidFill>
                  <a:schemeClr val="dk1"/>
                </a:solidFill>
                <a:latin typeface="Montserrat"/>
                <a:ea typeface="Montserrat"/>
                <a:cs typeface="Montserrat"/>
                <a:sym typeface="Montserrat"/>
              </a:rPr>
              <a:t>Life_Expectancy_Data.csv</a:t>
            </a:r>
            <a:r>
              <a:rPr b="0" i="0" lang="en-CA" sz="1800" u="none" cap="none" strike="noStrike">
                <a:solidFill>
                  <a:schemeClr val="dk1"/>
                </a:solidFill>
                <a:latin typeface="Montserrat"/>
                <a:ea typeface="Montserrat"/>
                <a:cs typeface="Montserrat"/>
                <a:sym typeface="Montserrat"/>
              </a:rPr>
              <a:t>” dataset using Pandas</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Check if missing values exist in the data, perform feature engineering to eliminate or fill missing values</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What is the memory usage of the DataFrame</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List the minimum, average and maximum life expectancy</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Plot the histogram, pairplot and correlation heatmap for all features </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Plot the scatterplot between “Income composition of resources” and “life expectancy”, use “status” for hue attribute. Comment on the plot</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Plot the scatterplot between “Schooling” and “life expectancy”, use status for hue attribute. Comment on the scatterplot. </a:t>
            </a:r>
            <a:endParaRPr b="0" i="0" sz="1800" u="none" cap="none" strike="noStrike">
              <a:solidFill>
                <a:schemeClr val="dk1"/>
              </a:solidFill>
              <a:latin typeface="Montserrat"/>
              <a:ea typeface="Montserrat"/>
              <a:cs typeface="Montserrat"/>
              <a:sym typeface="Montserrat"/>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Split the data into 80% for training and 20% for testing</a:t>
            </a:r>
            <a:endParaRPr b="0" i="0" sz="1800" u="none" cap="none" strike="noStrike">
              <a:solidFill>
                <a:schemeClr val="dk1"/>
              </a:solidFill>
              <a:latin typeface="Montserrat"/>
              <a:ea typeface="Montserrat"/>
              <a:cs typeface="Montserrat"/>
              <a:sym typeface="Montserrat"/>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Train an XG-boost algorithm</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Assess trained regression model performance, what is R2?</a:t>
            </a:r>
            <a:endParaRPr/>
          </a:p>
          <a:p>
            <a:pPr indent="-457200" lvl="1" marL="914400" marR="0" rtl="0" algn="l">
              <a:spcBef>
                <a:spcPts val="0"/>
              </a:spcBef>
              <a:spcAft>
                <a:spcPts val="0"/>
              </a:spcAft>
              <a:buClr>
                <a:schemeClr val="dk1"/>
              </a:buClr>
              <a:buSzPts val="1800"/>
              <a:buFont typeface="Calibri"/>
              <a:buAutoNum type="arabicPeriod"/>
            </a:pPr>
            <a:r>
              <a:rPr b="0" i="0" lang="en-CA" sz="1800" u="none" cap="none" strike="noStrike">
                <a:solidFill>
                  <a:schemeClr val="dk1"/>
                </a:solidFill>
                <a:latin typeface="Montserrat"/>
                <a:ea typeface="Montserrat"/>
                <a:cs typeface="Montserrat"/>
                <a:sym typeface="Montserrat"/>
              </a:rPr>
              <a:t>Plot trained model predictions vs. ground truth output</a:t>
            </a:r>
            <a:endParaRPr/>
          </a:p>
        </p:txBody>
      </p:sp>
      <p:sp>
        <p:nvSpPr>
          <p:cNvPr id="262" name="Google Shape;262;p15"/>
          <p:cNvSpPr txBox="1"/>
          <p:nvPr/>
        </p:nvSpPr>
        <p:spPr>
          <a:xfrm>
            <a:off x="187434" y="202763"/>
            <a:ext cx="10080062" cy="121772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Arial"/>
              <a:buNone/>
            </a:pPr>
            <a:r>
              <a:rPr lang="en-CA" sz="3600">
                <a:solidFill>
                  <a:schemeClr val="lt1"/>
                </a:solidFill>
                <a:latin typeface="Montserrat"/>
                <a:ea typeface="Montserrat"/>
                <a:cs typeface="Montserrat"/>
                <a:sym typeface="Montserrat"/>
              </a:rPr>
              <a:t>FINAL CAPSTONE PROJECT TASKS </a:t>
            </a:r>
            <a:endParaRPr/>
          </a:p>
        </p:txBody>
      </p:sp>
      <p:sp>
        <p:nvSpPr>
          <p:cNvPr id="263" name="Google Shape;263;p15"/>
          <p:cNvSpPr txBox="1"/>
          <p:nvPr/>
        </p:nvSpPr>
        <p:spPr>
          <a:xfrm>
            <a:off x="759596" y="1264643"/>
            <a:ext cx="11432403"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p:txBody>
      </p:sp>
      <p:sp>
        <p:nvSpPr>
          <p:cNvPr id="264" name="Google Shape;264;p15"/>
          <p:cNvSpPr txBox="1"/>
          <p:nvPr/>
        </p:nvSpPr>
        <p:spPr>
          <a:xfrm>
            <a:off x="1409700" y="1573394"/>
            <a:ext cx="8534400" cy="302516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Ahmed Ryan (FCA)</dc:creator>
</cp:coreProperties>
</file>