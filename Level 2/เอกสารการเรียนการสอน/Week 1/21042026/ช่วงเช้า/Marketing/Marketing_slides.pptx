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Urbanist Medium"/>
      <p:regular r:id="rId29"/>
      <p:bold r:id="rId30"/>
      <p:italic r:id="rId31"/>
      <p:boldItalic r:id="rId32"/>
    </p:embeddedFont>
    <p:embeddedFont>
      <p:font typeface="Urbanis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imgKX83nqb1uLZ03M0sZmZDlA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Medium-italic.fntdata"/><Relationship Id="rId30" Type="http://schemas.openxmlformats.org/officeDocument/2006/relationships/font" Target="fonts/UrbanistMedium-bold.fntdata"/><Relationship Id="rId11" Type="http://schemas.openxmlformats.org/officeDocument/2006/relationships/slide" Target="slides/slide6.xml"/><Relationship Id="rId33" Type="http://schemas.openxmlformats.org/officeDocument/2006/relationships/font" Target="fonts/Urbanist-regular.fntdata"/><Relationship Id="rId10" Type="http://schemas.openxmlformats.org/officeDocument/2006/relationships/slide" Target="slides/slide5.xml"/><Relationship Id="rId32" Type="http://schemas.openxmlformats.org/officeDocument/2006/relationships/font" Target="fonts/Urbanist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Urbanist-italic.fntdata"/><Relationship Id="rId12" Type="http://schemas.openxmlformats.org/officeDocument/2006/relationships/slide" Target="slides/slide7.xml"/><Relationship Id="rId34" Type="http://schemas.openxmlformats.org/officeDocument/2006/relationships/font" Target="fonts/Urbanist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Urbanis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83178753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83178753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3d83178753f_0_111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4632"/>
            <a:ext cx="12215400" cy="687266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d83178753f_0_111"/>
          <p:cNvSpPr/>
          <p:nvPr/>
        </p:nvSpPr>
        <p:spPr>
          <a:xfrm flipH="1" rot="10800000">
            <a:off x="0" y="6235500"/>
            <a:ext cx="12199500" cy="6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3" name="Google Shape;83;g3d83178753f_0_111"/>
          <p:cNvSpPr txBox="1"/>
          <p:nvPr>
            <p:ph idx="1" type="subTitle"/>
          </p:nvPr>
        </p:nvSpPr>
        <p:spPr>
          <a:xfrm>
            <a:off x="304800" y="2318600"/>
            <a:ext cx="58704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g3d83178753f_0_111"/>
          <p:cNvSpPr txBox="1"/>
          <p:nvPr>
            <p:ph idx="2" type="subTitle"/>
          </p:nvPr>
        </p:nvSpPr>
        <p:spPr>
          <a:xfrm>
            <a:off x="427500" y="6234633"/>
            <a:ext cx="36000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5" name="Google Shape;85;g3d83178753f_0_111"/>
          <p:cNvSpPr txBox="1"/>
          <p:nvPr>
            <p:ph idx="3" type="subTitle"/>
          </p:nvPr>
        </p:nvSpPr>
        <p:spPr>
          <a:xfrm>
            <a:off x="6288987" y="6234633"/>
            <a:ext cx="30597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" name="Google Shape;86;g3d83178753f_0_111"/>
          <p:cNvSpPr txBox="1"/>
          <p:nvPr>
            <p:ph idx="4" type="subTitle"/>
          </p:nvPr>
        </p:nvSpPr>
        <p:spPr>
          <a:xfrm>
            <a:off x="9145600" y="6244967"/>
            <a:ext cx="2742000" cy="30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Urbanist Medium"/>
              <a:buNone/>
              <a:defRPr sz="9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7" name="Google Shape;87;g3d83178753f_0_111"/>
          <p:cNvSpPr/>
          <p:nvPr/>
        </p:nvSpPr>
        <p:spPr>
          <a:xfrm>
            <a:off x="304800" y="6450000"/>
            <a:ext cx="65100" cy="65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" name="Google Shape;88;g3d83178753f_0_111"/>
          <p:cNvSpPr/>
          <p:nvPr/>
        </p:nvSpPr>
        <p:spPr>
          <a:xfrm>
            <a:off x="6158600" y="6452000"/>
            <a:ext cx="61200" cy="6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" name="Google Shape;89;g3d83178753f_0_111"/>
          <p:cNvSpPr txBox="1"/>
          <p:nvPr>
            <p:ph type="title"/>
          </p:nvPr>
        </p:nvSpPr>
        <p:spPr>
          <a:xfrm>
            <a:off x="304800" y="304800"/>
            <a:ext cx="8878500" cy="189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90" name="Google Shape;90;g3d83178753f_0_111"/>
          <p:cNvCxnSpPr/>
          <p:nvPr/>
        </p:nvCxnSpPr>
        <p:spPr>
          <a:xfrm>
            <a:off x="318400" y="6244400"/>
            <a:ext cx="11569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g3d83178753f_0_111"/>
          <p:cNvSpPr txBox="1"/>
          <p:nvPr>
            <p:ph idx="5" type="subTitle"/>
          </p:nvPr>
        </p:nvSpPr>
        <p:spPr>
          <a:xfrm>
            <a:off x="396100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/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2" name="Google Shape;92;g3d83178753f_0_111"/>
          <p:cNvSpPr txBox="1"/>
          <p:nvPr>
            <p:ph idx="6" type="subTitle"/>
          </p:nvPr>
        </p:nvSpPr>
        <p:spPr>
          <a:xfrm>
            <a:off x="2381833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/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" name="Google Shape;93;g3d83178753f_0_111"/>
          <p:cNvSpPr txBox="1"/>
          <p:nvPr>
            <p:ph idx="7" type="subTitle"/>
          </p:nvPr>
        </p:nvSpPr>
        <p:spPr>
          <a:xfrm>
            <a:off x="304789" y="4605967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b="1" sz="1600"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4" name="Google Shape;94;g3d83178753f_0_111"/>
          <p:cNvSpPr txBox="1"/>
          <p:nvPr>
            <p:ph idx="8" type="subTitle"/>
          </p:nvPr>
        </p:nvSpPr>
        <p:spPr>
          <a:xfrm>
            <a:off x="304789" y="4990733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 b="1" sz="1600"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74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9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5.jpg"/><Relationship Id="rId5" Type="http://schemas.openxmlformats.org/officeDocument/2006/relationships/hyperlink" Target="https://commons.wikimedia.org/wiki/File:Tennis_Elbow_Illustration.jpg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hyperlink" Target="https://commons.wikimedia.org/wiki/File:Autoencoder_structure.png" TargetMode="External"/><Relationship Id="rId6" Type="http://schemas.openxmlformats.org/officeDocument/2006/relationships/hyperlink" Target="https://commons.wikimedia.org/wiki/File:Artificial_neural_network_image_recognition.png" TargetMode="External"/><Relationship Id="rId7" Type="http://schemas.openxmlformats.org/officeDocument/2006/relationships/hyperlink" Target="https://www.pexels.com/photo/grey-and-white-short-fur-cat-104827/" TargetMode="External"/><Relationship Id="rId8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hyperlink" Target="https://commons.wikimedia.org/wiki/File:Autoencoder_structure.png" TargetMode="External"/><Relationship Id="rId5" Type="http://schemas.openxmlformats.org/officeDocument/2006/relationships/hyperlink" Target="https://commons.wikimedia.org/wiki/File:Artificial_neural_network_image_recognition.png" TargetMode="External"/><Relationship Id="rId6" Type="http://schemas.openxmlformats.org/officeDocument/2006/relationships/hyperlink" Target="https://www.pexels.com/photo/grey-and-white-short-fur-cat-104827/" TargetMode="External"/><Relationship Id="rId7" Type="http://schemas.openxmlformats.org/officeDocument/2006/relationships/image" Target="../media/image18.png"/><Relationship Id="rId8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hyperlink" Target="https://commons.wikimedia.org/wiki/File:Autoencoder_structure.png" TargetMode="External"/><Relationship Id="rId9" Type="http://schemas.openxmlformats.org/officeDocument/2006/relationships/image" Target="../media/image17.png"/><Relationship Id="rId5" Type="http://schemas.openxmlformats.org/officeDocument/2006/relationships/hyperlink" Target="https://commons.wikimedia.org/wiki/File:Artificial_neural_network_image_recognition.png" TargetMode="External"/><Relationship Id="rId6" Type="http://schemas.openxmlformats.org/officeDocument/2006/relationships/hyperlink" Target="https://www.pexels.com/photo/grey-and-white-short-fur-cat-104827/" TargetMode="External"/><Relationship Id="rId7" Type="http://schemas.openxmlformats.org/officeDocument/2006/relationships/image" Target="../media/image14.png"/><Relationship Id="rId8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hyperlink" Target="http://phdthesis-bioinformatics-maxplanckinstitute-molecularplantphys.matthias-scholz.d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3178753f_0_2"/>
          <p:cNvSpPr/>
          <p:nvPr/>
        </p:nvSpPr>
        <p:spPr>
          <a:xfrm>
            <a:off x="304800" y="5484500"/>
            <a:ext cx="1865700" cy="4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0" name="Google Shape;100;g3d83178753f_0_2"/>
          <p:cNvSpPr/>
          <p:nvPr/>
        </p:nvSpPr>
        <p:spPr>
          <a:xfrm>
            <a:off x="2292233" y="5484500"/>
            <a:ext cx="1865700" cy="45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01" name="Google Shape;101;g3d83178753f_0_2"/>
          <p:cNvGrpSpPr/>
          <p:nvPr/>
        </p:nvGrpSpPr>
        <p:grpSpPr>
          <a:xfrm>
            <a:off x="304789" y="4169800"/>
            <a:ext cx="310792" cy="310792"/>
            <a:chOff x="259788" y="1923155"/>
            <a:chExt cx="409800" cy="409800"/>
          </a:xfrm>
        </p:grpSpPr>
        <p:sp>
          <p:nvSpPr>
            <p:cNvPr id="102" name="Google Shape;102;g3d83178753f_0_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03" name="Google Shape;103;g3d83178753f_0_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04" name="Google Shape;104;g3d83178753f_0_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g3d83178753f_0_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06" name="Google Shape;106;g3d83178753f_0_2"/>
          <p:cNvSpPr txBox="1"/>
          <p:nvPr>
            <p:ph type="title"/>
          </p:nvPr>
        </p:nvSpPr>
        <p:spPr>
          <a:xfrm>
            <a:off x="304800" y="304800"/>
            <a:ext cx="8878500" cy="189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CA">
                <a:solidFill>
                  <a:schemeClr val="lt1"/>
                </a:solidFill>
              </a:rPr>
              <a:t>Machine Learning - Practice (Marketing)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" name="Google Shape;107;g3d83178753f_0_2"/>
          <p:cNvSpPr txBox="1"/>
          <p:nvPr>
            <p:ph idx="1" type="subTitle"/>
          </p:nvPr>
        </p:nvSpPr>
        <p:spPr>
          <a:xfrm>
            <a:off x="304800" y="2318600"/>
            <a:ext cx="5870400" cy="336000"/>
          </a:xfrm>
          <a:prstGeom prst="rect">
            <a:avLst/>
          </a:prstGeom>
          <a:effectLst>
            <a:outerShdw blurRad="76200" rotWithShape="0" algn="bl" dir="5400000" dist="2540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Super AI Engineer Season 6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08" name="Google Shape;108;g3d83178753f_0_2"/>
          <p:cNvSpPr txBox="1"/>
          <p:nvPr>
            <p:ph idx="2" type="subTitle"/>
          </p:nvPr>
        </p:nvSpPr>
        <p:spPr>
          <a:xfrm>
            <a:off x="427500" y="6234633"/>
            <a:ext cx="36000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CA"/>
              <a:t>AIAT</a:t>
            </a:r>
            <a:endParaRPr/>
          </a:p>
        </p:txBody>
      </p:sp>
      <p:sp>
        <p:nvSpPr>
          <p:cNvPr id="109" name="Google Shape;109;g3d83178753f_0_2"/>
          <p:cNvSpPr txBox="1"/>
          <p:nvPr>
            <p:ph idx="3" type="subTitle"/>
          </p:nvPr>
        </p:nvSpPr>
        <p:spPr>
          <a:xfrm>
            <a:off x="6288987" y="6234633"/>
            <a:ext cx="3059700" cy="31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CA"/>
              <a:t> </a:t>
            </a:r>
            <a:endParaRPr/>
          </a:p>
        </p:txBody>
      </p:sp>
      <p:sp>
        <p:nvSpPr>
          <p:cNvPr id="110" name="Google Shape;110;g3d83178753f_0_2"/>
          <p:cNvSpPr txBox="1"/>
          <p:nvPr>
            <p:ph idx="4" type="subTitle"/>
          </p:nvPr>
        </p:nvSpPr>
        <p:spPr>
          <a:xfrm>
            <a:off x="9145600" y="6244967"/>
            <a:ext cx="2742000" cy="30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2026</a:t>
            </a:r>
            <a:endParaRPr/>
          </a:p>
        </p:txBody>
      </p:sp>
      <p:sp>
        <p:nvSpPr>
          <p:cNvPr id="111" name="Google Shape;111;g3d83178753f_0_2"/>
          <p:cNvSpPr txBox="1"/>
          <p:nvPr>
            <p:ph idx="5" type="subTitle"/>
          </p:nvPr>
        </p:nvSpPr>
        <p:spPr>
          <a:xfrm>
            <a:off x="396100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Aslan B. Wong</a:t>
            </a:r>
            <a:endParaRPr/>
          </a:p>
        </p:txBody>
      </p:sp>
      <p:sp>
        <p:nvSpPr>
          <p:cNvPr id="112" name="Google Shape;112;g3d83178753f_0_2"/>
          <p:cNvSpPr txBox="1"/>
          <p:nvPr>
            <p:ph idx="6" type="subTitle"/>
          </p:nvPr>
        </p:nvSpPr>
        <p:spPr>
          <a:xfrm>
            <a:off x="2381833" y="5567867"/>
            <a:ext cx="16863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Arttie🉑</a:t>
            </a:r>
            <a:endParaRPr/>
          </a:p>
        </p:txBody>
      </p:sp>
      <p:sp>
        <p:nvSpPr>
          <p:cNvPr id="113" name="Google Shape;113;g3d83178753f_0_2"/>
          <p:cNvSpPr txBox="1"/>
          <p:nvPr>
            <p:ph idx="7" type="subTitle"/>
          </p:nvPr>
        </p:nvSpPr>
        <p:spPr>
          <a:xfrm>
            <a:off x="304789" y="4605967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rPr lang="en-CA" sz="1900"/>
              <a:t>Level 2 /  21 April 2026</a:t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900"/>
          </a:p>
        </p:txBody>
      </p:sp>
      <p:sp>
        <p:nvSpPr>
          <p:cNvPr id="114" name="Google Shape;114;g3d83178753f_0_2"/>
          <p:cNvSpPr txBox="1"/>
          <p:nvPr>
            <p:ph idx="8" type="subTitle"/>
          </p:nvPr>
        </p:nvSpPr>
        <p:spPr>
          <a:xfrm>
            <a:off x="304789" y="4990733"/>
            <a:ext cx="6212700" cy="336000"/>
          </a:xfrm>
          <a:prstGeom prst="rect">
            <a:avLst/>
          </a:prstGeom>
        </p:spPr>
        <p:txBody>
          <a:bodyPr anchorCtr="0" anchor="t" bIns="121900" lIns="0" spcFirstLastPara="1" rIns="121900" wrap="square" tIns="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CA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"/>
          <p:cNvSpPr/>
          <p:nvPr/>
        </p:nvSpPr>
        <p:spPr>
          <a:xfrm>
            <a:off x="661578" y="2695373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CA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77868" y="362467"/>
            <a:ext cx="920088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Marketing is crucial for the growth and sustainability of any business.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Marketers can help build the company’s brand, engage customers, grow revenue, and increase sales.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2152076" y="1886720"/>
            <a:ext cx="4857715" cy="4857280"/>
            <a:chOff x="1741800" y="554757"/>
            <a:chExt cx="4857715" cy="4857280"/>
          </a:xfrm>
        </p:grpSpPr>
        <p:sp>
          <p:nvSpPr>
            <p:cNvPr id="123" name="Google Shape;123;p1"/>
            <p:cNvSpPr/>
            <p:nvPr/>
          </p:nvSpPr>
          <p:spPr>
            <a:xfrm>
              <a:off x="1751364" y="554757"/>
              <a:ext cx="4848151" cy="4848151"/>
            </a:xfrm>
            <a:prstGeom prst="pie">
              <a:avLst>
                <a:gd fmla="val 16200000" name="adj1"/>
                <a:gd fmla="val 0" name="adj2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4230848" y="1451665"/>
              <a:ext cx="1789198" cy="1442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CA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EDUCATION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None/>
              </a:pPr>
              <a:r>
                <a:rPr b="0" i="0" lang="en-CA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(Marketers educate and communicate value proposition to customers)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1741800" y="563886"/>
              <a:ext cx="4848151" cy="4848151"/>
            </a:xfrm>
            <a:prstGeom prst="pie">
              <a:avLst>
                <a:gd fmla="val 0" name="adj1"/>
                <a:gd fmla="val 5400000" name="adj2"/>
              </a:avLst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"/>
            <p:cNvSpPr txBox="1"/>
            <p:nvPr/>
          </p:nvSpPr>
          <p:spPr>
            <a:xfrm>
              <a:off x="4252450" y="3074536"/>
              <a:ext cx="1789198" cy="1442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CA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ENGAGEMENT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None/>
              </a:pPr>
              <a:r>
                <a:rPr b="0" i="0" lang="en-CA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(Marketers engage customers and understand their needs)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1741800" y="563886"/>
              <a:ext cx="4848151" cy="4848151"/>
            </a:xfrm>
            <a:prstGeom prst="pie">
              <a:avLst>
                <a:gd fmla="val 5400000" name="adj1"/>
                <a:gd fmla="val 10800000" name="adj2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"/>
            <p:cNvSpPr txBox="1"/>
            <p:nvPr/>
          </p:nvSpPr>
          <p:spPr>
            <a:xfrm>
              <a:off x="2290103" y="3074536"/>
              <a:ext cx="1789198" cy="1442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CA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DRIVE SALES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None/>
              </a:pPr>
              <a:r>
                <a:rPr b="0" i="0" lang="en-CA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(Marketers drive sales and traffic to products/services)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1741800" y="563886"/>
              <a:ext cx="4848151" cy="4848151"/>
            </a:xfrm>
            <a:prstGeom prst="pie">
              <a:avLst>
                <a:gd fmla="val 10800000" name="adj1"/>
                <a:gd fmla="val 16200000" name="adj2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"/>
            <p:cNvSpPr txBox="1"/>
            <p:nvPr/>
          </p:nvSpPr>
          <p:spPr>
            <a:xfrm>
              <a:off x="2290103" y="1458485"/>
              <a:ext cx="1789198" cy="1442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CA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GROWTH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None/>
              </a:pPr>
              <a:r>
                <a:rPr b="0" i="0" lang="en-CA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(Marketers empower business growth by reaching new customers)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"/>
          <p:cNvSpPr/>
          <p:nvPr/>
        </p:nvSpPr>
        <p:spPr>
          <a:xfrm>
            <a:off x="661578" y="2695373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CA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77869" y="583848"/>
            <a:ext cx="920088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One of the key pain points for marketers is to know their customers and identify their needs.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 understanding the customer, marketers can launch a targeted marketing campaign that is tailored for specific needs.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data about the customers is available, data science can be applied to perform market segmentation. 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/>
          <p:nvPr/>
        </p:nvSpPr>
        <p:spPr>
          <a:xfrm>
            <a:off x="661578" y="2695373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CA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77869" y="583848"/>
            <a:ext cx="920088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this case study, you have been hired as a consultant to a bank in New York City.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bank has extensive data on their customers for the past 6 months.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marketing team at the bank wants to launch a targeted ad marketing campaign by dividing their customers into at least 3 distinctive groups.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/>
          <p:nvPr/>
        </p:nvSpPr>
        <p:spPr>
          <a:xfrm>
            <a:off x="661578" y="2695373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CA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04799" y="594570"/>
            <a:ext cx="8320217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CA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 CUSTID: Identification of Credit Card holder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CA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BALANCE: Balance amount left in customer's account to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make purchases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BALANCE_FREQUENCY: How frequently the Balance is 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updated, score between 0 and 1 (1 = frequently updated, 0 = not frequently updated)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PURCHASES: Amount of purchases made from account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ONEOFFPURCHASES: Maximum purchase amount done in one-go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INSTALLMENTS_PURCHASES: Amount of purchase done in installment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CASH_ADVANCE: Cash in advance given by the user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PURCHASES_FREQUENCY: How frequently the Purchases are being made, score between 0 and 1 (1 = frequently purchased, 0 = not frequently purchased)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/>
          <p:nvPr/>
        </p:nvSpPr>
        <p:spPr>
          <a:xfrm>
            <a:off x="661578" y="2695373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04799" y="594570"/>
            <a:ext cx="7735331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PURCHASES_FREQUENCY: How frequently 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 Purchases are being made, score between 0 and 1 (1 = frequently purchased, 0 = not frequently purchased)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ONEOFF_PURCHASES_FREQUENCY: How 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frequently Purchases are happening in one-go (1 = frequently purchased, 0 = not frequently purchased)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PURCHASES_INSTALLMENTS_FREQUENCY: How frequently purchases in installments are being done (1 = frequently done, 0 = not frequently done)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CASH_ADVANCE_FREQUENCY: How 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frequently the cash in advance being paid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661578" y="2695373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04800" y="594570"/>
            <a:ext cx="819538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CASH_ADVANCE_TRX: Number of Transactions made with "Cash in Advance"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PURCHASES_TRX: Number of purchase 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transactions made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CREDIT_LIMIT: Limit of Credit Card for user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PAYMENTS: Amount of Payment done by user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MINIMUM_PAYMENTS: Minimum amount of 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payments made by user 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PRC_FULL_PAYMENT: Percent of full payment paid by user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 TENURE: Tenure of credit card service for user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202083" y="735653"/>
            <a:ext cx="873236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K-means is an unsupervised learning algorithm (clustering).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K-means works by grouping some data points together (clustering) in an unsupervised fashion. 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algorithm groups observations with similar attribute values together by measuring the Euclidian distance between points.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202083" y="298008"/>
            <a:ext cx="79989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K-MEANS INTUITION </a:t>
            </a:r>
            <a:endParaRPr/>
          </a:p>
        </p:txBody>
      </p:sp>
      <p:cxnSp>
        <p:nvCxnSpPr>
          <p:cNvPr id="173" name="Google Shape;173;p7"/>
          <p:cNvCxnSpPr/>
          <p:nvPr/>
        </p:nvCxnSpPr>
        <p:spPr>
          <a:xfrm flipH="1" rot="10800000">
            <a:off x="499736" y="5962918"/>
            <a:ext cx="3329486" cy="15645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" name="Google Shape;174;p7"/>
          <p:cNvCxnSpPr/>
          <p:nvPr/>
        </p:nvCxnSpPr>
        <p:spPr>
          <a:xfrm rot="10800000">
            <a:off x="499736" y="2783963"/>
            <a:ext cx="5" cy="3229560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5" name="Google Shape;175;p7"/>
          <p:cNvSpPr/>
          <p:nvPr/>
        </p:nvSpPr>
        <p:spPr>
          <a:xfrm>
            <a:off x="1502774" y="4473477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878982" y="4119392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445098" y="4022265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615863" y="5071378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2040692" y="6039034"/>
            <a:ext cx="13048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 rot="-5400000">
            <a:off x="-125707" y="2967993"/>
            <a:ext cx="7130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164766" y="3736549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113607" y="4954465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2757963" y="4603512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174713" y="5371496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495614" y="3265498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537863" y="3245167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982738" y="3001231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255706" y="2633904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032614" y="3595809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7"/>
          <p:cNvCxnSpPr/>
          <p:nvPr/>
        </p:nvCxnSpPr>
        <p:spPr>
          <a:xfrm flipH="1" rot="10800000">
            <a:off x="5298502" y="5900794"/>
            <a:ext cx="3423207" cy="27163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" name="Google Shape;191;p7"/>
          <p:cNvCxnSpPr/>
          <p:nvPr/>
        </p:nvCxnSpPr>
        <p:spPr>
          <a:xfrm rot="10800000">
            <a:off x="5298502" y="2733358"/>
            <a:ext cx="5" cy="3229560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2" name="Google Shape;192;p7"/>
          <p:cNvSpPr/>
          <p:nvPr/>
        </p:nvSpPr>
        <p:spPr>
          <a:xfrm>
            <a:off x="6301540" y="442287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677748" y="406878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243864" y="397166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414629" y="5020773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6952834" y="5924355"/>
            <a:ext cx="13048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 rot="-5400000">
            <a:off x="4673059" y="2917388"/>
            <a:ext cx="7130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963532" y="368594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912373" y="4903860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7556729" y="4552907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973479" y="5320891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294380" y="3214893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8336629" y="3194562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781504" y="2950626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054472" y="2583299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831380" y="3545204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157736" y="4136759"/>
            <a:ext cx="2032957" cy="65420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162634" y="3884974"/>
            <a:ext cx="17732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K-MEANS</a:t>
            </a:r>
            <a:endParaRPr b="1" sz="2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294380" y="4322383"/>
            <a:ext cx="1196594" cy="1495726"/>
          </a:xfrm>
          <a:prstGeom prst="ellipse">
            <a:avLst/>
          </a:prstGeom>
          <a:noFill/>
          <a:ln cap="flat" cmpd="sng" w="57150">
            <a:solidFill>
              <a:srgbClr val="92D05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 rot="1350317">
            <a:off x="5442016" y="3350081"/>
            <a:ext cx="1429004" cy="163807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 rot="1350317">
            <a:off x="7252821" y="2343035"/>
            <a:ext cx="1441316" cy="1745978"/>
          </a:xfrm>
          <a:prstGeom prst="ellipse">
            <a:avLst/>
          </a:prstGeom>
          <a:noFill/>
          <a:ln cap="flat" cmpd="sng" w="57150">
            <a:solidFill>
              <a:srgbClr val="0070C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661578" y="2695373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202083" y="735653"/>
            <a:ext cx="888425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Choose number of clusters “K”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Select random K points that are going to be the centroids for each cluster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Assign each data point to the nearest centroid, doing so will enable us to create “K” number of clusters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Calculate a new centroid for each cluster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Reassign each data point to the new closest centroid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CA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 to step 4 and repeat.</a:t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202083" y="298008"/>
            <a:ext cx="79989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K-MEANS ALGORITHM STEPS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/>
          <p:nvPr/>
        </p:nvSpPr>
        <p:spPr>
          <a:xfrm>
            <a:off x="3088556" y="6384074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6" name="Google Shape;226;p9"/>
          <p:cNvCxnSpPr/>
          <p:nvPr/>
        </p:nvCxnSpPr>
        <p:spPr>
          <a:xfrm flipH="1" rot="10800000">
            <a:off x="371148" y="2833637"/>
            <a:ext cx="3141307" cy="1395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7" name="Google Shape;227;p9"/>
          <p:cNvCxnSpPr/>
          <p:nvPr/>
        </p:nvCxnSpPr>
        <p:spPr>
          <a:xfrm flipH="1" rot="10800000">
            <a:off x="371154" y="161925"/>
            <a:ext cx="8124" cy="2720623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8" name="Google Shape;228;p9"/>
          <p:cNvSpPr/>
          <p:nvPr/>
        </p:nvSpPr>
        <p:spPr>
          <a:xfrm>
            <a:off x="1193167" y="1905666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69375" y="1551581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233763" y="1538339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1285611" y="2860555"/>
            <a:ext cx="13048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 rot="-5400000">
            <a:off x="-197500" y="897138"/>
            <a:ext cx="7130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909034" y="1281924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2590455" y="1548284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2069451" y="1293122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2035891" y="1963716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2186007" y="697687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2673131" y="433420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2723007" y="1027998"/>
            <a:ext cx="284199" cy="30011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714778" y="642235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92D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247397" y="1744113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9"/>
          <p:cNvCxnSpPr/>
          <p:nvPr/>
        </p:nvCxnSpPr>
        <p:spPr>
          <a:xfrm flipH="1" rot="10800000">
            <a:off x="4623540" y="2822439"/>
            <a:ext cx="3141307" cy="1395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3" name="Google Shape;243;p9"/>
          <p:cNvCxnSpPr/>
          <p:nvPr/>
        </p:nvCxnSpPr>
        <p:spPr>
          <a:xfrm flipH="1" rot="10800000">
            <a:off x="4623546" y="150727"/>
            <a:ext cx="8124" cy="2720623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4" name="Google Shape;244;p9"/>
          <p:cNvSpPr/>
          <p:nvPr/>
        </p:nvSpPr>
        <p:spPr>
          <a:xfrm>
            <a:off x="5445559" y="1894468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821767" y="1540383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486155" y="1527141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5538003" y="2849357"/>
            <a:ext cx="13048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 rot="-5400000">
            <a:off x="4054892" y="885940"/>
            <a:ext cx="7130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5161426" y="1270726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842847" y="153708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321843" y="128192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288283" y="195251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438399" y="68648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925523" y="42222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975399" y="101680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016220" y="677590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92D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499789" y="1732915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713555" y="150727"/>
            <a:ext cx="1255932" cy="2340117"/>
          </a:xfrm>
          <a:prstGeom prst="ellipse">
            <a:avLst/>
          </a:prstGeom>
          <a:noFill/>
          <a:ln cap="flat" cmpd="sng" w="57150">
            <a:solidFill>
              <a:srgbClr val="92D05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 rot="1350317">
            <a:off x="6113361" y="266573"/>
            <a:ext cx="1485470" cy="221805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9"/>
          <p:cNvCxnSpPr/>
          <p:nvPr/>
        </p:nvCxnSpPr>
        <p:spPr>
          <a:xfrm flipH="1" rot="10800000">
            <a:off x="4639558" y="6296138"/>
            <a:ext cx="3141307" cy="1395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1" name="Google Shape;261;p9"/>
          <p:cNvCxnSpPr/>
          <p:nvPr/>
        </p:nvCxnSpPr>
        <p:spPr>
          <a:xfrm flipH="1" rot="10800000">
            <a:off x="4649089" y="3614901"/>
            <a:ext cx="8124" cy="2720623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2" name="Google Shape;262;p9"/>
          <p:cNvSpPr/>
          <p:nvPr/>
        </p:nvSpPr>
        <p:spPr>
          <a:xfrm>
            <a:off x="5471102" y="5358642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847310" y="5004557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511698" y="4991315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5563546" y="6313531"/>
            <a:ext cx="13048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 rot="-5400000">
            <a:off x="4080435" y="4350114"/>
            <a:ext cx="7130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5186969" y="4734900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868390" y="500126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347386" y="474609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313826" y="541669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463942" y="415066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951066" y="388639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7000942" y="448097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928911" y="5151319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381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541805" y="4253335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3442556" y="1480619"/>
            <a:ext cx="964295" cy="59543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 rot="5400000">
            <a:off x="5645114" y="3455433"/>
            <a:ext cx="964295" cy="59543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9"/>
          <p:cNvCxnSpPr/>
          <p:nvPr/>
        </p:nvCxnSpPr>
        <p:spPr>
          <a:xfrm flipH="1" rot="10800000">
            <a:off x="399152" y="6373960"/>
            <a:ext cx="3141307" cy="13952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9" name="Google Shape;279;p9"/>
          <p:cNvCxnSpPr/>
          <p:nvPr/>
        </p:nvCxnSpPr>
        <p:spPr>
          <a:xfrm flipH="1" rot="10800000">
            <a:off x="399158" y="3702248"/>
            <a:ext cx="8124" cy="2720623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0" name="Google Shape;280;p9"/>
          <p:cNvSpPr/>
          <p:nvPr/>
        </p:nvSpPr>
        <p:spPr>
          <a:xfrm>
            <a:off x="1221171" y="5445989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97379" y="5091904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1261767" y="5078662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1313615" y="6400878"/>
            <a:ext cx="13048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/>
          </a:p>
        </p:txBody>
      </p:sp>
      <p:sp>
        <p:nvSpPr>
          <p:cNvPr id="284" name="Google Shape;284;p9"/>
          <p:cNvSpPr txBox="1"/>
          <p:nvPr/>
        </p:nvSpPr>
        <p:spPr>
          <a:xfrm rot="-5400000">
            <a:off x="-169496" y="4437461"/>
            <a:ext cx="7130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937038" y="4822247"/>
            <a:ext cx="284199" cy="300118"/>
          </a:xfrm>
          <a:prstGeom prst="ellipse">
            <a:avLst/>
          </a:prstGeom>
          <a:solidFill>
            <a:srgbClr val="92D05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2618459" y="508860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2097455" y="483344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2063895" y="550403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2214011" y="4238010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2701135" y="397374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2751011" y="456832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97656" y="5189724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92D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2275222" y="4351505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 rot="10800000">
            <a:off x="3389472" y="4958735"/>
            <a:ext cx="964295" cy="59543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6493020" y="5184525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9"/>
          <p:cNvCxnSpPr/>
          <p:nvPr/>
        </p:nvCxnSpPr>
        <p:spPr>
          <a:xfrm flipH="1" rot="10800000">
            <a:off x="6686356" y="4700388"/>
            <a:ext cx="113013" cy="64026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7" name="Google Shape;297;p9"/>
          <p:cNvSpPr/>
          <p:nvPr/>
        </p:nvSpPr>
        <p:spPr>
          <a:xfrm>
            <a:off x="5140237" y="4122668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92D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9"/>
          <p:cNvCxnSpPr/>
          <p:nvPr/>
        </p:nvCxnSpPr>
        <p:spPr>
          <a:xfrm flipH="1">
            <a:off x="5295171" y="4580946"/>
            <a:ext cx="159450" cy="680010"/>
          </a:xfrm>
          <a:prstGeom prst="straightConnector1">
            <a:avLst/>
          </a:prstGeom>
          <a:noFill/>
          <a:ln cap="flat" cmpd="sng" w="38100">
            <a:solidFill>
              <a:srgbClr val="92D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9" name="Google Shape;299;p9"/>
          <p:cNvSpPr/>
          <p:nvPr/>
        </p:nvSpPr>
        <p:spPr>
          <a:xfrm>
            <a:off x="495740" y="4563246"/>
            <a:ext cx="1196849" cy="1538979"/>
          </a:xfrm>
          <a:prstGeom prst="ellipse">
            <a:avLst/>
          </a:prstGeom>
          <a:noFill/>
          <a:ln cap="flat" cmpd="sng" w="57150">
            <a:solidFill>
              <a:srgbClr val="92D05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 rot="1350317">
            <a:off x="1872997" y="3775933"/>
            <a:ext cx="1485470" cy="221805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-323184" y="2483709"/>
            <a:ext cx="46264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Place K centroids for each cluster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4595108" y="2472863"/>
            <a:ext cx="46441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each data point to the nearest centroid</a:t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4187265" y="5887571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a new centroid for each cluster</a:t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1056589" y="597338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Repeat!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2857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0"/>
          <p:cNvSpPr/>
          <p:nvPr/>
        </p:nvSpPr>
        <p:spPr>
          <a:xfrm>
            <a:off x="566328" y="4016879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202083" y="212245"/>
            <a:ext cx="79989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TO SELECT THE OPTIMAL NUMBER OF CLUSTERS (K)? “ELBOW METHOD”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2" name="Google Shape;312;p10"/>
          <p:cNvCxnSpPr/>
          <p:nvPr/>
        </p:nvCxnSpPr>
        <p:spPr>
          <a:xfrm flipH="1" rot="10800000">
            <a:off x="2281640" y="6282160"/>
            <a:ext cx="5233701" cy="23496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3" name="Google Shape;313;p10"/>
          <p:cNvCxnSpPr/>
          <p:nvPr/>
        </p:nvCxnSpPr>
        <p:spPr>
          <a:xfrm rot="10800000">
            <a:off x="2281642" y="2956469"/>
            <a:ext cx="1" cy="3384148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4" name="Google Shape;314;p10"/>
          <p:cNvSpPr/>
          <p:nvPr/>
        </p:nvSpPr>
        <p:spPr>
          <a:xfrm>
            <a:off x="3284678" y="480057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2660886" y="444648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3227002" y="434935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4776496" y="5411433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6557591" y="6386810"/>
            <a:ext cx="13048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 rot="-5400000">
            <a:off x="1656197" y="3295087"/>
            <a:ext cx="7130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2687190" y="368614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3168882" y="338314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3429815" y="376352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3794196" y="428733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2946670" y="406364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5312209" y="5271376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4724835" y="4948717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179710" y="578731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821194" y="5337508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791182" y="5734989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5600814" y="5018462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7208746" y="266744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176990" y="335810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712703" y="321804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6580204" y="373398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7221688" y="3284180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587053" y="274089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7191676" y="368166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7634352" y="276949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7718671" y="331401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7749393" y="376586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8016494" y="294822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7001308" y="296513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6258730" y="530913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-58412" y="1173562"/>
            <a:ext cx="9510612" cy="96058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 rot="1350317">
            <a:off x="2431057" y="3166010"/>
            <a:ext cx="1914226" cy="221805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 rot="1350317">
            <a:off x="5822101" y="2312347"/>
            <a:ext cx="2967070" cy="2090152"/>
          </a:xfrm>
          <a:prstGeom prst="ellipse">
            <a:avLst/>
          </a:prstGeom>
          <a:noFill/>
          <a:ln cap="flat" cmpd="sng" w="57150">
            <a:solidFill>
              <a:srgbClr val="0070C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 rot="199258">
            <a:off x="4415104" y="4620045"/>
            <a:ext cx="2412514" cy="1576413"/>
          </a:xfrm>
          <a:prstGeom prst="ellipse">
            <a:avLst/>
          </a:prstGeom>
          <a:noFill/>
          <a:ln cap="flat" cmpd="sng" w="57150">
            <a:solidFill>
              <a:srgbClr val="FFC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3204507" y="3894810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6805028" y="3360546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308366" y="5401331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C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2424035" y="4058111"/>
            <a:ext cx="472766" cy="33855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2" name="Google Shape;352;p10"/>
          <p:cNvSpPr txBox="1"/>
          <p:nvPr/>
        </p:nvSpPr>
        <p:spPr>
          <a:xfrm>
            <a:off x="3292847" y="3994756"/>
            <a:ext cx="457689" cy="33855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3" name="Google Shape;353;p10"/>
          <p:cNvSpPr txBox="1"/>
          <p:nvPr/>
        </p:nvSpPr>
        <p:spPr>
          <a:xfrm>
            <a:off x="6270321" y="2631523"/>
            <a:ext cx="472766" cy="33855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4" name="Google Shape;354;p10"/>
          <p:cNvSpPr txBox="1"/>
          <p:nvPr/>
        </p:nvSpPr>
        <p:spPr>
          <a:xfrm>
            <a:off x="4897379" y="4802760"/>
            <a:ext cx="472766" cy="33855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5" name="Google Shape;355;p10"/>
          <p:cNvSpPr txBox="1"/>
          <p:nvPr/>
        </p:nvSpPr>
        <p:spPr>
          <a:xfrm>
            <a:off x="5397733" y="5501397"/>
            <a:ext cx="457689" cy="33855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6903283" y="3455863"/>
            <a:ext cx="457689" cy="338554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2857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1"/>
          <p:cNvSpPr/>
          <p:nvPr/>
        </p:nvSpPr>
        <p:spPr>
          <a:xfrm>
            <a:off x="566328" y="4016879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202083" y="212245"/>
            <a:ext cx="79989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TO SELECT THE OPTIMAL NUMBER OF CLUSTERS (K)? “ELBOW METHOD”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4" name="Google Shape;364;p11"/>
          <p:cNvCxnSpPr/>
          <p:nvPr/>
        </p:nvCxnSpPr>
        <p:spPr>
          <a:xfrm flipH="1" rot="10800000">
            <a:off x="2281640" y="6282160"/>
            <a:ext cx="5233701" cy="23496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5" name="Google Shape;365;p11"/>
          <p:cNvCxnSpPr/>
          <p:nvPr/>
        </p:nvCxnSpPr>
        <p:spPr>
          <a:xfrm rot="10800000">
            <a:off x="2281642" y="2956469"/>
            <a:ext cx="1" cy="3384148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6" name="Google Shape;366;p11"/>
          <p:cNvSpPr/>
          <p:nvPr/>
        </p:nvSpPr>
        <p:spPr>
          <a:xfrm>
            <a:off x="3284678" y="4800571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2660886" y="4446486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3227002" y="4349359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4776496" y="5411433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6557591" y="6386810"/>
            <a:ext cx="13048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/>
          </a:p>
        </p:txBody>
      </p:sp>
      <p:sp>
        <p:nvSpPr>
          <p:cNvPr id="371" name="Google Shape;371;p11"/>
          <p:cNvSpPr txBox="1"/>
          <p:nvPr/>
        </p:nvSpPr>
        <p:spPr>
          <a:xfrm rot="-5400000">
            <a:off x="1656197" y="3295087"/>
            <a:ext cx="7130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2687190" y="3686143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3168882" y="338314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3429815" y="3763525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3794196" y="428733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2946670" y="4063643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5312209" y="5271376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724835" y="4948717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5179710" y="578731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5821194" y="5337508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5791182" y="5734989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5600814" y="5018462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7208746" y="2667445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6176990" y="3358105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6712703" y="3218048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6580204" y="3733986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7440272" y="3180171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6587053" y="2740895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7191676" y="3681661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7634352" y="276949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7718671" y="3314016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7749393" y="3765865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8016494" y="2948221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7001308" y="296513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6258730" y="530913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 txBox="1"/>
          <p:nvPr/>
        </p:nvSpPr>
        <p:spPr>
          <a:xfrm>
            <a:off x="-553752" y="1135475"/>
            <a:ext cx="9510612" cy="72199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 rot="199258">
            <a:off x="2415161" y="1960505"/>
            <a:ext cx="6422935" cy="4286493"/>
          </a:xfrm>
          <a:prstGeom prst="ellipse">
            <a:avLst/>
          </a:prstGeom>
          <a:noFill/>
          <a:ln cap="flat" cmpd="sng" w="57150">
            <a:solidFill>
              <a:srgbClr val="FFC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4777680" y="3426868"/>
            <a:ext cx="917534" cy="724154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C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 txBox="1"/>
          <p:nvPr/>
        </p:nvSpPr>
        <p:spPr>
          <a:xfrm>
            <a:off x="3528378" y="3392730"/>
            <a:ext cx="472766" cy="33855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00" name="Google Shape;400;p11"/>
          <p:cNvSpPr txBox="1"/>
          <p:nvPr/>
        </p:nvSpPr>
        <p:spPr>
          <a:xfrm>
            <a:off x="5055819" y="3613843"/>
            <a:ext cx="457689" cy="33855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01" name="Google Shape;401;p11"/>
          <p:cNvSpPr txBox="1"/>
          <p:nvPr/>
        </p:nvSpPr>
        <p:spPr>
          <a:xfrm>
            <a:off x="112950" y="1679333"/>
            <a:ext cx="3965445" cy="461665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CLUSTERS (K) = 1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9525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2"/>
          <p:cNvSpPr/>
          <p:nvPr/>
        </p:nvSpPr>
        <p:spPr>
          <a:xfrm>
            <a:off x="566328" y="4016879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202083" y="212245"/>
            <a:ext cx="79989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TO SELECT THE OPTIMAL NUMBER OF CLUSTERS (K)? “ELBOW METHOD”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9" name="Google Shape;409;p12"/>
          <p:cNvCxnSpPr/>
          <p:nvPr/>
        </p:nvCxnSpPr>
        <p:spPr>
          <a:xfrm flipH="1" rot="10800000">
            <a:off x="2281640" y="6282160"/>
            <a:ext cx="5233701" cy="23496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0" name="Google Shape;410;p12"/>
          <p:cNvCxnSpPr/>
          <p:nvPr/>
        </p:nvCxnSpPr>
        <p:spPr>
          <a:xfrm rot="10800000">
            <a:off x="2281642" y="2956469"/>
            <a:ext cx="1" cy="3384148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1" name="Google Shape;411;p12"/>
          <p:cNvSpPr/>
          <p:nvPr/>
        </p:nvSpPr>
        <p:spPr>
          <a:xfrm>
            <a:off x="3284678" y="480057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2660886" y="444648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3227002" y="434935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4776496" y="541143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 txBox="1"/>
          <p:nvPr/>
        </p:nvSpPr>
        <p:spPr>
          <a:xfrm>
            <a:off x="6557591" y="6386810"/>
            <a:ext cx="13048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/>
          </a:p>
        </p:txBody>
      </p:sp>
      <p:sp>
        <p:nvSpPr>
          <p:cNvPr id="416" name="Google Shape;416;p12"/>
          <p:cNvSpPr txBox="1"/>
          <p:nvPr/>
        </p:nvSpPr>
        <p:spPr>
          <a:xfrm rot="-5400000">
            <a:off x="1656197" y="3295087"/>
            <a:ext cx="7130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2687190" y="368614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3168882" y="338314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3429815" y="376352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3794196" y="428733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2946670" y="406364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5312209" y="527137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4724835" y="4948717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5179710" y="578731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5821194" y="5337508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5791182" y="573498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5600814" y="5018462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7208746" y="2667445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6176990" y="3358105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6712703" y="3218048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6580204" y="3733986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7440272" y="3180171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587053" y="2740895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7191676" y="3681661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7634352" y="276949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7718671" y="3314016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7749393" y="3765865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8016494" y="2948221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7001308" y="296513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6258730" y="530913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 rot="-3003871">
            <a:off x="3003349" y="2072174"/>
            <a:ext cx="2877262" cy="498819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 rot="1350317">
            <a:off x="5822101" y="2312347"/>
            <a:ext cx="2967070" cy="2090152"/>
          </a:xfrm>
          <a:prstGeom prst="ellipse">
            <a:avLst/>
          </a:prstGeom>
          <a:noFill/>
          <a:ln cap="flat" cmpd="sng" w="57150">
            <a:solidFill>
              <a:srgbClr val="FFC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4052348" y="4566269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6805028" y="3360546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C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2424035" y="4058111"/>
            <a:ext cx="472766" cy="33855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6" name="Google Shape;446;p12"/>
          <p:cNvSpPr txBox="1"/>
          <p:nvPr/>
        </p:nvSpPr>
        <p:spPr>
          <a:xfrm>
            <a:off x="4150955" y="4632129"/>
            <a:ext cx="457689" cy="33855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7" name="Google Shape;447;p12"/>
          <p:cNvSpPr txBox="1"/>
          <p:nvPr/>
        </p:nvSpPr>
        <p:spPr>
          <a:xfrm>
            <a:off x="6270321" y="2631523"/>
            <a:ext cx="472766" cy="33855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8" name="Google Shape;448;p12"/>
          <p:cNvSpPr txBox="1"/>
          <p:nvPr/>
        </p:nvSpPr>
        <p:spPr>
          <a:xfrm>
            <a:off x="6903283" y="3455863"/>
            <a:ext cx="457689" cy="33855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9" name="Google Shape;449;p12"/>
          <p:cNvSpPr txBox="1"/>
          <p:nvPr/>
        </p:nvSpPr>
        <p:spPr>
          <a:xfrm>
            <a:off x="-58412" y="1031155"/>
            <a:ext cx="9510612" cy="72199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0" name="Google Shape;450;p12"/>
          <p:cNvSpPr txBox="1"/>
          <p:nvPr/>
        </p:nvSpPr>
        <p:spPr>
          <a:xfrm>
            <a:off x="86903" y="1829559"/>
            <a:ext cx="3965445" cy="461665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CLUSTERS (K) = 2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19050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3"/>
          <p:cNvSpPr/>
          <p:nvPr/>
        </p:nvSpPr>
        <p:spPr>
          <a:xfrm>
            <a:off x="566328" y="4016879"/>
            <a:ext cx="7539447" cy="702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202083" y="212245"/>
            <a:ext cx="79989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TO SELECT THE OPTIMAL NUMBER OF CLUSTERS (K)? “ELBOW METHOD”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8" name="Google Shape;458;p13"/>
          <p:cNvCxnSpPr/>
          <p:nvPr/>
        </p:nvCxnSpPr>
        <p:spPr>
          <a:xfrm flipH="1" rot="10800000">
            <a:off x="2281640" y="6282160"/>
            <a:ext cx="5233701" cy="23496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9" name="Google Shape;459;p13"/>
          <p:cNvCxnSpPr/>
          <p:nvPr/>
        </p:nvCxnSpPr>
        <p:spPr>
          <a:xfrm rot="10800000">
            <a:off x="2281642" y="2956469"/>
            <a:ext cx="1" cy="3384148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0" name="Google Shape;460;p13"/>
          <p:cNvSpPr/>
          <p:nvPr/>
        </p:nvSpPr>
        <p:spPr>
          <a:xfrm>
            <a:off x="3284678" y="4800571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2660886" y="4446486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3227002" y="4349359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4776496" y="5411433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 txBox="1"/>
          <p:nvPr/>
        </p:nvSpPr>
        <p:spPr>
          <a:xfrm>
            <a:off x="6557591" y="6386810"/>
            <a:ext cx="13048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/>
          </a:p>
        </p:txBody>
      </p:sp>
      <p:sp>
        <p:nvSpPr>
          <p:cNvPr id="465" name="Google Shape;465;p13"/>
          <p:cNvSpPr txBox="1"/>
          <p:nvPr/>
        </p:nvSpPr>
        <p:spPr>
          <a:xfrm rot="-5400000">
            <a:off x="1656197" y="3295087"/>
            <a:ext cx="7130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/>
          </a:p>
        </p:txBody>
      </p:sp>
      <p:sp>
        <p:nvSpPr>
          <p:cNvPr id="466" name="Google Shape;466;p13"/>
          <p:cNvSpPr/>
          <p:nvPr/>
        </p:nvSpPr>
        <p:spPr>
          <a:xfrm>
            <a:off x="2687190" y="368614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3168882" y="338314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3429815" y="3763525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3794196" y="4287334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2946670" y="4063643"/>
            <a:ext cx="284199" cy="300118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5312209" y="5271376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4724835" y="4948717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5179710" y="578731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5821194" y="5337508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5791182" y="5734989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5600814" y="5018462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7208746" y="266744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6176990" y="335810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6712703" y="3218048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6580204" y="373398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7440272" y="318017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6587053" y="274089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7191676" y="368166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7634352" y="276949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7718671" y="3314016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7749393" y="3765865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8016494" y="2948221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7001308" y="2965134"/>
            <a:ext cx="284199" cy="30011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6258730" y="530913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 rot="1350317">
            <a:off x="2431057" y="3166010"/>
            <a:ext cx="1914226" cy="221805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 rot="1350317">
            <a:off x="5822101" y="2312347"/>
            <a:ext cx="2967070" cy="2090152"/>
          </a:xfrm>
          <a:prstGeom prst="ellipse">
            <a:avLst/>
          </a:prstGeom>
          <a:noFill/>
          <a:ln cap="flat" cmpd="sng" w="57150">
            <a:solidFill>
              <a:srgbClr val="0070C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 rot="199258">
            <a:off x="4415104" y="4620045"/>
            <a:ext cx="2412514" cy="1576413"/>
          </a:xfrm>
          <a:prstGeom prst="ellipse">
            <a:avLst/>
          </a:prstGeom>
          <a:noFill/>
          <a:ln cap="flat" cmpd="sng" w="57150">
            <a:solidFill>
              <a:srgbClr val="FFC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3204507" y="3894810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6805028" y="3360546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5308366" y="5401331"/>
            <a:ext cx="587613" cy="502982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C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 txBox="1"/>
          <p:nvPr/>
        </p:nvSpPr>
        <p:spPr>
          <a:xfrm>
            <a:off x="2424035" y="4058111"/>
            <a:ext cx="472766" cy="33855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7" name="Google Shape;497;p13"/>
          <p:cNvSpPr txBox="1"/>
          <p:nvPr/>
        </p:nvSpPr>
        <p:spPr>
          <a:xfrm>
            <a:off x="3292847" y="3994756"/>
            <a:ext cx="457689" cy="33855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8" name="Google Shape;498;p13"/>
          <p:cNvSpPr txBox="1"/>
          <p:nvPr/>
        </p:nvSpPr>
        <p:spPr>
          <a:xfrm>
            <a:off x="6270321" y="2631523"/>
            <a:ext cx="472766" cy="33855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9" name="Google Shape;499;p13"/>
          <p:cNvSpPr txBox="1"/>
          <p:nvPr/>
        </p:nvSpPr>
        <p:spPr>
          <a:xfrm>
            <a:off x="4897379" y="4802760"/>
            <a:ext cx="472766" cy="33855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0" name="Google Shape;500;p13"/>
          <p:cNvSpPr txBox="1"/>
          <p:nvPr/>
        </p:nvSpPr>
        <p:spPr>
          <a:xfrm>
            <a:off x="5397733" y="5501397"/>
            <a:ext cx="457689" cy="33855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1" name="Google Shape;501;p13"/>
          <p:cNvSpPr txBox="1"/>
          <p:nvPr/>
        </p:nvSpPr>
        <p:spPr>
          <a:xfrm>
            <a:off x="6903283" y="3455863"/>
            <a:ext cx="457689" cy="33855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2" name="Google Shape;502;p13"/>
          <p:cNvSpPr txBox="1"/>
          <p:nvPr/>
        </p:nvSpPr>
        <p:spPr>
          <a:xfrm>
            <a:off x="-58412" y="1173562"/>
            <a:ext cx="9510612" cy="960584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19050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4"/>
          <p:cNvSpPr/>
          <p:nvPr/>
        </p:nvSpPr>
        <p:spPr>
          <a:xfrm>
            <a:off x="202083" y="96134"/>
            <a:ext cx="79989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TO SELECT THE OPTIMAL NUMBER OF CLUSTERS (K)? “ELBOW METHOD”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9" name="Google Shape;509;p14"/>
          <p:cNvCxnSpPr/>
          <p:nvPr/>
        </p:nvCxnSpPr>
        <p:spPr>
          <a:xfrm>
            <a:off x="1422400" y="5626375"/>
            <a:ext cx="6616700" cy="12700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0" name="Google Shape;510;p14"/>
          <p:cNvCxnSpPr/>
          <p:nvPr/>
        </p:nvCxnSpPr>
        <p:spPr>
          <a:xfrm flipH="1" rot="10800000">
            <a:off x="1435100" y="888097"/>
            <a:ext cx="8343" cy="4757963"/>
          </a:xfrm>
          <a:prstGeom prst="straightConnector1">
            <a:avLst/>
          </a:prstGeom>
          <a:noFill/>
          <a:ln cap="flat" cmpd="sng" w="57150">
            <a:solidFill>
              <a:srgbClr val="12435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1" name="Google Shape;511;p14"/>
          <p:cNvSpPr txBox="1"/>
          <p:nvPr/>
        </p:nvSpPr>
        <p:spPr>
          <a:xfrm>
            <a:off x="3382591" y="5820655"/>
            <a:ext cx="35951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NUMBER OF CLUSTERS “K”</a:t>
            </a:r>
            <a:endParaRPr b="1" sz="24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 txBox="1"/>
          <p:nvPr/>
        </p:nvSpPr>
        <p:spPr>
          <a:xfrm rot="-5400000">
            <a:off x="-1441428" y="2809567"/>
            <a:ext cx="467393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WITHIN CLUSTERS SUM OF SQUARES (WCSS)</a:t>
            </a:r>
            <a:endParaRPr b="1" sz="24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1841510" y="126950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2457179" y="392380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3382591" y="4601596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4125860" y="4751655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14"/>
          <p:cNvCxnSpPr/>
          <p:nvPr/>
        </p:nvCxnSpPr>
        <p:spPr>
          <a:xfrm>
            <a:off x="2036395" y="1569622"/>
            <a:ext cx="515189" cy="2398133"/>
          </a:xfrm>
          <a:prstGeom prst="straightConnector1">
            <a:avLst/>
          </a:prstGeom>
          <a:noFill/>
          <a:ln cap="flat" cmpd="sng" w="571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8" name="Google Shape;518;p14"/>
          <p:cNvCxnSpPr>
            <a:stCxn id="514" idx="5"/>
            <a:endCxn id="515" idx="1"/>
          </p:cNvCxnSpPr>
          <p:nvPr/>
        </p:nvCxnSpPr>
        <p:spPr>
          <a:xfrm>
            <a:off x="2699758" y="4179971"/>
            <a:ext cx="724500" cy="465600"/>
          </a:xfrm>
          <a:prstGeom prst="straightConnector1">
            <a:avLst/>
          </a:prstGeom>
          <a:noFill/>
          <a:ln cap="flat" cmpd="sng" w="571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9" name="Google Shape;519;p14"/>
          <p:cNvCxnSpPr>
            <a:stCxn id="515" idx="6"/>
            <a:endCxn id="516" idx="2"/>
          </p:cNvCxnSpPr>
          <p:nvPr/>
        </p:nvCxnSpPr>
        <p:spPr>
          <a:xfrm>
            <a:off x="3666790" y="4751655"/>
            <a:ext cx="459000" cy="150000"/>
          </a:xfrm>
          <a:prstGeom prst="straightConnector1">
            <a:avLst/>
          </a:prstGeom>
          <a:noFill/>
          <a:ln cap="flat" cmpd="sng" w="571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0" name="Google Shape;520;p14"/>
          <p:cNvCxnSpPr>
            <a:stCxn id="516" idx="6"/>
            <a:endCxn id="521" idx="6"/>
          </p:cNvCxnSpPr>
          <p:nvPr/>
        </p:nvCxnSpPr>
        <p:spPr>
          <a:xfrm>
            <a:off x="4410059" y="4901714"/>
            <a:ext cx="3823800" cy="287400"/>
          </a:xfrm>
          <a:prstGeom prst="straightConnector1">
            <a:avLst/>
          </a:prstGeom>
          <a:noFill/>
          <a:ln cap="flat" cmpd="sng" w="571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2" name="Google Shape;522;p14"/>
          <p:cNvSpPr/>
          <p:nvPr/>
        </p:nvSpPr>
        <p:spPr>
          <a:xfrm>
            <a:off x="4986047" y="4851788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5906981" y="4901714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6886620" y="4963927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7949654" y="5038956"/>
            <a:ext cx="284199" cy="300118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3205758" y="4399942"/>
            <a:ext cx="637866" cy="63901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14"/>
          <p:cNvCxnSpPr/>
          <p:nvPr/>
        </p:nvCxnSpPr>
        <p:spPr>
          <a:xfrm flipH="1" rot="5400000">
            <a:off x="2449991" y="3234739"/>
            <a:ext cx="1489500" cy="9441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7" name="Google Shape;527;p14"/>
          <p:cNvSpPr/>
          <p:nvPr/>
        </p:nvSpPr>
        <p:spPr>
          <a:xfrm>
            <a:off x="2293989" y="2437554"/>
            <a:ext cx="30011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OPTIMAL “K”</a:t>
            </a:r>
            <a:endParaRPr b="1" sz="2400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ile:Tennis Elbow Illustration.jpg" id="528" name="Google Shape;52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310159">
            <a:off x="3672482" y="1553526"/>
            <a:ext cx="5272878" cy="287371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4"/>
          <p:cNvSpPr/>
          <p:nvPr/>
        </p:nvSpPr>
        <p:spPr>
          <a:xfrm>
            <a:off x="507135" y="6341256"/>
            <a:ext cx="78058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https://commons.wikimedia.org/wiki/File:Tennis_Elbow_Illustration.jpg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19050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5"/>
          <p:cNvSpPr/>
          <p:nvPr/>
        </p:nvSpPr>
        <p:spPr>
          <a:xfrm>
            <a:off x="164243" y="244433"/>
            <a:ext cx="121750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AUTOENCODERS INTUITION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194194" y="772144"/>
            <a:ext cx="911726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 encoders are a type of Artificial Neural Networks that are used to perform a task of data encoding (representation learning). 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 encoders use the same input data for the input and output, Sounds crazy right!?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ile:Autoencoder structure.png" id="537" name="Google Shape;537;p15"/>
          <p:cNvPicPr preferRelativeResize="0"/>
          <p:nvPr/>
        </p:nvPicPr>
        <p:blipFill rotWithShape="1">
          <a:blip r:embed="rId4">
            <a:alphaModFix/>
          </a:blip>
          <a:srcRect b="6982" l="5478" r="3605" t="8954"/>
          <a:stretch/>
        </p:blipFill>
        <p:spPr>
          <a:xfrm>
            <a:off x="3195365" y="3301511"/>
            <a:ext cx="3322637" cy="2296233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5"/>
          <p:cNvSpPr/>
          <p:nvPr/>
        </p:nvSpPr>
        <p:spPr>
          <a:xfrm>
            <a:off x="891445" y="6078982"/>
            <a:ext cx="7207251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 Credit: </a:t>
            </a:r>
            <a:r>
              <a:rPr lang="en-CA" sz="1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https://commons.wikimedia.org/wiki/File:Autoencoder_structure.png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 Credit: </a:t>
            </a:r>
            <a:r>
              <a:rPr lang="en-CA" sz="1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https://commons.wikimedia.org/wiki/File:Artificial_neural_network_image_recognition.png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 Credit: </a:t>
            </a:r>
            <a:r>
              <a:rPr lang="en-CA" sz="1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https://www.pexels.com/photo/grey-and-white-short-fur-cat-104827/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 txBox="1"/>
          <p:nvPr/>
        </p:nvSpPr>
        <p:spPr>
          <a:xfrm>
            <a:off x="194194" y="4088082"/>
            <a:ext cx="16779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TARGET (TRUE)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LABEL = CAT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 txBox="1"/>
          <p:nvPr/>
        </p:nvSpPr>
        <p:spPr>
          <a:xfrm>
            <a:off x="3031266" y="2482133"/>
            <a:ext cx="3364126" cy="646331"/>
          </a:xfrm>
          <a:prstGeom prst="rect">
            <a:avLst/>
          </a:prstGeom>
          <a:noFill/>
          <a:ln cap="flat" cmpd="sng" w="47625">
            <a:solidFill>
              <a:srgbClr val="FF0000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AUTOENCODERS UNSUPERVISED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6572948" y="4190790"/>
            <a:ext cx="838980" cy="29638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 rot="10800000">
            <a:off x="2299416" y="4260052"/>
            <a:ext cx="838980" cy="29638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90837" y="3406543"/>
            <a:ext cx="1133029" cy="751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8002" y="3373496"/>
            <a:ext cx="1133029" cy="751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5" name="Google Shape;545;p15"/>
          <p:cNvCxnSpPr/>
          <p:nvPr/>
        </p:nvCxnSpPr>
        <p:spPr>
          <a:xfrm flipH="1" rot="10800000">
            <a:off x="2557351" y="4295525"/>
            <a:ext cx="2287500" cy="11007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6" name="Google Shape;546;p15"/>
          <p:cNvSpPr txBox="1"/>
          <p:nvPr/>
        </p:nvSpPr>
        <p:spPr>
          <a:xfrm>
            <a:off x="1341836" y="5087057"/>
            <a:ext cx="13296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ENCODED CAT IMAGE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19050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6"/>
          <p:cNvSpPr/>
          <p:nvPr/>
        </p:nvSpPr>
        <p:spPr>
          <a:xfrm>
            <a:off x="316497" y="203529"/>
            <a:ext cx="121750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CODE LAYER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460318" y="561854"/>
            <a:ext cx="838015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 encoders work by adding a bottleneck in the network.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bottleneck forces the network to create a compressed (encoded) version of the original input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 encoders work well if correlations exists between input data (performs poorly if the all input data is independent)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16"/>
          <p:cNvSpPr/>
          <p:nvPr/>
        </p:nvSpPr>
        <p:spPr>
          <a:xfrm>
            <a:off x="208877" y="6284498"/>
            <a:ext cx="7207251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 Credit: </a:t>
            </a:r>
            <a:r>
              <a:rPr lang="en-CA" sz="1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https://commons.wikimedia.org/wiki/File:Autoencoder_structure.png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 Credit: </a:t>
            </a:r>
            <a:r>
              <a:rPr lang="en-CA" sz="1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https://commons.wikimedia.org/wiki/File:Artificial_neural_network_image_recognition.png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 Credit: </a:t>
            </a:r>
            <a:r>
              <a:rPr lang="en-CA" sz="1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https://www.pexels.com/photo/grey-and-white-short-fur-cat-104827/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6661678" y="4140017"/>
            <a:ext cx="1078083" cy="29638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"/>
          <p:cNvSpPr/>
          <p:nvPr/>
        </p:nvSpPr>
        <p:spPr>
          <a:xfrm rot="10800000">
            <a:off x="2147455" y="4140017"/>
            <a:ext cx="1215599" cy="29638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7455" y="3303604"/>
            <a:ext cx="1133029" cy="751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4620" y="3270557"/>
            <a:ext cx="1133029" cy="751248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6"/>
          <p:cNvSpPr txBox="1"/>
          <p:nvPr/>
        </p:nvSpPr>
        <p:spPr>
          <a:xfrm>
            <a:off x="923706" y="4530590"/>
            <a:ext cx="196595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BOTTLENECK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“CODE LAYER”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(i.e.: ENCODED CAT IMAGE)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utoencoders" id="560" name="Google Shape;560;p16"/>
          <p:cNvPicPr preferRelativeResize="0"/>
          <p:nvPr/>
        </p:nvPicPr>
        <p:blipFill rotWithShape="1">
          <a:blip r:embed="rId8">
            <a:alphaModFix/>
          </a:blip>
          <a:srcRect b="0" l="18309" r="18611" t="0"/>
          <a:stretch/>
        </p:blipFill>
        <p:spPr>
          <a:xfrm rot="5400000">
            <a:off x="3335482" y="2622533"/>
            <a:ext cx="3245912" cy="2891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1" name="Google Shape;561;p16"/>
          <p:cNvCxnSpPr/>
          <p:nvPr/>
        </p:nvCxnSpPr>
        <p:spPr>
          <a:xfrm flipH="1" rot="10800000">
            <a:off x="2713969" y="4192586"/>
            <a:ext cx="2287500" cy="1100700"/>
          </a:xfrm>
          <a:prstGeom prst="curvedConnector3">
            <a:avLst>
              <a:gd fmla="val 50000" name="adj1"/>
            </a:avLst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2" name="Google Shape;562;p16"/>
          <p:cNvSpPr/>
          <p:nvPr/>
        </p:nvSpPr>
        <p:spPr>
          <a:xfrm rot="-5400000">
            <a:off x="3647696" y="4911503"/>
            <a:ext cx="430900" cy="1485900"/>
          </a:xfrm>
          <a:prstGeom prst="leftBrace">
            <a:avLst>
              <a:gd fmla="val 50641" name="adj1"/>
              <a:gd fmla="val 4703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 rot="-5400000">
            <a:off x="5920996" y="4913960"/>
            <a:ext cx="430900" cy="1485900"/>
          </a:xfrm>
          <a:prstGeom prst="leftBrace">
            <a:avLst>
              <a:gd fmla="val 50641" name="adj1"/>
              <a:gd fmla="val 4703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 txBox="1"/>
          <p:nvPr/>
        </p:nvSpPr>
        <p:spPr>
          <a:xfrm>
            <a:off x="3360838" y="5716761"/>
            <a:ext cx="19659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6"/>
          <p:cNvSpPr txBox="1"/>
          <p:nvPr/>
        </p:nvSpPr>
        <p:spPr>
          <a:xfrm>
            <a:off x="5690813" y="5684752"/>
            <a:ext cx="19659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19050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7"/>
          <p:cNvSpPr/>
          <p:nvPr/>
        </p:nvSpPr>
        <p:spPr>
          <a:xfrm>
            <a:off x="173197" y="210764"/>
            <a:ext cx="121750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AUTOENCODER MATH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1809014" y="6160079"/>
            <a:ext cx="7207251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 Credit: </a:t>
            </a:r>
            <a:r>
              <a:rPr lang="en-CA" sz="1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https://commons.wikimedia.org/wiki/File:Autoencoder_structure.png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 Credit: </a:t>
            </a:r>
            <a:r>
              <a:rPr lang="en-CA" sz="1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https://commons.wikimedia.org/wiki/File:Artificial_neural_network_image_recognition.png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 Credit: </a:t>
            </a:r>
            <a:r>
              <a:rPr lang="en-CA" sz="1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https://www.pexels.com/photo/grey-and-white-short-fur-cat-104827/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 rot="10800000">
            <a:off x="3786770" y="1859428"/>
            <a:ext cx="1215599" cy="29638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utoencoders" id="574" name="Google Shape;574;p17"/>
          <p:cNvPicPr preferRelativeResize="0"/>
          <p:nvPr/>
        </p:nvPicPr>
        <p:blipFill rotWithShape="1">
          <a:blip r:embed="rId7">
            <a:alphaModFix/>
          </a:blip>
          <a:srcRect b="0" l="18309" r="18611" t="0"/>
          <a:stretch/>
        </p:blipFill>
        <p:spPr>
          <a:xfrm rot="5400000">
            <a:off x="4806775" y="392500"/>
            <a:ext cx="3579769" cy="3188581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7"/>
          <p:cNvSpPr/>
          <p:nvPr/>
        </p:nvSpPr>
        <p:spPr>
          <a:xfrm rot="-5400000">
            <a:off x="5302342" y="3031268"/>
            <a:ext cx="430900" cy="1485900"/>
          </a:xfrm>
          <a:prstGeom prst="leftBrace">
            <a:avLst>
              <a:gd fmla="val 50641" name="adj1"/>
              <a:gd fmla="val 4703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 rot="-5400000">
            <a:off x="7575642" y="3033725"/>
            <a:ext cx="430900" cy="1485900"/>
          </a:xfrm>
          <a:prstGeom prst="leftBrace">
            <a:avLst>
              <a:gd fmla="val 50641" name="adj1"/>
              <a:gd fmla="val 4703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 txBox="1"/>
          <p:nvPr/>
        </p:nvSpPr>
        <p:spPr>
          <a:xfrm>
            <a:off x="4514105" y="4089231"/>
            <a:ext cx="19659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 txBox="1"/>
          <p:nvPr/>
        </p:nvSpPr>
        <p:spPr>
          <a:xfrm>
            <a:off x="6808113" y="4089231"/>
            <a:ext cx="19659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 txBox="1"/>
          <p:nvPr/>
        </p:nvSpPr>
        <p:spPr>
          <a:xfrm>
            <a:off x="3446683" y="1433608"/>
            <a:ext cx="1965957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 txBox="1"/>
          <p:nvPr/>
        </p:nvSpPr>
        <p:spPr>
          <a:xfrm>
            <a:off x="7711742" y="1459318"/>
            <a:ext cx="1965957" cy="80021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1" name="Google Shape;581;p17"/>
          <p:cNvSpPr/>
          <p:nvPr/>
        </p:nvSpPr>
        <p:spPr>
          <a:xfrm rot="10800000">
            <a:off x="8166270" y="1833718"/>
            <a:ext cx="965030" cy="322092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 txBox="1"/>
          <p:nvPr/>
        </p:nvSpPr>
        <p:spPr>
          <a:xfrm>
            <a:off x="5082185" y="460625"/>
            <a:ext cx="1965957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 txBox="1"/>
          <p:nvPr/>
        </p:nvSpPr>
        <p:spPr>
          <a:xfrm>
            <a:off x="5613680" y="2936092"/>
            <a:ext cx="196595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h(x)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 txBox="1"/>
          <p:nvPr/>
        </p:nvSpPr>
        <p:spPr>
          <a:xfrm>
            <a:off x="6136374" y="481323"/>
            <a:ext cx="1965957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W*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 txBox="1"/>
          <p:nvPr/>
        </p:nvSpPr>
        <p:spPr>
          <a:xfrm>
            <a:off x="320950" y="2072552"/>
            <a:ext cx="3952364" cy="83099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9558" l="-2470" r="0" t="-58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6" name="Google Shape;586;p17"/>
          <p:cNvSpPr txBox="1"/>
          <p:nvPr/>
        </p:nvSpPr>
        <p:spPr>
          <a:xfrm>
            <a:off x="384673" y="3096566"/>
            <a:ext cx="4194097" cy="83099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9558" l="-2179" r="0" t="-58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7" name="Google Shape;587;p17"/>
          <p:cNvSpPr txBox="1"/>
          <p:nvPr/>
        </p:nvSpPr>
        <p:spPr>
          <a:xfrm>
            <a:off x="384673" y="4132119"/>
            <a:ext cx="5094091" cy="193899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-1794" r="-957" t="-25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" y="-6350"/>
            <a:ext cx="12182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8"/>
          <p:cNvSpPr txBox="1"/>
          <p:nvPr/>
        </p:nvSpPr>
        <p:spPr>
          <a:xfrm>
            <a:off x="283758" y="368961"/>
            <a:ext cx="86631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ANALYSIS: OVERVIEW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18"/>
          <p:cNvSpPr txBox="1"/>
          <p:nvPr/>
        </p:nvSpPr>
        <p:spPr>
          <a:xfrm>
            <a:off x="283757" y="830626"/>
            <a:ext cx="9074847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PCA is an unsupervised machine learning algorithm.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PCA performs dimensionality reductions while attempting at keeping the original information unchanged. 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PCA works by trying to find a new set of features called components.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CA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Components are composites of the uncorrelated given input features.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http://phdthesis-bioinformatics-maxplanckinstitute-molecularplantphys.matthias-scholz.de/fig_pca_illu3d.png" id="595" name="Google Shape;5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4592" y="3592905"/>
            <a:ext cx="6410128" cy="254266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8"/>
          <p:cNvSpPr/>
          <p:nvPr/>
        </p:nvSpPr>
        <p:spPr>
          <a:xfrm>
            <a:off x="934682" y="6182414"/>
            <a:ext cx="10937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Photo Credit: </a:t>
            </a:r>
            <a:r>
              <a:rPr lang="en-CA" sz="1200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http://phdthesis-bioinformatics-maxplanckinstitute-molecularplantphys.matthias-scholz.de/</a:t>
            </a:r>
            <a:endParaRPr sz="12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2019-05-23T09:27:58Z</dcterms:created>
  <dc:creator>Admin</dc:creator>
</cp:coreProperties>
</file>